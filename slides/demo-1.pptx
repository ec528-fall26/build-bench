
<file path=[Content_Types].xml><?xml version="1.0" encoding="utf-8"?>
<Types xmlns="http://schemas.openxmlformats.org/package/2006/content-types">
  <Default ContentType="application/x-fontdata" Extension="fntdata"/>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Lst>
  <p:sldSz cy="5143500" cx="9144000"/>
  <p:notesSz cx="5143500" cy="9144000"/>
  <p:embeddedFontLst>
    <p:embeddedFont>
      <p:font typeface="Roboto Mono"/>
      <p:regular r:id="rId19"/>
      <p:bold r:id="rId20"/>
      <p:italic r:id="rId21"/>
      <p:boldItalic r:id="rId2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3" roundtripDataSignature="AMtx7mjCaG55sw0SQn4lqqdEMCIc4hnF4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font" Target="fonts/RobotoMono-bold.fntdata"/><Relationship Id="rId11" Type="http://schemas.openxmlformats.org/officeDocument/2006/relationships/slide" Target="slides/slide7.xml"/><Relationship Id="rId22" Type="http://schemas.openxmlformats.org/officeDocument/2006/relationships/font" Target="fonts/RobotoMono-boldItalic.fntdata"/><Relationship Id="rId10" Type="http://schemas.openxmlformats.org/officeDocument/2006/relationships/slide" Target="slides/slide6.xml"/><Relationship Id="rId21" Type="http://schemas.openxmlformats.org/officeDocument/2006/relationships/font" Target="fonts/RobotoMono-italic.fntdata"/><Relationship Id="rId13" Type="http://schemas.openxmlformats.org/officeDocument/2006/relationships/slide" Target="slides/slide9.xml"/><Relationship Id="rId12" Type="http://schemas.openxmlformats.org/officeDocument/2006/relationships/slide" Target="slides/slide8.xml"/><Relationship Id="rId23" Type="http://customschemas.google.com/relationships/presentationmetadata" Target="metadata"/><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font" Target="fonts/RobotoMono-regular.fntdata"/><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857400" y="685800"/>
            <a:ext cx="342915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514350" y="4343400"/>
            <a:ext cx="41148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 name="Shape 7"/>
        <p:cNvGrpSpPr/>
        <p:nvPr/>
      </p:nvGrpSpPr>
      <p:grpSpPr>
        <a:xfrm>
          <a:off x="0" y="0"/>
          <a:ext cx="0" cy="0"/>
          <a:chOff x="0" y="0"/>
          <a:chExt cx="0" cy="0"/>
        </a:xfrm>
      </p:grpSpPr>
      <p:sp>
        <p:nvSpPr>
          <p:cNvPr id="8" name="Google Shape;8;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 name="Google Shape;9;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Arial"/>
                <a:ea typeface="Arial"/>
                <a:cs typeface="Arial"/>
                <a:sym typeface="Arial"/>
              </a:rPr>
              <a:t>1. Project and objective (25 seconds)</a:t>
            </a:r>
            <a:br>
              <a:rPr b="0" i="0" lang="en-US" sz="1200" u="none" cap="none" strike="noStrike">
                <a:solidFill>
                  <a:schemeClr val="dk1"/>
                </a:solidFill>
                <a:latin typeface="Arial"/>
                <a:ea typeface="Arial"/>
                <a:cs typeface="Arial"/>
                <a:sym typeface="Arial"/>
              </a:rPr>
            </a:br>
            <a:br>
              <a:rPr b="0" i="0" lang="en-US" sz="1200" u="none" cap="none" strike="noStrike">
                <a:solidFill>
                  <a:schemeClr val="dk1"/>
                </a:solidFill>
                <a:latin typeface="Arial"/>
                <a:ea typeface="Arial"/>
                <a:cs typeface="Arial"/>
                <a:sym typeface="Arial"/>
              </a:rPr>
            </a:br>
            <a:r>
              <a:rPr b="0" i="0" lang="en-US" sz="1200" u="none" cap="none" strike="noStrike">
                <a:solidFill>
                  <a:schemeClr val="dk1"/>
                </a:solidFill>
                <a:latin typeface="Arial"/>
                <a:ea typeface="Arial"/>
                <a:cs typeface="Arial"/>
                <a:sym typeface="Arial"/>
              </a:rPr>
              <a:t>Presenter: Owen Zhang</a:t>
            </a:r>
            <a:br>
              <a:rPr b="0" i="0" lang="en-US" sz="1200" u="none" cap="none" strike="noStrike">
                <a:solidFill>
                  <a:schemeClr val="dk1"/>
                </a:solidFill>
                <a:latin typeface="Arial"/>
                <a:ea typeface="Arial"/>
                <a:cs typeface="Arial"/>
                <a:sym typeface="Arial"/>
              </a:rPr>
            </a:br>
            <a:br>
              <a:rPr b="0" i="0" lang="en-US" sz="1200" u="none" cap="none" strike="noStrike">
                <a:solidFill>
                  <a:schemeClr val="dk1"/>
                </a:solidFill>
                <a:latin typeface="Arial"/>
                <a:ea typeface="Arial"/>
                <a:cs typeface="Arial"/>
                <a:sym typeface="Arial"/>
              </a:rPr>
            </a:br>
            <a:r>
              <a:rPr lang="en-US" sz="1200">
                <a:solidFill>
                  <a:schemeClr val="dk1"/>
                </a:solidFill>
              </a:rPr>
              <a:t>Hello everybody, I am </a:t>
            </a:r>
            <a:r>
              <a:rPr b="0" i="0" lang="en-US" sz="1200" u="none" cap="none" strike="noStrike">
                <a:solidFill>
                  <a:schemeClr val="dk1"/>
                </a:solidFill>
                <a:latin typeface="Arial"/>
                <a:ea typeface="Arial"/>
                <a:cs typeface="Arial"/>
                <a:sym typeface="Arial"/>
              </a:rPr>
              <a:t>Owen Zhang and Joonseo Moon, presenting for our team of five, with mentor Minghua Ma at Microsoft for the build-bench challenge. We are designing an autonomous agent to repair software packages that fail after migration between hardware architectures. Today we will cover the problem, the question we are answering, the proposed repair loop, how success is independently checked, and our semester milestones. </a:t>
            </a:r>
            <a:br>
              <a:rPr b="0" i="0" lang="en-US" sz="1200" u="none" cap="none" strike="noStrike">
                <a:solidFill>
                  <a:schemeClr val="dk1"/>
                </a:solidFill>
                <a:latin typeface="Arial"/>
                <a:ea typeface="Arial"/>
                <a:cs typeface="Arial"/>
                <a:sym typeface="Arial"/>
              </a:rPr>
            </a:br>
            <a:br>
              <a:rPr b="0" i="0" lang="en-US" sz="1200" u="none" cap="none" strike="noStrike">
                <a:solidFill>
                  <a:schemeClr val="dk1"/>
                </a:solidFill>
                <a:latin typeface="Arial"/>
                <a:ea typeface="Arial"/>
                <a:cs typeface="Arial"/>
                <a:sym typeface="Arial"/>
              </a:rPr>
            </a:br>
            <a:endParaRPr/>
          </a:p>
        </p:txBody>
      </p:sp>
      <p:sp>
        <p:nvSpPr>
          <p:cNvPr id="10" name="Google Shape;10;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800" u="none" cap="none" strike="noStrike">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 name="Shape 17"/>
        <p:cNvGrpSpPr/>
        <p:nvPr/>
      </p:nvGrpSpPr>
      <p:grpSpPr>
        <a:xfrm>
          <a:off x="0" y="0"/>
          <a:ext cx="0" cy="0"/>
          <a:chOff x="0" y="0"/>
          <a:chExt cx="0" cy="0"/>
        </a:xfrm>
      </p:grpSpPr>
      <p:sp>
        <p:nvSpPr>
          <p:cNvPr id="18" name="Google Shape;18;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 name="Google Shape;19;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2. Problem and motivation (55 seconds)</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Presenter: Owen Zhang</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100">
                <a:solidFill>
                  <a:schemeClr val="dk1"/>
                </a:solidFill>
              </a:rPr>
              <a:t>Here’s the problem. A package can build on one architecture and fail on another because of architecture-specific code, dependencies, compiler behavior, or packaging.</a:t>
            </a:r>
            <a:endParaRPr sz="11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100">
                <a:solidFill>
                  <a:schemeClr val="dk1"/>
                </a:solidFill>
              </a:rPr>
              <a:t>In this real Build-Bench example, </a:t>
            </a:r>
            <a:r>
              <a:rPr lang="en-US" sz="1100">
                <a:solidFill>
                  <a:srgbClr val="188038"/>
                </a:solidFill>
                <a:latin typeface="Roboto Mono"/>
                <a:ea typeface="Roboto Mono"/>
                <a:cs typeface="Roboto Mono"/>
                <a:sym typeface="Roboto Mono"/>
              </a:rPr>
              <a:t>liboqs</a:t>
            </a:r>
            <a:r>
              <a:rPr lang="en-US" sz="1100">
                <a:solidFill>
                  <a:schemeClr val="dk1"/>
                </a:solidFill>
              </a:rPr>
              <a:t> builds on x86-64 but fails on ARM64 because a compiler warning becomes an error.</a:t>
            </a:r>
            <a:endParaRPr sz="11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100">
                <a:solidFill>
                  <a:schemeClr val="dk1"/>
                </a:solidFill>
              </a:rPr>
              <a:t>Today, a maintainer has to trace the logs and figure out the real root cause by hand. We want our agent to automate that process, while still requiring a clean build to prove the repair actually works.</a:t>
            </a:r>
            <a:endParaRPr sz="1100">
              <a:solidFill>
                <a:schemeClr val="dk1"/>
              </a:solidFill>
            </a:endParaRPr>
          </a:p>
          <a:p>
            <a:pPr indent="0" lvl="0" marL="0" marR="0" rtl="0" algn="l">
              <a:spcBef>
                <a:spcPts val="1200"/>
              </a:spcBef>
              <a:spcAft>
                <a:spcPts val="0"/>
              </a:spcAft>
              <a:buNone/>
            </a:pPr>
            <a:r>
              <a:t/>
            </a:r>
            <a:endParaRPr sz="1200">
              <a:solidFill>
                <a:schemeClr val="dk1"/>
              </a:solidFill>
            </a:endParaRPr>
          </a:p>
          <a:p>
            <a:pPr indent="0" lvl="0" marL="0" marR="0" rtl="0" algn="l">
              <a:spcBef>
                <a:spcPts val="0"/>
              </a:spcBef>
              <a:spcAft>
                <a:spcPts val="0"/>
              </a:spcAft>
              <a:buNone/>
            </a:pPr>
            <a:r>
              <a:t/>
            </a:r>
            <a:endParaRPr sz="1200">
              <a:solidFill>
                <a:schemeClr val="dk1"/>
              </a:solidFill>
            </a:endParaRPr>
          </a:p>
        </p:txBody>
      </p:sp>
      <p:sp>
        <p:nvSpPr>
          <p:cNvPr id="20" name="Google Shape;20;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 name="Google Shape;35;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Presenter: Joonseo Moon</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rPr>
              <a:t>So that gives us two questions we're actually trying to answer.</a:t>
            </a:r>
            <a:endParaRPr sz="1200">
              <a:solidFill>
                <a:schemeClr val="dk1"/>
              </a:solidFill>
            </a:endParaRPr>
          </a:p>
          <a:p>
            <a:pPr indent="0" lvl="0" marL="0" marR="0" rtl="0" algn="l">
              <a:spcBef>
                <a:spcPts val="0"/>
              </a:spcBef>
              <a:spcAft>
                <a:spcPts val="0"/>
              </a:spcAft>
              <a:buNone/>
            </a:pPr>
            <a:r>
              <a:t/>
            </a:r>
            <a:endParaRPr sz="1200">
              <a:solidFill>
                <a:schemeClr val="dk1"/>
              </a:solidFill>
            </a:endParaRPr>
          </a:p>
          <a:p>
            <a:pPr indent="0" lvl="0" marL="0" marR="0" rtl="0" algn="l">
              <a:spcBef>
                <a:spcPts val="0"/>
              </a:spcBef>
              <a:spcAft>
                <a:spcPts val="0"/>
              </a:spcAft>
              <a:buNone/>
            </a:pPr>
            <a:r>
              <a:rPr lang="en-US" sz="1200">
                <a:solidFill>
                  <a:schemeClr val="dk1"/>
                </a:solidFill>
              </a:rPr>
              <a:t>The first is the benchmark question: can a bounded, evidence-driven LLM agent repair a build failure it has never seen before, on an architecture it wasn't written for — and have that repair verified by the official clean build, not by the agent's own say-so.</a:t>
            </a:r>
            <a:endParaRPr sz="1200">
              <a:solidFill>
                <a:schemeClr val="dk1"/>
              </a:solidFill>
            </a:endParaRPr>
          </a:p>
          <a:p>
            <a:pPr indent="0" lvl="0" marL="0" marR="0" rtl="0" algn="l">
              <a:spcBef>
                <a:spcPts val="0"/>
              </a:spcBef>
              <a:spcAft>
                <a:spcPts val="0"/>
              </a:spcAft>
              <a:buNone/>
            </a:pPr>
            <a:r>
              <a:t/>
            </a:r>
            <a:endParaRPr sz="1200">
              <a:solidFill>
                <a:schemeClr val="dk1"/>
              </a:solidFill>
            </a:endParaRPr>
          </a:p>
          <a:p>
            <a:pPr indent="0" lvl="0" marL="0" marR="0" rtl="0" algn="l">
              <a:spcBef>
                <a:spcPts val="0"/>
              </a:spcBef>
              <a:spcAft>
                <a:spcPts val="0"/>
              </a:spcAft>
              <a:buNone/>
            </a:pPr>
            <a:r>
              <a:rPr lang="en-US" sz="1200">
                <a:solidFill>
                  <a:schemeClr val="dk1"/>
                </a:solidFill>
              </a:rPr>
              <a:t>The second is the research question, and it's the one we control. Once we have a working prototype, does adding careful evidence selection and repair history actually help? Does it produce more verified repairs, or the same repairs at lower token cost, compared to our own prototype?</a:t>
            </a:r>
            <a:endParaRPr sz="1200">
              <a:solidFill>
                <a:schemeClr val="dk1"/>
              </a:solidFill>
            </a:endParaRPr>
          </a:p>
          <a:p>
            <a:pPr indent="0" lvl="0" marL="0" marR="0" rtl="0" algn="l">
              <a:spcBef>
                <a:spcPts val="0"/>
              </a:spcBef>
              <a:spcAft>
                <a:spcPts val="0"/>
              </a:spcAft>
              <a:buNone/>
            </a:pPr>
            <a:r>
              <a:t/>
            </a:r>
            <a:endParaRPr sz="1200">
              <a:solidFill>
                <a:schemeClr val="dk1"/>
              </a:solidFill>
            </a:endParaRPr>
          </a:p>
          <a:p>
            <a:pPr indent="0" lvl="0" marL="0" marR="0" rtl="0" algn="l">
              <a:spcBef>
                <a:spcPts val="0"/>
              </a:spcBef>
              <a:spcAft>
                <a:spcPts val="0"/>
              </a:spcAft>
              <a:buNone/>
            </a:pPr>
            <a:br>
              <a:rPr lang="en-US" sz="1200">
                <a:solidFill>
                  <a:schemeClr val="dk1"/>
                </a:solidFill>
                <a:latin typeface="Arial"/>
                <a:ea typeface="Arial"/>
                <a:cs typeface="Arial"/>
                <a:sym typeface="Arial"/>
              </a:rPr>
            </a:br>
            <a:endParaRPr/>
          </a:p>
        </p:txBody>
      </p:sp>
      <p:sp>
        <p:nvSpPr>
          <p:cNvPr id="36" name="Google Shape;36;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 name="Shape 42"/>
        <p:cNvGrpSpPr/>
        <p:nvPr/>
      </p:nvGrpSpPr>
      <p:grpSpPr>
        <a:xfrm>
          <a:off x="0" y="0"/>
          <a:ext cx="0" cy="0"/>
          <a:chOff x="0" y="0"/>
          <a:chExt cx="0" cy="0"/>
        </a:xfrm>
      </p:grpSpPr>
      <p:sp>
        <p:nvSpPr>
          <p:cNvPr id="43" name="Google Shape;43;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 name="Google Shape;44;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Presenter: </a:t>
            </a:r>
            <a:r>
              <a:rPr lang="en-US" sz="1200">
                <a:solidFill>
                  <a:schemeClr val="dk1"/>
                </a:solidFill>
              </a:rPr>
              <a:t>Joonseo Moon</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rPr>
              <a:t>Here's the pipeline, and the important thing is how we measure success.</a:t>
            </a:r>
            <a:endParaRPr sz="1200">
              <a:solidFill>
                <a:schemeClr val="dk1"/>
              </a:solidFill>
            </a:endParaRPr>
          </a:p>
          <a:p>
            <a:pPr indent="0" lvl="0" marL="0" rtl="0" algn="l">
              <a:lnSpc>
                <a:spcPct val="115000"/>
              </a:lnSpc>
              <a:spcBef>
                <a:spcPts val="0"/>
              </a:spcBef>
              <a:spcAft>
                <a:spcPts val="0"/>
              </a:spcAft>
              <a:buSzPts val="1100"/>
              <a:buNone/>
            </a:pPr>
            <a:r>
              <a:t/>
            </a:r>
            <a:endParaRPr sz="1200">
              <a:solidFill>
                <a:schemeClr val="dk1"/>
              </a:solidFill>
            </a:endParaRPr>
          </a:p>
          <a:p>
            <a:pPr indent="0" lvl="0" marL="0" rtl="0" algn="l">
              <a:lnSpc>
                <a:spcPct val="115000"/>
              </a:lnSpc>
              <a:spcBef>
                <a:spcPts val="0"/>
              </a:spcBef>
              <a:spcAft>
                <a:spcPts val="0"/>
              </a:spcAft>
              <a:buSzPts val="1100"/>
              <a:buNone/>
            </a:pPr>
            <a:r>
              <a:rPr lang="en-US" sz="1200">
                <a:solidFill>
                  <a:schemeClr val="dk1"/>
                </a:solidFill>
              </a:rPr>
              <a:t>We start from a source package that built fine on its original architecture. It's retargeted, the build fails, and we get a failure log plus metadata. That's the input our agent receives.</a:t>
            </a:r>
            <a:endParaRPr sz="1200">
              <a:solidFill>
                <a:schemeClr val="dk1"/>
              </a:solidFill>
            </a:endParaRPr>
          </a:p>
          <a:p>
            <a:pPr indent="0" lvl="0" marL="0" rtl="0" algn="l">
              <a:lnSpc>
                <a:spcPct val="115000"/>
              </a:lnSpc>
              <a:spcBef>
                <a:spcPts val="0"/>
              </a:spcBef>
              <a:spcAft>
                <a:spcPts val="0"/>
              </a:spcAft>
              <a:buSzPts val="1100"/>
              <a:buNone/>
            </a:pPr>
            <a:r>
              <a:t/>
            </a:r>
            <a:endParaRPr sz="1200">
              <a:solidFill>
                <a:schemeClr val="dk1"/>
              </a:solidFill>
            </a:endParaRPr>
          </a:p>
          <a:p>
            <a:pPr indent="0" lvl="0" marL="0" rtl="0" algn="l">
              <a:lnSpc>
                <a:spcPct val="115000"/>
              </a:lnSpc>
              <a:spcBef>
                <a:spcPts val="0"/>
              </a:spcBef>
              <a:spcAft>
                <a:spcPts val="0"/>
              </a:spcAft>
              <a:buSzPts val="1100"/>
              <a:buNone/>
            </a:pPr>
            <a:r>
              <a:rPr lang="en-US" sz="1200">
                <a:solidFill>
                  <a:schemeClr val="dk1"/>
                </a:solidFill>
              </a:rPr>
              <a:t>Our agent inspects the evidence and edits the worktree. Then it exits — and everything after that point is out of our hands. The organizer derives a canonical patch from our edits, applies it to a clean copy of the case, and runs a fresh target build.</a:t>
            </a:r>
            <a:endParaRPr sz="1200">
              <a:solidFill>
                <a:schemeClr val="dk1"/>
              </a:solidFill>
            </a:endParaRPr>
          </a:p>
          <a:p>
            <a:pPr indent="0" lvl="0" marL="0" rtl="0" algn="l">
              <a:lnSpc>
                <a:spcPct val="115000"/>
              </a:lnSpc>
              <a:spcBef>
                <a:spcPts val="0"/>
              </a:spcBef>
              <a:spcAft>
                <a:spcPts val="0"/>
              </a:spcAft>
              <a:buSzPts val="1100"/>
              <a:buNone/>
            </a:pPr>
            <a:r>
              <a:t/>
            </a:r>
            <a:endParaRPr sz="1200">
              <a:solidFill>
                <a:schemeClr val="dk1"/>
              </a:solidFill>
            </a:endParaRPr>
          </a:p>
          <a:p>
            <a:pPr indent="0" lvl="0" marL="0" rtl="0" algn="l">
              <a:lnSpc>
                <a:spcPct val="115000"/>
              </a:lnSpc>
              <a:spcBef>
                <a:spcPts val="0"/>
              </a:spcBef>
              <a:spcAft>
                <a:spcPts val="0"/>
              </a:spcAft>
              <a:buSzPts val="1100"/>
              <a:buNone/>
            </a:pPr>
            <a:r>
              <a:rPr lang="en-US" sz="1200">
                <a:solidFill>
                  <a:schemeClr val="dk1"/>
                </a:solidFill>
              </a:rPr>
              <a:t>Only the last box counts. Verified artifacts are the sole success signal. The agent reporting 'completed' means nothing on its own.</a:t>
            </a:r>
            <a:endParaRPr sz="1200">
              <a:solidFill>
                <a:schemeClr val="dk1"/>
              </a:solidFill>
            </a:endParaRPr>
          </a:p>
          <a:p>
            <a:pPr indent="0" lvl="0" marL="0" rtl="0" algn="l">
              <a:lnSpc>
                <a:spcPct val="115000"/>
              </a:lnSpc>
              <a:spcBef>
                <a:spcPts val="0"/>
              </a:spcBef>
              <a:spcAft>
                <a:spcPts val="0"/>
              </a:spcAft>
              <a:buSzPts val="1100"/>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US" sz="1200">
                <a:solidFill>
                  <a:schemeClr val="dk1"/>
                </a:solidFill>
              </a:rPr>
              <a:t>The public release we have is 100 cases each direction between x86_64 and ARM64. RISC-V is advertised, but there are no RISC-V cases in what we downloaded.</a:t>
            </a:r>
            <a:endParaRPr sz="1200">
              <a:solidFill>
                <a:schemeClr val="dk1"/>
              </a:solidFill>
            </a:endParaRPr>
          </a:p>
          <a:p>
            <a:pPr indent="0" lvl="0" marL="0" marR="0" rtl="0" algn="l">
              <a:spcBef>
                <a:spcPts val="0"/>
              </a:spcBef>
              <a:spcAft>
                <a:spcPts val="0"/>
              </a:spcAft>
              <a:buNone/>
            </a:pPr>
            <a:r>
              <a:t/>
            </a:r>
            <a:endParaRPr sz="1200">
              <a:solidFill>
                <a:schemeClr val="dk1"/>
              </a:solidFill>
            </a:endParaRPr>
          </a:p>
        </p:txBody>
      </p:sp>
      <p:sp>
        <p:nvSpPr>
          <p:cNvPr id="45" name="Google Shape;45;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 name="Google Shape;64;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5. Proposed system architecture (85 seconds)</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Presenter: Owen Zhang</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100">
                <a:solidFill>
                  <a:schemeClr val="dk1"/>
                </a:solidFill>
              </a:rPr>
              <a:t>Here’s the main loop. The </a:t>
            </a:r>
            <a:r>
              <a:rPr b="1" lang="en-US" sz="1100">
                <a:solidFill>
                  <a:schemeClr val="dk1"/>
                </a:solidFill>
              </a:rPr>
              <a:t>Case Manager</a:t>
            </a:r>
            <a:r>
              <a:rPr lang="en-US" sz="1100">
                <a:solidFill>
                  <a:schemeClr val="dk1"/>
                </a:solidFill>
              </a:rPr>
              <a:t> loads the case, and the </a:t>
            </a:r>
            <a:r>
              <a:rPr b="1" lang="en-US" sz="1100">
                <a:solidFill>
                  <a:schemeClr val="dk1"/>
                </a:solidFill>
              </a:rPr>
              <a:t>Evidence Manager</a:t>
            </a:r>
            <a:r>
              <a:rPr lang="en-US" sz="1100">
                <a:solidFill>
                  <a:schemeClr val="dk1"/>
                </a:solidFill>
              </a:rPr>
              <a:t> picks the logs and files that are actually relevant.</a:t>
            </a:r>
            <a:endParaRPr sz="11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100">
                <a:solidFill>
                  <a:schemeClr val="dk1"/>
                </a:solidFill>
              </a:rPr>
              <a:t>The </a:t>
            </a:r>
            <a:r>
              <a:rPr b="1" lang="en-US" sz="1100">
                <a:solidFill>
                  <a:schemeClr val="dk1"/>
                </a:solidFill>
              </a:rPr>
              <a:t>LLM Planner</a:t>
            </a:r>
            <a:r>
              <a:rPr lang="en-US" sz="1100">
                <a:solidFill>
                  <a:schemeClr val="dk1"/>
                </a:solidFill>
              </a:rPr>
              <a:t> forms a hypothesis. If it needs more information, it uses the </a:t>
            </a:r>
            <a:r>
              <a:rPr b="1" lang="en-US" sz="1100">
                <a:solidFill>
                  <a:schemeClr val="dk1"/>
                </a:solidFill>
              </a:rPr>
              <a:t>Controlled Tools</a:t>
            </a:r>
            <a:r>
              <a:rPr lang="en-US" sz="1100">
                <a:solidFill>
                  <a:schemeClr val="dk1"/>
                </a:solidFill>
              </a:rPr>
              <a:t> to inspect the source and build files. Once it has a possible fix, the </a:t>
            </a:r>
            <a:r>
              <a:rPr b="1" lang="en-US" sz="1100">
                <a:solidFill>
                  <a:schemeClr val="dk1"/>
                </a:solidFill>
              </a:rPr>
              <a:t>Repair Generator</a:t>
            </a:r>
            <a:r>
              <a:rPr lang="en-US" sz="1100">
                <a:solidFill>
                  <a:schemeClr val="dk1"/>
                </a:solidFill>
              </a:rPr>
              <a:t> makes the edit.</a:t>
            </a:r>
            <a:endParaRPr sz="11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100">
                <a:solidFill>
                  <a:schemeClr val="dk1"/>
                </a:solidFill>
              </a:rPr>
              <a:t>If build feedback is available, a failed build becomes new evidence and the agent tries again. We stop when it succeeds, hits its budget, or keeps repeating the same failure.</a:t>
            </a:r>
            <a:endParaRPr sz="11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100">
                <a:solidFill>
                  <a:schemeClr val="dk1"/>
                </a:solidFill>
              </a:rPr>
              <a:t>And importantly, the repair only counts when the </a:t>
            </a:r>
            <a:r>
              <a:rPr b="1" lang="en-US" sz="1100">
                <a:solidFill>
                  <a:schemeClr val="dk1"/>
                </a:solidFill>
              </a:rPr>
              <a:t>organizer runs the final clean build and verifies the artifacts</a:t>
            </a:r>
            <a:r>
              <a:rPr lang="en-US" sz="1100">
                <a:solidFill>
                  <a:schemeClr val="dk1"/>
                </a:solidFill>
              </a:rPr>
              <a:t>.</a:t>
            </a:r>
            <a:endParaRPr sz="11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100">
                <a:solidFill>
                  <a:schemeClr val="dk1"/>
                </a:solidFill>
              </a:rPr>
              <a:t>This architecture is still proposed, and the hosted model and build-feedback interfaces still need to be confirmed.</a:t>
            </a:r>
            <a:endParaRPr sz="1100">
              <a:solidFill>
                <a:schemeClr val="dk1"/>
              </a:solidFill>
            </a:endParaRPr>
          </a:p>
          <a:p>
            <a:pPr indent="0" lvl="0" marL="0" marR="0" rtl="0" algn="l">
              <a:spcBef>
                <a:spcPts val="1200"/>
              </a:spcBef>
              <a:spcAft>
                <a:spcPts val="0"/>
              </a:spcAft>
              <a:buNone/>
            </a:pPr>
            <a:r>
              <a:t/>
            </a:r>
            <a:endParaRPr sz="1100">
              <a:solidFill>
                <a:schemeClr val="dk1"/>
              </a:solidFill>
            </a:endParaRPr>
          </a:p>
        </p:txBody>
      </p:sp>
      <p:sp>
        <p:nvSpPr>
          <p:cNvPr id="65" name="Google Shape;65;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 name="Google Shape;91;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Presenter: Joonseo Moon</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rPr>
              <a:t>This is the loop each attempt runs, and the constraint that shapes it.</a:t>
            </a:r>
            <a:endParaRPr sz="1200">
              <a:solidFill>
                <a:schemeClr val="dk1"/>
              </a:solidFill>
            </a:endParaRPr>
          </a:p>
          <a:p>
            <a:pPr indent="0" lvl="0" marL="0" marR="0" rtl="0" algn="l">
              <a:spcBef>
                <a:spcPts val="0"/>
              </a:spcBef>
              <a:spcAft>
                <a:spcPts val="0"/>
              </a:spcAft>
              <a:buNone/>
            </a:pPr>
            <a:r>
              <a:t/>
            </a:r>
            <a:endParaRPr sz="1200">
              <a:solidFill>
                <a:schemeClr val="dk1"/>
              </a:solidFill>
            </a:endParaRPr>
          </a:p>
          <a:p>
            <a:pPr indent="0" lvl="0" marL="0" marR="0" rtl="0" algn="l">
              <a:spcBef>
                <a:spcPts val="0"/>
              </a:spcBef>
              <a:spcAft>
                <a:spcPts val="0"/>
              </a:spcAft>
              <a:buNone/>
            </a:pPr>
            <a:r>
              <a:rPr lang="en-US" sz="1200">
                <a:solidFill>
                  <a:schemeClr val="dk1"/>
                </a:solidFill>
              </a:rPr>
              <a:t>Observe the failure, state a hypothesis, gather evidence that could confirm or kill that hypothesis, make one bounded edit, and validate. If it fails, we revise the hypothesis and go again — and crucially, we don't just retry the same edit.</a:t>
            </a:r>
            <a:endParaRPr sz="1200">
              <a:solidFill>
                <a:schemeClr val="dk1"/>
              </a:solidFill>
            </a:endParaRPr>
          </a:p>
          <a:p>
            <a:pPr indent="0" lvl="0" marL="0" rtl="0" algn="l">
              <a:lnSpc>
                <a:spcPct val="115000"/>
              </a:lnSpc>
              <a:spcBef>
                <a:spcPts val="0"/>
              </a:spcBef>
              <a:spcAft>
                <a:spcPts val="0"/>
              </a:spcAft>
              <a:buSzPts val="1100"/>
              <a:buNone/>
            </a:pPr>
            <a:r>
              <a:t/>
            </a:r>
            <a:endParaRPr sz="1200">
              <a:solidFill>
                <a:schemeClr val="dk1"/>
              </a:solidFill>
            </a:endParaRPr>
          </a:p>
          <a:p>
            <a:pPr indent="0" lvl="0" marL="0" rtl="0" algn="l">
              <a:lnSpc>
                <a:spcPct val="115000"/>
              </a:lnSpc>
              <a:spcBef>
                <a:spcPts val="0"/>
              </a:spcBef>
              <a:spcAft>
                <a:spcPts val="0"/>
              </a:spcAft>
              <a:buSzPts val="1100"/>
              <a:buNone/>
            </a:pPr>
            <a:r>
              <a:rPr lang="en-US" sz="1200">
                <a:solidFill>
                  <a:schemeClr val="dk1"/>
                </a:solidFill>
              </a:rPr>
              <a:t>Why bounded evidence and not just dump everything into context? One log in our dataset is 2.37 gigabytes. You cannot put that in a prompt, and the repetitive noise would crowd out the line that actually matters. So we slice, and we keep track of where each slice came from.</a:t>
            </a:r>
            <a:endParaRPr sz="1200">
              <a:solidFill>
                <a:schemeClr val="dk1"/>
              </a:solidFill>
            </a:endParaRPr>
          </a:p>
          <a:p>
            <a:pPr indent="0" lvl="0" marL="0" rtl="0" algn="l">
              <a:lnSpc>
                <a:spcPct val="115000"/>
              </a:lnSpc>
              <a:spcBef>
                <a:spcPts val="0"/>
              </a:spcBef>
              <a:spcAft>
                <a:spcPts val="0"/>
              </a:spcAft>
              <a:buSzPts val="1100"/>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US" sz="1200">
                <a:solidFill>
                  <a:schemeClr val="dk1"/>
                </a:solidFill>
              </a:rPr>
              <a:t>Our proposed caps per case are five repair candidates, thirty minutes, thirty thousand tokens, and at most three in-loop builds. Those are our numbers for calibration — if the organizers publish stricter limits, theirs win.</a:t>
            </a:r>
            <a:endParaRPr sz="1200">
              <a:solidFill>
                <a:schemeClr val="dk1"/>
              </a:solidFill>
            </a:endParaRPr>
          </a:p>
          <a:p>
            <a:pPr indent="0" lvl="0" marL="0" marR="0" rtl="0" algn="l">
              <a:spcBef>
                <a:spcPts val="0"/>
              </a:spcBef>
              <a:spcAft>
                <a:spcPts val="0"/>
              </a:spcAft>
              <a:buNone/>
            </a:pPr>
            <a:br>
              <a:rPr lang="en-US" sz="1200">
                <a:solidFill>
                  <a:schemeClr val="dk1"/>
                </a:solidFill>
                <a:latin typeface="Arial"/>
                <a:ea typeface="Arial"/>
                <a:cs typeface="Arial"/>
                <a:sym typeface="Arial"/>
              </a:rPr>
            </a:br>
            <a:endParaRPr/>
          </a:p>
        </p:txBody>
      </p:sp>
      <p:sp>
        <p:nvSpPr>
          <p:cNvPr id="92" name="Google Shape;92;p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3" name="Google Shape;113;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7. Evaluation plan (60 seconds)</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Presenter: </a:t>
            </a:r>
            <a:r>
              <a:rPr lang="en-US" sz="1200">
                <a:solidFill>
                  <a:schemeClr val="dk1"/>
                </a:solidFill>
              </a:rPr>
              <a:t>Owen Zhang</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100">
                <a:solidFill>
                  <a:schemeClr val="dk1"/>
                </a:solidFill>
              </a:rPr>
              <a:t>So how do we know it worked? Our main metric is </a:t>
            </a:r>
            <a:r>
              <a:rPr b="1" lang="en-US" sz="1100">
                <a:solidFill>
                  <a:schemeClr val="dk1"/>
                </a:solidFill>
              </a:rPr>
              <a:t>Verified Build Success Rate</a:t>
            </a:r>
            <a:r>
              <a:rPr lang="en-US" sz="1100">
                <a:solidFill>
                  <a:schemeClr val="dk1"/>
                </a:solidFill>
              </a:rPr>
              <a:t>: how many cases successfully apply, build, and produce the expected artifacts out of the full evaluation set.</a:t>
            </a:r>
            <a:endParaRPr sz="11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100">
                <a:solidFill>
                  <a:schemeClr val="dk1"/>
                </a:solidFill>
              </a:rPr>
              <a:t>Failures stay in the denominator, so we can’t improve the score by ignoring hard cases.</a:t>
            </a:r>
            <a:endParaRPr sz="11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100">
                <a:solidFill>
                  <a:schemeClr val="dk1"/>
                </a:solidFill>
              </a:rPr>
              <a:t>We’ll compare improvements against our frozen Demo 2 prototype, and against the organizer baseline if we can reproduce it.</a:t>
            </a:r>
            <a:endParaRPr sz="11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100">
                <a:solidFill>
                  <a:schemeClr val="dk1"/>
                </a:solidFill>
              </a:rPr>
              <a:t>We’ll also track runtime, tokens, repair attempts, and tool calls, and repeat our ten-case experiments three times so we can see whether an improvement is consistent.</a:t>
            </a:r>
            <a:endParaRPr sz="1100">
              <a:solidFill>
                <a:schemeClr val="dk1"/>
              </a:solidFill>
            </a:endParaRPr>
          </a:p>
          <a:p>
            <a:pPr indent="0" lvl="0" marL="0" marR="0" rtl="0" algn="l">
              <a:spcBef>
                <a:spcPts val="1200"/>
              </a:spcBef>
              <a:spcAft>
                <a:spcPts val="0"/>
              </a:spcAft>
              <a:buNone/>
            </a:pPr>
            <a:r>
              <a:t/>
            </a:r>
            <a:endParaRPr sz="1100">
              <a:solidFill>
                <a:schemeClr val="dk1"/>
              </a:solidFill>
            </a:endParaRPr>
          </a:p>
          <a:p>
            <a:pPr indent="0" lvl="0" marL="0" marR="0" rtl="0" algn="l">
              <a:spcBef>
                <a:spcPts val="0"/>
              </a:spcBef>
              <a:spcAft>
                <a:spcPts val="0"/>
              </a:spcAft>
              <a:buNone/>
            </a:pPr>
            <a:r>
              <a:t/>
            </a:r>
            <a:endParaRPr sz="1200">
              <a:solidFill>
                <a:schemeClr val="dk1"/>
              </a:solidFill>
            </a:endParaRPr>
          </a:p>
        </p:txBody>
      </p:sp>
      <p:sp>
        <p:nvSpPr>
          <p:cNvPr id="114" name="Google Shape;114;p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7" name="Google Shape;127;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Presenter: Joonseo Moon</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rPr>
              <a:t>Three checkpoints.</a:t>
            </a:r>
            <a:endParaRPr sz="1200">
              <a:solidFill>
                <a:schemeClr val="dk1"/>
              </a:solidFill>
            </a:endParaRPr>
          </a:p>
          <a:p>
            <a:pPr indent="0" lvl="0" marL="0" marR="0" rtl="0" algn="l">
              <a:spcBef>
                <a:spcPts val="0"/>
              </a:spcBef>
              <a:spcAft>
                <a:spcPts val="0"/>
              </a:spcAft>
              <a:buNone/>
            </a:pPr>
            <a:r>
              <a:t/>
            </a:r>
            <a:endParaRPr sz="1200">
              <a:solidFill>
                <a:schemeClr val="dk1"/>
              </a:solidFill>
            </a:endParaRPr>
          </a:p>
          <a:p>
            <a:pPr indent="0" lvl="0" marL="0" marR="0" rtl="0" algn="l">
              <a:spcBef>
                <a:spcPts val="0"/>
              </a:spcBef>
              <a:spcAft>
                <a:spcPts val="0"/>
              </a:spcAft>
              <a:buNone/>
            </a:pPr>
            <a:r>
              <a:rPr lang="en-US" sz="1200">
                <a:solidFill>
                  <a:schemeClr val="dk1"/>
                </a:solidFill>
              </a:rPr>
              <a:t>By Demo 2 on October 21: a runnable prototype, ten frozen cases, and either a working baseline comparison or a documented blocker explaining why it doesn't run. We're being deliberate about that 'or' — the hosted model and build-feedback interfaces are still unconfirmed, and if they block us, reporting that precisely is the deliverable.</a:t>
            </a:r>
            <a:endParaRPr sz="1200">
              <a:solidFill>
                <a:schemeClr val="dk1"/>
              </a:solidFill>
            </a:endParaRPr>
          </a:p>
          <a:p>
            <a:pPr indent="0" lvl="0" marL="0" rtl="0" algn="l">
              <a:lnSpc>
                <a:spcPct val="115000"/>
              </a:lnSpc>
              <a:spcBef>
                <a:spcPts val="0"/>
              </a:spcBef>
              <a:spcAft>
                <a:spcPts val="0"/>
              </a:spcAft>
              <a:buSzPts val="1100"/>
              <a:buNone/>
            </a:pPr>
            <a:r>
              <a:t/>
            </a:r>
            <a:endParaRPr sz="1200">
              <a:solidFill>
                <a:schemeClr val="dk1"/>
              </a:solidFill>
            </a:endParaRPr>
          </a:p>
          <a:p>
            <a:pPr indent="0" lvl="0" marL="0" rtl="0" algn="l">
              <a:lnSpc>
                <a:spcPct val="115000"/>
              </a:lnSpc>
              <a:spcBef>
                <a:spcPts val="0"/>
              </a:spcBef>
              <a:spcAft>
                <a:spcPts val="0"/>
              </a:spcAft>
              <a:buSzPts val="1100"/>
              <a:buNone/>
            </a:pPr>
            <a:r>
              <a:rPr lang="en-US" sz="1200">
                <a:solidFill>
                  <a:schemeClr val="dk1"/>
                </a:solidFill>
              </a:rPr>
              <a:t>By Demo 3 on November 16: We will run the same ten cases with three full runs each attempting to show a measurable gain — either one additional repair per ten cases on average, or twenty percent fewer tokens without losing any case we'd already fixed.</a:t>
            </a:r>
            <a:endParaRPr sz="1200">
              <a:solidFill>
                <a:schemeClr val="dk1"/>
              </a:solidFill>
            </a:endParaRPr>
          </a:p>
          <a:p>
            <a:pPr indent="0" lvl="0" marL="0" rtl="0" algn="l">
              <a:lnSpc>
                <a:spcPct val="115000"/>
              </a:lnSpc>
              <a:spcBef>
                <a:spcPts val="0"/>
              </a:spcBef>
              <a:spcAft>
                <a:spcPts val="0"/>
              </a:spcAft>
              <a:buSzPts val="1100"/>
              <a:buNone/>
            </a:pPr>
            <a:r>
              <a:t/>
            </a:r>
            <a:endParaRPr sz="1200">
              <a:solidFill>
                <a:schemeClr val="dk1"/>
              </a:solidFill>
            </a:endParaRPr>
          </a:p>
          <a:p>
            <a:pPr indent="0" lvl="0" marL="0" rtl="0" algn="l">
              <a:lnSpc>
                <a:spcPct val="115000"/>
              </a:lnSpc>
              <a:spcBef>
                <a:spcPts val="0"/>
              </a:spcBef>
              <a:spcAft>
                <a:spcPts val="0"/>
              </a:spcAft>
              <a:buSzPts val="1100"/>
              <a:buNone/>
            </a:pPr>
            <a:r>
              <a:rPr lang="en-US" sz="1200">
                <a:solidFill>
                  <a:schemeClr val="dk1"/>
                </a:solidFill>
              </a:rPr>
              <a:t>By the final: forty cases, thirty of them held out from tuning.</a:t>
            </a:r>
            <a:endParaRPr sz="1200">
              <a:solidFill>
                <a:schemeClr val="dk1"/>
              </a:solidFill>
            </a:endParaRPr>
          </a:p>
          <a:p>
            <a:pPr indent="0" lvl="0" marL="0" rtl="0" algn="l">
              <a:lnSpc>
                <a:spcPct val="115000"/>
              </a:lnSpc>
              <a:spcBef>
                <a:spcPts val="0"/>
              </a:spcBef>
              <a:spcAft>
                <a:spcPts val="0"/>
              </a:spcAft>
              <a:buSzPts val="1100"/>
              <a:buNone/>
            </a:pPr>
            <a:r>
              <a:t/>
            </a:r>
            <a:endParaRPr sz="1200">
              <a:solidFill>
                <a:schemeClr val="dk1"/>
              </a:solidFill>
            </a:endParaRPr>
          </a:p>
          <a:p>
            <a:pPr indent="0" lvl="0" marL="0" rtl="0" algn="l">
              <a:lnSpc>
                <a:spcPct val="115000"/>
              </a:lnSpc>
              <a:spcBef>
                <a:spcPts val="0"/>
              </a:spcBef>
              <a:spcAft>
                <a:spcPts val="0"/>
              </a:spcAft>
              <a:buSzPts val="1100"/>
              <a:buNone/>
            </a:pPr>
            <a:r>
              <a:rPr lang="en-US" sz="1200">
                <a:solidFill>
                  <a:schemeClr val="dk1"/>
                </a:solidFill>
              </a:rPr>
              <a:t>One thing to note for us is that the competition's deadline freeze is November 13 which is before Demo 3. So for us this likely means our competition version will be ready ahead of our own schedule.</a:t>
            </a:r>
            <a:endParaRPr sz="1200">
              <a:solidFill>
                <a:schemeClr val="dk1"/>
              </a:solidFill>
            </a:endParaRPr>
          </a:p>
        </p:txBody>
      </p:sp>
      <p:sp>
        <p:nvSpPr>
          <p:cNvPr id="128" name="Google Shape;128;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8" name="Google Shape;148;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9. Current status and next steps (45 seconds)</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Presenter: </a:t>
            </a:r>
            <a:r>
              <a:rPr lang="en-US" sz="1200">
                <a:solidFill>
                  <a:schemeClr val="dk1"/>
                </a:solidFill>
              </a:rPr>
              <a:t>Owen Zhang</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100">
                <a:solidFill>
                  <a:schemeClr val="dk1"/>
                </a:solidFill>
              </a:rPr>
              <a:t>Here’s where we are today. We’ve downloaded all </a:t>
            </a:r>
            <a:r>
              <a:rPr b="1" lang="en-US" sz="1100">
                <a:solidFill>
                  <a:schemeClr val="dk1"/>
                </a:solidFill>
              </a:rPr>
              <a:t>200 public cases across 188 packages</a:t>
            </a:r>
            <a:r>
              <a:rPr lang="en-US" sz="1100">
                <a:solidFill>
                  <a:schemeClr val="dk1"/>
                </a:solidFill>
              </a:rPr>
              <a:t> and verified the dataset files.</a:t>
            </a:r>
            <a:endParaRPr sz="1100">
              <a:solidFill>
                <a:schemeClr val="dk1"/>
              </a:solidFill>
            </a:endParaRPr>
          </a:p>
          <a:p>
            <a:pPr indent="0" lvl="0" marL="381000" marR="381000" rtl="0" algn="l">
              <a:lnSpc>
                <a:spcPct val="115000"/>
              </a:lnSpc>
              <a:spcBef>
                <a:spcPts val="1200"/>
              </a:spcBef>
              <a:spcAft>
                <a:spcPts val="0"/>
              </a:spcAft>
              <a:buClr>
                <a:schemeClr val="dk1"/>
              </a:buClr>
              <a:buSzPts val="1100"/>
              <a:buFont typeface="Arial"/>
              <a:buNone/>
            </a:pPr>
            <a:r>
              <a:rPr lang="en-US" sz="1100">
                <a:solidFill>
                  <a:schemeClr val="dk1"/>
                </a:solidFill>
              </a:rPr>
              <a:t>We also reproduced the organizer’s hello example end to end on Linux, but that uses their scripted agent—not our LLM agent and not a real Debian repair case.</a:t>
            </a:r>
            <a:endParaRPr sz="1100">
              <a:solidFill>
                <a:schemeClr val="dk1"/>
              </a:solidFill>
            </a:endParaRPr>
          </a:p>
          <a:p>
            <a:pPr indent="0" lvl="0" marL="381000" marR="381000" rtl="0" algn="l">
              <a:lnSpc>
                <a:spcPct val="115000"/>
              </a:lnSpc>
              <a:spcBef>
                <a:spcPts val="1200"/>
              </a:spcBef>
              <a:spcAft>
                <a:spcPts val="0"/>
              </a:spcAft>
              <a:buClr>
                <a:schemeClr val="dk1"/>
              </a:buClr>
              <a:buSzPts val="1100"/>
              <a:buFont typeface="Arial"/>
              <a:buNone/>
            </a:pPr>
            <a:r>
              <a:rPr lang="en-US" sz="1100">
                <a:solidFill>
                  <a:schemeClr val="dk1"/>
                </a:solidFill>
              </a:rPr>
              <a:t>Next, we’ll set up our x86-64 and ARM64 AWS environments and reproduce one real Debian failure before trying to repair it.</a:t>
            </a:r>
            <a:endParaRPr sz="1100">
              <a:solidFill>
                <a:schemeClr val="dk1"/>
              </a:solidFill>
            </a:endParaRPr>
          </a:p>
          <a:p>
            <a:pPr indent="0" lvl="0" marL="381000" marR="381000" rtl="0" algn="l">
              <a:lnSpc>
                <a:spcPct val="115000"/>
              </a:lnSpc>
              <a:spcBef>
                <a:spcPts val="1200"/>
              </a:spcBef>
              <a:spcAft>
                <a:spcPts val="0"/>
              </a:spcAft>
              <a:buClr>
                <a:schemeClr val="dk1"/>
              </a:buClr>
              <a:buSzPts val="1100"/>
              <a:buFont typeface="Arial"/>
              <a:buNone/>
            </a:pPr>
            <a:r>
              <a:rPr lang="en-US" sz="1100">
                <a:solidFill>
                  <a:schemeClr val="dk1"/>
                </a:solidFill>
              </a:rPr>
              <a:t>At the same time, we’ll confirm the model and build-feedback interfaces and start implementing the repair loop.</a:t>
            </a:r>
            <a:endParaRPr sz="1100">
              <a:solidFill>
                <a:schemeClr val="dk1"/>
              </a:solidFill>
            </a:endParaRPr>
          </a:p>
          <a:p>
            <a:pPr indent="0" lvl="0" marL="381000" marR="381000" rtl="0" algn="l">
              <a:lnSpc>
                <a:spcPct val="115000"/>
              </a:lnSpc>
              <a:spcBef>
                <a:spcPts val="1200"/>
              </a:spcBef>
              <a:spcAft>
                <a:spcPts val="0"/>
              </a:spcAft>
              <a:buClr>
                <a:schemeClr val="dk1"/>
              </a:buClr>
              <a:buSzPts val="1100"/>
              <a:buFont typeface="Arial"/>
              <a:buNone/>
            </a:pPr>
            <a:r>
              <a:rPr lang="en-US" sz="1100">
                <a:solidFill>
                  <a:schemeClr val="dk1"/>
                </a:solidFill>
              </a:rPr>
              <a:t>The main challenge throughout the project is choosing the right evidence and updating the diagnosis without wasting our budget.</a:t>
            </a:r>
            <a:endParaRPr sz="1100">
              <a:solidFill>
                <a:schemeClr val="dk1"/>
              </a:solidFill>
            </a:endParaRPr>
          </a:p>
          <a:p>
            <a:pPr indent="0" lvl="0" marL="0" marR="0" rtl="0" algn="l">
              <a:spcBef>
                <a:spcPts val="1200"/>
              </a:spcBef>
              <a:spcAft>
                <a:spcPts val="0"/>
              </a:spcAft>
              <a:buNone/>
            </a:pPr>
            <a:r>
              <a:t/>
            </a:r>
            <a:endParaRPr sz="1100">
              <a:solidFill>
                <a:schemeClr val="dk1"/>
              </a:solidFill>
            </a:endParaRPr>
          </a:p>
          <a:p>
            <a:pPr indent="0" lvl="0" marL="0" marR="0" rtl="0" algn="l">
              <a:spcBef>
                <a:spcPts val="0"/>
              </a:spcBef>
              <a:spcAft>
                <a:spcPts val="0"/>
              </a:spcAft>
              <a:buNone/>
            </a:pPr>
            <a:r>
              <a:t/>
            </a:r>
            <a:endParaRPr sz="1200">
              <a:solidFill>
                <a:schemeClr val="dk1"/>
              </a:solidFill>
            </a:endParaRPr>
          </a:p>
          <a:p>
            <a:pPr indent="0" lvl="0" marL="0" marR="0" rtl="0" algn="l">
              <a:spcBef>
                <a:spcPts val="0"/>
              </a:spcBef>
              <a:spcAft>
                <a:spcPts val="0"/>
              </a:spcAft>
              <a:buNone/>
            </a:pPr>
            <a:r>
              <a:t/>
            </a:r>
            <a:endParaRPr sz="1200">
              <a:solidFill>
                <a:schemeClr val="dk1"/>
              </a:solidFill>
            </a:endParaRPr>
          </a:p>
        </p:txBody>
      </p:sp>
      <p:sp>
        <p:nvSpPr>
          <p:cNvPr id="149" name="Google Shape;149;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3" name="Google Shape;163;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Presenter: Joonseo Moon</a:t>
            </a:r>
            <a:br>
              <a:rPr lang="en-US" sz="1200">
                <a:solidFill>
                  <a:schemeClr val="dk1"/>
                </a:solidFill>
                <a:latin typeface="Arial"/>
                <a:ea typeface="Arial"/>
                <a:cs typeface="Arial"/>
                <a:sym typeface="Arial"/>
              </a:rPr>
            </a:br>
            <a:endParaRPr sz="1200">
              <a:solidFill>
                <a:schemeClr val="dk1"/>
              </a:solidFill>
            </a:endParaRPr>
          </a:p>
          <a:p>
            <a:pPr indent="0" lvl="0" marL="0" marR="0" rtl="0" algn="l">
              <a:spcBef>
                <a:spcPts val="0"/>
              </a:spcBef>
              <a:spcAft>
                <a:spcPts val="0"/>
              </a:spcAft>
              <a:buNone/>
            </a:pPr>
            <a:r>
              <a:rPr lang="en-US" sz="1200">
                <a:solidFill>
                  <a:schemeClr val="dk1"/>
                </a:solidFill>
              </a:rPr>
              <a:t>Three things to take away.</a:t>
            </a:r>
            <a:endParaRPr sz="1200">
              <a:solidFill>
                <a:schemeClr val="dk1"/>
              </a:solidFill>
            </a:endParaRPr>
          </a:p>
          <a:p>
            <a:pPr indent="0" lvl="0" marL="0" marR="0" rtl="0" algn="l">
              <a:spcBef>
                <a:spcPts val="0"/>
              </a:spcBef>
              <a:spcAft>
                <a:spcPts val="0"/>
              </a:spcAft>
              <a:buNone/>
            </a:pPr>
            <a:r>
              <a:t/>
            </a:r>
            <a:endParaRPr sz="1200">
              <a:solidFill>
                <a:schemeClr val="dk1"/>
              </a:solidFill>
            </a:endParaRPr>
          </a:p>
          <a:p>
            <a:pPr indent="0" lvl="0" marL="0" marR="0" rtl="0" algn="l">
              <a:spcBef>
                <a:spcPts val="0"/>
              </a:spcBef>
              <a:spcAft>
                <a:spcPts val="0"/>
              </a:spcAft>
              <a:buNone/>
            </a:pPr>
            <a:r>
              <a:rPr lang="en-US" sz="1200">
                <a:solidFill>
                  <a:schemeClr val="dk1"/>
                </a:solidFill>
              </a:rPr>
              <a:t>First, success here is external and binary. We don't get to grade ourselves. The organizer's clean build either produces verified artifacts or it doesn't.</a:t>
            </a:r>
            <a:endParaRPr sz="1200">
              <a:solidFill>
                <a:schemeClr val="dk1"/>
              </a:solidFill>
            </a:endParaRPr>
          </a:p>
          <a:p>
            <a:pPr indent="0" lvl="0" marL="0" rtl="0" algn="l">
              <a:lnSpc>
                <a:spcPct val="115000"/>
              </a:lnSpc>
              <a:spcBef>
                <a:spcPts val="0"/>
              </a:spcBef>
              <a:spcAft>
                <a:spcPts val="0"/>
              </a:spcAft>
              <a:buSzPts val="1100"/>
              <a:buNone/>
            </a:pPr>
            <a:r>
              <a:t/>
            </a:r>
            <a:endParaRPr sz="1200">
              <a:solidFill>
                <a:schemeClr val="dk1"/>
              </a:solidFill>
            </a:endParaRPr>
          </a:p>
          <a:p>
            <a:pPr indent="0" lvl="0" marL="0" rtl="0" algn="l">
              <a:lnSpc>
                <a:spcPct val="115000"/>
              </a:lnSpc>
              <a:spcBef>
                <a:spcPts val="0"/>
              </a:spcBef>
              <a:spcAft>
                <a:spcPts val="0"/>
              </a:spcAft>
              <a:buSzPts val="1100"/>
              <a:buNone/>
            </a:pPr>
            <a:r>
              <a:rPr lang="en-US" sz="1200">
                <a:solidFill>
                  <a:schemeClr val="dk1"/>
                </a:solidFill>
              </a:rPr>
              <a:t>Second, our agent is designed around testing stated hypotheses rather than guessing repeatedly. Bounded evidence, explicit repair history, and hard caps on what any single case can consume.</a:t>
            </a:r>
            <a:endParaRPr sz="1200">
              <a:solidFill>
                <a:schemeClr val="dk1"/>
              </a:solidFill>
            </a:endParaRPr>
          </a:p>
          <a:p>
            <a:pPr indent="0" lvl="0" marL="0" rtl="0" algn="l">
              <a:lnSpc>
                <a:spcPct val="115000"/>
              </a:lnSpc>
              <a:spcBef>
                <a:spcPts val="0"/>
              </a:spcBef>
              <a:spcAft>
                <a:spcPts val="0"/>
              </a:spcAft>
              <a:buSzPts val="1100"/>
              <a:buNone/>
            </a:pPr>
            <a:r>
              <a:t/>
            </a:r>
            <a:endParaRPr sz="1200">
              <a:solidFill>
                <a:schemeClr val="dk1"/>
              </a:solidFill>
            </a:endParaRPr>
          </a:p>
          <a:p>
            <a:pPr indent="0" lvl="0" marL="0" rtl="0" algn="l">
              <a:lnSpc>
                <a:spcPct val="115000"/>
              </a:lnSpc>
              <a:spcBef>
                <a:spcPts val="0"/>
              </a:spcBef>
              <a:spcAft>
                <a:spcPts val="0"/>
              </a:spcAft>
              <a:buSzPts val="1100"/>
              <a:buNone/>
            </a:pPr>
            <a:r>
              <a:rPr lang="en-US" sz="1200">
                <a:solidFill>
                  <a:schemeClr val="dk1"/>
                </a:solidFill>
              </a:rPr>
              <a:t>Third, our next checkpoint is measurable, not aspirational: a runnable prototype on ten fixed cases by October 21, with a baseline comparison or a documented blocker.</a:t>
            </a:r>
            <a:endParaRPr sz="1200">
              <a:solidFill>
                <a:schemeClr val="dk1"/>
              </a:solidFill>
            </a:endParaRPr>
          </a:p>
          <a:p>
            <a:pPr indent="0" lvl="0" marL="0" rtl="0" algn="l">
              <a:lnSpc>
                <a:spcPct val="115000"/>
              </a:lnSpc>
              <a:spcBef>
                <a:spcPts val="0"/>
              </a:spcBef>
              <a:spcAft>
                <a:spcPts val="0"/>
              </a:spcAft>
              <a:buSzPts val="1100"/>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US" sz="1200">
                <a:solidFill>
                  <a:schemeClr val="dk1"/>
                </a:solidFill>
              </a:rPr>
              <a:t>Happy to take questions.</a:t>
            </a:r>
            <a:endParaRPr sz="1200">
              <a:solidFill>
                <a:schemeClr val="dk1"/>
              </a:solidFill>
            </a:endParaRPr>
          </a:p>
          <a:p>
            <a:pPr indent="0" lvl="0" marL="0" marR="0" rtl="0" algn="l">
              <a:spcBef>
                <a:spcPts val="0"/>
              </a:spcBef>
              <a:spcAft>
                <a:spcPts val="0"/>
              </a:spcAft>
              <a:buNone/>
            </a:pPr>
            <a:r>
              <a:t/>
            </a:r>
            <a:endParaRPr sz="1200">
              <a:solidFill>
                <a:schemeClr val="dk1"/>
              </a:solidFill>
            </a:endParaRPr>
          </a:p>
        </p:txBody>
      </p:sp>
      <p:sp>
        <p:nvSpPr>
          <p:cNvPr id="164" name="Google Shape;164;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2" name="Google Shape;172;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11. References (backup) (0 seconds)</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Presenter: either presenter</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Backup slide. Do not advance here during Q&amp;A; stay on the conclusions slide.</a:t>
            </a:r>
            <a:endParaRPr/>
          </a:p>
        </p:txBody>
      </p:sp>
      <p:sp>
        <p:nvSpPr>
          <p:cNvPr id="173" name="Google Shape;173;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0" name="Google Shape;180;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Appendix A — Likely question: how does a sandboxed agent reach a model and a build?</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The local runner disables agent networking and exposes no model or iterative validation client. The proposed file request/response bridge is not implemented and is not an organizer interface. The agent never receives credentials or a Docker socket.</a:t>
            </a:r>
            <a:endParaRPr/>
          </a:p>
        </p:txBody>
      </p:sp>
      <p:sp>
        <p:nvSpPr>
          <p:cNvPr id="181" name="Google Shape;181;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0" name="Google Shape;190;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Appendix B — Likely question: can the public cases be run today?</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The hosted Debian worktree layout and allowed edit paths still need confirmation from the organizers. AWS does not solve historical dependency reproduction by itself.</a:t>
            </a:r>
            <a:endParaRPr/>
          </a:p>
        </p:txBody>
      </p:sp>
      <p:sp>
        <p:nvSpPr>
          <p:cNvPr id="191" name="Google Shape;191;p1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0" name="Google Shape;200;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Appendix C — Likely question: what if the official baseline cannot run?</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Later versions are always compared against the frozen Demo 2 prototype, so the Demo 3 comparison does not depend on the official baseline.</a:t>
            </a:r>
            <a:endParaRPr/>
          </a:p>
        </p:txBody>
      </p:sp>
      <p:sp>
        <p:nvSpPr>
          <p:cNvPr id="201" name="Google Shape;201;p1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6" name="Shape 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4E79"/>
        </a:solidFill>
      </p:bgPr>
    </p:bg>
    <p:spTree>
      <p:nvGrpSpPr>
        <p:cNvPr id="11" name="Shape 11"/>
        <p:cNvGrpSpPr/>
        <p:nvPr/>
      </p:nvGrpSpPr>
      <p:grpSpPr>
        <a:xfrm>
          <a:off x="0" y="0"/>
          <a:ext cx="0" cy="0"/>
          <a:chOff x="0" y="0"/>
          <a:chExt cx="0" cy="0"/>
        </a:xfrm>
      </p:grpSpPr>
      <p:sp>
        <p:nvSpPr>
          <p:cNvPr id="12" name="Google Shape;12;p1"/>
          <p:cNvSpPr txBox="1"/>
          <p:nvPr/>
        </p:nvSpPr>
        <p:spPr>
          <a:xfrm>
            <a:off x="640080" y="411480"/>
            <a:ext cx="786384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ADCFC"/>
              </a:buClr>
              <a:buSzPts val="1400"/>
              <a:buFont typeface="Arial"/>
              <a:buNone/>
            </a:pPr>
            <a:r>
              <a:rPr b="0" i="0" lang="en-US" sz="1400" u="none" cap="none" strike="noStrike">
                <a:solidFill>
                  <a:srgbClr val="CADCFC"/>
                </a:solidFill>
                <a:latin typeface="Arial"/>
                <a:ea typeface="Arial"/>
                <a:cs typeface="Arial"/>
                <a:sym typeface="Arial"/>
              </a:rPr>
              <a:t>Boston University  ·  EC528 Cloud Computing  ·  Fall 2026</a:t>
            </a:r>
            <a:endParaRPr b="0" i="0" sz="1400" u="none" cap="none" strike="noStrike">
              <a:solidFill>
                <a:schemeClr val="dk1"/>
              </a:solidFill>
              <a:latin typeface="Calibri"/>
              <a:ea typeface="Calibri"/>
              <a:cs typeface="Calibri"/>
              <a:sym typeface="Calibri"/>
            </a:endParaRPr>
          </a:p>
        </p:txBody>
      </p:sp>
      <p:sp>
        <p:nvSpPr>
          <p:cNvPr id="13" name="Google Shape;13;p1"/>
          <p:cNvSpPr txBox="1"/>
          <p:nvPr/>
        </p:nvSpPr>
        <p:spPr>
          <a:xfrm>
            <a:off x="640080" y="914400"/>
            <a:ext cx="786384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3600"/>
              <a:buFont typeface="Arial"/>
              <a:buNone/>
            </a:pPr>
            <a:r>
              <a:rPr b="1" i="0" lang="en-US" sz="3600" u="none" cap="none" strike="noStrike">
                <a:solidFill>
                  <a:srgbClr val="FFFFFF"/>
                </a:solidFill>
                <a:latin typeface="Arial"/>
                <a:ea typeface="Arial"/>
                <a:cs typeface="Arial"/>
                <a:sym typeface="Arial"/>
              </a:rPr>
              <a:t>Build-Bench Challenge</a:t>
            </a:r>
            <a:endParaRPr b="0" i="0" sz="3600" u="none" cap="none" strike="noStrike">
              <a:solidFill>
                <a:schemeClr val="dk1"/>
              </a:solidFill>
              <a:latin typeface="Calibri"/>
              <a:ea typeface="Calibri"/>
              <a:cs typeface="Calibri"/>
              <a:sym typeface="Calibri"/>
            </a:endParaRPr>
          </a:p>
        </p:txBody>
      </p:sp>
      <p:sp>
        <p:nvSpPr>
          <p:cNvPr id="14" name="Google Shape;14;p1"/>
          <p:cNvSpPr txBox="1"/>
          <p:nvPr/>
        </p:nvSpPr>
        <p:spPr>
          <a:xfrm>
            <a:off x="640080" y="1554480"/>
            <a:ext cx="786384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ADCFC"/>
              </a:buClr>
              <a:buSzPts val="2200"/>
              <a:buFont typeface="Arial"/>
              <a:buNone/>
            </a:pPr>
            <a:r>
              <a:rPr b="0" i="0" lang="en-US" sz="2200" u="none" cap="none" strike="noStrike">
                <a:solidFill>
                  <a:srgbClr val="CADCFC"/>
                </a:solidFill>
                <a:latin typeface="Arial"/>
                <a:ea typeface="Arial"/>
                <a:cs typeface="Arial"/>
                <a:sym typeface="Arial"/>
              </a:rPr>
              <a:t>Autonomous LLM Agents for</a:t>
            </a:r>
            <a:endParaRPr b="0" i="0" sz="2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ADCFC"/>
              </a:buClr>
              <a:buSzPts val="2200"/>
              <a:buFont typeface="Arial"/>
              <a:buNone/>
            </a:pPr>
            <a:r>
              <a:rPr b="0" i="0" lang="en-US" sz="2200" u="none" cap="none" strike="noStrike">
                <a:solidFill>
                  <a:srgbClr val="CADCFC"/>
                </a:solidFill>
                <a:latin typeface="Arial"/>
                <a:ea typeface="Arial"/>
                <a:cs typeface="Arial"/>
                <a:sym typeface="Arial"/>
              </a:rPr>
              <a:t>Cross-Architecture Package Repair</a:t>
            </a:r>
            <a:endParaRPr b="0" i="0" sz="2200" u="none" cap="none" strike="noStrike">
              <a:solidFill>
                <a:schemeClr val="dk1"/>
              </a:solidFill>
              <a:latin typeface="Calibri"/>
              <a:ea typeface="Calibri"/>
              <a:cs typeface="Calibri"/>
              <a:sym typeface="Calibri"/>
            </a:endParaRPr>
          </a:p>
        </p:txBody>
      </p:sp>
      <p:sp>
        <p:nvSpPr>
          <p:cNvPr id="15" name="Google Shape;15;p1"/>
          <p:cNvSpPr txBox="1"/>
          <p:nvPr/>
        </p:nvSpPr>
        <p:spPr>
          <a:xfrm>
            <a:off x="640080" y="2487168"/>
            <a:ext cx="7680960" cy="68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1800"/>
              <a:buFont typeface="Arial"/>
              <a:buNone/>
            </a:pPr>
            <a:r>
              <a:rPr b="0" i="1" lang="en-US" sz="1800" u="none" cap="none" strike="noStrike">
                <a:solidFill>
                  <a:srgbClr val="FFFFFF"/>
                </a:solidFill>
                <a:latin typeface="Arial"/>
                <a:ea typeface="Arial"/>
                <a:cs typeface="Arial"/>
                <a:sym typeface="Arial"/>
              </a:rPr>
              <a:t>Can an LLM agent repair a package that fails on a new CPU architecture, and have the repair verified by a clean build?</a:t>
            </a:r>
            <a:endParaRPr b="0" i="0" sz="1800" u="none" cap="none" strike="noStrike">
              <a:solidFill>
                <a:schemeClr val="dk1"/>
              </a:solidFill>
              <a:latin typeface="Calibri"/>
              <a:ea typeface="Calibri"/>
              <a:cs typeface="Calibri"/>
              <a:sym typeface="Calibri"/>
            </a:endParaRPr>
          </a:p>
        </p:txBody>
      </p:sp>
      <p:sp>
        <p:nvSpPr>
          <p:cNvPr id="16" name="Google Shape;16;p1"/>
          <p:cNvSpPr txBox="1"/>
          <p:nvPr/>
        </p:nvSpPr>
        <p:spPr>
          <a:xfrm>
            <a:off x="640080" y="3383280"/>
            <a:ext cx="7863840" cy="12801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Presenters: Owen Zhang and Joonseo Moon</a:t>
            </a:r>
            <a:endParaRPr b="0" i="0" sz="1600" u="none" cap="none" strike="noStrike">
              <a:solidFill>
                <a:schemeClr val="dk1"/>
              </a:solidFill>
              <a:latin typeface="Calibri"/>
              <a:ea typeface="Calibri"/>
              <a:cs typeface="Calibri"/>
              <a:sym typeface="Calibri"/>
            </a:endParaRPr>
          </a:p>
          <a:p>
            <a:pPr indent="0" lvl="0" marL="0" marR="0" rtl="0" algn="l">
              <a:spcBef>
                <a:spcPts val="400"/>
              </a:spcBef>
              <a:spcAft>
                <a:spcPts val="0"/>
              </a:spcAft>
              <a:buClr>
                <a:srgbClr val="CADCFC"/>
              </a:buClr>
              <a:buSzPts val="1400"/>
              <a:buFont typeface="Arial"/>
              <a:buNone/>
            </a:pPr>
            <a:r>
              <a:rPr b="0" i="0" lang="en-US" sz="1400" u="none" cap="none" strike="noStrike">
                <a:solidFill>
                  <a:srgbClr val="CADCFC"/>
                </a:solidFill>
                <a:latin typeface="Arial"/>
                <a:ea typeface="Arial"/>
                <a:cs typeface="Arial"/>
                <a:sym typeface="Arial"/>
              </a:rPr>
              <a:t>Team: Anthony Capraru, Austin Li, Joonseo Moon, Juliette Jacques, Owen Zhang</a:t>
            </a:r>
            <a:endParaRPr b="0" i="0" sz="1600" u="none" cap="none" strike="noStrike">
              <a:solidFill>
                <a:schemeClr val="dk1"/>
              </a:solidFill>
              <a:latin typeface="Calibri"/>
              <a:ea typeface="Calibri"/>
              <a:cs typeface="Calibri"/>
              <a:sym typeface="Calibri"/>
            </a:endParaRPr>
          </a:p>
          <a:p>
            <a:pPr indent="0" lvl="0" marL="0" marR="0" rtl="0" algn="l">
              <a:spcBef>
                <a:spcPts val="400"/>
              </a:spcBef>
              <a:spcAft>
                <a:spcPts val="0"/>
              </a:spcAft>
              <a:buClr>
                <a:srgbClr val="CADCFC"/>
              </a:buClr>
              <a:buSzPts val="1400"/>
              <a:buFont typeface="Arial"/>
              <a:buNone/>
            </a:pPr>
            <a:r>
              <a:rPr b="0" i="0" lang="en-US" sz="1400" u="none" cap="none" strike="noStrike">
                <a:solidFill>
                  <a:srgbClr val="CADCFC"/>
                </a:solidFill>
                <a:latin typeface="Arial"/>
                <a:ea typeface="Arial"/>
                <a:cs typeface="Arial"/>
                <a:sym typeface="Arial"/>
              </a:rPr>
              <a:t>Mentor: Minghua Ma, Microsoft</a:t>
            </a:r>
            <a:endParaRPr b="0" i="0" sz="1600" u="none" cap="none" strike="noStrike">
              <a:solidFill>
                <a:schemeClr val="dk1"/>
              </a:solidFill>
              <a:latin typeface="Calibri"/>
              <a:ea typeface="Calibri"/>
              <a:cs typeface="Calibri"/>
              <a:sym typeface="Calibri"/>
            </a:endParaRPr>
          </a:p>
          <a:p>
            <a:pPr indent="0" lvl="0" marL="0" marR="0" rtl="0" algn="l">
              <a:spcBef>
                <a:spcPts val="400"/>
              </a:spcBef>
              <a:spcAft>
                <a:spcPts val="0"/>
              </a:spcAft>
              <a:buClr>
                <a:srgbClr val="CADCFC"/>
              </a:buClr>
              <a:buSzPts val="1400"/>
              <a:buFont typeface="Arial"/>
              <a:buNone/>
            </a:pPr>
            <a:r>
              <a:rPr b="0" i="0" lang="en-US" sz="1400" u="none" cap="none" strike="noStrike">
                <a:solidFill>
                  <a:srgbClr val="CADCFC"/>
                </a:solidFill>
                <a:latin typeface="Arial"/>
                <a:ea typeface="Arial"/>
                <a:cs typeface="Arial"/>
                <a:sym typeface="Arial"/>
              </a:rPr>
              <a:t>Demo 1 design proposal  ·  September 23, 2026</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 name="Shape 21"/>
        <p:cNvGrpSpPr/>
        <p:nvPr/>
      </p:nvGrpSpPr>
      <p:grpSpPr>
        <a:xfrm>
          <a:off x="0" y="0"/>
          <a:ext cx="0" cy="0"/>
          <a:chOff x="0" y="0"/>
          <a:chExt cx="0" cy="0"/>
        </a:xfrm>
      </p:grpSpPr>
      <p:sp>
        <p:nvSpPr>
          <p:cNvPr id="22" name="Google Shape;22;p2"/>
          <p:cNvSpPr txBox="1"/>
          <p:nvPr/>
        </p:nvSpPr>
        <p:spPr>
          <a:xfrm>
            <a:off x="457200" y="256032"/>
            <a:ext cx="8229600" cy="8046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4E79"/>
              </a:buClr>
              <a:buSzPts val="2600"/>
              <a:buFont typeface="Arial"/>
              <a:buNone/>
            </a:pPr>
            <a:r>
              <a:rPr b="1" lang="en-US" sz="2600">
                <a:solidFill>
                  <a:srgbClr val="1F4E79"/>
                </a:solidFill>
                <a:latin typeface="Arial"/>
                <a:ea typeface="Arial"/>
                <a:cs typeface="Arial"/>
                <a:sym typeface="Arial"/>
              </a:rPr>
              <a:t>Packages that build on one architecture can fail on another, and diagnosis is manual</a:t>
            </a:r>
            <a:endParaRPr sz="2600">
              <a:solidFill>
                <a:schemeClr val="dk1"/>
              </a:solidFill>
              <a:latin typeface="Calibri"/>
              <a:ea typeface="Calibri"/>
              <a:cs typeface="Calibri"/>
              <a:sym typeface="Calibri"/>
            </a:endParaRPr>
          </a:p>
        </p:txBody>
      </p:sp>
      <p:sp>
        <p:nvSpPr>
          <p:cNvPr id="23" name="Google Shape;23;p2"/>
          <p:cNvSpPr txBox="1"/>
          <p:nvPr/>
        </p:nvSpPr>
        <p:spPr>
          <a:xfrm>
            <a:off x="457200" y="1325880"/>
            <a:ext cx="3383280" cy="960120"/>
          </a:xfrm>
          <a:prstGeom prst="rect">
            <a:avLst/>
          </a:prstGeom>
          <a:solidFill>
            <a:srgbClr val="1F4E79"/>
          </a:solidFill>
          <a:ln cap="flat" cmpd="sng" w="12700">
            <a:solidFill>
              <a:srgbClr val="1F4E79"/>
            </a:solidFill>
            <a:prstDash val="solid"/>
            <a:round/>
            <a:headEnd len="sm" w="sm" type="none"/>
            <a:tailEnd len="sm" w="sm" type="none"/>
          </a:ln>
        </p:spPr>
        <p:txBody>
          <a:bodyPr anchorCtr="0" anchor="ctr" bIns="63500" lIns="63500" spcFirstLastPara="1" rIns="63500" wrap="square" tIns="63500">
            <a:noAutofit/>
          </a:bodyPr>
          <a:lstStyle/>
          <a:p>
            <a:pPr indent="0" lvl="0" marL="0" marR="0" rtl="0" algn="ctr">
              <a:spcBef>
                <a:spcPts val="0"/>
              </a:spcBef>
              <a:spcAft>
                <a:spcPts val="0"/>
              </a:spcAft>
              <a:buClr>
                <a:srgbClr val="FFFFFF"/>
              </a:buClr>
              <a:buSzPts val="1600"/>
              <a:buFont typeface="Arial"/>
              <a:buNone/>
            </a:pPr>
            <a:r>
              <a:rPr b="1" lang="en-US" sz="1600">
                <a:solidFill>
                  <a:srgbClr val="FFFFFF"/>
                </a:solidFill>
                <a:latin typeface="Arial"/>
                <a:ea typeface="Arial"/>
                <a:cs typeface="Arial"/>
                <a:sym typeface="Arial"/>
              </a:rPr>
              <a:t>Built on x86_64</a:t>
            </a:r>
            <a:endParaRPr sz="1600">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600"/>
              <a:buFont typeface="Arial"/>
              <a:buNone/>
            </a:pPr>
            <a:r>
              <a:rPr lang="en-US" sz="1600">
                <a:solidFill>
                  <a:srgbClr val="FFFFFF"/>
                </a:solidFill>
                <a:latin typeface="Arial"/>
                <a:ea typeface="Arial"/>
                <a:cs typeface="Arial"/>
                <a:sym typeface="Arial"/>
              </a:rPr>
              <a:t>liboqs, Ubuntu jammy (case record)</a:t>
            </a:r>
            <a:endParaRPr sz="1600">
              <a:solidFill>
                <a:schemeClr val="dk1"/>
              </a:solidFill>
              <a:latin typeface="Calibri"/>
              <a:ea typeface="Calibri"/>
              <a:cs typeface="Calibri"/>
              <a:sym typeface="Calibri"/>
            </a:endParaRPr>
          </a:p>
        </p:txBody>
      </p:sp>
      <p:sp>
        <p:nvSpPr>
          <p:cNvPr id="24" name="Google Shape;24;p2"/>
          <p:cNvSpPr txBox="1"/>
          <p:nvPr/>
        </p:nvSpPr>
        <p:spPr>
          <a:xfrm>
            <a:off x="3840480" y="1261872"/>
            <a:ext cx="1463040" cy="502920"/>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666666"/>
              </a:buClr>
              <a:buSzPts val="1600"/>
              <a:buFont typeface="Arial"/>
              <a:buNone/>
            </a:pPr>
            <a:r>
              <a:rPr lang="en-US" sz="1600">
                <a:solidFill>
                  <a:srgbClr val="666666"/>
                </a:solidFill>
                <a:latin typeface="Arial"/>
                <a:ea typeface="Arial"/>
                <a:cs typeface="Arial"/>
                <a:sym typeface="Arial"/>
              </a:rPr>
              <a:t>same source,</a:t>
            </a:r>
            <a:endParaRPr sz="1600">
              <a:solidFill>
                <a:schemeClr val="dk1"/>
              </a:solidFill>
              <a:latin typeface="Calibri"/>
              <a:ea typeface="Calibri"/>
              <a:cs typeface="Calibri"/>
              <a:sym typeface="Calibri"/>
            </a:endParaRPr>
          </a:p>
          <a:p>
            <a:pPr indent="0" lvl="0" marL="0" marR="0" rtl="0" algn="ctr">
              <a:spcBef>
                <a:spcPts val="0"/>
              </a:spcBef>
              <a:spcAft>
                <a:spcPts val="0"/>
              </a:spcAft>
              <a:buClr>
                <a:srgbClr val="666666"/>
              </a:buClr>
              <a:buSzPts val="1600"/>
              <a:buFont typeface="Arial"/>
              <a:buNone/>
            </a:pPr>
            <a:r>
              <a:rPr lang="en-US" sz="1600">
                <a:solidFill>
                  <a:srgbClr val="666666"/>
                </a:solidFill>
                <a:latin typeface="Arial"/>
                <a:ea typeface="Arial"/>
                <a:cs typeface="Arial"/>
                <a:sym typeface="Arial"/>
              </a:rPr>
              <a:t>new target</a:t>
            </a:r>
            <a:endParaRPr sz="1600">
              <a:solidFill>
                <a:schemeClr val="dk1"/>
              </a:solidFill>
              <a:latin typeface="Calibri"/>
              <a:ea typeface="Calibri"/>
              <a:cs typeface="Calibri"/>
              <a:sym typeface="Calibri"/>
            </a:endParaRPr>
          </a:p>
        </p:txBody>
      </p:sp>
      <p:cxnSp>
        <p:nvCxnSpPr>
          <p:cNvPr id="25" name="Google Shape;25;p2"/>
          <p:cNvCxnSpPr/>
          <p:nvPr/>
        </p:nvCxnSpPr>
        <p:spPr>
          <a:xfrm>
            <a:off x="3886200" y="1805940"/>
            <a:ext cx="1371600" cy="0"/>
          </a:xfrm>
          <a:prstGeom prst="straightConnector1">
            <a:avLst/>
          </a:prstGeom>
          <a:noFill/>
          <a:ln cap="flat" cmpd="sng" w="28575">
            <a:solidFill>
              <a:srgbClr val="4A5A6A"/>
            </a:solidFill>
            <a:prstDash val="solid"/>
            <a:round/>
            <a:headEnd len="sm" w="sm" type="none"/>
            <a:tailEnd len="med" w="med" type="triangle"/>
          </a:ln>
        </p:spPr>
      </p:cxnSp>
      <p:sp>
        <p:nvSpPr>
          <p:cNvPr id="26" name="Google Shape;26;p2"/>
          <p:cNvSpPr txBox="1"/>
          <p:nvPr/>
        </p:nvSpPr>
        <p:spPr>
          <a:xfrm>
            <a:off x="5303520" y="1325880"/>
            <a:ext cx="3383280" cy="960120"/>
          </a:xfrm>
          <a:prstGeom prst="rect">
            <a:avLst/>
          </a:prstGeom>
          <a:solidFill>
            <a:srgbClr val="FFFFFF"/>
          </a:solidFill>
          <a:ln cap="flat" cmpd="sng" w="28575">
            <a:solidFill>
              <a:srgbClr val="B03A2E"/>
            </a:solidFill>
            <a:prstDash val="solid"/>
            <a:round/>
            <a:headEnd len="sm" w="sm" type="none"/>
            <a:tailEnd len="sm" w="sm" type="none"/>
          </a:ln>
        </p:spPr>
        <p:txBody>
          <a:bodyPr anchorCtr="0" anchor="ctr" bIns="63500" lIns="63500" spcFirstLastPara="1" rIns="63500" wrap="square" tIns="63500">
            <a:noAutofit/>
          </a:bodyPr>
          <a:lstStyle/>
          <a:p>
            <a:pPr indent="0" lvl="0" marL="0" marR="0" rtl="0" algn="ctr">
              <a:spcBef>
                <a:spcPts val="0"/>
              </a:spcBef>
              <a:spcAft>
                <a:spcPts val="0"/>
              </a:spcAft>
              <a:buClr>
                <a:srgbClr val="B03A2E"/>
              </a:buClr>
              <a:buSzPts val="1600"/>
              <a:buFont typeface="Arial"/>
              <a:buNone/>
            </a:pPr>
            <a:r>
              <a:rPr b="1" lang="en-US" sz="1600">
                <a:solidFill>
                  <a:srgbClr val="B03A2E"/>
                </a:solidFill>
                <a:latin typeface="Arial"/>
                <a:ea typeface="Arial"/>
                <a:cs typeface="Arial"/>
                <a:sym typeface="Arial"/>
              </a:rPr>
              <a:t>Fails on aarch64</a:t>
            </a:r>
            <a:endParaRPr sz="1600">
              <a:solidFill>
                <a:schemeClr val="dk1"/>
              </a:solidFill>
              <a:latin typeface="Calibri"/>
              <a:ea typeface="Calibri"/>
              <a:cs typeface="Calibri"/>
              <a:sym typeface="Calibri"/>
            </a:endParaRPr>
          </a:p>
          <a:p>
            <a:pPr indent="0" lvl="0" marL="0" marR="0" rtl="0" algn="ctr">
              <a:spcBef>
                <a:spcPts val="0"/>
              </a:spcBef>
              <a:spcAft>
                <a:spcPts val="0"/>
              </a:spcAft>
              <a:buClr>
                <a:srgbClr val="2D2D2D"/>
              </a:buClr>
              <a:buSzPts val="1600"/>
              <a:buFont typeface="Arial"/>
              <a:buNone/>
            </a:pPr>
            <a:r>
              <a:rPr lang="en-US" sz="1600">
                <a:solidFill>
                  <a:srgbClr val="2D2D2D"/>
                </a:solidFill>
                <a:latin typeface="Arial"/>
                <a:ea typeface="Arial"/>
                <a:cs typeface="Arial"/>
                <a:sym typeface="Arial"/>
              </a:rPr>
              <a:t>ARM-specific Kyber code:</a:t>
            </a:r>
            <a:endParaRPr sz="1600">
              <a:solidFill>
                <a:schemeClr val="dk1"/>
              </a:solidFill>
              <a:latin typeface="Calibri"/>
              <a:ea typeface="Calibri"/>
              <a:cs typeface="Calibri"/>
              <a:sym typeface="Calibri"/>
            </a:endParaRPr>
          </a:p>
          <a:p>
            <a:pPr indent="0" lvl="0" marL="0" marR="0" rtl="0" algn="ctr">
              <a:spcBef>
                <a:spcPts val="0"/>
              </a:spcBef>
              <a:spcAft>
                <a:spcPts val="0"/>
              </a:spcAft>
              <a:buClr>
                <a:srgbClr val="2D2D2D"/>
              </a:buClr>
              <a:buSzPts val="1600"/>
              <a:buFont typeface="Arial"/>
              <a:buNone/>
            </a:pPr>
            <a:r>
              <a:rPr lang="en-US" sz="1600">
                <a:solidFill>
                  <a:srgbClr val="2D2D2D"/>
                </a:solidFill>
                <a:latin typeface="Arial"/>
                <a:ea typeface="Arial"/>
                <a:cs typeface="Arial"/>
                <a:sym typeface="Arial"/>
              </a:rPr>
              <a:t>a warning becomes an error</a:t>
            </a:r>
            <a:endParaRPr sz="1600">
              <a:solidFill>
                <a:schemeClr val="dk1"/>
              </a:solidFill>
              <a:latin typeface="Calibri"/>
              <a:ea typeface="Calibri"/>
              <a:cs typeface="Calibri"/>
              <a:sym typeface="Calibri"/>
            </a:endParaRPr>
          </a:p>
        </p:txBody>
      </p:sp>
      <p:sp>
        <p:nvSpPr>
          <p:cNvPr id="27" name="Google Shape;27;p2"/>
          <p:cNvSpPr txBox="1"/>
          <p:nvPr/>
        </p:nvSpPr>
        <p:spPr>
          <a:xfrm>
            <a:off x="457200" y="2697480"/>
            <a:ext cx="338328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E75B6"/>
              </a:buClr>
              <a:buSzPts val="2000"/>
              <a:buFont typeface="Arial"/>
              <a:buNone/>
            </a:pPr>
            <a:r>
              <a:rPr b="1" lang="en-US" sz="2000">
                <a:solidFill>
                  <a:srgbClr val="2E75B6"/>
                </a:solidFill>
                <a:latin typeface="Arial"/>
                <a:ea typeface="Arial"/>
                <a:cs typeface="Arial"/>
                <a:sym typeface="Arial"/>
              </a:rPr>
              <a:t>Today</a:t>
            </a:r>
            <a:endParaRPr sz="2000">
              <a:solidFill>
                <a:schemeClr val="dk1"/>
              </a:solidFill>
              <a:latin typeface="Calibri"/>
              <a:ea typeface="Calibri"/>
              <a:cs typeface="Calibri"/>
              <a:sym typeface="Calibri"/>
            </a:endParaRPr>
          </a:p>
        </p:txBody>
      </p:sp>
      <p:sp>
        <p:nvSpPr>
          <p:cNvPr id="28" name="Google Shape;28;p2"/>
          <p:cNvSpPr txBox="1"/>
          <p:nvPr/>
        </p:nvSpPr>
        <p:spPr>
          <a:xfrm>
            <a:off x="457200" y="3108960"/>
            <a:ext cx="3383280" cy="12801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D2D2D"/>
              </a:buClr>
              <a:buSzPts val="2000"/>
              <a:buFont typeface="Arial"/>
              <a:buNone/>
            </a:pPr>
            <a:r>
              <a:rPr lang="en-US" sz="2000">
                <a:solidFill>
                  <a:srgbClr val="2D2D2D"/>
                </a:solidFill>
                <a:latin typeface="Arial"/>
                <a:ea typeface="Arial"/>
                <a:cs typeface="Arial"/>
                <a:sym typeface="Arial"/>
              </a:rPr>
              <a:t>Maintainers trace logs, source and build files by hand, then rebuild to test each guess.</a:t>
            </a:r>
            <a:endParaRPr sz="2000">
              <a:solidFill>
                <a:schemeClr val="dk1"/>
              </a:solidFill>
              <a:latin typeface="Calibri"/>
              <a:ea typeface="Calibri"/>
              <a:cs typeface="Calibri"/>
              <a:sym typeface="Calibri"/>
            </a:endParaRPr>
          </a:p>
        </p:txBody>
      </p:sp>
      <p:sp>
        <p:nvSpPr>
          <p:cNvPr id="29" name="Google Shape;29;p2"/>
          <p:cNvSpPr txBox="1"/>
          <p:nvPr/>
        </p:nvSpPr>
        <p:spPr>
          <a:xfrm>
            <a:off x="5303520" y="2697480"/>
            <a:ext cx="338328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E75B6"/>
              </a:buClr>
              <a:buSzPts val="2000"/>
              <a:buFont typeface="Arial"/>
              <a:buNone/>
            </a:pPr>
            <a:r>
              <a:rPr b="1" lang="en-US" sz="2000">
                <a:solidFill>
                  <a:srgbClr val="2E75B6"/>
                </a:solidFill>
                <a:latin typeface="Arial"/>
                <a:ea typeface="Arial"/>
                <a:cs typeface="Arial"/>
                <a:sym typeface="Arial"/>
              </a:rPr>
              <a:t>Our goal</a:t>
            </a:r>
            <a:endParaRPr sz="2000">
              <a:solidFill>
                <a:schemeClr val="dk1"/>
              </a:solidFill>
              <a:latin typeface="Calibri"/>
              <a:ea typeface="Calibri"/>
              <a:cs typeface="Calibri"/>
              <a:sym typeface="Calibri"/>
            </a:endParaRPr>
          </a:p>
        </p:txBody>
      </p:sp>
      <p:sp>
        <p:nvSpPr>
          <p:cNvPr id="30" name="Google Shape;30;p2"/>
          <p:cNvSpPr txBox="1"/>
          <p:nvPr/>
        </p:nvSpPr>
        <p:spPr>
          <a:xfrm>
            <a:off x="5303520" y="3108960"/>
            <a:ext cx="3383280" cy="12801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D2D2D"/>
              </a:buClr>
              <a:buSzPts val="2000"/>
              <a:buFont typeface="Arial"/>
              <a:buNone/>
            </a:pPr>
            <a:r>
              <a:rPr lang="en-US" sz="2000">
                <a:solidFill>
                  <a:srgbClr val="2D2D2D"/>
                </a:solidFill>
                <a:latin typeface="Arial"/>
                <a:ea typeface="Arial"/>
                <a:cs typeface="Arial"/>
                <a:sym typeface="Arial"/>
              </a:rPr>
              <a:t>Automate diagnosis and repair, and confirm every repair with a clean build.</a:t>
            </a:r>
            <a:endParaRPr sz="2000">
              <a:solidFill>
                <a:schemeClr val="dk1"/>
              </a:solidFill>
              <a:latin typeface="Calibri"/>
              <a:ea typeface="Calibri"/>
              <a:cs typeface="Calibri"/>
              <a:sym typeface="Calibri"/>
            </a:endParaRPr>
          </a:p>
        </p:txBody>
      </p:sp>
      <p:sp>
        <p:nvSpPr>
          <p:cNvPr id="31" name="Google Shape;31;p2"/>
          <p:cNvSpPr txBox="1"/>
          <p:nvPr/>
        </p:nvSpPr>
        <p:spPr>
          <a:xfrm>
            <a:off x="457200" y="4590288"/>
            <a:ext cx="7589520" cy="384048"/>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666666"/>
              </a:buClr>
              <a:buSzPts val="1200"/>
              <a:buFont typeface="Arial"/>
              <a:buNone/>
            </a:pPr>
            <a:r>
              <a:rPr lang="en-US" sz="1200">
                <a:solidFill>
                  <a:srgbClr val="666666"/>
                </a:solidFill>
                <a:latin typeface="Arial"/>
                <a:ea typeface="Arial"/>
                <a:cs typeface="Arial"/>
                <a:sym typeface="Arial"/>
              </a:rPr>
              <a:t>Example: Build-Bench development cases v0.1, case launchpad-jammy-amd64-arm64-liboqs, target-failure log.</a:t>
            </a:r>
            <a:endParaRPr sz="1200">
              <a:solidFill>
                <a:schemeClr val="dk1"/>
              </a:solidFill>
              <a:latin typeface="Calibri"/>
              <a:ea typeface="Calibri"/>
              <a:cs typeface="Calibri"/>
              <a:sym typeface="Calibri"/>
            </a:endParaRPr>
          </a:p>
        </p:txBody>
      </p:sp>
      <p:sp>
        <p:nvSpPr>
          <p:cNvPr id="32" name="Google Shape;32;p2"/>
          <p:cNvSpPr txBox="1"/>
          <p:nvPr/>
        </p:nvSpPr>
        <p:spPr>
          <a:xfrm>
            <a:off x="8229600" y="4590288"/>
            <a:ext cx="457200" cy="384048"/>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Clr>
                <a:srgbClr val="666666"/>
              </a:buClr>
              <a:buSzPts val="1200"/>
              <a:buFont typeface="Arial"/>
              <a:buNone/>
            </a:pPr>
            <a:r>
              <a:rPr lang="en-US" sz="1200">
                <a:solidFill>
                  <a:srgbClr val="666666"/>
                </a:solidFill>
                <a:latin typeface="Arial"/>
                <a:ea typeface="Arial"/>
                <a:cs typeface="Arial"/>
                <a:sym typeface="Arial"/>
              </a:rPr>
              <a:t>2</a:t>
            </a:r>
            <a:endParaRPr sz="12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 name="Shape 37"/>
        <p:cNvGrpSpPr/>
        <p:nvPr/>
      </p:nvGrpSpPr>
      <p:grpSpPr>
        <a:xfrm>
          <a:off x="0" y="0"/>
          <a:ext cx="0" cy="0"/>
          <a:chOff x="0" y="0"/>
          <a:chExt cx="0" cy="0"/>
        </a:xfrm>
      </p:grpSpPr>
      <p:sp>
        <p:nvSpPr>
          <p:cNvPr id="38" name="Google Shape;38;p3"/>
          <p:cNvSpPr txBox="1"/>
          <p:nvPr/>
        </p:nvSpPr>
        <p:spPr>
          <a:xfrm>
            <a:off x="457200" y="256032"/>
            <a:ext cx="8229600" cy="8046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4E79"/>
              </a:buClr>
              <a:buSzPts val="2600"/>
              <a:buFont typeface="Arial"/>
              <a:buNone/>
            </a:pPr>
            <a:r>
              <a:rPr b="1" lang="en-US" sz="2600">
                <a:solidFill>
                  <a:srgbClr val="1F4E79"/>
                </a:solidFill>
                <a:latin typeface="Arial"/>
                <a:ea typeface="Arial"/>
                <a:cs typeface="Arial"/>
                <a:sym typeface="Arial"/>
              </a:rPr>
              <a:t>We ask whether an agent can repair unseen failures, and whether its design choices help</a:t>
            </a:r>
            <a:endParaRPr sz="2600">
              <a:solidFill>
                <a:schemeClr val="dk1"/>
              </a:solidFill>
              <a:latin typeface="Calibri"/>
              <a:ea typeface="Calibri"/>
              <a:cs typeface="Calibri"/>
              <a:sym typeface="Calibri"/>
            </a:endParaRPr>
          </a:p>
        </p:txBody>
      </p:sp>
      <p:sp>
        <p:nvSpPr>
          <p:cNvPr id="39" name="Google Shape;39;p3"/>
          <p:cNvSpPr txBox="1"/>
          <p:nvPr/>
        </p:nvSpPr>
        <p:spPr>
          <a:xfrm>
            <a:off x="914400" y="1497330"/>
            <a:ext cx="7315200" cy="2148900"/>
          </a:xfrm>
          <a:prstGeom prst="rect">
            <a:avLst/>
          </a:prstGeom>
          <a:solidFill>
            <a:srgbClr val="EBF3FA"/>
          </a:solidFill>
          <a:ln cap="flat" cmpd="sng" w="19050">
            <a:solidFill>
              <a:srgbClr val="2E75B6"/>
            </a:solidFill>
            <a:prstDash val="solid"/>
            <a:round/>
            <a:headEnd len="sm" w="sm" type="none"/>
            <a:tailEnd len="sm" w="sm" type="none"/>
          </a:ln>
        </p:spPr>
        <p:txBody>
          <a:bodyPr anchorCtr="0" anchor="ctr" bIns="228600" lIns="228600" spcFirstLastPara="1" rIns="228600" wrap="square" tIns="228600">
            <a:noAutofit/>
          </a:bodyPr>
          <a:lstStyle/>
          <a:p>
            <a:pPr indent="0" lvl="0" marL="0" marR="0" rtl="0" algn="l">
              <a:spcBef>
                <a:spcPts val="0"/>
              </a:spcBef>
              <a:spcAft>
                <a:spcPts val="0"/>
              </a:spcAft>
              <a:buClr>
                <a:srgbClr val="1F4E79"/>
              </a:buClr>
              <a:buSzPts val="2000"/>
              <a:buFont typeface="Arial"/>
              <a:buNone/>
            </a:pPr>
            <a:r>
              <a:rPr lang="en-US" sz="2000">
                <a:solidFill>
                  <a:srgbClr val="1F4E79"/>
                </a:solidFill>
                <a:latin typeface="Arial"/>
                <a:ea typeface="Arial"/>
                <a:cs typeface="Arial"/>
                <a:sym typeface="Arial"/>
              </a:rPr>
              <a:t>Can a bounded, evidence-driven LLM agent repair build failures it has never seen on a new architecture, verified by the official clean build?</a:t>
            </a:r>
            <a:endParaRPr sz="2000">
              <a:solidFill>
                <a:schemeClr val="dk1"/>
              </a:solidFill>
              <a:latin typeface="Calibri"/>
              <a:ea typeface="Calibri"/>
              <a:cs typeface="Calibri"/>
              <a:sym typeface="Calibri"/>
            </a:endParaRPr>
          </a:p>
          <a:p>
            <a:pPr indent="0" lvl="0" marL="0" marR="0" rtl="0" algn="l">
              <a:spcBef>
                <a:spcPts val="0"/>
              </a:spcBef>
              <a:spcAft>
                <a:spcPts val="0"/>
              </a:spcAft>
              <a:buClr>
                <a:srgbClr val="1F4E79"/>
              </a:buClr>
              <a:buSzPts val="800"/>
              <a:buFont typeface="Arial"/>
              <a:buNone/>
            </a:pPr>
            <a:r>
              <a:rPr lang="en-US" sz="800">
                <a:solidFill>
                  <a:srgbClr val="1F4E79"/>
                </a:solidFill>
                <a:latin typeface="Arial"/>
                <a:ea typeface="Arial"/>
                <a:cs typeface="Arial"/>
                <a:sym typeface="Arial"/>
              </a:rPr>
              <a:t> </a:t>
            </a:r>
            <a:endParaRPr sz="2000">
              <a:solidFill>
                <a:schemeClr val="dk1"/>
              </a:solidFill>
              <a:latin typeface="Calibri"/>
              <a:ea typeface="Calibri"/>
              <a:cs typeface="Calibri"/>
              <a:sym typeface="Calibri"/>
            </a:endParaRPr>
          </a:p>
          <a:p>
            <a:pPr indent="0" lvl="0" marL="0" marR="0" rtl="0" algn="l">
              <a:spcBef>
                <a:spcPts val="0"/>
              </a:spcBef>
              <a:spcAft>
                <a:spcPts val="0"/>
              </a:spcAft>
              <a:buClr>
                <a:srgbClr val="1F4E79"/>
              </a:buClr>
              <a:buSzPts val="2000"/>
              <a:buFont typeface="Arial"/>
              <a:buNone/>
            </a:pPr>
            <a:r>
              <a:rPr lang="en-US" sz="2000">
                <a:solidFill>
                  <a:srgbClr val="1F4E79"/>
                </a:solidFill>
                <a:latin typeface="Arial"/>
                <a:ea typeface="Arial"/>
                <a:cs typeface="Arial"/>
                <a:sym typeface="Arial"/>
              </a:rPr>
              <a:t>Do evidence selection and repair history add verified repairs, or cut model tokens, compared with ou</a:t>
            </a:r>
            <a:r>
              <a:rPr lang="en-US" sz="2000">
                <a:solidFill>
                  <a:srgbClr val="1F4E79"/>
                </a:solidFill>
              </a:rPr>
              <a:t>r </a:t>
            </a:r>
            <a:r>
              <a:rPr lang="en-US" sz="2000">
                <a:solidFill>
                  <a:srgbClr val="1F4E79"/>
                </a:solidFill>
                <a:latin typeface="Arial"/>
                <a:ea typeface="Arial"/>
                <a:cs typeface="Arial"/>
                <a:sym typeface="Arial"/>
              </a:rPr>
              <a:t>prototype?</a:t>
            </a:r>
            <a:endParaRPr sz="2000">
              <a:solidFill>
                <a:schemeClr val="dk1"/>
              </a:solidFill>
              <a:latin typeface="Calibri"/>
              <a:ea typeface="Calibri"/>
              <a:cs typeface="Calibri"/>
              <a:sym typeface="Calibri"/>
            </a:endParaRPr>
          </a:p>
        </p:txBody>
      </p:sp>
      <p:sp>
        <p:nvSpPr>
          <p:cNvPr id="40" name="Google Shape;40;p3"/>
          <p:cNvSpPr txBox="1"/>
          <p:nvPr/>
        </p:nvSpPr>
        <p:spPr>
          <a:xfrm>
            <a:off x="457200" y="4590288"/>
            <a:ext cx="7589520" cy="384048"/>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666666"/>
              </a:buClr>
              <a:buSzPts val="1200"/>
              <a:buFont typeface="Arial"/>
              <a:buNone/>
            </a:pPr>
            <a:r>
              <a:rPr lang="en-US" sz="1200">
                <a:solidFill>
                  <a:srgbClr val="666666"/>
                </a:solidFill>
                <a:latin typeface="Arial"/>
                <a:ea typeface="Arial"/>
                <a:cs typeface="Arial"/>
                <a:sym typeface="Arial"/>
              </a:rPr>
              <a:t>Research questions: EC528 Build-Bench team, design proposal (2026), sections 3 and 4.</a:t>
            </a:r>
            <a:endParaRPr sz="1200">
              <a:solidFill>
                <a:schemeClr val="dk1"/>
              </a:solidFill>
              <a:latin typeface="Calibri"/>
              <a:ea typeface="Calibri"/>
              <a:cs typeface="Calibri"/>
              <a:sym typeface="Calibri"/>
            </a:endParaRPr>
          </a:p>
        </p:txBody>
      </p:sp>
      <p:sp>
        <p:nvSpPr>
          <p:cNvPr id="41" name="Google Shape;41;p3"/>
          <p:cNvSpPr txBox="1"/>
          <p:nvPr/>
        </p:nvSpPr>
        <p:spPr>
          <a:xfrm>
            <a:off x="8229600" y="4590288"/>
            <a:ext cx="457200" cy="384048"/>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Clr>
                <a:srgbClr val="666666"/>
              </a:buClr>
              <a:buSzPts val="1200"/>
              <a:buFont typeface="Arial"/>
              <a:buNone/>
            </a:pPr>
            <a:r>
              <a:rPr lang="en-US" sz="1200">
                <a:solidFill>
                  <a:srgbClr val="666666"/>
                </a:solidFill>
                <a:latin typeface="Arial"/>
                <a:ea typeface="Arial"/>
                <a:cs typeface="Arial"/>
                <a:sym typeface="Arial"/>
              </a:rPr>
              <a:t>3</a:t>
            </a:r>
            <a:endParaRPr sz="12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 name="Shape 46"/>
        <p:cNvGrpSpPr/>
        <p:nvPr/>
      </p:nvGrpSpPr>
      <p:grpSpPr>
        <a:xfrm>
          <a:off x="0" y="0"/>
          <a:ext cx="0" cy="0"/>
          <a:chOff x="0" y="0"/>
          <a:chExt cx="0" cy="0"/>
        </a:xfrm>
      </p:grpSpPr>
      <p:sp>
        <p:nvSpPr>
          <p:cNvPr id="47" name="Google Shape;47;p4"/>
          <p:cNvSpPr txBox="1"/>
          <p:nvPr/>
        </p:nvSpPr>
        <p:spPr>
          <a:xfrm>
            <a:off x="457200" y="256032"/>
            <a:ext cx="8229600" cy="8046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4E79"/>
              </a:buClr>
              <a:buSzPts val="2600"/>
              <a:buFont typeface="Arial"/>
              <a:buNone/>
            </a:pPr>
            <a:r>
              <a:rPr b="1" lang="en-US" sz="2600">
                <a:solidFill>
                  <a:srgbClr val="1F4E79"/>
                </a:solidFill>
                <a:latin typeface="Arial"/>
                <a:ea typeface="Arial"/>
                <a:cs typeface="Arial"/>
                <a:sym typeface="Arial"/>
              </a:rPr>
              <a:t>A repair counts only when the organizer's clean build passes and its artifacts verify</a:t>
            </a:r>
            <a:endParaRPr sz="2600">
              <a:solidFill>
                <a:schemeClr val="dk1"/>
              </a:solidFill>
              <a:latin typeface="Calibri"/>
              <a:ea typeface="Calibri"/>
              <a:cs typeface="Calibri"/>
              <a:sym typeface="Calibri"/>
            </a:endParaRPr>
          </a:p>
        </p:txBody>
      </p:sp>
      <p:sp>
        <p:nvSpPr>
          <p:cNvPr id="48" name="Google Shape;48;p4"/>
          <p:cNvSpPr txBox="1"/>
          <p:nvPr/>
        </p:nvSpPr>
        <p:spPr>
          <a:xfrm>
            <a:off x="457200" y="1325880"/>
            <a:ext cx="2377440" cy="868680"/>
          </a:xfrm>
          <a:prstGeom prst="rect">
            <a:avLst/>
          </a:prstGeom>
          <a:solidFill>
            <a:srgbClr val="EBF3FA"/>
          </a:solidFill>
          <a:ln cap="flat" cmpd="sng" w="12700">
            <a:solidFill>
              <a:srgbClr val="9DB3C9"/>
            </a:solidFill>
            <a:prstDash val="solid"/>
            <a:round/>
            <a:headEnd len="sm" w="sm" type="none"/>
            <a:tailEnd len="sm" w="sm" type="none"/>
          </a:ln>
        </p:spPr>
        <p:txBody>
          <a:bodyPr anchorCtr="0" anchor="ctr" bIns="63500" lIns="63500" spcFirstLastPara="1" rIns="63500" wrap="square" tIns="63500">
            <a:noAutofit/>
          </a:bodyPr>
          <a:lstStyle/>
          <a:p>
            <a:pPr indent="0" lvl="0" marL="0" marR="0" rtl="0" algn="ctr">
              <a:spcBef>
                <a:spcPts val="0"/>
              </a:spcBef>
              <a:spcAft>
                <a:spcPts val="0"/>
              </a:spcAft>
              <a:buClr>
                <a:srgbClr val="1F4E79"/>
              </a:buClr>
              <a:buSzPts val="1600"/>
              <a:buFont typeface="Arial"/>
              <a:buNone/>
            </a:pPr>
            <a:r>
              <a:rPr b="1" lang="en-US" sz="1600">
                <a:solidFill>
                  <a:srgbClr val="1F4E79"/>
                </a:solidFill>
                <a:latin typeface="Arial"/>
                <a:ea typeface="Arial"/>
                <a:cs typeface="Arial"/>
                <a:sym typeface="Arial"/>
              </a:rPr>
              <a:t>Source package</a:t>
            </a:r>
            <a:endParaRPr sz="1600">
              <a:solidFill>
                <a:schemeClr val="dk1"/>
              </a:solidFill>
              <a:latin typeface="Calibri"/>
              <a:ea typeface="Calibri"/>
              <a:cs typeface="Calibri"/>
              <a:sym typeface="Calibri"/>
            </a:endParaRPr>
          </a:p>
          <a:p>
            <a:pPr indent="0" lvl="0" marL="0" marR="0" rtl="0" algn="ctr">
              <a:spcBef>
                <a:spcPts val="0"/>
              </a:spcBef>
              <a:spcAft>
                <a:spcPts val="0"/>
              </a:spcAft>
              <a:buClr>
                <a:srgbClr val="2D2D2D"/>
              </a:buClr>
              <a:buSzPts val="1600"/>
              <a:buFont typeface="Arial"/>
              <a:buNone/>
            </a:pPr>
            <a:r>
              <a:rPr lang="en-US" sz="1600">
                <a:solidFill>
                  <a:srgbClr val="2D2D2D"/>
                </a:solidFill>
                <a:latin typeface="Arial"/>
                <a:ea typeface="Arial"/>
                <a:cs typeface="Arial"/>
                <a:sym typeface="Arial"/>
              </a:rPr>
              <a:t>built on source arch</a:t>
            </a:r>
            <a:endParaRPr sz="1600">
              <a:solidFill>
                <a:schemeClr val="dk1"/>
              </a:solidFill>
              <a:latin typeface="Calibri"/>
              <a:ea typeface="Calibri"/>
              <a:cs typeface="Calibri"/>
              <a:sym typeface="Calibri"/>
            </a:endParaRPr>
          </a:p>
          <a:p>
            <a:pPr indent="0" lvl="0" marL="0" marR="0" rtl="0" algn="ctr">
              <a:spcBef>
                <a:spcPts val="0"/>
              </a:spcBef>
              <a:spcAft>
                <a:spcPts val="0"/>
              </a:spcAft>
              <a:buClr>
                <a:srgbClr val="2D2D2D"/>
              </a:buClr>
              <a:buSzPts val="1600"/>
              <a:buFont typeface="Arial"/>
              <a:buNone/>
            </a:pPr>
            <a:r>
              <a:rPr lang="en-US" sz="1600">
                <a:solidFill>
                  <a:srgbClr val="2D2D2D"/>
                </a:solidFill>
                <a:latin typeface="Arial"/>
                <a:ea typeface="Arial"/>
                <a:cs typeface="Arial"/>
                <a:sym typeface="Arial"/>
              </a:rPr>
              <a:t>(case record)</a:t>
            </a:r>
            <a:endParaRPr sz="1600">
              <a:solidFill>
                <a:schemeClr val="dk1"/>
              </a:solidFill>
              <a:latin typeface="Calibri"/>
              <a:ea typeface="Calibri"/>
              <a:cs typeface="Calibri"/>
              <a:sym typeface="Calibri"/>
            </a:endParaRPr>
          </a:p>
        </p:txBody>
      </p:sp>
      <p:sp>
        <p:nvSpPr>
          <p:cNvPr id="49" name="Google Shape;49;p4"/>
          <p:cNvSpPr txBox="1"/>
          <p:nvPr/>
        </p:nvSpPr>
        <p:spPr>
          <a:xfrm>
            <a:off x="3383280" y="1325880"/>
            <a:ext cx="2377440" cy="868680"/>
          </a:xfrm>
          <a:prstGeom prst="rect">
            <a:avLst/>
          </a:prstGeom>
          <a:solidFill>
            <a:srgbClr val="EBF3FA"/>
          </a:solidFill>
          <a:ln cap="flat" cmpd="sng" w="12700">
            <a:solidFill>
              <a:srgbClr val="9DB3C9"/>
            </a:solidFill>
            <a:prstDash val="solid"/>
            <a:round/>
            <a:headEnd len="sm" w="sm" type="none"/>
            <a:tailEnd len="sm" w="sm" type="none"/>
          </a:ln>
        </p:spPr>
        <p:txBody>
          <a:bodyPr anchorCtr="0" anchor="ctr" bIns="63500" lIns="63500" spcFirstLastPara="1" rIns="63500" wrap="square" tIns="63500">
            <a:noAutofit/>
          </a:bodyPr>
          <a:lstStyle/>
          <a:p>
            <a:pPr indent="0" lvl="0" marL="0" marR="0" rtl="0" algn="ctr">
              <a:spcBef>
                <a:spcPts val="0"/>
              </a:spcBef>
              <a:spcAft>
                <a:spcPts val="0"/>
              </a:spcAft>
              <a:buClr>
                <a:srgbClr val="1F4E79"/>
              </a:buClr>
              <a:buSzPts val="1600"/>
              <a:buFont typeface="Arial"/>
              <a:buNone/>
            </a:pPr>
            <a:r>
              <a:rPr b="1" lang="en-US" sz="1600">
                <a:solidFill>
                  <a:srgbClr val="1F4E79"/>
                </a:solidFill>
                <a:latin typeface="Arial"/>
                <a:ea typeface="Arial"/>
                <a:cs typeface="Arial"/>
                <a:sym typeface="Arial"/>
              </a:rPr>
              <a:t>Target build fails</a:t>
            </a:r>
            <a:endParaRPr sz="1600">
              <a:solidFill>
                <a:schemeClr val="dk1"/>
              </a:solidFill>
              <a:latin typeface="Calibri"/>
              <a:ea typeface="Calibri"/>
              <a:cs typeface="Calibri"/>
              <a:sym typeface="Calibri"/>
            </a:endParaRPr>
          </a:p>
          <a:p>
            <a:pPr indent="0" lvl="0" marL="0" marR="0" rtl="0" algn="ctr">
              <a:spcBef>
                <a:spcPts val="0"/>
              </a:spcBef>
              <a:spcAft>
                <a:spcPts val="0"/>
              </a:spcAft>
              <a:buClr>
                <a:srgbClr val="2D2D2D"/>
              </a:buClr>
              <a:buSzPts val="1600"/>
              <a:buFont typeface="Arial"/>
              <a:buNone/>
            </a:pPr>
            <a:r>
              <a:rPr lang="en-US" sz="1600">
                <a:solidFill>
                  <a:srgbClr val="2D2D2D"/>
                </a:solidFill>
                <a:latin typeface="Arial"/>
                <a:ea typeface="Arial"/>
                <a:cs typeface="Arial"/>
                <a:sym typeface="Arial"/>
              </a:rPr>
              <a:t>failure log + metadata</a:t>
            </a:r>
            <a:endParaRPr sz="1600">
              <a:solidFill>
                <a:schemeClr val="dk1"/>
              </a:solidFill>
              <a:latin typeface="Calibri"/>
              <a:ea typeface="Calibri"/>
              <a:cs typeface="Calibri"/>
              <a:sym typeface="Calibri"/>
            </a:endParaRPr>
          </a:p>
        </p:txBody>
      </p:sp>
      <p:sp>
        <p:nvSpPr>
          <p:cNvPr id="50" name="Google Shape;50;p4"/>
          <p:cNvSpPr txBox="1"/>
          <p:nvPr/>
        </p:nvSpPr>
        <p:spPr>
          <a:xfrm>
            <a:off x="6309360" y="1325880"/>
            <a:ext cx="2377440" cy="868680"/>
          </a:xfrm>
          <a:prstGeom prst="rect">
            <a:avLst/>
          </a:prstGeom>
          <a:solidFill>
            <a:srgbClr val="EBF3FA"/>
          </a:solidFill>
          <a:ln cap="flat" cmpd="sng" w="28575">
            <a:solidFill>
              <a:srgbClr val="2E75B6"/>
            </a:solidFill>
            <a:prstDash val="solid"/>
            <a:round/>
            <a:headEnd len="sm" w="sm" type="none"/>
            <a:tailEnd len="sm" w="sm" type="none"/>
          </a:ln>
        </p:spPr>
        <p:txBody>
          <a:bodyPr anchorCtr="0" anchor="ctr" bIns="63500" lIns="63500" spcFirstLastPara="1" rIns="63500" wrap="square" tIns="63500">
            <a:noAutofit/>
          </a:bodyPr>
          <a:lstStyle/>
          <a:p>
            <a:pPr indent="0" lvl="0" marL="0" marR="0" rtl="0" algn="ctr">
              <a:spcBef>
                <a:spcPts val="0"/>
              </a:spcBef>
              <a:spcAft>
                <a:spcPts val="0"/>
              </a:spcAft>
              <a:buClr>
                <a:srgbClr val="1F4E79"/>
              </a:buClr>
              <a:buSzPts val="1600"/>
              <a:buFont typeface="Arial"/>
              <a:buNone/>
            </a:pPr>
            <a:r>
              <a:rPr b="1" lang="en-US" sz="1600">
                <a:solidFill>
                  <a:srgbClr val="1F4E79"/>
                </a:solidFill>
                <a:latin typeface="Arial"/>
                <a:ea typeface="Arial"/>
                <a:cs typeface="Arial"/>
                <a:sym typeface="Arial"/>
              </a:rPr>
              <a:t>Repair agent (ours)</a:t>
            </a:r>
            <a:endParaRPr sz="1600">
              <a:solidFill>
                <a:schemeClr val="dk1"/>
              </a:solidFill>
              <a:latin typeface="Calibri"/>
              <a:ea typeface="Calibri"/>
              <a:cs typeface="Calibri"/>
              <a:sym typeface="Calibri"/>
            </a:endParaRPr>
          </a:p>
          <a:p>
            <a:pPr indent="0" lvl="0" marL="0" marR="0" rtl="0" algn="ctr">
              <a:spcBef>
                <a:spcPts val="0"/>
              </a:spcBef>
              <a:spcAft>
                <a:spcPts val="0"/>
              </a:spcAft>
              <a:buClr>
                <a:srgbClr val="2D2D2D"/>
              </a:buClr>
              <a:buSzPts val="1600"/>
              <a:buFont typeface="Arial"/>
              <a:buNone/>
            </a:pPr>
            <a:r>
              <a:rPr lang="en-US" sz="1600">
                <a:solidFill>
                  <a:srgbClr val="2D2D2D"/>
                </a:solidFill>
                <a:latin typeface="Arial"/>
                <a:ea typeface="Arial"/>
                <a:cs typeface="Arial"/>
                <a:sym typeface="Arial"/>
              </a:rPr>
              <a:t>inspects, edits worktree</a:t>
            </a:r>
            <a:endParaRPr sz="1600">
              <a:solidFill>
                <a:schemeClr val="dk1"/>
              </a:solidFill>
              <a:latin typeface="Calibri"/>
              <a:ea typeface="Calibri"/>
              <a:cs typeface="Calibri"/>
              <a:sym typeface="Calibri"/>
            </a:endParaRPr>
          </a:p>
        </p:txBody>
      </p:sp>
      <p:sp>
        <p:nvSpPr>
          <p:cNvPr id="51" name="Google Shape;51;p4"/>
          <p:cNvSpPr txBox="1"/>
          <p:nvPr/>
        </p:nvSpPr>
        <p:spPr>
          <a:xfrm>
            <a:off x="6309360" y="2743200"/>
            <a:ext cx="2377440" cy="868680"/>
          </a:xfrm>
          <a:prstGeom prst="rect">
            <a:avLst/>
          </a:prstGeom>
          <a:solidFill>
            <a:srgbClr val="EBF3FA"/>
          </a:solidFill>
          <a:ln cap="flat" cmpd="sng" w="12700">
            <a:solidFill>
              <a:srgbClr val="9DB3C9"/>
            </a:solidFill>
            <a:prstDash val="solid"/>
            <a:round/>
            <a:headEnd len="sm" w="sm" type="none"/>
            <a:tailEnd len="sm" w="sm" type="none"/>
          </a:ln>
        </p:spPr>
        <p:txBody>
          <a:bodyPr anchorCtr="0" anchor="ctr" bIns="63500" lIns="63500" spcFirstLastPara="1" rIns="63500" wrap="square" tIns="63500">
            <a:noAutofit/>
          </a:bodyPr>
          <a:lstStyle/>
          <a:p>
            <a:pPr indent="0" lvl="0" marL="0" marR="0" rtl="0" algn="ctr">
              <a:spcBef>
                <a:spcPts val="0"/>
              </a:spcBef>
              <a:spcAft>
                <a:spcPts val="0"/>
              </a:spcAft>
              <a:buClr>
                <a:srgbClr val="1F4E79"/>
              </a:buClr>
              <a:buSzPts val="1600"/>
              <a:buFont typeface="Arial"/>
              <a:buNone/>
            </a:pPr>
            <a:r>
              <a:rPr b="1" lang="en-US" sz="1600">
                <a:solidFill>
                  <a:srgbClr val="1F4E79"/>
                </a:solidFill>
                <a:latin typeface="Arial"/>
                <a:ea typeface="Arial"/>
                <a:cs typeface="Arial"/>
                <a:sym typeface="Arial"/>
              </a:rPr>
              <a:t>Canonical patch</a:t>
            </a:r>
            <a:endParaRPr sz="1600">
              <a:solidFill>
                <a:schemeClr val="dk1"/>
              </a:solidFill>
              <a:latin typeface="Calibri"/>
              <a:ea typeface="Calibri"/>
              <a:cs typeface="Calibri"/>
              <a:sym typeface="Calibri"/>
            </a:endParaRPr>
          </a:p>
          <a:p>
            <a:pPr indent="0" lvl="0" marL="0" marR="0" rtl="0" algn="ctr">
              <a:spcBef>
                <a:spcPts val="0"/>
              </a:spcBef>
              <a:spcAft>
                <a:spcPts val="0"/>
              </a:spcAft>
              <a:buClr>
                <a:srgbClr val="2D2D2D"/>
              </a:buClr>
              <a:buSzPts val="1600"/>
              <a:buFont typeface="Arial"/>
              <a:buNone/>
            </a:pPr>
            <a:r>
              <a:rPr lang="en-US" sz="1600">
                <a:solidFill>
                  <a:srgbClr val="2D2D2D"/>
                </a:solidFill>
                <a:latin typeface="Arial"/>
                <a:ea typeface="Arial"/>
                <a:cs typeface="Arial"/>
                <a:sym typeface="Arial"/>
              </a:rPr>
              <a:t>organizer derives diff</a:t>
            </a:r>
            <a:endParaRPr sz="1600">
              <a:solidFill>
                <a:schemeClr val="dk1"/>
              </a:solidFill>
              <a:latin typeface="Calibri"/>
              <a:ea typeface="Calibri"/>
              <a:cs typeface="Calibri"/>
              <a:sym typeface="Calibri"/>
            </a:endParaRPr>
          </a:p>
        </p:txBody>
      </p:sp>
      <p:sp>
        <p:nvSpPr>
          <p:cNvPr id="52" name="Google Shape;52;p4"/>
          <p:cNvSpPr txBox="1"/>
          <p:nvPr/>
        </p:nvSpPr>
        <p:spPr>
          <a:xfrm>
            <a:off x="3383280" y="2743200"/>
            <a:ext cx="2377440" cy="868680"/>
          </a:xfrm>
          <a:prstGeom prst="rect">
            <a:avLst/>
          </a:prstGeom>
          <a:solidFill>
            <a:srgbClr val="EBF3FA"/>
          </a:solidFill>
          <a:ln cap="flat" cmpd="sng" w="12700">
            <a:solidFill>
              <a:srgbClr val="9DB3C9"/>
            </a:solidFill>
            <a:prstDash val="solid"/>
            <a:round/>
            <a:headEnd len="sm" w="sm" type="none"/>
            <a:tailEnd len="sm" w="sm" type="none"/>
          </a:ln>
        </p:spPr>
        <p:txBody>
          <a:bodyPr anchorCtr="0" anchor="ctr" bIns="63500" lIns="63500" spcFirstLastPara="1" rIns="63500" wrap="square" tIns="63500">
            <a:noAutofit/>
          </a:bodyPr>
          <a:lstStyle/>
          <a:p>
            <a:pPr indent="0" lvl="0" marL="0" marR="0" rtl="0" algn="ctr">
              <a:spcBef>
                <a:spcPts val="0"/>
              </a:spcBef>
              <a:spcAft>
                <a:spcPts val="0"/>
              </a:spcAft>
              <a:buClr>
                <a:srgbClr val="1F4E79"/>
              </a:buClr>
              <a:buSzPts val="1600"/>
              <a:buFont typeface="Arial"/>
              <a:buNone/>
            </a:pPr>
            <a:r>
              <a:rPr b="1" lang="en-US" sz="1600">
                <a:solidFill>
                  <a:srgbClr val="1F4E79"/>
                </a:solidFill>
                <a:latin typeface="Arial"/>
                <a:ea typeface="Arial"/>
                <a:cs typeface="Arial"/>
                <a:sym typeface="Arial"/>
              </a:rPr>
              <a:t>Fresh target build</a:t>
            </a:r>
            <a:endParaRPr sz="1600">
              <a:solidFill>
                <a:schemeClr val="dk1"/>
              </a:solidFill>
              <a:latin typeface="Calibri"/>
              <a:ea typeface="Calibri"/>
              <a:cs typeface="Calibri"/>
              <a:sym typeface="Calibri"/>
            </a:endParaRPr>
          </a:p>
          <a:p>
            <a:pPr indent="0" lvl="0" marL="0" marR="0" rtl="0" algn="ctr">
              <a:spcBef>
                <a:spcPts val="0"/>
              </a:spcBef>
              <a:spcAft>
                <a:spcPts val="0"/>
              </a:spcAft>
              <a:buClr>
                <a:srgbClr val="2D2D2D"/>
              </a:buClr>
              <a:buSzPts val="1600"/>
              <a:buFont typeface="Arial"/>
              <a:buNone/>
            </a:pPr>
            <a:r>
              <a:rPr lang="en-US" sz="1600">
                <a:solidFill>
                  <a:srgbClr val="2D2D2D"/>
                </a:solidFill>
                <a:latin typeface="Arial"/>
                <a:ea typeface="Arial"/>
                <a:cs typeface="Arial"/>
                <a:sym typeface="Arial"/>
              </a:rPr>
              <a:t>patch on a clean copy</a:t>
            </a:r>
            <a:endParaRPr sz="1600">
              <a:solidFill>
                <a:schemeClr val="dk1"/>
              </a:solidFill>
              <a:latin typeface="Calibri"/>
              <a:ea typeface="Calibri"/>
              <a:cs typeface="Calibri"/>
              <a:sym typeface="Calibri"/>
            </a:endParaRPr>
          </a:p>
        </p:txBody>
      </p:sp>
      <p:sp>
        <p:nvSpPr>
          <p:cNvPr id="53" name="Google Shape;53;p4"/>
          <p:cNvSpPr txBox="1"/>
          <p:nvPr/>
        </p:nvSpPr>
        <p:spPr>
          <a:xfrm>
            <a:off x="457200" y="2743200"/>
            <a:ext cx="2377440" cy="868680"/>
          </a:xfrm>
          <a:prstGeom prst="rect">
            <a:avLst/>
          </a:prstGeom>
          <a:solidFill>
            <a:srgbClr val="1F4E79"/>
          </a:solidFill>
          <a:ln cap="flat" cmpd="sng" w="12700">
            <a:solidFill>
              <a:srgbClr val="1F4E79"/>
            </a:solidFill>
            <a:prstDash val="solid"/>
            <a:round/>
            <a:headEnd len="sm" w="sm" type="none"/>
            <a:tailEnd len="sm" w="sm" type="none"/>
          </a:ln>
        </p:spPr>
        <p:txBody>
          <a:bodyPr anchorCtr="0" anchor="ctr" bIns="63500" lIns="63500" spcFirstLastPara="1" rIns="63500" wrap="square" tIns="63500">
            <a:noAutofit/>
          </a:bodyPr>
          <a:lstStyle/>
          <a:p>
            <a:pPr indent="0" lvl="0" marL="0" marR="0" rtl="0" algn="ctr">
              <a:spcBef>
                <a:spcPts val="0"/>
              </a:spcBef>
              <a:spcAft>
                <a:spcPts val="0"/>
              </a:spcAft>
              <a:buClr>
                <a:srgbClr val="FFFFFF"/>
              </a:buClr>
              <a:buSzPts val="1600"/>
              <a:buFont typeface="Arial"/>
              <a:buNone/>
            </a:pPr>
            <a:r>
              <a:rPr b="1" lang="en-US" sz="1600">
                <a:solidFill>
                  <a:srgbClr val="FFFFFF"/>
                </a:solidFill>
                <a:latin typeface="Arial"/>
                <a:ea typeface="Arial"/>
                <a:cs typeface="Arial"/>
                <a:sym typeface="Arial"/>
              </a:rPr>
              <a:t>Verified artifacts</a:t>
            </a:r>
            <a:endParaRPr sz="1600">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600"/>
              <a:buFont typeface="Arial"/>
              <a:buNone/>
            </a:pPr>
            <a:r>
              <a:rPr lang="en-US" sz="1600">
                <a:solidFill>
                  <a:srgbClr val="FFFFFF"/>
                </a:solidFill>
                <a:latin typeface="Arial"/>
                <a:ea typeface="Arial"/>
                <a:cs typeface="Arial"/>
                <a:sym typeface="Arial"/>
              </a:rPr>
              <a:t>the only success signal</a:t>
            </a:r>
            <a:endParaRPr sz="1600">
              <a:solidFill>
                <a:schemeClr val="dk1"/>
              </a:solidFill>
              <a:latin typeface="Calibri"/>
              <a:ea typeface="Calibri"/>
              <a:cs typeface="Calibri"/>
              <a:sym typeface="Calibri"/>
            </a:endParaRPr>
          </a:p>
        </p:txBody>
      </p:sp>
      <p:cxnSp>
        <p:nvCxnSpPr>
          <p:cNvPr id="54" name="Google Shape;54;p4"/>
          <p:cNvCxnSpPr/>
          <p:nvPr/>
        </p:nvCxnSpPr>
        <p:spPr>
          <a:xfrm>
            <a:off x="2834640" y="1760220"/>
            <a:ext cx="548640" cy="0"/>
          </a:xfrm>
          <a:prstGeom prst="straightConnector1">
            <a:avLst/>
          </a:prstGeom>
          <a:noFill/>
          <a:ln cap="flat" cmpd="sng" w="25400">
            <a:solidFill>
              <a:srgbClr val="4A5A6A"/>
            </a:solidFill>
            <a:prstDash val="solid"/>
            <a:round/>
            <a:headEnd len="sm" w="sm" type="none"/>
            <a:tailEnd len="med" w="med" type="triangle"/>
          </a:ln>
        </p:spPr>
      </p:cxnSp>
      <p:cxnSp>
        <p:nvCxnSpPr>
          <p:cNvPr id="55" name="Google Shape;55;p4"/>
          <p:cNvCxnSpPr/>
          <p:nvPr/>
        </p:nvCxnSpPr>
        <p:spPr>
          <a:xfrm>
            <a:off x="5760720" y="1760220"/>
            <a:ext cx="548640" cy="0"/>
          </a:xfrm>
          <a:prstGeom prst="straightConnector1">
            <a:avLst/>
          </a:prstGeom>
          <a:noFill/>
          <a:ln cap="flat" cmpd="sng" w="25400">
            <a:solidFill>
              <a:srgbClr val="4A5A6A"/>
            </a:solidFill>
            <a:prstDash val="solid"/>
            <a:round/>
            <a:headEnd len="sm" w="sm" type="none"/>
            <a:tailEnd len="med" w="med" type="triangle"/>
          </a:ln>
        </p:spPr>
      </p:cxnSp>
      <p:cxnSp>
        <p:nvCxnSpPr>
          <p:cNvPr id="56" name="Google Shape;56;p4"/>
          <p:cNvCxnSpPr/>
          <p:nvPr/>
        </p:nvCxnSpPr>
        <p:spPr>
          <a:xfrm>
            <a:off x="7498080" y="2194560"/>
            <a:ext cx="0" cy="548640"/>
          </a:xfrm>
          <a:prstGeom prst="straightConnector1">
            <a:avLst/>
          </a:prstGeom>
          <a:noFill/>
          <a:ln cap="flat" cmpd="sng" w="25400">
            <a:solidFill>
              <a:srgbClr val="4A5A6A"/>
            </a:solidFill>
            <a:prstDash val="solid"/>
            <a:round/>
            <a:headEnd len="sm" w="sm" type="none"/>
            <a:tailEnd len="med" w="med" type="triangle"/>
          </a:ln>
        </p:spPr>
      </p:cxnSp>
      <p:cxnSp>
        <p:nvCxnSpPr>
          <p:cNvPr id="57" name="Google Shape;57;p4"/>
          <p:cNvCxnSpPr/>
          <p:nvPr/>
        </p:nvCxnSpPr>
        <p:spPr>
          <a:xfrm rot="10800000">
            <a:off x="5760720" y="3177540"/>
            <a:ext cx="548640" cy="0"/>
          </a:xfrm>
          <a:prstGeom prst="straightConnector1">
            <a:avLst/>
          </a:prstGeom>
          <a:noFill/>
          <a:ln cap="flat" cmpd="sng" w="25400">
            <a:solidFill>
              <a:srgbClr val="4A5A6A"/>
            </a:solidFill>
            <a:prstDash val="solid"/>
            <a:round/>
            <a:headEnd len="sm" w="sm" type="none"/>
            <a:tailEnd len="med" w="med" type="triangle"/>
          </a:ln>
        </p:spPr>
      </p:cxnSp>
      <p:cxnSp>
        <p:nvCxnSpPr>
          <p:cNvPr id="58" name="Google Shape;58;p4"/>
          <p:cNvCxnSpPr/>
          <p:nvPr/>
        </p:nvCxnSpPr>
        <p:spPr>
          <a:xfrm rot="10800000">
            <a:off x="2834640" y="3177540"/>
            <a:ext cx="548640" cy="0"/>
          </a:xfrm>
          <a:prstGeom prst="straightConnector1">
            <a:avLst/>
          </a:prstGeom>
          <a:noFill/>
          <a:ln cap="flat" cmpd="sng" w="25400">
            <a:solidFill>
              <a:srgbClr val="4A5A6A"/>
            </a:solidFill>
            <a:prstDash val="solid"/>
            <a:round/>
            <a:headEnd len="sm" w="sm" type="none"/>
            <a:tailEnd len="med" w="med" type="triangle"/>
          </a:ln>
        </p:spPr>
      </p:cxnSp>
      <p:sp>
        <p:nvSpPr>
          <p:cNvPr id="59" name="Google Shape;59;p4"/>
          <p:cNvSpPr txBox="1"/>
          <p:nvPr/>
        </p:nvSpPr>
        <p:spPr>
          <a:xfrm>
            <a:off x="457200" y="3886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D2D2D"/>
              </a:buClr>
              <a:buSzPts val="2000"/>
              <a:buFont typeface="Arial"/>
              <a:buNone/>
            </a:pPr>
            <a:r>
              <a:rPr lang="en-US" sz="2000">
                <a:solidFill>
                  <a:srgbClr val="2D2D2D"/>
                </a:solidFill>
                <a:latin typeface="Arial"/>
                <a:ea typeface="Arial"/>
                <a:cs typeface="Arial"/>
                <a:sym typeface="Arial"/>
              </a:rPr>
              <a:t>Public release: 100 cases each way between x86_64 and ARM64; no RISC-V cases yet.</a:t>
            </a:r>
            <a:endParaRPr sz="2000">
              <a:solidFill>
                <a:schemeClr val="dk1"/>
              </a:solidFill>
              <a:latin typeface="Calibri"/>
              <a:ea typeface="Calibri"/>
              <a:cs typeface="Calibri"/>
              <a:sym typeface="Calibri"/>
            </a:endParaRPr>
          </a:p>
        </p:txBody>
      </p:sp>
      <p:sp>
        <p:nvSpPr>
          <p:cNvPr id="60" name="Google Shape;60;p4"/>
          <p:cNvSpPr txBox="1"/>
          <p:nvPr/>
        </p:nvSpPr>
        <p:spPr>
          <a:xfrm>
            <a:off x="457200" y="4590288"/>
            <a:ext cx="7589520" cy="384048"/>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666666"/>
              </a:buClr>
              <a:buSzPts val="1200"/>
              <a:buFont typeface="Arial"/>
              <a:buNone/>
            </a:pPr>
            <a:r>
              <a:rPr lang="en-US" sz="1200">
                <a:solidFill>
                  <a:srgbClr val="666666"/>
                </a:solidFill>
                <a:latin typeface="Arial"/>
                <a:ea typeface="Arial"/>
                <a:cs typeface="Arial"/>
                <a:sym typeface="Arial"/>
              </a:rPr>
              <a:t>Build-Bench Challenge, 2026 (rules); Starter Kit v0.1.0-rc.2 README; development cases v0.1.</a:t>
            </a:r>
            <a:endParaRPr sz="1200">
              <a:solidFill>
                <a:schemeClr val="dk1"/>
              </a:solidFill>
              <a:latin typeface="Calibri"/>
              <a:ea typeface="Calibri"/>
              <a:cs typeface="Calibri"/>
              <a:sym typeface="Calibri"/>
            </a:endParaRPr>
          </a:p>
        </p:txBody>
      </p:sp>
      <p:sp>
        <p:nvSpPr>
          <p:cNvPr id="61" name="Google Shape;61;p4"/>
          <p:cNvSpPr txBox="1"/>
          <p:nvPr/>
        </p:nvSpPr>
        <p:spPr>
          <a:xfrm>
            <a:off x="8229600" y="4590288"/>
            <a:ext cx="457200" cy="384048"/>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Clr>
                <a:srgbClr val="666666"/>
              </a:buClr>
              <a:buSzPts val="1200"/>
              <a:buFont typeface="Arial"/>
              <a:buNone/>
            </a:pPr>
            <a:r>
              <a:rPr lang="en-US" sz="1200">
                <a:solidFill>
                  <a:srgbClr val="666666"/>
                </a:solidFill>
                <a:latin typeface="Arial"/>
                <a:ea typeface="Arial"/>
                <a:cs typeface="Arial"/>
                <a:sym typeface="Arial"/>
              </a:rPr>
              <a:t>4</a:t>
            </a:r>
            <a:endParaRPr sz="12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 name="Shape 66"/>
        <p:cNvGrpSpPr/>
        <p:nvPr/>
      </p:nvGrpSpPr>
      <p:grpSpPr>
        <a:xfrm>
          <a:off x="0" y="0"/>
          <a:ext cx="0" cy="0"/>
          <a:chOff x="0" y="0"/>
          <a:chExt cx="0" cy="0"/>
        </a:xfrm>
      </p:grpSpPr>
      <p:sp>
        <p:nvSpPr>
          <p:cNvPr id="67" name="Google Shape;67;p5"/>
          <p:cNvSpPr txBox="1"/>
          <p:nvPr/>
        </p:nvSpPr>
        <p:spPr>
          <a:xfrm>
            <a:off x="457200" y="256032"/>
            <a:ext cx="8229600" cy="8046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4E79"/>
              </a:buClr>
              <a:buSzPts val="2600"/>
              <a:buFont typeface="Arial"/>
              <a:buNone/>
            </a:pPr>
            <a:r>
              <a:rPr b="1" lang="en-US" sz="2600">
                <a:solidFill>
                  <a:srgbClr val="1F4E79"/>
                </a:solidFill>
                <a:latin typeface="Arial"/>
                <a:ea typeface="Arial"/>
                <a:cs typeface="Arial"/>
                <a:sym typeface="Arial"/>
              </a:rPr>
              <a:t>The agent loops from evidence to repair until feedback passes or a budget runs out</a:t>
            </a:r>
            <a:endParaRPr sz="2600">
              <a:solidFill>
                <a:schemeClr val="dk1"/>
              </a:solidFill>
              <a:latin typeface="Calibri"/>
              <a:ea typeface="Calibri"/>
              <a:cs typeface="Calibri"/>
              <a:sym typeface="Calibri"/>
            </a:endParaRPr>
          </a:p>
        </p:txBody>
      </p:sp>
      <p:sp>
        <p:nvSpPr>
          <p:cNvPr id="68" name="Google Shape;68;p5"/>
          <p:cNvSpPr txBox="1"/>
          <p:nvPr/>
        </p:nvSpPr>
        <p:spPr>
          <a:xfrm>
            <a:off x="457200" y="1481328"/>
            <a:ext cx="1828800" cy="868680"/>
          </a:xfrm>
          <a:prstGeom prst="rect">
            <a:avLst/>
          </a:prstGeom>
          <a:solidFill>
            <a:srgbClr val="EBF3FA"/>
          </a:solidFill>
          <a:ln cap="flat" cmpd="sng" w="12700">
            <a:solidFill>
              <a:srgbClr val="9DB3C9"/>
            </a:solidFill>
            <a:prstDash val="solid"/>
            <a:round/>
            <a:headEnd len="sm" w="sm" type="none"/>
            <a:tailEnd len="sm" w="sm" type="none"/>
          </a:ln>
        </p:spPr>
        <p:txBody>
          <a:bodyPr anchorCtr="0" anchor="ctr" bIns="63500" lIns="63500" spcFirstLastPara="1" rIns="63500" wrap="square" tIns="63500">
            <a:noAutofit/>
          </a:bodyPr>
          <a:lstStyle/>
          <a:p>
            <a:pPr indent="0" lvl="0" marL="0" marR="0" rtl="0" algn="ctr">
              <a:spcBef>
                <a:spcPts val="0"/>
              </a:spcBef>
              <a:spcAft>
                <a:spcPts val="0"/>
              </a:spcAft>
              <a:buClr>
                <a:srgbClr val="1F4E79"/>
              </a:buClr>
              <a:buSzPts val="1600"/>
              <a:buFont typeface="Arial"/>
              <a:buNone/>
            </a:pPr>
            <a:r>
              <a:rPr b="1" lang="en-US" sz="1600">
                <a:solidFill>
                  <a:srgbClr val="1F4E79"/>
                </a:solidFill>
                <a:latin typeface="Arial"/>
                <a:ea typeface="Arial"/>
                <a:cs typeface="Arial"/>
                <a:sym typeface="Arial"/>
              </a:rPr>
              <a:t>Case Manager</a:t>
            </a:r>
            <a:endParaRPr sz="1600">
              <a:solidFill>
                <a:schemeClr val="dk1"/>
              </a:solidFill>
              <a:latin typeface="Calibri"/>
              <a:ea typeface="Calibri"/>
              <a:cs typeface="Calibri"/>
              <a:sym typeface="Calibri"/>
            </a:endParaRPr>
          </a:p>
          <a:p>
            <a:pPr indent="0" lvl="0" marL="0" marR="0" rtl="0" algn="ctr">
              <a:spcBef>
                <a:spcPts val="0"/>
              </a:spcBef>
              <a:spcAft>
                <a:spcPts val="0"/>
              </a:spcAft>
              <a:buClr>
                <a:srgbClr val="2D2D2D"/>
              </a:buClr>
              <a:buSzPts val="1600"/>
              <a:buFont typeface="Arial"/>
              <a:buNone/>
            </a:pPr>
            <a:r>
              <a:rPr lang="en-US" sz="1600">
                <a:solidFill>
                  <a:srgbClr val="2D2D2D"/>
                </a:solidFill>
                <a:latin typeface="Arial"/>
                <a:ea typeface="Arial"/>
                <a:cs typeface="Arial"/>
                <a:sym typeface="Arial"/>
              </a:rPr>
              <a:t>metadata + log</a:t>
            </a:r>
            <a:endParaRPr sz="1600">
              <a:solidFill>
                <a:schemeClr val="dk1"/>
              </a:solidFill>
              <a:latin typeface="Calibri"/>
              <a:ea typeface="Calibri"/>
              <a:cs typeface="Calibri"/>
              <a:sym typeface="Calibri"/>
            </a:endParaRPr>
          </a:p>
        </p:txBody>
      </p:sp>
      <p:sp>
        <p:nvSpPr>
          <p:cNvPr id="69" name="Google Shape;69;p5"/>
          <p:cNvSpPr txBox="1"/>
          <p:nvPr/>
        </p:nvSpPr>
        <p:spPr>
          <a:xfrm>
            <a:off x="2590800" y="1481328"/>
            <a:ext cx="1828800" cy="868680"/>
          </a:xfrm>
          <a:prstGeom prst="rect">
            <a:avLst/>
          </a:prstGeom>
          <a:solidFill>
            <a:srgbClr val="EBF3FA"/>
          </a:solidFill>
          <a:ln cap="flat" cmpd="sng" w="12700">
            <a:solidFill>
              <a:srgbClr val="9DB3C9"/>
            </a:solidFill>
            <a:prstDash val="solid"/>
            <a:round/>
            <a:headEnd len="sm" w="sm" type="none"/>
            <a:tailEnd len="sm" w="sm" type="none"/>
          </a:ln>
        </p:spPr>
        <p:txBody>
          <a:bodyPr anchorCtr="0" anchor="ctr" bIns="63500" lIns="63500" spcFirstLastPara="1" rIns="63500" wrap="square" tIns="63500">
            <a:noAutofit/>
          </a:bodyPr>
          <a:lstStyle/>
          <a:p>
            <a:pPr indent="0" lvl="0" marL="0" marR="0" rtl="0" algn="ctr">
              <a:spcBef>
                <a:spcPts val="0"/>
              </a:spcBef>
              <a:spcAft>
                <a:spcPts val="0"/>
              </a:spcAft>
              <a:buClr>
                <a:srgbClr val="1F4E79"/>
              </a:buClr>
              <a:buSzPts val="1600"/>
              <a:buFont typeface="Arial"/>
              <a:buNone/>
            </a:pPr>
            <a:r>
              <a:rPr b="1" lang="en-US" sz="1600">
                <a:solidFill>
                  <a:srgbClr val="1F4E79"/>
                </a:solidFill>
                <a:latin typeface="Arial"/>
                <a:ea typeface="Arial"/>
                <a:cs typeface="Arial"/>
                <a:sym typeface="Arial"/>
              </a:rPr>
              <a:t>Evidence Manager</a:t>
            </a:r>
            <a:endParaRPr sz="1600">
              <a:solidFill>
                <a:schemeClr val="dk1"/>
              </a:solidFill>
              <a:latin typeface="Calibri"/>
              <a:ea typeface="Calibri"/>
              <a:cs typeface="Calibri"/>
              <a:sym typeface="Calibri"/>
            </a:endParaRPr>
          </a:p>
          <a:p>
            <a:pPr indent="0" lvl="0" marL="0" marR="0" rtl="0" algn="ctr">
              <a:spcBef>
                <a:spcPts val="0"/>
              </a:spcBef>
              <a:spcAft>
                <a:spcPts val="0"/>
              </a:spcAft>
              <a:buClr>
                <a:srgbClr val="2D2D2D"/>
              </a:buClr>
              <a:buSzPts val="1600"/>
              <a:buFont typeface="Arial"/>
              <a:buNone/>
            </a:pPr>
            <a:r>
              <a:rPr lang="en-US" sz="1600">
                <a:solidFill>
                  <a:srgbClr val="2D2D2D"/>
                </a:solidFill>
                <a:latin typeface="Arial"/>
                <a:ea typeface="Arial"/>
                <a:cs typeface="Arial"/>
                <a:sym typeface="Arial"/>
              </a:rPr>
              <a:t>log slices, files</a:t>
            </a:r>
            <a:endParaRPr sz="1600">
              <a:solidFill>
                <a:schemeClr val="dk1"/>
              </a:solidFill>
              <a:latin typeface="Calibri"/>
              <a:ea typeface="Calibri"/>
              <a:cs typeface="Calibri"/>
              <a:sym typeface="Calibri"/>
            </a:endParaRPr>
          </a:p>
        </p:txBody>
      </p:sp>
      <p:sp>
        <p:nvSpPr>
          <p:cNvPr id="70" name="Google Shape;70;p5"/>
          <p:cNvSpPr txBox="1"/>
          <p:nvPr/>
        </p:nvSpPr>
        <p:spPr>
          <a:xfrm>
            <a:off x="4724400" y="1481328"/>
            <a:ext cx="1828800" cy="868680"/>
          </a:xfrm>
          <a:prstGeom prst="rect">
            <a:avLst/>
          </a:prstGeom>
          <a:solidFill>
            <a:srgbClr val="EBF3FA"/>
          </a:solidFill>
          <a:ln cap="flat" cmpd="sng" w="12700">
            <a:solidFill>
              <a:srgbClr val="9DB3C9"/>
            </a:solidFill>
            <a:prstDash val="solid"/>
            <a:round/>
            <a:headEnd len="sm" w="sm" type="none"/>
            <a:tailEnd len="sm" w="sm" type="none"/>
          </a:ln>
        </p:spPr>
        <p:txBody>
          <a:bodyPr anchorCtr="0" anchor="ctr" bIns="63500" lIns="63500" spcFirstLastPara="1" rIns="63500" wrap="square" tIns="63500">
            <a:noAutofit/>
          </a:bodyPr>
          <a:lstStyle/>
          <a:p>
            <a:pPr indent="0" lvl="0" marL="0" marR="0" rtl="0" algn="ctr">
              <a:spcBef>
                <a:spcPts val="0"/>
              </a:spcBef>
              <a:spcAft>
                <a:spcPts val="0"/>
              </a:spcAft>
              <a:buClr>
                <a:srgbClr val="1F4E79"/>
              </a:buClr>
              <a:buSzPts val="1600"/>
              <a:buFont typeface="Arial"/>
              <a:buNone/>
            </a:pPr>
            <a:r>
              <a:rPr b="1" lang="en-US" sz="1600">
                <a:solidFill>
                  <a:srgbClr val="1F4E79"/>
                </a:solidFill>
                <a:latin typeface="Arial"/>
                <a:ea typeface="Arial"/>
                <a:cs typeface="Arial"/>
                <a:sym typeface="Arial"/>
              </a:rPr>
              <a:t>LLM Planner</a:t>
            </a:r>
            <a:endParaRPr sz="1600">
              <a:solidFill>
                <a:schemeClr val="dk1"/>
              </a:solidFill>
              <a:latin typeface="Calibri"/>
              <a:ea typeface="Calibri"/>
              <a:cs typeface="Calibri"/>
              <a:sym typeface="Calibri"/>
            </a:endParaRPr>
          </a:p>
          <a:p>
            <a:pPr indent="0" lvl="0" marL="0" marR="0" rtl="0" algn="ctr">
              <a:spcBef>
                <a:spcPts val="0"/>
              </a:spcBef>
              <a:spcAft>
                <a:spcPts val="0"/>
              </a:spcAft>
              <a:buClr>
                <a:srgbClr val="2D2D2D"/>
              </a:buClr>
              <a:buSzPts val="1600"/>
              <a:buFont typeface="Arial"/>
              <a:buNone/>
            </a:pPr>
            <a:r>
              <a:rPr lang="en-US" sz="1600">
                <a:solidFill>
                  <a:srgbClr val="2D2D2D"/>
                </a:solidFill>
                <a:latin typeface="Arial"/>
                <a:ea typeface="Arial"/>
                <a:cs typeface="Arial"/>
                <a:sym typeface="Arial"/>
              </a:rPr>
              <a:t>states hypothesis</a:t>
            </a:r>
            <a:endParaRPr sz="1600">
              <a:solidFill>
                <a:schemeClr val="dk1"/>
              </a:solidFill>
              <a:latin typeface="Calibri"/>
              <a:ea typeface="Calibri"/>
              <a:cs typeface="Calibri"/>
              <a:sym typeface="Calibri"/>
            </a:endParaRPr>
          </a:p>
        </p:txBody>
      </p:sp>
      <p:sp>
        <p:nvSpPr>
          <p:cNvPr id="71" name="Google Shape;71;p5"/>
          <p:cNvSpPr txBox="1"/>
          <p:nvPr/>
        </p:nvSpPr>
        <p:spPr>
          <a:xfrm>
            <a:off x="6858000" y="1481328"/>
            <a:ext cx="1828800" cy="868680"/>
          </a:xfrm>
          <a:prstGeom prst="rect">
            <a:avLst/>
          </a:prstGeom>
          <a:solidFill>
            <a:srgbClr val="EBF3FA"/>
          </a:solidFill>
          <a:ln cap="flat" cmpd="sng" w="12700">
            <a:solidFill>
              <a:srgbClr val="9DB3C9"/>
            </a:solidFill>
            <a:prstDash val="solid"/>
            <a:round/>
            <a:headEnd len="sm" w="sm" type="none"/>
            <a:tailEnd len="sm" w="sm" type="none"/>
          </a:ln>
        </p:spPr>
        <p:txBody>
          <a:bodyPr anchorCtr="0" anchor="ctr" bIns="63500" lIns="63500" spcFirstLastPara="1" rIns="63500" wrap="square" tIns="63500">
            <a:noAutofit/>
          </a:bodyPr>
          <a:lstStyle/>
          <a:p>
            <a:pPr indent="0" lvl="0" marL="0" marR="0" rtl="0" algn="ctr">
              <a:spcBef>
                <a:spcPts val="0"/>
              </a:spcBef>
              <a:spcAft>
                <a:spcPts val="0"/>
              </a:spcAft>
              <a:buClr>
                <a:srgbClr val="1F4E79"/>
              </a:buClr>
              <a:buSzPts val="1600"/>
              <a:buFont typeface="Arial"/>
              <a:buNone/>
            </a:pPr>
            <a:r>
              <a:rPr b="1" lang="en-US" sz="1600">
                <a:solidFill>
                  <a:srgbClr val="1F4E79"/>
                </a:solidFill>
                <a:latin typeface="Arial"/>
                <a:ea typeface="Arial"/>
                <a:cs typeface="Arial"/>
                <a:sym typeface="Arial"/>
              </a:rPr>
              <a:t>Controlled Tools</a:t>
            </a:r>
            <a:endParaRPr sz="1600">
              <a:solidFill>
                <a:schemeClr val="dk1"/>
              </a:solidFill>
              <a:latin typeface="Calibri"/>
              <a:ea typeface="Calibri"/>
              <a:cs typeface="Calibri"/>
              <a:sym typeface="Calibri"/>
            </a:endParaRPr>
          </a:p>
          <a:p>
            <a:pPr indent="0" lvl="0" marL="0" marR="0" rtl="0" algn="ctr">
              <a:spcBef>
                <a:spcPts val="0"/>
              </a:spcBef>
              <a:spcAft>
                <a:spcPts val="0"/>
              </a:spcAft>
              <a:buClr>
                <a:srgbClr val="2D2D2D"/>
              </a:buClr>
              <a:buSzPts val="1600"/>
              <a:buFont typeface="Arial"/>
              <a:buNone/>
            </a:pPr>
            <a:r>
              <a:rPr lang="en-US" sz="1600">
                <a:solidFill>
                  <a:srgbClr val="2D2D2D"/>
                </a:solidFill>
                <a:latin typeface="Arial"/>
                <a:ea typeface="Arial"/>
                <a:cs typeface="Arial"/>
                <a:sym typeface="Arial"/>
              </a:rPr>
              <a:t>search, inspect</a:t>
            </a:r>
            <a:endParaRPr sz="1600">
              <a:solidFill>
                <a:schemeClr val="dk1"/>
              </a:solidFill>
              <a:latin typeface="Calibri"/>
              <a:ea typeface="Calibri"/>
              <a:cs typeface="Calibri"/>
              <a:sym typeface="Calibri"/>
            </a:endParaRPr>
          </a:p>
        </p:txBody>
      </p:sp>
      <p:sp>
        <p:nvSpPr>
          <p:cNvPr id="72" name="Google Shape;72;p5"/>
          <p:cNvSpPr txBox="1"/>
          <p:nvPr/>
        </p:nvSpPr>
        <p:spPr>
          <a:xfrm>
            <a:off x="4724400" y="2944368"/>
            <a:ext cx="1828800" cy="868680"/>
          </a:xfrm>
          <a:prstGeom prst="rect">
            <a:avLst/>
          </a:prstGeom>
          <a:solidFill>
            <a:srgbClr val="EBF3FA"/>
          </a:solidFill>
          <a:ln cap="flat" cmpd="sng" w="12700">
            <a:solidFill>
              <a:srgbClr val="9DB3C9"/>
            </a:solidFill>
            <a:prstDash val="solid"/>
            <a:round/>
            <a:headEnd len="sm" w="sm" type="none"/>
            <a:tailEnd len="sm" w="sm" type="none"/>
          </a:ln>
        </p:spPr>
        <p:txBody>
          <a:bodyPr anchorCtr="0" anchor="ctr" bIns="63500" lIns="63500" spcFirstLastPara="1" rIns="63500" wrap="square" tIns="63500">
            <a:noAutofit/>
          </a:bodyPr>
          <a:lstStyle/>
          <a:p>
            <a:pPr indent="0" lvl="0" marL="0" marR="0" rtl="0" algn="ctr">
              <a:spcBef>
                <a:spcPts val="0"/>
              </a:spcBef>
              <a:spcAft>
                <a:spcPts val="0"/>
              </a:spcAft>
              <a:buClr>
                <a:srgbClr val="1F4E79"/>
              </a:buClr>
              <a:buSzPts val="1600"/>
              <a:buFont typeface="Arial"/>
              <a:buNone/>
            </a:pPr>
            <a:r>
              <a:rPr b="1" lang="en-US" sz="1600">
                <a:solidFill>
                  <a:srgbClr val="1F4E79"/>
                </a:solidFill>
                <a:latin typeface="Arial"/>
                <a:ea typeface="Arial"/>
                <a:cs typeface="Arial"/>
                <a:sym typeface="Arial"/>
              </a:rPr>
              <a:t>Repair Generator</a:t>
            </a:r>
            <a:endParaRPr sz="1600">
              <a:solidFill>
                <a:schemeClr val="dk1"/>
              </a:solidFill>
              <a:latin typeface="Calibri"/>
              <a:ea typeface="Calibri"/>
              <a:cs typeface="Calibri"/>
              <a:sym typeface="Calibri"/>
            </a:endParaRPr>
          </a:p>
          <a:p>
            <a:pPr indent="0" lvl="0" marL="0" marR="0" rtl="0" algn="ctr">
              <a:spcBef>
                <a:spcPts val="0"/>
              </a:spcBef>
              <a:spcAft>
                <a:spcPts val="0"/>
              </a:spcAft>
              <a:buClr>
                <a:srgbClr val="2D2D2D"/>
              </a:buClr>
              <a:buSzPts val="1600"/>
              <a:buFont typeface="Arial"/>
              <a:buNone/>
            </a:pPr>
            <a:r>
              <a:rPr lang="en-US" sz="1600">
                <a:solidFill>
                  <a:srgbClr val="2D2D2D"/>
                </a:solidFill>
                <a:latin typeface="Arial"/>
                <a:ea typeface="Arial"/>
                <a:cs typeface="Arial"/>
                <a:sym typeface="Arial"/>
              </a:rPr>
              <a:t>text edits only</a:t>
            </a:r>
            <a:endParaRPr sz="1600">
              <a:solidFill>
                <a:schemeClr val="dk1"/>
              </a:solidFill>
              <a:latin typeface="Calibri"/>
              <a:ea typeface="Calibri"/>
              <a:cs typeface="Calibri"/>
              <a:sym typeface="Calibri"/>
            </a:endParaRPr>
          </a:p>
        </p:txBody>
      </p:sp>
      <p:sp>
        <p:nvSpPr>
          <p:cNvPr id="73" name="Google Shape;73;p5"/>
          <p:cNvSpPr txBox="1"/>
          <p:nvPr/>
        </p:nvSpPr>
        <p:spPr>
          <a:xfrm>
            <a:off x="2590800" y="2944368"/>
            <a:ext cx="1828800" cy="868680"/>
          </a:xfrm>
          <a:prstGeom prst="rect">
            <a:avLst/>
          </a:prstGeom>
          <a:solidFill>
            <a:srgbClr val="EBF3FA"/>
          </a:solidFill>
          <a:ln cap="flat" cmpd="sng" w="12700">
            <a:solidFill>
              <a:srgbClr val="9DB3C9"/>
            </a:solidFill>
            <a:prstDash val="solid"/>
            <a:round/>
            <a:headEnd len="sm" w="sm" type="none"/>
            <a:tailEnd len="sm" w="sm" type="none"/>
          </a:ln>
        </p:spPr>
        <p:txBody>
          <a:bodyPr anchorCtr="0" anchor="ctr" bIns="63500" lIns="63500" spcFirstLastPara="1" rIns="63500" wrap="square" tIns="63500">
            <a:noAutofit/>
          </a:bodyPr>
          <a:lstStyle/>
          <a:p>
            <a:pPr indent="0" lvl="0" marL="0" marR="0" rtl="0" algn="ctr">
              <a:spcBef>
                <a:spcPts val="0"/>
              </a:spcBef>
              <a:spcAft>
                <a:spcPts val="0"/>
              </a:spcAft>
              <a:buClr>
                <a:srgbClr val="1F4E79"/>
              </a:buClr>
              <a:buSzPts val="1600"/>
              <a:buFont typeface="Arial"/>
              <a:buNone/>
            </a:pPr>
            <a:r>
              <a:rPr b="1" lang="en-US" sz="1600">
                <a:solidFill>
                  <a:srgbClr val="1F4E79"/>
                </a:solidFill>
                <a:latin typeface="Arial"/>
                <a:ea typeface="Arial"/>
                <a:cs typeface="Arial"/>
                <a:sym typeface="Arial"/>
              </a:rPr>
              <a:t>Validation Adapter</a:t>
            </a:r>
            <a:endParaRPr sz="1600">
              <a:solidFill>
                <a:schemeClr val="dk1"/>
              </a:solidFill>
              <a:latin typeface="Calibri"/>
              <a:ea typeface="Calibri"/>
              <a:cs typeface="Calibri"/>
              <a:sym typeface="Calibri"/>
            </a:endParaRPr>
          </a:p>
          <a:p>
            <a:pPr indent="0" lvl="0" marL="0" marR="0" rtl="0" algn="ctr">
              <a:spcBef>
                <a:spcPts val="0"/>
              </a:spcBef>
              <a:spcAft>
                <a:spcPts val="0"/>
              </a:spcAft>
              <a:buClr>
                <a:srgbClr val="2D2D2D"/>
              </a:buClr>
              <a:buSzPts val="1600"/>
              <a:buFont typeface="Arial"/>
              <a:buNone/>
            </a:pPr>
            <a:r>
              <a:rPr lang="en-US" sz="1600">
                <a:solidFill>
                  <a:srgbClr val="2D2D2D"/>
                </a:solidFill>
                <a:latin typeface="Arial"/>
                <a:ea typeface="Arial"/>
                <a:cs typeface="Arial"/>
                <a:sym typeface="Arial"/>
              </a:rPr>
              <a:t>build, if offered</a:t>
            </a:r>
            <a:endParaRPr sz="1600">
              <a:solidFill>
                <a:schemeClr val="dk1"/>
              </a:solidFill>
              <a:latin typeface="Calibri"/>
              <a:ea typeface="Calibri"/>
              <a:cs typeface="Calibri"/>
              <a:sym typeface="Calibri"/>
            </a:endParaRPr>
          </a:p>
        </p:txBody>
      </p:sp>
      <p:sp>
        <p:nvSpPr>
          <p:cNvPr id="74" name="Google Shape;74;p5"/>
          <p:cNvSpPr txBox="1"/>
          <p:nvPr/>
        </p:nvSpPr>
        <p:spPr>
          <a:xfrm>
            <a:off x="457200" y="2944368"/>
            <a:ext cx="1828800" cy="868680"/>
          </a:xfrm>
          <a:prstGeom prst="rect">
            <a:avLst/>
          </a:prstGeom>
          <a:solidFill>
            <a:srgbClr val="1F4E79"/>
          </a:solidFill>
          <a:ln cap="flat" cmpd="sng" w="12700">
            <a:solidFill>
              <a:srgbClr val="1F4E79"/>
            </a:solidFill>
            <a:prstDash val="solid"/>
            <a:round/>
            <a:headEnd len="sm" w="sm" type="none"/>
            <a:tailEnd len="sm" w="sm" type="none"/>
          </a:ln>
        </p:spPr>
        <p:txBody>
          <a:bodyPr anchorCtr="0" anchor="ctr" bIns="63500" lIns="63500" spcFirstLastPara="1" rIns="63500" wrap="square" tIns="63500">
            <a:noAutofit/>
          </a:bodyPr>
          <a:lstStyle/>
          <a:p>
            <a:pPr indent="0" lvl="0" marL="0" marR="0" rtl="0" algn="ctr">
              <a:spcBef>
                <a:spcPts val="0"/>
              </a:spcBef>
              <a:spcAft>
                <a:spcPts val="0"/>
              </a:spcAft>
              <a:buClr>
                <a:srgbClr val="FFFFFF"/>
              </a:buClr>
              <a:buSzPts val="1600"/>
              <a:buFont typeface="Arial"/>
              <a:buNone/>
            </a:pPr>
            <a:r>
              <a:rPr b="1" lang="en-US" sz="1600">
                <a:solidFill>
                  <a:srgbClr val="FFFFFF"/>
                </a:solidFill>
                <a:latin typeface="Arial"/>
                <a:ea typeface="Arial"/>
                <a:cs typeface="Arial"/>
                <a:sym typeface="Arial"/>
              </a:rPr>
              <a:t>Final worktree</a:t>
            </a:r>
            <a:endParaRPr sz="1600">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600"/>
              <a:buFont typeface="Arial"/>
              <a:buNone/>
            </a:pPr>
            <a:r>
              <a:rPr lang="en-US" sz="1600">
                <a:solidFill>
                  <a:srgbClr val="FFFFFF"/>
                </a:solidFill>
                <a:latin typeface="Arial"/>
                <a:ea typeface="Arial"/>
                <a:cs typeface="Arial"/>
                <a:sym typeface="Arial"/>
              </a:rPr>
              <a:t>organizer build decides</a:t>
            </a:r>
            <a:endParaRPr sz="1600">
              <a:solidFill>
                <a:schemeClr val="dk1"/>
              </a:solidFill>
              <a:latin typeface="Calibri"/>
              <a:ea typeface="Calibri"/>
              <a:cs typeface="Calibri"/>
              <a:sym typeface="Calibri"/>
            </a:endParaRPr>
          </a:p>
        </p:txBody>
      </p:sp>
      <p:sp>
        <p:nvSpPr>
          <p:cNvPr id="75" name="Google Shape;75;p5"/>
          <p:cNvSpPr txBox="1"/>
          <p:nvPr/>
        </p:nvSpPr>
        <p:spPr>
          <a:xfrm>
            <a:off x="6858000" y="2944368"/>
            <a:ext cx="1828800" cy="868680"/>
          </a:xfrm>
          <a:prstGeom prst="rect">
            <a:avLst/>
          </a:prstGeom>
          <a:solidFill>
            <a:srgbClr val="FFFFFF"/>
          </a:solidFill>
          <a:ln cap="flat" cmpd="sng" w="12700">
            <a:solidFill>
              <a:srgbClr val="666666"/>
            </a:solidFill>
            <a:prstDash val="dash"/>
            <a:round/>
            <a:headEnd len="sm" w="sm" type="none"/>
            <a:tailEnd len="sm" w="sm" type="none"/>
          </a:ln>
        </p:spPr>
        <p:txBody>
          <a:bodyPr anchorCtr="0" anchor="ctr" bIns="63500" lIns="63500" spcFirstLastPara="1" rIns="63500" wrap="square" tIns="63500">
            <a:noAutofit/>
          </a:bodyPr>
          <a:lstStyle/>
          <a:p>
            <a:pPr indent="0" lvl="0" marL="0" marR="0" rtl="0" algn="ctr">
              <a:spcBef>
                <a:spcPts val="0"/>
              </a:spcBef>
              <a:spcAft>
                <a:spcPts val="0"/>
              </a:spcAft>
              <a:buClr>
                <a:srgbClr val="1F4E79"/>
              </a:buClr>
              <a:buSzPts val="1600"/>
              <a:buFont typeface="Arial"/>
              <a:buNone/>
            </a:pPr>
            <a:r>
              <a:rPr b="1" lang="en-US" sz="1600">
                <a:solidFill>
                  <a:srgbClr val="1F4E79"/>
                </a:solidFill>
                <a:latin typeface="Arial"/>
                <a:ea typeface="Arial"/>
                <a:cs typeface="Arial"/>
                <a:sym typeface="Arial"/>
              </a:rPr>
              <a:t>Cross-cutting</a:t>
            </a:r>
            <a:endParaRPr sz="1600">
              <a:solidFill>
                <a:schemeClr val="dk1"/>
              </a:solidFill>
              <a:latin typeface="Calibri"/>
              <a:ea typeface="Calibri"/>
              <a:cs typeface="Calibri"/>
              <a:sym typeface="Calibri"/>
            </a:endParaRPr>
          </a:p>
          <a:p>
            <a:pPr indent="0" lvl="0" marL="0" marR="0" rtl="0" algn="ctr">
              <a:spcBef>
                <a:spcPts val="0"/>
              </a:spcBef>
              <a:spcAft>
                <a:spcPts val="0"/>
              </a:spcAft>
              <a:buClr>
                <a:srgbClr val="2D2D2D"/>
              </a:buClr>
              <a:buSzPts val="1600"/>
              <a:buFont typeface="Arial"/>
              <a:buNone/>
            </a:pPr>
            <a:r>
              <a:rPr lang="en-US" sz="1600">
                <a:solidFill>
                  <a:srgbClr val="2D2D2D"/>
                </a:solidFill>
                <a:latin typeface="Arial"/>
                <a:ea typeface="Arial"/>
                <a:cs typeface="Arial"/>
                <a:sym typeface="Arial"/>
              </a:rPr>
              <a:t>history + budget caps</a:t>
            </a:r>
            <a:endParaRPr sz="1600">
              <a:solidFill>
                <a:schemeClr val="dk1"/>
              </a:solidFill>
              <a:latin typeface="Calibri"/>
              <a:ea typeface="Calibri"/>
              <a:cs typeface="Calibri"/>
              <a:sym typeface="Calibri"/>
            </a:endParaRPr>
          </a:p>
        </p:txBody>
      </p:sp>
      <p:cxnSp>
        <p:nvCxnSpPr>
          <p:cNvPr id="76" name="Google Shape;76;p5"/>
          <p:cNvCxnSpPr/>
          <p:nvPr/>
        </p:nvCxnSpPr>
        <p:spPr>
          <a:xfrm>
            <a:off x="2286000" y="1915668"/>
            <a:ext cx="304800" cy="0"/>
          </a:xfrm>
          <a:prstGeom prst="straightConnector1">
            <a:avLst/>
          </a:prstGeom>
          <a:noFill/>
          <a:ln cap="flat" cmpd="sng" w="25400">
            <a:solidFill>
              <a:srgbClr val="4A5A6A"/>
            </a:solidFill>
            <a:prstDash val="solid"/>
            <a:round/>
            <a:headEnd len="sm" w="sm" type="none"/>
            <a:tailEnd len="med" w="med" type="triangle"/>
          </a:ln>
        </p:spPr>
      </p:cxnSp>
      <p:cxnSp>
        <p:nvCxnSpPr>
          <p:cNvPr id="77" name="Google Shape;77;p5"/>
          <p:cNvCxnSpPr/>
          <p:nvPr/>
        </p:nvCxnSpPr>
        <p:spPr>
          <a:xfrm>
            <a:off x="4419600" y="1915668"/>
            <a:ext cx="304800" cy="0"/>
          </a:xfrm>
          <a:prstGeom prst="straightConnector1">
            <a:avLst/>
          </a:prstGeom>
          <a:noFill/>
          <a:ln cap="flat" cmpd="sng" w="25400">
            <a:solidFill>
              <a:srgbClr val="4A5A6A"/>
            </a:solidFill>
            <a:prstDash val="solid"/>
            <a:round/>
            <a:headEnd len="sm" w="sm" type="none"/>
            <a:tailEnd len="med" w="med" type="triangle"/>
          </a:ln>
        </p:spPr>
      </p:cxnSp>
      <p:cxnSp>
        <p:nvCxnSpPr>
          <p:cNvPr id="78" name="Google Shape;78;p5"/>
          <p:cNvCxnSpPr/>
          <p:nvPr/>
        </p:nvCxnSpPr>
        <p:spPr>
          <a:xfrm>
            <a:off x="6553200" y="1915668"/>
            <a:ext cx="304800" cy="0"/>
          </a:xfrm>
          <a:prstGeom prst="straightConnector1">
            <a:avLst/>
          </a:prstGeom>
          <a:noFill/>
          <a:ln cap="flat" cmpd="sng" w="25400">
            <a:solidFill>
              <a:srgbClr val="4A5A6A"/>
            </a:solidFill>
            <a:prstDash val="solid"/>
            <a:round/>
            <a:headEnd len="sm" w="sm" type="none"/>
            <a:tailEnd len="med" w="med" type="triangle"/>
          </a:ln>
        </p:spPr>
      </p:cxnSp>
      <p:cxnSp>
        <p:nvCxnSpPr>
          <p:cNvPr id="79" name="Google Shape;79;p5"/>
          <p:cNvCxnSpPr/>
          <p:nvPr/>
        </p:nvCxnSpPr>
        <p:spPr>
          <a:xfrm rot="10800000">
            <a:off x="7772400" y="1298448"/>
            <a:ext cx="0" cy="182880"/>
          </a:xfrm>
          <a:prstGeom prst="straightConnector1">
            <a:avLst/>
          </a:prstGeom>
          <a:noFill/>
          <a:ln cap="flat" cmpd="sng" w="25400">
            <a:solidFill>
              <a:srgbClr val="4A5A6A"/>
            </a:solidFill>
            <a:prstDash val="solid"/>
            <a:round/>
            <a:headEnd len="sm" w="sm" type="none"/>
            <a:tailEnd len="sm" w="sm" type="none"/>
          </a:ln>
        </p:spPr>
      </p:cxnSp>
      <p:cxnSp>
        <p:nvCxnSpPr>
          <p:cNvPr id="80" name="Google Shape;80;p5"/>
          <p:cNvCxnSpPr/>
          <p:nvPr/>
        </p:nvCxnSpPr>
        <p:spPr>
          <a:xfrm rot="10800000">
            <a:off x="3505200" y="1298448"/>
            <a:ext cx="4267200" cy="0"/>
          </a:xfrm>
          <a:prstGeom prst="straightConnector1">
            <a:avLst/>
          </a:prstGeom>
          <a:noFill/>
          <a:ln cap="flat" cmpd="sng" w="25400">
            <a:solidFill>
              <a:srgbClr val="4A5A6A"/>
            </a:solidFill>
            <a:prstDash val="solid"/>
            <a:round/>
            <a:headEnd len="sm" w="sm" type="none"/>
            <a:tailEnd len="sm" w="sm" type="none"/>
          </a:ln>
        </p:spPr>
      </p:cxnSp>
      <p:cxnSp>
        <p:nvCxnSpPr>
          <p:cNvPr id="81" name="Google Shape;81;p5"/>
          <p:cNvCxnSpPr/>
          <p:nvPr/>
        </p:nvCxnSpPr>
        <p:spPr>
          <a:xfrm>
            <a:off x="3505200" y="1298448"/>
            <a:ext cx="0" cy="182880"/>
          </a:xfrm>
          <a:prstGeom prst="straightConnector1">
            <a:avLst/>
          </a:prstGeom>
          <a:noFill/>
          <a:ln cap="flat" cmpd="sng" w="25400">
            <a:solidFill>
              <a:srgbClr val="4A5A6A"/>
            </a:solidFill>
            <a:prstDash val="solid"/>
            <a:round/>
            <a:headEnd len="sm" w="sm" type="none"/>
            <a:tailEnd len="med" w="med" type="triangle"/>
          </a:ln>
        </p:spPr>
      </p:cxnSp>
      <p:cxnSp>
        <p:nvCxnSpPr>
          <p:cNvPr id="82" name="Google Shape;82;p5"/>
          <p:cNvCxnSpPr/>
          <p:nvPr/>
        </p:nvCxnSpPr>
        <p:spPr>
          <a:xfrm>
            <a:off x="5638800" y="2350008"/>
            <a:ext cx="0" cy="594360"/>
          </a:xfrm>
          <a:prstGeom prst="straightConnector1">
            <a:avLst/>
          </a:prstGeom>
          <a:noFill/>
          <a:ln cap="flat" cmpd="sng" w="25400">
            <a:solidFill>
              <a:srgbClr val="4A5A6A"/>
            </a:solidFill>
            <a:prstDash val="solid"/>
            <a:round/>
            <a:headEnd len="sm" w="sm" type="none"/>
            <a:tailEnd len="med" w="med" type="triangle"/>
          </a:ln>
        </p:spPr>
      </p:cxnSp>
      <p:cxnSp>
        <p:nvCxnSpPr>
          <p:cNvPr id="83" name="Google Shape;83;p5"/>
          <p:cNvCxnSpPr/>
          <p:nvPr/>
        </p:nvCxnSpPr>
        <p:spPr>
          <a:xfrm rot="10800000">
            <a:off x="4419600" y="3378708"/>
            <a:ext cx="304800" cy="0"/>
          </a:xfrm>
          <a:prstGeom prst="straightConnector1">
            <a:avLst/>
          </a:prstGeom>
          <a:noFill/>
          <a:ln cap="flat" cmpd="sng" w="25400">
            <a:solidFill>
              <a:srgbClr val="4A5A6A"/>
            </a:solidFill>
            <a:prstDash val="solid"/>
            <a:round/>
            <a:headEnd len="sm" w="sm" type="none"/>
            <a:tailEnd len="med" w="med" type="triangle"/>
          </a:ln>
        </p:spPr>
      </p:cxnSp>
      <p:cxnSp>
        <p:nvCxnSpPr>
          <p:cNvPr id="84" name="Google Shape;84;p5"/>
          <p:cNvCxnSpPr/>
          <p:nvPr/>
        </p:nvCxnSpPr>
        <p:spPr>
          <a:xfrm rot="10800000">
            <a:off x="2286000" y="3378708"/>
            <a:ext cx="304800" cy="0"/>
          </a:xfrm>
          <a:prstGeom prst="straightConnector1">
            <a:avLst/>
          </a:prstGeom>
          <a:noFill/>
          <a:ln cap="flat" cmpd="sng" w="25400">
            <a:solidFill>
              <a:srgbClr val="4A5A6A"/>
            </a:solidFill>
            <a:prstDash val="solid"/>
            <a:round/>
            <a:headEnd len="sm" w="sm" type="none"/>
            <a:tailEnd len="med" w="med" type="triangle"/>
          </a:ln>
        </p:spPr>
      </p:cxnSp>
      <p:cxnSp>
        <p:nvCxnSpPr>
          <p:cNvPr id="85" name="Google Shape;85;p5"/>
          <p:cNvCxnSpPr/>
          <p:nvPr/>
        </p:nvCxnSpPr>
        <p:spPr>
          <a:xfrm rot="10800000">
            <a:off x="3505200" y="2350008"/>
            <a:ext cx="0" cy="594360"/>
          </a:xfrm>
          <a:prstGeom prst="straightConnector1">
            <a:avLst/>
          </a:prstGeom>
          <a:noFill/>
          <a:ln cap="flat" cmpd="sng" w="31750">
            <a:solidFill>
              <a:srgbClr val="B03A2E"/>
            </a:solidFill>
            <a:prstDash val="solid"/>
            <a:round/>
            <a:headEnd len="sm" w="sm" type="none"/>
            <a:tailEnd len="med" w="med" type="triangle"/>
          </a:ln>
        </p:spPr>
      </p:cxnSp>
      <p:sp>
        <p:nvSpPr>
          <p:cNvPr id="86" name="Google Shape;86;p5"/>
          <p:cNvSpPr txBox="1"/>
          <p:nvPr/>
        </p:nvSpPr>
        <p:spPr>
          <a:xfrm>
            <a:off x="3596640" y="2404872"/>
            <a:ext cx="1554480"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B03A2E"/>
              </a:buClr>
              <a:buSzPts val="1600"/>
              <a:buFont typeface="Arial"/>
              <a:buNone/>
            </a:pPr>
            <a:r>
              <a:rPr b="1" lang="en-US" sz="1600">
                <a:solidFill>
                  <a:srgbClr val="B03A2E"/>
                </a:solidFill>
                <a:latin typeface="Arial"/>
                <a:ea typeface="Arial"/>
                <a:cs typeface="Arial"/>
                <a:sym typeface="Arial"/>
              </a:rPr>
              <a:t>fail: retry with</a:t>
            </a:r>
            <a:endParaRPr sz="1600">
              <a:solidFill>
                <a:schemeClr val="dk1"/>
              </a:solidFill>
              <a:latin typeface="Calibri"/>
              <a:ea typeface="Calibri"/>
              <a:cs typeface="Calibri"/>
              <a:sym typeface="Calibri"/>
            </a:endParaRPr>
          </a:p>
          <a:p>
            <a:pPr indent="0" lvl="0" marL="0" marR="0" rtl="0" algn="l">
              <a:spcBef>
                <a:spcPts val="0"/>
              </a:spcBef>
              <a:spcAft>
                <a:spcPts val="0"/>
              </a:spcAft>
              <a:buClr>
                <a:srgbClr val="B03A2E"/>
              </a:buClr>
              <a:buSzPts val="1600"/>
              <a:buFont typeface="Arial"/>
              <a:buNone/>
            </a:pPr>
            <a:r>
              <a:rPr b="1" lang="en-US" sz="1600">
                <a:solidFill>
                  <a:srgbClr val="B03A2E"/>
                </a:solidFill>
                <a:latin typeface="Arial"/>
                <a:ea typeface="Arial"/>
                <a:cs typeface="Arial"/>
                <a:sym typeface="Arial"/>
              </a:rPr>
              <a:t>new evidence</a:t>
            </a:r>
            <a:endParaRPr sz="1600">
              <a:solidFill>
                <a:schemeClr val="dk1"/>
              </a:solidFill>
              <a:latin typeface="Calibri"/>
              <a:ea typeface="Calibri"/>
              <a:cs typeface="Calibri"/>
              <a:sym typeface="Calibri"/>
            </a:endParaRPr>
          </a:p>
        </p:txBody>
      </p:sp>
      <p:sp>
        <p:nvSpPr>
          <p:cNvPr id="87" name="Google Shape;87;p5"/>
          <p:cNvSpPr txBox="1"/>
          <p:nvPr/>
        </p:nvSpPr>
        <p:spPr>
          <a:xfrm>
            <a:off x="457200" y="4041648"/>
            <a:ext cx="8229600"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66666"/>
              </a:buClr>
              <a:buSzPts val="1600"/>
              <a:buFont typeface="Arial"/>
              <a:buNone/>
            </a:pPr>
            <a:r>
              <a:rPr lang="en-US" sz="1600">
                <a:solidFill>
                  <a:srgbClr val="666666"/>
                </a:solidFill>
                <a:latin typeface="Arial"/>
                <a:ea typeface="Arial"/>
                <a:cs typeface="Arial"/>
                <a:sym typeface="Arial"/>
              </a:rPr>
              <a:t>All components are proposed; none is implemented yet. Hosted model and feedback interfaces are unconfirmed.</a:t>
            </a:r>
            <a:endParaRPr sz="1600">
              <a:solidFill>
                <a:schemeClr val="dk1"/>
              </a:solidFill>
              <a:latin typeface="Calibri"/>
              <a:ea typeface="Calibri"/>
              <a:cs typeface="Calibri"/>
              <a:sym typeface="Calibri"/>
            </a:endParaRPr>
          </a:p>
        </p:txBody>
      </p:sp>
      <p:sp>
        <p:nvSpPr>
          <p:cNvPr id="88" name="Google Shape;88;p5"/>
          <p:cNvSpPr txBox="1"/>
          <p:nvPr/>
        </p:nvSpPr>
        <p:spPr>
          <a:xfrm>
            <a:off x="8229600" y="4590288"/>
            <a:ext cx="457200" cy="384048"/>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Clr>
                <a:srgbClr val="666666"/>
              </a:buClr>
              <a:buSzPts val="1200"/>
              <a:buFont typeface="Arial"/>
              <a:buNone/>
            </a:pPr>
            <a:r>
              <a:rPr lang="en-US" sz="1200">
                <a:solidFill>
                  <a:srgbClr val="666666"/>
                </a:solidFill>
                <a:latin typeface="Arial"/>
                <a:ea typeface="Arial"/>
                <a:cs typeface="Arial"/>
                <a:sym typeface="Arial"/>
              </a:rPr>
              <a:t>5</a:t>
            </a:r>
            <a:endParaRPr sz="12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 name="Shape 93"/>
        <p:cNvGrpSpPr/>
        <p:nvPr/>
      </p:nvGrpSpPr>
      <p:grpSpPr>
        <a:xfrm>
          <a:off x="0" y="0"/>
          <a:ext cx="0" cy="0"/>
          <a:chOff x="0" y="0"/>
          <a:chExt cx="0" cy="0"/>
        </a:xfrm>
      </p:grpSpPr>
      <p:sp>
        <p:nvSpPr>
          <p:cNvPr id="94" name="Google Shape;94;p6"/>
          <p:cNvSpPr txBox="1"/>
          <p:nvPr/>
        </p:nvSpPr>
        <p:spPr>
          <a:xfrm>
            <a:off x="457200" y="256032"/>
            <a:ext cx="8229600" cy="8046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4E79"/>
              </a:buClr>
              <a:buSzPts val="2600"/>
              <a:buFont typeface="Arial"/>
              <a:buNone/>
            </a:pPr>
            <a:r>
              <a:rPr b="1" lang="en-US" sz="2600">
                <a:solidFill>
                  <a:srgbClr val="1F4E79"/>
                </a:solidFill>
                <a:latin typeface="Arial"/>
                <a:ea typeface="Arial"/>
                <a:cs typeface="Arial"/>
                <a:sym typeface="Arial"/>
              </a:rPr>
              <a:t>Each attempt tests one stated hypothesis within provisional limits</a:t>
            </a:r>
            <a:endParaRPr sz="2600">
              <a:solidFill>
                <a:schemeClr val="dk1"/>
              </a:solidFill>
              <a:latin typeface="Calibri"/>
              <a:ea typeface="Calibri"/>
              <a:cs typeface="Calibri"/>
              <a:sym typeface="Calibri"/>
            </a:endParaRPr>
          </a:p>
        </p:txBody>
      </p:sp>
      <p:sp>
        <p:nvSpPr>
          <p:cNvPr id="95" name="Google Shape;95;p6"/>
          <p:cNvSpPr/>
          <p:nvPr/>
        </p:nvSpPr>
        <p:spPr>
          <a:xfrm>
            <a:off x="548640" y="1188720"/>
            <a:ext cx="2651760" cy="475488"/>
          </a:xfrm>
          <a:prstGeom prst="roundRect">
            <a:avLst>
              <a:gd fmla="val 23077" name="adj"/>
            </a:avLst>
          </a:prstGeom>
          <a:solidFill>
            <a:srgbClr val="EBF3FA"/>
          </a:solidFill>
          <a:ln cap="flat" cmpd="sng" w="12700">
            <a:solidFill>
              <a:srgbClr val="9DB3C9"/>
            </a:solidFill>
            <a:prstDash val="solid"/>
            <a:round/>
            <a:headEnd len="sm" w="sm" type="none"/>
            <a:tailEnd len="sm" w="sm" type="none"/>
          </a:ln>
        </p:spPr>
        <p:txBody>
          <a:bodyPr anchorCtr="0" anchor="ctr" bIns="127000" lIns="127000" spcFirstLastPara="1" rIns="127000" wrap="square" tIns="127000">
            <a:noAutofit/>
          </a:bodyPr>
          <a:lstStyle/>
          <a:p>
            <a:pPr indent="0" lvl="0" marL="0" marR="0" rtl="0" algn="l">
              <a:spcBef>
                <a:spcPts val="0"/>
              </a:spcBef>
              <a:spcAft>
                <a:spcPts val="0"/>
              </a:spcAft>
              <a:buClr>
                <a:srgbClr val="1F4E79"/>
              </a:buClr>
              <a:buSzPts val="1800"/>
              <a:buFont typeface="Arial"/>
              <a:buNone/>
            </a:pPr>
            <a:r>
              <a:rPr b="1" lang="en-US" sz="1800">
                <a:solidFill>
                  <a:srgbClr val="1F4E79"/>
                </a:solidFill>
                <a:latin typeface="Arial"/>
                <a:ea typeface="Arial"/>
                <a:cs typeface="Arial"/>
                <a:sym typeface="Arial"/>
              </a:rPr>
              <a:t>1  Observe</a:t>
            </a:r>
            <a:endParaRPr sz="1800">
              <a:solidFill>
                <a:schemeClr val="dk1"/>
              </a:solidFill>
              <a:latin typeface="Calibri"/>
              <a:ea typeface="Calibri"/>
              <a:cs typeface="Calibri"/>
              <a:sym typeface="Calibri"/>
            </a:endParaRPr>
          </a:p>
        </p:txBody>
      </p:sp>
      <p:cxnSp>
        <p:nvCxnSpPr>
          <p:cNvPr id="96" name="Google Shape;96;p6"/>
          <p:cNvCxnSpPr/>
          <p:nvPr/>
        </p:nvCxnSpPr>
        <p:spPr>
          <a:xfrm>
            <a:off x="1874520" y="1664208"/>
            <a:ext cx="0" cy="182880"/>
          </a:xfrm>
          <a:prstGeom prst="straightConnector1">
            <a:avLst/>
          </a:prstGeom>
          <a:noFill/>
          <a:ln cap="flat" cmpd="sng" w="22225">
            <a:solidFill>
              <a:srgbClr val="4A5A6A"/>
            </a:solidFill>
            <a:prstDash val="solid"/>
            <a:round/>
            <a:headEnd len="sm" w="sm" type="none"/>
            <a:tailEnd len="med" w="med" type="triangle"/>
          </a:ln>
        </p:spPr>
      </p:cxnSp>
      <p:sp>
        <p:nvSpPr>
          <p:cNvPr id="97" name="Google Shape;97;p6"/>
          <p:cNvSpPr/>
          <p:nvPr/>
        </p:nvSpPr>
        <p:spPr>
          <a:xfrm>
            <a:off x="548640" y="1847088"/>
            <a:ext cx="2651760" cy="475488"/>
          </a:xfrm>
          <a:prstGeom prst="roundRect">
            <a:avLst>
              <a:gd fmla="val 23077" name="adj"/>
            </a:avLst>
          </a:prstGeom>
          <a:solidFill>
            <a:srgbClr val="EBF3FA"/>
          </a:solidFill>
          <a:ln cap="flat" cmpd="sng" w="12700">
            <a:solidFill>
              <a:srgbClr val="9DB3C9"/>
            </a:solidFill>
            <a:prstDash val="solid"/>
            <a:round/>
            <a:headEnd len="sm" w="sm" type="none"/>
            <a:tailEnd len="sm" w="sm" type="none"/>
          </a:ln>
        </p:spPr>
        <p:txBody>
          <a:bodyPr anchorCtr="0" anchor="ctr" bIns="127000" lIns="127000" spcFirstLastPara="1" rIns="127000" wrap="square" tIns="127000">
            <a:noAutofit/>
          </a:bodyPr>
          <a:lstStyle/>
          <a:p>
            <a:pPr indent="0" lvl="0" marL="0" marR="0" rtl="0" algn="l">
              <a:spcBef>
                <a:spcPts val="0"/>
              </a:spcBef>
              <a:spcAft>
                <a:spcPts val="0"/>
              </a:spcAft>
              <a:buClr>
                <a:srgbClr val="1F4E79"/>
              </a:buClr>
              <a:buSzPts val="1800"/>
              <a:buFont typeface="Arial"/>
              <a:buNone/>
            </a:pPr>
            <a:r>
              <a:rPr b="1" lang="en-US" sz="1800">
                <a:solidFill>
                  <a:srgbClr val="1F4E79"/>
                </a:solidFill>
                <a:latin typeface="Arial"/>
                <a:ea typeface="Arial"/>
                <a:cs typeface="Arial"/>
                <a:sym typeface="Arial"/>
              </a:rPr>
              <a:t>2  Form hypothesis</a:t>
            </a:r>
            <a:endParaRPr sz="1800">
              <a:solidFill>
                <a:schemeClr val="dk1"/>
              </a:solidFill>
              <a:latin typeface="Calibri"/>
              <a:ea typeface="Calibri"/>
              <a:cs typeface="Calibri"/>
              <a:sym typeface="Calibri"/>
            </a:endParaRPr>
          </a:p>
        </p:txBody>
      </p:sp>
      <p:cxnSp>
        <p:nvCxnSpPr>
          <p:cNvPr id="98" name="Google Shape;98;p6"/>
          <p:cNvCxnSpPr/>
          <p:nvPr/>
        </p:nvCxnSpPr>
        <p:spPr>
          <a:xfrm>
            <a:off x="1874520" y="2322576"/>
            <a:ext cx="0" cy="182880"/>
          </a:xfrm>
          <a:prstGeom prst="straightConnector1">
            <a:avLst/>
          </a:prstGeom>
          <a:noFill/>
          <a:ln cap="flat" cmpd="sng" w="22225">
            <a:solidFill>
              <a:srgbClr val="4A5A6A"/>
            </a:solidFill>
            <a:prstDash val="solid"/>
            <a:round/>
            <a:headEnd len="sm" w="sm" type="none"/>
            <a:tailEnd len="med" w="med" type="triangle"/>
          </a:ln>
        </p:spPr>
      </p:cxnSp>
      <p:sp>
        <p:nvSpPr>
          <p:cNvPr id="99" name="Google Shape;99;p6"/>
          <p:cNvSpPr/>
          <p:nvPr/>
        </p:nvSpPr>
        <p:spPr>
          <a:xfrm>
            <a:off x="548640" y="2505456"/>
            <a:ext cx="2651760" cy="475488"/>
          </a:xfrm>
          <a:prstGeom prst="roundRect">
            <a:avLst>
              <a:gd fmla="val 23077" name="adj"/>
            </a:avLst>
          </a:prstGeom>
          <a:solidFill>
            <a:srgbClr val="EBF3FA"/>
          </a:solidFill>
          <a:ln cap="flat" cmpd="sng" w="12700">
            <a:solidFill>
              <a:srgbClr val="9DB3C9"/>
            </a:solidFill>
            <a:prstDash val="solid"/>
            <a:round/>
            <a:headEnd len="sm" w="sm" type="none"/>
            <a:tailEnd len="sm" w="sm" type="none"/>
          </a:ln>
        </p:spPr>
        <p:txBody>
          <a:bodyPr anchorCtr="0" anchor="ctr" bIns="127000" lIns="127000" spcFirstLastPara="1" rIns="127000" wrap="square" tIns="127000">
            <a:noAutofit/>
          </a:bodyPr>
          <a:lstStyle/>
          <a:p>
            <a:pPr indent="0" lvl="0" marL="0" marR="0" rtl="0" algn="l">
              <a:spcBef>
                <a:spcPts val="0"/>
              </a:spcBef>
              <a:spcAft>
                <a:spcPts val="0"/>
              </a:spcAft>
              <a:buClr>
                <a:srgbClr val="1F4E79"/>
              </a:buClr>
              <a:buSzPts val="1800"/>
              <a:buFont typeface="Arial"/>
              <a:buNone/>
            </a:pPr>
            <a:r>
              <a:rPr b="1" lang="en-US" sz="1800">
                <a:solidFill>
                  <a:srgbClr val="1F4E79"/>
                </a:solidFill>
                <a:latin typeface="Arial"/>
                <a:ea typeface="Arial"/>
                <a:cs typeface="Arial"/>
                <a:sym typeface="Arial"/>
              </a:rPr>
              <a:t>3  Gather evidence</a:t>
            </a:r>
            <a:endParaRPr sz="1800">
              <a:solidFill>
                <a:schemeClr val="dk1"/>
              </a:solidFill>
              <a:latin typeface="Calibri"/>
              <a:ea typeface="Calibri"/>
              <a:cs typeface="Calibri"/>
              <a:sym typeface="Calibri"/>
            </a:endParaRPr>
          </a:p>
        </p:txBody>
      </p:sp>
      <p:cxnSp>
        <p:nvCxnSpPr>
          <p:cNvPr id="100" name="Google Shape;100;p6"/>
          <p:cNvCxnSpPr/>
          <p:nvPr/>
        </p:nvCxnSpPr>
        <p:spPr>
          <a:xfrm>
            <a:off x="1874520" y="2980944"/>
            <a:ext cx="0" cy="182880"/>
          </a:xfrm>
          <a:prstGeom prst="straightConnector1">
            <a:avLst/>
          </a:prstGeom>
          <a:noFill/>
          <a:ln cap="flat" cmpd="sng" w="22225">
            <a:solidFill>
              <a:srgbClr val="4A5A6A"/>
            </a:solidFill>
            <a:prstDash val="solid"/>
            <a:round/>
            <a:headEnd len="sm" w="sm" type="none"/>
            <a:tailEnd len="med" w="med" type="triangle"/>
          </a:ln>
        </p:spPr>
      </p:cxnSp>
      <p:sp>
        <p:nvSpPr>
          <p:cNvPr id="101" name="Google Shape;101;p6"/>
          <p:cNvSpPr/>
          <p:nvPr/>
        </p:nvSpPr>
        <p:spPr>
          <a:xfrm>
            <a:off x="548640" y="3163824"/>
            <a:ext cx="2651760" cy="475488"/>
          </a:xfrm>
          <a:prstGeom prst="roundRect">
            <a:avLst>
              <a:gd fmla="val 23077" name="adj"/>
            </a:avLst>
          </a:prstGeom>
          <a:solidFill>
            <a:srgbClr val="EBF3FA"/>
          </a:solidFill>
          <a:ln cap="flat" cmpd="sng" w="12700">
            <a:solidFill>
              <a:srgbClr val="9DB3C9"/>
            </a:solidFill>
            <a:prstDash val="solid"/>
            <a:round/>
            <a:headEnd len="sm" w="sm" type="none"/>
            <a:tailEnd len="sm" w="sm" type="none"/>
          </a:ln>
        </p:spPr>
        <p:txBody>
          <a:bodyPr anchorCtr="0" anchor="ctr" bIns="127000" lIns="127000" spcFirstLastPara="1" rIns="127000" wrap="square" tIns="127000">
            <a:noAutofit/>
          </a:bodyPr>
          <a:lstStyle/>
          <a:p>
            <a:pPr indent="0" lvl="0" marL="0" marR="0" rtl="0" algn="l">
              <a:spcBef>
                <a:spcPts val="0"/>
              </a:spcBef>
              <a:spcAft>
                <a:spcPts val="0"/>
              </a:spcAft>
              <a:buClr>
                <a:srgbClr val="1F4E79"/>
              </a:buClr>
              <a:buSzPts val="1800"/>
              <a:buFont typeface="Arial"/>
              <a:buNone/>
            </a:pPr>
            <a:r>
              <a:rPr b="1" lang="en-US" sz="1800">
                <a:solidFill>
                  <a:srgbClr val="1F4E79"/>
                </a:solidFill>
                <a:latin typeface="Arial"/>
                <a:ea typeface="Arial"/>
                <a:cs typeface="Arial"/>
                <a:sym typeface="Arial"/>
              </a:rPr>
              <a:t>4  Repair</a:t>
            </a:r>
            <a:endParaRPr sz="1800">
              <a:solidFill>
                <a:schemeClr val="dk1"/>
              </a:solidFill>
              <a:latin typeface="Calibri"/>
              <a:ea typeface="Calibri"/>
              <a:cs typeface="Calibri"/>
              <a:sym typeface="Calibri"/>
            </a:endParaRPr>
          </a:p>
        </p:txBody>
      </p:sp>
      <p:cxnSp>
        <p:nvCxnSpPr>
          <p:cNvPr id="102" name="Google Shape;102;p6"/>
          <p:cNvCxnSpPr/>
          <p:nvPr/>
        </p:nvCxnSpPr>
        <p:spPr>
          <a:xfrm>
            <a:off x="1874520" y="3639312"/>
            <a:ext cx="0" cy="182880"/>
          </a:xfrm>
          <a:prstGeom prst="straightConnector1">
            <a:avLst/>
          </a:prstGeom>
          <a:noFill/>
          <a:ln cap="flat" cmpd="sng" w="22225">
            <a:solidFill>
              <a:srgbClr val="4A5A6A"/>
            </a:solidFill>
            <a:prstDash val="solid"/>
            <a:round/>
            <a:headEnd len="sm" w="sm" type="none"/>
            <a:tailEnd len="med" w="med" type="triangle"/>
          </a:ln>
        </p:spPr>
      </p:cxnSp>
      <p:sp>
        <p:nvSpPr>
          <p:cNvPr id="103" name="Google Shape;103;p6"/>
          <p:cNvSpPr/>
          <p:nvPr/>
        </p:nvSpPr>
        <p:spPr>
          <a:xfrm>
            <a:off x="548640" y="3822192"/>
            <a:ext cx="2651760" cy="475488"/>
          </a:xfrm>
          <a:prstGeom prst="roundRect">
            <a:avLst>
              <a:gd fmla="val 23077" name="adj"/>
            </a:avLst>
          </a:prstGeom>
          <a:solidFill>
            <a:srgbClr val="1F4E79"/>
          </a:solidFill>
          <a:ln cap="flat" cmpd="sng" w="12700">
            <a:solidFill>
              <a:srgbClr val="1F4E79"/>
            </a:solidFill>
            <a:prstDash val="solid"/>
            <a:round/>
            <a:headEnd len="sm" w="sm" type="none"/>
            <a:tailEnd len="sm" w="sm" type="none"/>
          </a:ln>
        </p:spPr>
        <p:txBody>
          <a:bodyPr anchorCtr="0" anchor="ctr" bIns="127000" lIns="127000" spcFirstLastPara="1" rIns="127000" wrap="square" tIns="127000">
            <a:noAutofit/>
          </a:bodyPr>
          <a:lstStyle/>
          <a:p>
            <a:pPr indent="0" lvl="0" marL="0" marR="0" rtl="0" algn="l">
              <a:spcBef>
                <a:spcPts val="0"/>
              </a:spcBef>
              <a:spcAft>
                <a:spcPts val="0"/>
              </a:spcAft>
              <a:buClr>
                <a:srgbClr val="FFFFFF"/>
              </a:buClr>
              <a:buSzPts val="1800"/>
              <a:buFont typeface="Arial"/>
              <a:buNone/>
            </a:pPr>
            <a:r>
              <a:rPr b="1" lang="en-US" sz="1800">
                <a:solidFill>
                  <a:srgbClr val="FFFFFF"/>
                </a:solidFill>
                <a:latin typeface="Arial"/>
                <a:ea typeface="Arial"/>
                <a:cs typeface="Arial"/>
                <a:sym typeface="Arial"/>
              </a:rPr>
              <a:t>5  Validate</a:t>
            </a:r>
            <a:endParaRPr sz="1800">
              <a:solidFill>
                <a:schemeClr val="dk1"/>
              </a:solidFill>
              <a:latin typeface="Calibri"/>
              <a:ea typeface="Calibri"/>
              <a:cs typeface="Calibri"/>
              <a:sym typeface="Calibri"/>
            </a:endParaRPr>
          </a:p>
        </p:txBody>
      </p:sp>
      <p:cxnSp>
        <p:nvCxnSpPr>
          <p:cNvPr id="104" name="Google Shape;104;p6"/>
          <p:cNvCxnSpPr/>
          <p:nvPr/>
        </p:nvCxnSpPr>
        <p:spPr>
          <a:xfrm>
            <a:off x="3200400" y="4059936"/>
            <a:ext cx="274320" cy="0"/>
          </a:xfrm>
          <a:prstGeom prst="straightConnector1">
            <a:avLst/>
          </a:prstGeom>
          <a:noFill/>
          <a:ln cap="flat" cmpd="sng" w="28575">
            <a:solidFill>
              <a:srgbClr val="B03A2E"/>
            </a:solidFill>
            <a:prstDash val="solid"/>
            <a:round/>
            <a:headEnd len="sm" w="sm" type="none"/>
            <a:tailEnd len="sm" w="sm" type="none"/>
          </a:ln>
        </p:spPr>
      </p:cxnSp>
      <p:cxnSp>
        <p:nvCxnSpPr>
          <p:cNvPr id="105" name="Google Shape;105;p6"/>
          <p:cNvCxnSpPr/>
          <p:nvPr/>
        </p:nvCxnSpPr>
        <p:spPr>
          <a:xfrm rot="10800000">
            <a:off x="3474720" y="1426464"/>
            <a:ext cx="0" cy="2633472"/>
          </a:xfrm>
          <a:prstGeom prst="straightConnector1">
            <a:avLst/>
          </a:prstGeom>
          <a:noFill/>
          <a:ln cap="flat" cmpd="sng" w="28575">
            <a:solidFill>
              <a:srgbClr val="B03A2E"/>
            </a:solidFill>
            <a:prstDash val="solid"/>
            <a:round/>
            <a:headEnd len="sm" w="sm" type="none"/>
            <a:tailEnd len="sm" w="sm" type="none"/>
          </a:ln>
        </p:spPr>
      </p:cxnSp>
      <p:cxnSp>
        <p:nvCxnSpPr>
          <p:cNvPr id="106" name="Google Shape;106;p6"/>
          <p:cNvCxnSpPr/>
          <p:nvPr/>
        </p:nvCxnSpPr>
        <p:spPr>
          <a:xfrm rot="10800000">
            <a:off x="3200400" y="1426464"/>
            <a:ext cx="274320" cy="0"/>
          </a:xfrm>
          <a:prstGeom prst="straightConnector1">
            <a:avLst/>
          </a:prstGeom>
          <a:noFill/>
          <a:ln cap="flat" cmpd="sng" w="28575">
            <a:solidFill>
              <a:srgbClr val="B03A2E"/>
            </a:solidFill>
            <a:prstDash val="solid"/>
            <a:round/>
            <a:headEnd len="sm" w="sm" type="none"/>
            <a:tailEnd len="med" w="med" type="triangle"/>
          </a:ln>
        </p:spPr>
      </p:cxnSp>
      <p:sp>
        <p:nvSpPr>
          <p:cNvPr id="107" name="Google Shape;107;p6"/>
          <p:cNvSpPr txBox="1"/>
          <p:nvPr/>
        </p:nvSpPr>
        <p:spPr>
          <a:xfrm>
            <a:off x="3566160" y="2468880"/>
            <a:ext cx="82296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B03A2E"/>
              </a:buClr>
              <a:buSzPts val="1600"/>
              <a:buFont typeface="Arial"/>
              <a:buNone/>
            </a:pPr>
            <a:r>
              <a:rPr b="1" lang="en-US" sz="1600">
                <a:solidFill>
                  <a:srgbClr val="B03A2E"/>
                </a:solidFill>
                <a:latin typeface="Arial"/>
                <a:ea typeface="Arial"/>
                <a:cs typeface="Arial"/>
                <a:sym typeface="Arial"/>
              </a:rPr>
              <a:t>fail:</a:t>
            </a:r>
            <a:endParaRPr sz="1600">
              <a:solidFill>
                <a:schemeClr val="dk1"/>
              </a:solidFill>
              <a:latin typeface="Calibri"/>
              <a:ea typeface="Calibri"/>
              <a:cs typeface="Calibri"/>
              <a:sym typeface="Calibri"/>
            </a:endParaRPr>
          </a:p>
          <a:p>
            <a:pPr indent="0" lvl="0" marL="0" marR="0" rtl="0" algn="l">
              <a:spcBef>
                <a:spcPts val="0"/>
              </a:spcBef>
              <a:spcAft>
                <a:spcPts val="0"/>
              </a:spcAft>
              <a:buClr>
                <a:srgbClr val="B03A2E"/>
              </a:buClr>
              <a:buSzPts val="1600"/>
              <a:buFont typeface="Arial"/>
              <a:buNone/>
            </a:pPr>
            <a:r>
              <a:rPr b="1" lang="en-US" sz="1600">
                <a:solidFill>
                  <a:srgbClr val="B03A2E"/>
                </a:solidFill>
                <a:latin typeface="Arial"/>
                <a:ea typeface="Arial"/>
                <a:cs typeface="Arial"/>
                <a:sym typeface="Arial"/>
              </a:rPr>
              <a:t>revise</a:t>
            </a:r>
            <a:endParaRPr sz="1600">
              <a:solidFill>
                <a:schemeClr val="dk1"/>
              </a:solidFill>
              <a:latin typeface="Calibri"/>
              <a:ea typeface="Calibri"/>
              <a:cs typeface="Calibri"/>
              <a:sym typeface="Calibri"/>
            </a:endParaRPr>
          </a:p>
        </p:txBody>
      </p:sp>
      <p:sp>
        <p:nvSpPr>
          <p:cNvPr id="108" name="Google Shape;108;p6"/>
          <p:cNvSpPr txBox="1"/>
          <p:nvPr/>
        </p:nvSpPr>
        <p:spPr>
          <a:xfrm>
            <a:off x="4572000" y="1188720"/>
            <a:ext cx="4114800" cy="333756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rgbClr val="2D2D2D"/>
              </a:buClr>
              <a:buSzPts val="2000"/>
              <a:buFont typeface="Arial"/>
              <a:buChar char="•"/>
            </a:pPr>
            <a:r>
              <a:rPr b="1" lang="en-US" sz="2000">
                <a:solidFill>
                  <a:srgbClr val="2D2D2D"/>
                </a:solidFill>
                <a:latin typeface="Arial"/>
                <a:ea typeface="Arial"/>
                <a:cs typeface="Arial"/>
                <a:sym typeface="Arial"/>
              </a:rPr>
              <a:t>Bounded context: </a:t>
            </a:r>
            <a:r>
              <a:rPr lang="en-US" sz="2000">
                <a:solidFill>
                  <a:srgbClr val="2D2D2D"/>
                </a:solidFill>
                <a:latin typeface="Arial"/>
                <a:ea typeface="Arial"/>
                <a:cs typeface="Arial"/>
                <a:sym typeface="Arial"/>
              </a:rPr>
              <a:t>log windows and files (one log is 2.37 GB)</a:t>
            </a:r>
            <a:endParaRPr sz="2000">
              <a:solidFill>
                <a:schemeClr val="dk1"/>
              </a:solidFill>
              <a:latin typeface="Calibri"/>
              <a:ea typeface="Calibri"/>
              <a:cs typeface="Calibri"/>
              <a:sym typeface="Calibri"/>
            </a:endParaRPr>
          </a:p>
          <a:p>
            <a:pPr indent="-342900" lvl="0" marL="342900" marR="0" rtl="0" algn="l">
              <a:spcBef>
                <a:spcPts val="1200"/>
              </a:spcBef>
              <a:spcAft>
                <a:spcPts val="0"/>
              </a:spcAft>
              <a:buClr>
                <a:srgbClr val="2D2D2D"/>
              </a:buClr>
              <a:buSzPts val="2000"/>
              <a:buFont typeface="Arial"/>
              <a:buChar char="•"/>
            </a:pPr>
            <a:r>
              <a:rPr b="1" lang="en-US" sz="2000">
                <a:solidFill>
                  <a:srgbClr val="2D2D2D"/>
                </a:solidFill>
                <a:latin typeface="Arial"/>
                <a:ea typeface="Arial"/>
                <a:cs typeface="Arial"/>
                <a:sym typeface="Arial"/>
              </a:rPr>
              <a:t>Memory: </a:t>
            </a:r>
            <a:r>
              <a:rPr lang="en-US" sz="2000">
                <a:solidFill>
                  <a:srgbClr val="2D2D2D"/>
                </a:solidFill>
                <a:latin typeface="Arial"/>
                <a:ea typeface="Arial"/>
                <a:cs typeface="Arial"/>
                <a:sym typeface="Arial"/>
              </a:rPr>
              <a:t>hypotheses, diffs and failures</a:t>
            </a:r>
            <a:endParaRPr sz="2000">
              <a:solidFill>
                <a:schemeClr val="dk1"/>
              </a:solidFill>
              <a:latin typeface="Calibri"/>
              <a:ea typeface="Calibri"/>
              <a:cs typeface="Calibri"/>
              <a:sym typeface="Calibri"/>
            </a:endParaRPr>
          </a:p>
          <a:p>
            <a:pPr indent="-342900" lvl="0" marL="342900" marR="0" rtl="0" algn="l">
              <a:spcBef>
                <a:spcPts val="1200"/>
              </a:spcBef>
              <a:spcAft>
                <a:spcPts val="0"/>
              </a:spcAft>
              <a:buClr>
                <a:srgbClr val="2D2D2D"/>
              </a:buClr>
              <a:buSzPts val="2000"/>
              <a:buFont typeface="Arial"/>
              <a:buChar char="•"/>
            </a:pPr>
            <a:r>
              <a:rPr b="1" lang="en-US" sz="2000">
                <a:solidFill>
                  <a:srgbClr val="2D2D2D"/>
                </a:solidFill>
                <a:latin typeface="Arial"/>
                <a:ea typeface="Arial"/>
                <a:cs typeface="Arial"/>
                <a:sym typeface="Arial"/>
              </a:rPr>
              <a:t>Caps per case: </a:t>
            </a:r>
            <a:r>
              <a:rPr lang="en-US" sz="2000">
                <a:solidFill>
                  <a:srgbClr val="2D2D2D"/>
                </a:solidFill>
                <a:latin typeface="Arial"/>
                <a:ea typeface="Arial"/>
                <a:cs typeface="Arial"/>
                <a:sym typeface="Arial"/>
              </a:rPr>
              <a:t>5 candidates · 30 min · 30k tokens · ≤ 3 in-loop builds</a:t>
            </a:r>
            <a:endParaRPr sz="2000">
              <a:solidFill>
                <a:schemeClr val="dk1"/>
              </a:solidFill>
              <a:latin typeface="Calibri"/>
              <a:ea typeface="Calibri"/>
              <a:cs typeface="Calibri"/>
              <a:sym typeface="Calibri"/>
            </a:endParaRPr>
          </a:p>
          <a:p>
            <a:pPr indent="-342900" lvl="0" marL="342900" marR="0" rtl="0" algn="l">
              <a:spcBef>
                <a:spcPts val="1200"/>
              </a:spcBef>
              <a:spcAft>
                <a:spcPts val="0"/>
              </a:spcAft>
              <a:buClr>
                <a:srgbClr val="2D2D2D"/>
              </a:buClr>
              <a:buSzPts val="2000"/>
              <a:buFont typeface="Arial"/>
              <a:buChar char="•"/>
            </a:pPr>
            <a:r>
              <a:rPr b="1" lang="en-US" sz="2000">
                <a:solidFill>
                  <a:srgbClr val="2D2D2D"/>
                </a:solidFill>
                <a:latin typeface="Arial"/>
                <a:ea typeface="Arial"/>
                <a:cs typeface="Arial"/>
                <a:sym typeface="Arial"/>
              </a:rPr>
              <a:t>Stop: </a:t>
            </a:r>
            <a:r>
              <a:rPr lang="en-US" sz="2000">
                <a:solidFill>
                  <a:srgbClr val="2D2D2D"/>
                </a:solidFill>
                <a:latin typeface="Arial"/>
                <a:ea typeface="Arial"/>
                <a:cs typeface="Arial"/>
                <a:sym typeface="Arial"/>
              </a:rPr>
              <a:t>pass, cap reached, or 2 repeats</a:t>
            </a:r>
            <a:endParaRPr sz="2000">
              <a:solidFill>
                <a:schemeClr val="dk1"/>
              </a:solidFill>
              <a:latin typeface="Calibri"/>
              <a:ea typeface="Calibri"/>
              <a:cs typeface="Calibri"/>
              <a:sym typeface="Calibri"/>
            </a:endParaRPr>
          </a:p>
        </p:txBody>
      </p:sp>
      <p:sp>
        <p:nvSpPr>
          <p:cNvPr id="109" name="Google Shape;109;p6"/>
          <p:cNvSpPr txBox="1"/>
          <p:nvPr/>
        </p:nvSpPr>
        <p:spPr>
          <a:xfrm>
            <a:off x="457200" y="4590288"/>
            <a:ext cx="7589520" cy="384048"/>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666666"/>
              </a:buClr>
              <a:buSzPts val="1200"/>
              <a:buFont typeface="Arial"/>
              <a:buNone/>
            </a:pPr>
            <a:r>
              <a:rPr lang="en-US" sz="1200">
                <a:solidFill>
                  <a:srgbClr val="666666"/>
                </a:solidFill>
                <a:latin typeface="Arial"/>
                <a:ea typeface="Arial"/>
                <a:cs typeface="Arial"/>
                <a:sym typeface="Arial"/>
              </a:rPr>
              <a:t>Caps are proposed, calibrated before comparisons, and yield to organizer limits. Log size: team dataset analysis.</a:t>
            </a:r>
            <a:endParaRPr sz="1200">
              <a:solidFill>
                <a:schemeClr val="dk1"/>
              </a:solidFill>
              <a:latin typeface="Calibri"/>
              <a:ea typeface="Calibri"/>
              <a:cs typeface="Calibri"/>
              <a:sym typeface="Calibri"/>
            </a:endParaRPr>
          </a:p>
        </p:txBody>
      </p:sp>
      <p:sp>
        <p:nvSpPr>
          <p:cNvPr id="110" name="Google Shape;110;p6"/>
          <p:cNvSpPr txBox="1"/>
          <p:nvPr/>
        </p:nvSpPr>
        <p:spPr>
          <a:xfrm>
            <a:off x="8229600" y="4590288"/>
            <a:ext cx="457200" cy="384048"/>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Clr>
                <a:srgbClr val="666666"/>
              </a:buClr>
              <a:buSzPts val="1200"/>
              <a:buFont typeface="Arial"/>
              <a:buNone/>
            </a:pPr>
            <a:r>
              <a:rPr lang="en-US" sz="1200">
                <a:solidFill>
                  <a:srgbClr val="666666"/>
                </a:solidFill>
                <a:latin typeface="Arial"/>
                <a:ea typeface="Arial"/>
                <a:cs typeface="Arial"/>
                <a:sym typeface="Arial"/>
              </a:rPr>
              <a:t>6</a:t>
            </a:r>
            <a:endParaRPr sz="12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5" name="Shape 115"/>
        <p:cNvGrpSpPr/>
        <p:nvPr/>
      </p:nvGrpSpPr>
      <p:grpSpPr>
        <a:xfrm>
          <a:off x="0" y="0"/>
          <a:ext cx="0" cy="0"/>
          <a:chOff x="0" y="0"/>
          <a:chExt cx="0" cy="0"/>
        </a:xfrm>
      </p:grpSpPr>
      <p:sp>
        <p:nvSpPr>
          <p:cNvPr id="116" name="Google Shape;116;p7"/>
          <p:cNvSpPr txBox="1"/>
          <p:nvPr/>
        </p:nvSpPr>
        <p:spPr>
          <a:xfrm>
            <a:off x="457200" y="256032"/>
            <a:ext cx="8229600" cy="8046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4E79"/>
              </a:buClr>
              <a:buSzPts val="2600"/>
              <a:buFont typeface="Arial"/>
              <a:buNone/>
            </a:pPr>
            <a:r>
              <a:rPr b="1" lang="en-US" sz="2600">
                <a:solidFill>
                  <a:srgbClr val="1F4E79"/>
                </a:solidFill>
                <a:latin typeface="Arial"/>
                <a:ea typeface="Arial"/>
                <a:cs typeface="Arial"/>
                <a:sym typeface="Arial"/>
              </a:rPr>
              <a:t>We score verified repairs over every frozen case, against our Demo 2 prototype</a:t>
            </a:r>
            <a:endParaRPr sz="2600">
              <a:solidFill>
                <a:schemeClr val="dk1"/>
              </a:solidFill>
              <a:latin typeface="Calibri"/>
              <a:ea typeface="Calibri"/>
              <a:cs typeface="Calibri"/>
              <a:sym typeface="Calibri"/>
            </a:endParaRPr>
          </a:p>
        </p:txBody>
      </p:sp>
      <p:sp>
        <p:nvSpPr>
          <p:cNvPr id="117" name="Google Shape;117;p7"/>
          <p:cNvSpPr txBox="1"/>
          <p:nvPr/>
        </p:nvSpPr>
        <p:spPr>
          <a:xfrm>
            <a:off x="457200" y="1280160"/>
            <a:ext cx="8229600" cy="1005840"/>
          </a:xfrm>
          <a:prstGeom prst="rect">
            <a:avLst/>
          </a:prstGeom>
          <a:solidFill>
            <a:srgbClr val="EBF3FA"/>
          </a:solidFill>
          <a:ln cap="flat" cmpd="sng" w="12700">
            <a:solidFill>
              <a:srgbClr val="9DB3C9"/>
            </a:solidFill>
            <a:prstDash val="solid"/>
            <a:round/>
            <a:headEnd len="sm" w="sm" type="none"/>
            <a:tailEnd len="sm" w="sm" type="none"/>
          </a:ln>
        </p:spPr>
        <p:txBody>
          <a:bodyPr anchorCtr="0" anchor="ctr" bIns="76200" lIns="76200" spcFirstLastPara="1" rIns="76200" wrap="square" tIns="76200">
            <a:noAutofit/>
          </a:bodyPr>
          <a:lstStyle/>
          <a:p>
            <a:pPr indent="0" lvl="0" marL="0" marR="0" rtl="0" algn="ctr">
              <a:spcBef>
                <a:spcPts val="0"/>
              </a:spcBef>
              <a:spcAft>
                <a:spcPts val="0"/>
              </a:spcAft>
              <a:buClr>
                <a:srgbClr val="1F4E79"/>
              </a:buClr>
              <a:buSzPts val="2400"/>
              <a:buFont typeface="Arial"/>
              <a:buNone/>
            </a:pPr>
            <a:r>
              <a:rPr b="1" lang="en-US" sz="2400">
                <a:solidFill>
                  <a:srgbClr val="1F4E79"/>
                </a:solidFill>
                <a:latin typeface="Arial"/>
                <a:ea typeface="Arial"/>
                <a:cs typeface="Arial"/>
                <a:sym typeface="Arial"/>
              </a:rPr>
              <a:t>Verified Build Success Rate</a:t>
            </a:r>
            <a:endParaRPr sz="2400">
              <a:solidFill>
                <a:schemeClr val="dk1"/>
              </a:solidFill>
              <a:latin typeface="Calibri"/>
              <a:ea typeface="Calibri"/>
              <a:cs typeface="Calibri"/>
              <a:sym typeface="Calibri"/>
            </a:endParaRPr>
          </a:p>
          <a:p>
            <a:pPr indent="0" lvl="0" marL="0" marR="0" rtl="0" algn="ctr">
              <a:spcBef>
                <a:spcPts val="0"/>
              </a:spcBef>
              <a:spcAft>
                <a:spcPts val="0"/>
              </a:spcAft>
              <a:buClr>
                <a:srgbClr val="2D2D2D"/>
              </a:buClr>
              <a:buSzPts val="2000"/>
              <a:buFont typeface="Arial"/>
              <a:buNone/>
            </a:pPr>
            <a:r>
              <a:rPr lang="en-US" sz="2000">
                <a:solidFill>
                  <a:srgbClr val="2D2D2D"/>
                </a:solidFill>
                <a:latin typeface="Arial"/>
                <a:ea typeface="Arial"/>
                <a:cs typeface="Arial"/>
                <a:sym typeface="Arial"/>
              </a:rPr>
              <a:t>verified repairs  ÷  all cases in the frozen evaluation set</a:t>
            </a:r>
            <a:endParaRPr sz="2400">
              <a:solidFill>
                <a:schemeClr val="dk1"/>
              </a:solidFill>
              <a:latin typeface="Calibri"/>
              <a:ea typeface="Calibri"/>
              <a:cs typeface="Calibri"/>
              <a:sym typeface="Calibri"/>
            </a:endParaRPr>
          </a:p>
        </p:txBody>
      </p:sp>
      <p:sp>
        <p:nvSpPr>
          <p:cNvPr id="118" name="Google Shape;118;p7"/>
          <p:cNvSpPr txBox="1"/>
          <p:nvPr/>
        </p:nvSpPr>
        <p:spPr>
          <a:xfrm>
            <a:off x="457200" y="2414016"/>
            <a:ext cx="8229600" cy="347472"/>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B03A2E"/>
              </a:buClr>
              <a:buSzPts val="1600"/>
              <a:buFont typeface="Arial"/>
              <a:buNone/>
            </a:pPr>
            <a:r>
              <a:rPr b="1" lang="en-US" sz="1600">
                <a:solidFill>
                  <a:srgbClr val="B03A2E"/>
                </a:solidFill>
                <a:latin typeface="Arial"/>
                <a:ea typeface="Arial"/>
                <a:cs typeface="Arial"/>
                <a:sym typeface="Arial"/>
              </a:rPr>
              <a:t>Crashes, timeouts and invalid patches count as failures, not exclusions.</a:t>
            </a:r>
            <a:endParaRPr sz="1600">
              <a:solidFill>
                <a:schemeClr val="dk1"/>
              </a:solidFill>
              <a:latin typeface="Calibri"/>
              <a:ea typeface="Calibri"/>
              <a:cs typeface="Calibri"/>
              <a:sym typeface="Calibri"/>
            </a:endParaRPr>
          </a:p>
        </p:txBody>
      </p:sp>
      <p:sp>
        <p:nvSpPr>
          <p:cNvPr id="119" name="Google Shape;119;p7"/>
          <p:cNvSpPr txBox="1"/>
          <p:nvPr/>
        </p:nvSpPr>
        <p:spPr>
          <a:xfrm>
            <a:off x="457200" y="2880360"/>
            <a:ext cx="3931920" cy="3474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E75B6"/>
              </a:buClr>
              <a:buSzPts val="2000"/>
              <a:buFont typeface="Arial"/>
              <a:buNone/>
            </a:pPr>
            <a:r>
              <a:rPr b="1" lang="en-US" sz="2000">
                <a:solidFill>
                  <a:srgbClr val="2E75B6"/>
                </a:solidFill>
                <a:latin typeface="Arial"/>
                <a:ea typeface="Arial"/>
                <a:cs typeface="Arial"/>
                <a:sym typeface="Arial"/>
              </a:rPr>
              <a:t>Comparisons</a:t>
            </a:r>
            <a:endParaRPr sz="2000">
              <a:solidFill>
                <a:schemeClr val="dk1"/>
              </a:solidFill>
              <a:latin typeface="Calibri"/>
              <a:ea typeface="Calibri"/>
              <a:cs typeface="Calibri"/>
              <a:sym typeface="Calibri"/>
            </a:endParaRPr>
          </a:p>
        </p:txBody>
      </p:sp>
      <p:sp>
        <p:nvSpPr>
          <p:cNvPr id="120" name="Google Shape;120;p7"/>
          <p:cNvSpPr txBox="1"/>
          <p:nvPr/>
        </p:nvSpPr>
        <p:spPr>
          <a:xfrm>
            <a:off x="457200" y="3246120"/>
            <a:ext cx="3931920" cy="128016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rgbClr val="2D2D2D"/>
              </a:buClr>
              <a:buSzPts val="2000"/>
              <a:buFont typeface="Arial"/>
              <a:buChar char="•"/>
            </a:pPr>
            <a:r>
              <a:rPr lang="en-US" sz="2000">
                <a:solidFill>
                  <a:srgbClr val="2D2D2D"/>
                </a:solidFill>
                <a:latin typeface="Arial"/>
                <a:ea typeface="Arial"/>
                <a:cs typeface="Arial"/>
                <a:sym typeface="Arial"/>
              </a:rPr>
              <a:t>Frozen Demo 2 prototype</a:t>
            </a:r>
            <a:endParaRPr sz="2000">
              <a:solidFill>
                <a:schemeClr val="dk1"/>
              </a:solidFill>
              <a:latin typeface="Calibri"/>
              <a:ea typeface="Calibri"/>
              <a:cs typeface="Calibri"/>
              <a:sym typeface="Calibri"/>
            </a:endParaRPr>
          </a:p>
          <a:p>
            <a:pPr indent="-342900" lvl="0" marL="342900" marR="0" rtl="0" algn="l">
              <a:spcBef>
                <a:spcPts val="400"/>
              </a:spcBef>
              <a:spcAft>
                <a:spcPts val="0"/>
              </a:spcAft>
              <a:buClr>
                <a:srgbClr val="2D2D2D"/>
              </a:buClr>
              <a:buSzPts val="2000"/>
              <a:buFont typeface="Arial"/>
              <a:buChar char="•"/>
            </a:pPr>
            <a:r>
              <a:rPr lang="en-US" sz="2000">
                <a:solidFill>
                  <a:srgbClr val="2D2D2D"/>
                </a:solidFill>
                <a:latin typeface="Arial"/>
                <a:ea typeface="Arial"/>
                <a:cs typeface="Arial"/>
                <a:sym typeface="Arial"/>
              </a:rPr>
              <a:t>Official baseline, if one runs</a:t>
            </a:r>
            <a:endParaRPr sz="2000">
              <a:solidFill>
                <a:schemeClr val="dk1"/>
              </a:solidFill>
              <a:latin typeface="Calibri"/>
              <a:ea typeface="Calibri"/>
              <a:cs typeface="Calibri"/>
              <a:sym typeface="Calibri"/>
            </a:endParaRPr>
          </a:p>
          <a:p>
            <a:pPr indent="-342900" lvl="0" marL="342900" marR="0" rtl="0" algn="l">
              <a:spcBef>
                <a:spcPts val="400"/>
              </a:spcBef>
              <a:spcAft>
                <a:spcPts val="0"/>
              </a:spcAft>
              <a:buClr>
                <a:srgbClr val="2D2D2D"/>
              </a:buClr>
              <a:buSzPts val="2000"/>
              <a:buFont typeface="Arial"/>
              <a:buChar char="•"/>
            </a:pPr>
            <a:r>
              <a:rPr lang="en-US" sz="2000">
                <a:solidFill>
                  <a:srgbClr val="2D2D2D"/>
                </a:solidFill>
                <a:latin typeface="Arial"/>
                <a:ea typeface="Arial"/>
                <a:cs typeface="Arial"/>
                <a:sym typeface="Arial"/>
              </a:rPr>
              <a:t>Same cases, model and caps</a:t>
            </a:r>
            <a:endParaRPr sz="2000">
              <a:solidFill>
                <a:schemeClr val="dk1"/>
              </a:solidFill>
              <a:latin typeface="Calibri"/>
              <a:ea typeface="Calibri"/>
              <a:cs typeface="Calibri"/>
              <a:sym typeface="Calibri"/>
            </a:endParaRPr>
          </a:p>
        </p:txBody>
      </p:sp>
      <p:sp>
        <p:nvSpPr>
          <p:cNvPr id="121" name="Google Shape;121;p7"/>
          <p:cNvSpPr txBox="1"/>
          <p:nvPr/>
        </p:nvSpPr>
        <p:spPr>
          <a:xfrm>
            <a:off x="4754880" y="2880360"/>
            <a:ext cx="3931920" cy="3474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E75B6"/>
              </a:buClr>
              <a:buSzPts val="2000"/>
              <a:buFont typeface="Arial"/>
              <a:buNone/>
            </a:pPr>
            <a:r>
              <a:rPr b="1" lang="en-US" sz="2000">
                <a:solidFill>
                  <a:srgbClr val="2E75B6"/>
                </a:solidFill>
                <a:latin typeface="Arial"/>
                <a:ea typeface="Arial"/>
                <a:cs typeface="Arial"/>
                <a:sym typeface="Arial"/>
              </a:rPr>
              <a:t>Cost records</a:t>
            </a:r>
            <a:endParaRPr sz="2000">
              <a:solidFill>
                <a:schemeClr val="dk1"/>
              </a:solidFill>
              <a:latin typeface="Calibri"/>
              <a:ea typeface="Calibri"/>
              <a:cs typeface="Calibri"/>
              <a:sym typeface="Calibri"/>
            </a:endParaRPr>
          </a:p>
        </p:txBody>
      </p:sp>
      <p:sp>
        <p:nvSpPr>
          <p:cNvPr id="122" name="Google Shape;122;p7"/>
          <p:cNvSpPr txBox="1"/>
          <p:nvPr/>
        </p:nvSpPr>
        <p:spPr>
          <a:xfrm>
            <a:off x="4754880" y="3246120"/>
            <a:ext cx="3931920" cy="128016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rgbClr val="2D2D2D"/>
              </a:buClr>
              <a:buSzPts val="2000"/>
              <a:buFont typeface="Arial"/>
              <a:buChar char="•"/>
            </a:pPr>
            <a:r>
              <a:rPr lang="en-US" sz="2000">
                <a:solidFill>
                  <a:srgbClr val="2D2D2D"/>
                </a:solidFill>
                <a:latin typeface="Arial"/>
                <a:ea typeface="Arial"/>
                <a:cs typeface="Arial"/>
                <a:sym typeface="Arial"/>
              </a:rPr>
              <a:t>Wall time and model tokens</a:t>
            </a:r>
            <a:endParaRPr sz="2000">
              <a:solidFill>
                <a:schemeClr val="dk1"/>
              </a:solidFill>
              <a:latin typeface="Calibri"/>
              <a:ea typeface="Calibri"/>
              <a:cs typeface="Calibri"/>
              <a:sym typeface="Calibri"/>
            </a:endParaRPr>
          </a:p>
          <a:p>
            <a:pPr indent="-342900" lvl="0" marL="342900" marR="0" rtl="0" algn="l">
              <a:spcBef>
                <a:spcPts val="400"/>
              </a:spcBef>
              <a:spcAft>
                <a:spcPts val="0"/>
              </a:spcAft>
              <a:buClr>
                <a:srgbClr val="2D2D2D"/>
              </a:buClr>
              <a:buSzPts val="2000"/>
              <a:buFont typeface="Arial"/>
              <a:buChar char="•"/>
            </a:pPr>
            <a:r>
              <a:rPr lang="en-US" sz="2000">
                <a:solidFill>
                  <a:srgbClr val="2D2D2D"/>
                </a:solidFill>
                <a:latin typeface="Arial"/>
                <a:ea typeface="Arial"/>
                <a:cs typeface="Arial"/>
                <a:sym typeface="Arial"/>
              </a:rPr>
              <a:t>Attempts and tool calls</a:t>
            </a:r>
            <a:endParaRPr sz="2000">
              <a:solidFill>
                <a:schemeClr val="dk1"/>
              </a:solidFill>
              <a:latin typeface="Calibri"/>
              <a:ea typeface="Calibri"/>
              <a:cs typeface="Calibri"/>
              <a:sym typeface="Calibri"/>
            </a:endParaRPr>
          </a:p>
          <a:p>
            <a:pPr indent="-342900" lvl="0" marL="342900" marR="0" rtl="0" algn="l">
              <a:spcBef>
                <a:spcPts val="400"/>
              </a:spcBef>
              <a:spcAft>
                <a:spcPts val="0"/>
              </a:spcAft>
              <a:buClr>
                <a:srgbClr val="2D2D2D"/>
              </a:buClr>
              <a:buSzPts val="2000"/>
              <a:buFont typeface="Arial"/>
              <a:buChar char="•"/>
            </a:pPr>
            <a:r>
              <a:rPr lang="en-US" sz="2000">
                <a:solidFill>
                  <a:srgbClr val="2D2D2D"/>
                </a:solidFill>
                <a:latin typeface="Arial"/>
                <a:ea typeface="Arial"/>
                <a:cs typeface="Arial"/>
                <a:sym typeface="Arial"/>
              </a:rPr>
              <a:t>Results by direction</a:t>
            </a:r>
            <a:endParaRPr sz="2000">
              <a:solidFill>
                <a:schemeClr val="dk1"/>
              </a:solidFill>
              <a:latin typeface="Calibri"/>
              <a:ea typeface="Calibri"/>
              <a:cs typeface="Calibri"/>
              <a:sym typeface="Calibri"/>
            </a:endParaRPr>
          </a:p>
        </p:txBody>
      </p:sp>
      <p:sp>
        <p:nvSpPr>
          <p:cNvPr id="123" name="Google Shape;123;p7"/>
          <p:cNvSpPr txBox="1"/>
          <p:nvPr/>
        </p:nvSpPr>
        <p:spPr>
          <a:xfrm>
            <a:off x="457200" y="4590288"/>
            <a:ext cx="7589520" cy="384048"/>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666666"/>
              </a:buClr>
              <a:buSzPts val="1200"/>
              <a:buFont typeface="Arial"/>
              <a:buNone/>
            </a:pPr>
            <a:r>
              <a:rPr lang="en-US" sz="1200">
                <a:solidFill>
                  <a:srgbClr val="666666"/>
                </a:solidFill>
                <a:latin typeface="Arial"/>
                <a:ea typeface="Arial"/>
                <a:cs typeface="Arial"/>
                <a:sym typeface="Arial"/>
              </a:rPr>
              <a:t>Primary metric: Build-Bench Challenge, 2026 (evaluation and scoring).</a:t>
            </a:r>
            <a:endParaRPr sz="1200">
              <a:solidFill>
                <a:schemeClr val="dk1"/>
              </a:solidFill>
              <a:latin typeface="Calibri"/>
              <a:ea typeface="Calibri"/>
              <a:cs typeface="Calibri"/>
              <a:sym typeface="Calibri"/>
            </a:endParaRPr>
          </a:p>
        </p:txBody>
      </p:sp>
      <p:sp>
        <p:nvSpPr>
          <p:cNvPr id="124" name="Google Shape;124;p7"/>
          <p:cNvSpPr txBox="1"/>
          <p:nvPr/>
        </p:nvSpPr>
        <p:spPr>
          <a:xfrm>
            <a:off x="8229600" y="4590288"/>
            <a:ext cx="457200" cy="384048"/>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Clr>
                <a:srgbClr val="666666"/>
              </a:buClr>
              <a:buSzPts val="1200"/>
              <a:buFont typeface="Arial"/>
              <a:buNone/>
            </a:pPr>
            <a:r>
              <a:rPr lang="en-US" sz="1200">
                <a:solidFill>
                  <a:srgbClr val="666666"/>
                </a:solidFill>
                <a:latin typeface="Arial"/>
                <a:ea typeface="Arial"/>
                <a:cs typeface="Arial"/>
                <a:sym typeface="Arial"/>
              </a:rPr>
              <a:t>7</a:t>
            </a:r>
            <a:endParaRPr sz="12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 name="Shape 129"/>
        <p:cNvGrpSpPr/>
        <p:nvPr/>
      </p:nvGrpSpPr>
      <p:grpSpPr>
        <a:xfrm>
          <a:off x="0" y="0"/>
          <a:ext cx="0" cy="0"/>
          <a:chOff x="0" y="0"/>
          <a:chExt cx="0" cy="0"/>
        </a:xfrm>
      </p:grpSpPr>
      <p:sp>
        <p:nvSpPr>
          <p:cNvPr id="130" name="Google Shape;130;p8"/>
          <p:cNvSpPr txBox="1"/>
          <p:nvPr/>
        </p:nvSpPr>
        <p:spPr>
          <a:xfrm>
            <a:off x="457200" y="256032"/>
            <a:ext cx="8229600" cy="8046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4E79"/>
              </a:buClr>
              <a:buSzPts val="2600"/>
              <a:buFont typeface="Arial"/>
              <a:buNone/>
            </a:pPr>
            <a:r>
              <a:rPr b="1" lang="en-US" sz="2600">
                <a:solidFill>
                  <a:srgbClr val="1F4E79"/>
                </a:solidFill>
                <a:latin typeface="Arial"/>
                <a:ea typeface="Arial"/>
                <a:cs typeface="Arial"/>
                <a:sym typeface="Arial"/>
              </a:rPr>
              <a:t>Prototype by Oct 21, a measured gain by Nov 16, held-out results by Dec 9</a:t>
            </a:r>
            <a:endParaRPr sz="2600">
              <a:solidFill>
                <a:schemeClr val="dk1"/>
              </a:solidFill>
              <a:latin typeface="Calibri"/>
              <a:ea typeface="Calibri"/>
              <a:cs typeface="Calibri"/>
              <a:sym typeface="Calibri"/>
            </a:endParaRPr>
          </a:p>
        </p:txBody>
      </p:sp>
      <p:cxnSp>
        <p:nvCxnSpPr>
          <p:cNvPr id="131" name="Google Shape;131;p8"/>
          <p:cNvCxnSpPr/>
          <p:nvPr/>
        </p:nvCxnSpPr>
        <p:spPr>
          <a:xfrm>
            <a:off x="457200" y="1783080"/>
            <a:ext cx="8229600" cy="0"/>
          </a:xfrm>
          <a:prstGeom prst="straightConnector1">
            <a:avLst/>
          </a:prstGeom>
          <a:noFill/>
          <a:ln cap="flat" cmpd="sng" w="25400">
            <a:solidFill>
              <a:srgbClr val="9DB3C9"/>
            </a:solidFill>
            <a:prstDash val="solid"/>
            <a:round/>
            <a:headEnd len="sm" w="sm" type="none"/>
            <a:tailEnd len="sm" w="sm" type="none"/>
          </a:ln>
        </p:spPr>
      </p:cxnSp>
      <p:sp>
        <p:nvSpPr>
          <p:cNvPr id="132" name="Google Shape;132;p8"/>
          <p:cNvSpPr txBox="1"/>
          <p:nvPr/>
        </p:nvSpPr>
        <p:spPr>
          <a:xfrm>
            <a:off x="457200" y="1216152"/>
            <a:ext cx="2560320" cy="38404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4E79"/>
              </a:buClr>
              <a:buSzPts val="2000"/>
              <a:buFont typeface="Arial"/>
              <a:buNone/>
            </a:pPr>
            <a:r>
              <a:rPr b="1" lang="en-US" sz="2000">
                <a:solidFill>
                  <a:srgbClr val="1F4E79"/>
                </a:solidFill>
                <a:latin typeface="Arial"/>
                <a:ea typeface="Arial"/>
                <a:cs typeface="Arial"/>
                <a:sym typeface="Arial"/>
              </a:rPr>
              <a:t>Demo 2  ·  Oct 21</a:t>
            </a:r>
            <a:endParaRPr sz="2000">
              <a:solidFill>
                <a:schemeClr val="dk1"/>
              </a:solidFill>
              <a:latin typeface="Calibri"/>
              <a:ea typeface="Calibri"/>
              <a:cs typeface="Calibri"/>
              <a:sym typeface="Calibri"/>
            </a:endParaRPr>
          </a:p>
        </p:txBody>
      </p:sp>
      <p:sp>
        <p:nvSpPr>
          <p:cNvPr id="133" name="Google Shape;133;p8"/>
          <p:cNvSpPr/>
          <p:nvPr/>
        </p:nvSpPr>
        <p:spPr>
          <a:xfrm>
            <a:off x="475488" y="1691640"/>
            <a:ext cx="182880" cy="182880"/>
          </a:xfrm>
          <a:prstGeom prst="ellipse">
            <a:avLst/>
          </a:prstGeom>
          <a:solidFill>
            <a:srgbClr val="1F4E79"/>
          </a:solidFill>
          <a:ln cap="flat" cmpd="sng" w="12700">
            <a:solidFill>
              <a:srgbClr val="1F4E79"/>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4" name="Google Shape;134;p8"/>
          <p:cNvSpPr txBox="1"/>
          <p:nvPr/>
        </p:nvSpPr>
        <p:spPr>
          <a:xfrm>
            <a:off x="457200" y="1965960"/>
            <a:ext cx="2560320" cy="214884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rgbClr val="2D2D2D"/>
              </a:buClr>
              <a:buSzPts val="2000"/>
              <a:buFont typeface="Arial"/>
              <a:buChar char="•"/>
            </a:pPr>
            <a:r>
              <a:rPr lang="en-US" sz="2000">
                <a:solidFill>
                  <a:srgbClr val="2D2D2D"/>
                </a:solidFill>
                <a:latin typeface="Arial"/>
                <a:ea typeface="Arial"/>
                <a:cs typeface="Arial"/>
                <a:sym typeface="Arial"/>
              </a:rPr>
              <a:t>Runnable prototype</a:t>
            </a:r>
            <a:endParaRPr sz="2000">
              <a:solidFill>
                <a:schemeClr val="dk1"/>
              </a:solidFill>
              <a:latin typeface="Calibri"/>
              <a:ea typeface="Calibri"/>
              <a:cs typeface="Calibri"/>
              <a:sym typeface="Calibri"/>
            </a:endParaRPr>
          </a:p>
          <a:p>
            <a:pPr indent="-342900" lvl="0" marL="342900" marR="0" rtl="0" algn="l">
              <a:spcBef>
                <a:spcPts val="400"/>
              </a:spcBef>
              <a:spcAft>
                <a:spcPts val="0"/>
              </a:spcAft>
              <a:buClr>
                <a:srgbClr val="2D2D2D"/>
              </a:buClr>
              <a:buSzPts val="2000"/>
              <a:buFont typeface="Arial"/>
              <a:buChar char="•"/>
            </a:pPr>
            <a:r>
              <a:rPr lang="en-US" sz="2000">
                <a:solidFill>
                  <a:srgbClr val="2D2D2D"/>
                </a:solidFill>
                <a:latin typeface="Arial"/>
                <a:ea typeface="Arial"/>
                <a:cs typeface="Arial"/>
                <a:sym typeface="Arial"/>
              </a:rPr>
              <a:t>10 fixed cases</a:t>
            </a:r>
            <a:endParaRPr sz="2000">
              <a:solidFill>
                <a:schemeClr val="dk1"/>
              </a:solidFill>
              <a:latin typeface="Calibri"/>
              <a:ea typeface="Calibri"/>
              <a:cs typeface="Calibri"/>
              <a:sym typeface="Calibri"/>
            </a:endParaRPr>
          </a:p>
          <a:p>
            <a:pPr indent="-342900" lvl="0" marL="342900" marR="0" rtl="0" algn="l">
              <a:spcBef>
                <a:spcPts val="400"/>
              </a:spcBef>
              <a:spcAft>
                <a:spcPts val="0"/>
              </a:spcAft>
              <a:buClr>
                <a:srgbClr val="2D2D2D"/>
              </a:buClr>
              <a:buSzPts val="2000"/>
              <a:buFont typeface="Arial"/>
              <a:buChar char="•"/>
            </a:pPr>
            <a:r>
              <a:rPr lang="en-US" sz="2000">
                <a:solidFill>
                  <a:srgbClr val="2D2D2D"/>
                </a:solidFill>
                <a:latin typeface="Arial"/>
                <a:ea typeface="Arial"/>
                <a:cs typeface="Arial"/>
                <a:sym typeface="Arial"/>
              </a:rPr>
              <a:t>Baseline or documented blocker</a:t>
            </a:r>
            <a:endParaRPr sz="2000">
              <a:solidFill>
                <a:schemeClr val="dk1"/>
              </a:solidFill>
              <a:latin typeface="Calibri"/>
              <a:ea typeface="Calibri"/>
              <a:cs typeface="Calibri"/>
              <a:sym typeface="Calibri"/>
            </a:endParaRPr>
          </a:p>
        </p:txBody>
      </p:sp>
      <p:sp>
        <p:nvSpPr>
          <p:cNvPr id="135" name="Google Shape;135;p8"/>
          <p:cNvSpPr txBox="1"/>
          <p:nvPr/>
        </p:nvSpPr>
        <p:spPr>
          <a:xfrm>
            <a:off x="3291840" y="1216152"/>
            <a:ext cx="2560320" cy="38404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4E79"/>
              </a:buClr>
              <a:buSzPts val="2000"/>
              <a:buFont typeface="Arial"/>
              <a:buNone/>
            </a:pPr>
            <a:r>
              <a:rPr b="1" lang="en-US" sz="2000">
                <a:solidFill>
                  <a:srgbClr val="1F4E79"/>
                </a:solidFill>
                <a:latin typeface="Arial"/>
                <a:ea typeface="Arial"/>
                <a:cs typeface="Arial"/>
                <a:sym typeface="Arial"/>
              </a:rPr>
              <a:t>Demo 3  ·  Nov 16</a:t>
            </a:r>
            <a:endParaRPr sz="2000">
              <a:solidFill>
                <a:schemeClr val="dk1"/>
              </a:solidFill>
              <a:latin typeface="Calibri"/>
              <a:ea typeface="Calibri"/>
              <a:cs typeface="Calibri"/>
              <a:sym typeface="Calibri"/>
            </a:endParaRPr>
          </a:p>
        </p:txBody>
      </p:sp>
      <p:sp>
        <p:nvSpPr>
          <p:cNvPr id="136" name="Google Shape;136;p8"/>
          <p:cNvSpPr/>
          <p:nvPr/>
        </p:nvSpPr>
        <p:spPr>
          <a:xfrm>
            <a:off x="3310128" y="1691640"/>
            <a:ext cx="182880" cy="182880"/>
          </a:xfrm>
          <a:prstGeom prst="ellipse">
            <a:avLst/>
          </a:prstGeom>
          <a:solidFill>
            <a:srgbClr val="1F4E79"/>
          </a:solidFill>
          <a:ln cap="flat" cmpd="sng" w="12700">
            <a:solidFill>
              <a:srgbClr val="1F4E79"/>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7" name="Google Shape;137;p8"/>
          <p:cNvSpPr txBox="1"/>
          <p:nvPr/>
        </p:nvSpPr>
        <p:spPr>
          <a:xfrm>
            <a:off x="3291840" y="1965960"/>
            <a:ext cx="2560320" cy="214884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rgbClr val="2D2D2D"/>
              </a:buClr>
              <a:buSzPts val="2000"/>
              <a:buFont typeface="Arial"/>
              <a:buChar char="•"/>
            </a:pPr>
            <a:r>
              <a:rPr lang="en-US" sz="2000">
                <a:solidFill>
                  <a:srgbClr val="2D2D2D"/>
                </a:solidFill>
                <a:latin typeface="Arial"/>
                <a:ea typeface="Arial"/>
                <a:cs typeface="Arial"/>
                <a:sym typeface="Arial"/>
              </a:rPr>
              <a:t>10 cases × 3 runs</a:t>
            </a:r>
            <a:endParaRPr sz="2000">
              <a:solidFill>
                <a:schemeClr val="dk1"/>
              </a:solidFill>
              <a:latin typeface="Calibri"/>
              <a:ea typeface="Calibri"/>
              <a:cs typeface="Calibri"/>
              <a:sym typeface="Calibri"/>
            </a:endParaRPr>
          </a:p>
          <a:p>
            <a:pPr indent="-342900" lvl="0" marL="342900" marR="0" rtl="0" algn="l">
              <a:spcBef>
                <a:spcPts val="400"/>
              </a:spcBef>
              <a:spcAft>
                <a:spcPts val="0"/>
              </a:spcAft>
              <a:buClr>
                <a:srgbClr val="2D2D2D"/>
              </a:buClr>
              <a:buSzPts val="2000"/>
              <a:buFont typeface="Arial"/>
              <a:buChar char="•"/>
            </a:pPr>
            <a:r>
              <a:rPr lang="en-US" sz="2000">
                <a:solidFill>
                  <a:srgbClr val="2D2D2D"/>
                </a:solidFill>
                <a:latin typeface="Arial"/>
                <a:ea typeface="Arial"/>
                <a:cs typeface="Arial"/>
                <a:sym typeface="Arial"/>
              </a:rPr>
              <a:t>+1 mean repair per 10 cases, or 20% fewer tokens with no lost repairs</a:t>
            </a:r>
            <a:endParaRPr sz="2000">
              <a:solidFill>
                <a:schemeClr val="dk1"/>
              </a:solidFill>
              <a:latin typeface="Calibri"/>
              <a:ea typeface="Calibri"/>
              <a:cs typeface="Calibri"/>
              <a:sym typeface="Calibri"/>
            </a:endParaRPr>
          </a:p>
        </p:txBody>
      </p:sp>
      <p:sp>
        <p:nvSpPr>
          <p:cNvPr id="138" name="Google Shape;138;p8"/>
          <p:cNvSpPr txBox="1"/>
          <p:nvPr/>
        </p:nvSpPr>
        <p:spPr>
          <a:xfrm>
            <a:off x="6126480" y="1216152"/>
            <a:ext cx="2560320" cy="38404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4E79"/>
              </a:buClr>
              <a:buSzPts val="2000"/>
              <a:buFont typeface="Arial"/>
              <a:buNone/>
            </a:pPr>
            <a:r>
              <a:rPr b="1" lang="en-US" sz="2000">
                <a:solidFill>
                  <a:srgbClr val="1F4E79"/>
                </a:solidFill>
                <a:latin typeface="Arial"/>
                <a:ea typeface="Arial"/>
                <a:cs typeface="Arial"/>
                <a:sym typeface="Arial"/>
              </a:rPr>
              <a:t>Final  ·  Dec 9</a:t>
            </a:r>
            <a:endParaRPr sz="2000">
              <a:solidFill>
                <a:schemeClr val="dk1"/>
              </a:solidFill>
              <a:latin typeface="Calibri"/>
              <a:ea typeface="Calibri"/>
              <a:cs typeface="Calibri"/>
              <a:sym typeface="Calibri"/>
            </a:endParaRPr>
          </a:p>
        </p:txBody>
      </p:sp>
      <p:sp>
        <p:nvSpPr>
          <p:cNvPr id="139" name="Google Shape;139;p8"/>
          <p:cNvSpPr/>
          <p:nvPr/>
        </p:nvSpPr>
        <p:spPr>
          <a:xfrm>
            <a:off x="6144768" y="1691640"/>
            <a:ext cx="182880" cy="182880"/>
          </a:xfrm>
          <a:prstGeom prst="ellipse">
            <a:avLst/>
          </a:prstGeom>
          <a:solidFill>
            <a:srgbClr val="1F4E79"/>
          </a:solidFill>
          <a:ln cap="flat" cmpd="sng" w="12700">
            <a:solidFill>
              <a:srgbClr val="1F4E79"/>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0" name="Google Shape;140;p8"/>
          <p:cNvSpPr txBox="1"/>
          <p:nvPr/>
        </p:nvSpPr>
        <p:spPr>
          <a:xfrm>
            <a:off x="6126480" y="1965960"/>
            <a:ext cx="2560320" cy="214884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rgbClr val="2D2D2D"/>
              </a:buClr>
              <a:buSzPts val="2000"/>
              <a:buFont typeface="Arial"/>
              <a:buChar char="•"/>
            </a:pPr>
            <a:r>
              <a:rPr lang="en-US" sz="2000">
                <a:solidFill>
                  <a:srgbClr val="2D2D2D"/>
                </a:solidFill>
                <a:latin typeface="Arial"/>
                <a:ea typeface="Arial"/>
                <a:cs typeface="Arial"/>
                <a:sym typeface="Arial"/>
              </a:rPr>
              <a:t>40 cases, 30 held out</a:t>
            </a:r>
            <a:endParaRPr sz="2000">
              <a:solidFill>
                <a:schemeClr val="dk1"/>
              </a:solidFill>
              <a:latin typeface="Calibri"/>
              <a:ea typeface="Calibri"/>
              <a:cs typeface="Calibri"/>
              <a:sym typeface="Calibri"/>
            </a:endParaRPr>
          </a:p>
          <a:p>
            <a:pPr indent="-342900" lvl="0" marL="342900" marR="0" rtl="0" algn="l">
              <a:spcBef>
                <a:spcPts val="400"/>
              </a:spcBef>
              <a:spcAft>
                <a:spcPts val="0"/>
              </a:spcAft>
              <a:buClr>
                <a:srgbClr val="2D2D2D"/>
              </a:buClr>
              <a:buSzPts val="2000"/>
              <a:buFont typeface="Arial"/>
              <a:buChar char="•"/>
            </a:pPr>
            <a:r>
              <a:rPr lang="en-US" sz="2000">
                <a:solidFill>
                  <a:srgbClr val="2D2D2D"/>
                </a:solidFill>
                <a:latin typeface="Arial"/>
                <a:ea typeface="Arial"/>
                <a:cs typeface="Arial"/>
                <a:sym typeface="Arial"/>
              </a:rPr>
              <a:t>Reproducible agent + results</a:t>
            </a:r>
            <a:endParaRPr sz="2000">
              <a:solidFill>
                <a:schemeClr val="dk1"/>
              </a:solidFill>
              <a:latin typeface="Calibri"/>
              <a:ea typeface="Calibri"/>
              <a:cs typeface="Calibri"/>
              <a:sym typeface="Calibri"/>
            </a:endParaRPr>
          </a:p>
        </p:txBody>
      </p:sp>
      <p:sp>
        <p:nvSpPr>
          <p:cNvPr id="141" name="Google Shape;141;p8"/>
          <p:cNvSpPr/>
          <p:nvPr/>
        </p:nvSpPr>
        <p:spPr>
          <a:xfrm>
            <a:off x="2745310" y="1682496"/>
            <a:ext cx="201168" cy="201168"/>
          </a:xfrm>
          <a:prstGeom prst="diamond">
            <a:avLst/>
          </a:prstGeom>
          <a:solidFill>
            <a:srgbClr val="B03A2E"/>
          </a:solidFill>
          <a:ln cap="flat" cmpd="sng" w="12700">
            <a:solidFill>
              <a:srgbClr val="B03A2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2" name="Google Shape;142;p8"/>
          <p:cNvSpPr/>
          <p:nvPr/>
        </p:nvSpPr>
        <p:spPr>
          <a:xfrm>
            <a:off x="457200" y="4315968"/>
            <a:ext cx="164592" cy="164592"/>
          </a:xfrm>
          <a:prstGeom prst="diamond">
            <a:avLst/>
          </a:prstGeom>
          <a:solidFill>
            <a:srgbClr val="B03A2E"/>
          </a:solidFill>
          <a:ln cap="flat" cmpd="sng" w="12700">
            <a:solidFill>
              <a:srgbClr val="B03A2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3" name="Google Shape;143;p8"/>
          <p:cNvSpPr txBox="1"/>
          <p:nvPr/>
        </p:nvSpPr>
        <p:spPr>
          <a:xfrm>
            <a:off x="731520" y="4206240"/>
            <a:ext cx="795528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03A2E"/>
              </a:buClr>
              <a:buSzPts val="1600"/>
              <a:buFont typeface="Arial"/>
              <a:buNone/>
            </a:pPr>
            <a:r>
              <a:rPr b="1" lang="en-US" sz="1600">
                <a:solidFill>
                  <a:srgbClr val="B03A2E"/>
                </a:solidFill>
                <a:latin typeface="Arial"/>
                <a:ea typeface="Arial"/>
                <a:cs typeface="Arial"/>
                <a:sym typeface="Arial"/>
              </a:rPr>
              <a:t>Competition freeze Nov 13 falls before Demo 3</a:t>
            </a:r>
            <a:endParaRPr sz="1600">
              <a:solidFill>
                <a:schemeClr val="dk1"/>
              </a:solidFill>
              <a:latin typeface="Calibri"/>
              <a:ea typeface="Calibri"/>
              <a:cs typeface="Calibri"/>
              <a:sym typeface="Calibri"/>
            </a:endParaRPr>
          </a:p>
        </p:txBody>
      </p:sp>
      <p:sp>
        <p:nvSpPr>
          <p:cNvPr id="144" name="Google Shape;144;p8"/>
          <p:cNvSpPr txBox="1"/>
          <p:nvPr/>
        </p:nvSpPr>
        <p:spPr>
          <a:xfrm>
            <a:off x="457200" y="4590288"/>
            <a:ext cx="7589520" cy="384048"/>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666666"/>
              </a:buClr>
              <a:buSzPts val="1200"/>
              <a:buFont typeface="Arial"/>
              <a:buNone/>
            </a:pPr>
            <a:r>
              <a:rPr lang="en-US" sz="1200">
                <a:solidFill>
                  <a:srgbClr val="666666"/>
                </a:solidFill>
                <a:latin typeface="Arial"/>
                <a:ea typeface="Arial"/>
                <a:cs typeface="Arial"/>
                <a:sym typeface="Arial"/>
              </a:rPr>
              <a:t>Dates: course repository proposal template; Build-Bench Challenge, 2026 (timeline, checked Sep 21).</a:t>
            </a:r>
            <a:endParaRPr sz="1200">
              <a:solidFill>
                <a:schemeClr val="dk1"/>
              </a:solidFill>
              <a:latin typeface="Calibri"/>
              <a:ea typeface="Calibri"/>
              <a:cs typeface="Calibri"/>
              <a:sym typeface="Calibri"/>
            </a:endParaRPr>
          </a:p>
        </p:txBody>
      </p:sp>
      <p:sp>
        <p:nvSpPr>
          <p:cNvPr id="145" name="Google Shape;145;p8"/>
          <p:cNvSpPr txBox="1"/>
          <p:nvPr/>
        </p:nvSpPr>
        <p:spPr>
          <a:xfrm>
            <a:off x="8229600" y="4590288"/>
            <a:ext cx="457200" cy="384048"/>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Clr>
                <a:srgbClr val="666666"/>
              </a:buClr>
              <a:buSzPts val="1200"/>
              <a:buFont typeface="Arial"/>
              <a:buNone/>
            </a:pPr>
            <a:r>
              <a:rPr lang="en-US" sz="1200">
                <a:solidFill>
                  <a:srgbClr val="666666"/>
                </a:solidFill>
                <a:latin typeface="Arial"/>
                <a:ea typeface="Arial"/>
                <a:cs typeface="Arial"/>
                <a:sym typeface="Arial"/>
              </a:rPr>
              <a:t>8</a:t>
            </a:r>
            <a:endParaRPr sz="12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 name="Shape 150"/>
        <p:cNvGrpSpPr/>
        <p:nvPr/>
      </p:nvGrpSpPr>
      <p:grpSpPr>
        <a:xfrm>
          <a:off x="0" y="0"/>
          <a:ext cx="0" cy="0"/>
          <a:chOff x="0" y="0"/>
          <a:chExt cx="0" cy="0"/>
        </a:xfrm>
      </p:grpSpPr>
      <p:sp>
        <p:nvSpPr>
          <p:cNvPr id="151" name="Google Shape;151;p9"/>
          <p:cNvSpPr txBox="1"/>
          <p:nvPr/>
        </p:nvSpPr>
        <p:spPr>
          <a:xfrm>
            <a:off x="457200" y="256032"/>
            <a:ext cx="8229600" cy="8046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4E79"/>
              </a:buClr>
              <a:buSzPts val="2600"/>
              <a:buFont typeface="Arial"/>
              <a:buNone/>
            </a:pPr>
            <a:r>
              <a:rPr b="1" lang="en-US" sz="2600">
                <a:solidFill>
                  <a:srgbClr val="1F4E79"/>
                </a:solidFill>
                <a:latin typeface="Arial"/>
                <a:ea typeface="Arial"/>
                <a:cs typeface="Arial"/>
                <a:sym typeface="Arial"/>
              </a:rPr>
              <a:t>The dataset is verified and the starter example runs; the agent is built next</a:t>
            </a:r>
            <a:endParaRPr sz="2600">
              <a:solidFill>
                <a:schemeClr val="dk1"/>
              </a:solidFill>
              <a:latin typeface="Calibri"/>
              <a:ea typeface="Calibri"/>
              <a:cs typeface="Calibri"/>
              <a:sym typeface="Calibri"/>
            </a:endParaRPr>
          </a:p>
        </p:txBody>
      </p:sp>
      <p:sp>
        <p:nvSpPr>
          <p:cNvPr id="152" name="Google Shape;152;p9"/>
          <p:cNvSpPr txBox="1"/>
          <p:nvPr/>
        </p:nvSpPr>
        <p:spPr>
          <a:xfrm>
            <a:off x="457200" y="1188720"/>
            <a:ext cx="3931920" cy="3474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E75B6"/>
              </a:buClr>
              <a:buSzPts val="2000"/>
              <a:buFont typeface="Arial"/>
              <a:buNone/>
            </a:pPr>
            <a:r>
              <a:rPr b="1" lang="en-US" sz="2000">
                <a:solidFill>
                  <a:srgbClr val="2E75B6"/>
                </a:solidFill>
                <a:latin typeface="Arial"/>
                <a:ea typeface="Arial"/>
                <a:cs typeface="Arial"/>
                <a:sym typeface="Arial"/>
              </a:rPr>
              <a:t>Done</a:t>
            </a:r>
            <a:endParaRPr sz="2000">
              <a:solidFill>
                <a:schemeClr val="dk1"/>
              </a:solidFill>
              <a:latin typeface="Calibri"/>
              <a:ea typeface="Calibri"/>
              <a:cs typeface="Calibri"/>
              <a:sym typeface="Calibri"/>
            </a:endParaRPr>
          </a:p>
        </p:txBody>
      </p:sp>
      <p:sp>
        <p:nvSpPr>
          <p:cNvPr id="153" name="Google Shape;153;p9"/>
          <p:cNvSpPr txBox="1"/>
          <p:nvPr/>
        </p:nvSpPr>
        <p:spPr>
          <a:xfrm>
            <a:off x="457200" y="1554480"/>
            <a:ext cx="39319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4E79"/>
              </a:buClr>
              <a:buSzPts val="4400"/>
              <a:buFont typeface="Arial"/>
              <a:buNone/>
            </a:pPr>
            <a:r>
              <a:rPr b="1" lang="en-US" sz="4400">
                <a:solidFill>
                  <a:srgbClr val="1F4E79"/>
                </a:solidFill>
                <a:latin typeface="Arial"/>
                <a:ea typeface="Arial"/>
                <a:cs typeface="Arial"/>
                <a:sym typeface="Arial"/>
              </a:rPr>
              <a:t>200</a:t>
            </a:r>
            <a:endParaRPr sz="4400">
              <a:solidFill>
                <a:schemeClr val="dk1"/>
              </a:solidFill>
              <a:latin typeface="Calibri"/>
              <a:ea typeface="Calibri"/>
              <a:cs typeface="Calibri"/>
              <a:sym typeface="Calibri"/>
            </a:endParaRPr>
          </a:p>
        </p:txBody>
      </p:sp>
      <p:sp>
        <p:nvSpPr>
          <p:cNvPr id="154" name="Google Shape;154;p9"/>
          <p:cNvSpPr txBox="1"/>
          <p:nvPr/>
        </p:nvSpPr>
        <p:spPr>
          <a:xfrm>
            <a:off x="457200" y="2103120"/>
            <a:ext cx="393192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D2D2D"/>
              </a:buClr>
              <a:buSzPts val="2000"/>
              <a:buFont typeface="Arial"/>
              <a:buNone/>
            </a:pPr>
            <a:r>
              <a:rPr lang="en-US" sz="2000">
                <a:solidFill>
                  <a:srgbClr val="2D2D2D"/>
                </a:solidFill>
                <a:latin typeface="Arial"/>
                <a:ea typeface="Arial"/>
                <a:cs typeface="Arial"/>
                <a:sym typeface="Arial"/>
              </a:rPr>
              <a:t>public cases inspected</a:t>
            </a:r>
            <a:endParaRPr sz="2000">
              <a:solidFill>
                <a:schemeClr val="dk1"/>
              </a:solidFill>
              <a:latin typeface="Calibri"/>
              <a:ea typeface="Calibri"/>
              <a:cs typeface="Calibri"/>
              <a:sym typeface="Calibri"/>
            </a:endParaRPr>
          </a:p>
        </p:txBody>
      </p:sp>
      <p:sp>
        <p:nvSpPr>
          <p:cNvPr id="155" name="Google Shape;155;p9"/>
          <p:cNvSpPr txBox="1"/>
          <p:nvPr/>
        </p:nvSpPr>
        <p:spPr>
          <a:xfrm>
            <a:off x="457200" y="2606040"/>
            <a:ext cx="3931920" cy="173736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rgbClr val="2D2D2D"/>
              </a:buClr>
              <a:buSzPts val="2000"/>
              <a:buFont typeface="Arial"/>
              <a:buChar char="•"/>
            </a:pPr>
            <a:r>
              <a:rPr lang="en-US" sz="2000">
                <a:solidFill>
                  <a:srgbClr val="2D2D2D"/>
                </a:solidFill>
                <a:latin typeface="Arial"/>
                <a:ea typeface="Arial"/>
                <a:cs typeface="Arial"/>
                <a:sym typeface="Arial"/>
              </a:rPr>
              <a:t>188 packages; all dataset and source checksums matched</a:t>
            </a:r>
            <a:endParaRPr sz="2000">
              <a:solidFill>
                <a:schemeClr val="dk1"/>
              </a:solidFill>
              <a:latin typeface="Calibri"/>
              <a:ea typeface="Calibri"/>
              <a:cs typeface="Calibri"/>
              <a:sym typeface="Calibri"/>
            </a:endParaRPr>
          </a:p>
          <a:p>
            <a:pPr indent="-342900" lvl="0" marL="342900" marR="0" rtl="0" algn="l">
              <a:spcBef>
                <a:spcPts val="800"/>
              </a:spcBef>
              <a:spcAft>
                <a:spcPts val="0"/>
              </a:spcAft>
              <a:buClr>
                <a:srgbClr val="2D2D2D"/>
              </a:buClr>
              <a:buSzPts val="2000"/>
              <a:buFont typeface="Arial"/>
              <a:buChar char="•"/>
            </a:pPr>
            <a:r>
              <a:rPr lang="en-US" sz="2000">
                <a:solidFill>
                  <a:srgbClr val="2D2D2D"/>
                </a:solidFill>
                <a:latin typeface="Arial"/>
                <a:ea typeface="Arial"/>
                <a:cs typeface="Arial"/>
                <a:sym typeface="Arial"/>
              </a:rPr>
              <a:t>Starter-kit hello example reproduced on Linux (no LLM)</a:t>
            </a:r>
            <a:endParaRPr sz="2000">
              <a:solidFill>
                <a:schemeClr val="dk1"/>
              </a:solidFill>
              <a:latin typeface="Calibri"/>
              <a:ea typeface="Calibri"/>
              <a:cs typeface="Calibri"/>
              <a:sym typeface="Calibri"/>
            </a:endParaRPr>
          </a:p>
        </p:txBody>
      </p:sp>
      <p:sp>
        <p:nvSpPr>
          <p:cNvPr id="156" name="Google Shape;156;p9"/>
          <p:cNvSpPr txBox="1"/>
          <p:nvPr/>
        </p:nvSpPr>
        <p:spPr>
          <a:xfrm>
            <a:off x="4754880" y="1188720"/>
            <a:ext cx="3931920" cy="3474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E75B6"/>
              </a:buClr>
              <a:buSzPts val="2000"/>
              <a:buFont typeface="Arial"/>
              <a:buNone/>
            </a:pPr>
            <a:r>
              <a:rPr b="1" lang="en-US" sz="2000">
                <a:solidFill>
                  <a:srgbClr val="2E75B6"/>
                </a:solidFill>
                <a:latin typeface="Arial"/>
                <a:ea typeface="Arial"/>
                <a:cs typeface="Arial"/>
                <a:sym typeface="Arial"/>
              </a:rPr>
              <a:t>Next, before Demo 2</a:t>
            </a:r>
            <a:endParaRPr sz="2000">
              <a:solidFill>
                <a:schemeClr val="dk1"/>
              </a:solidFill>
              <a:latin typeface="Calibri"/>
              <a:ea typeface="Calibri"/>
              <a:cs typeface="Calibri"/>
              <a:sym typeface="Calibri"/>
            </a:endParaRPr>
          </a:p>
        </p:txBody>
      </p:sp>
      <p:sp>
        <p:nvSpPr>
          <p:cNvPr id="157" name="Google Shape;157;p9"/>
          <p:cNvSpPr txBox="1"/>
          <p:nvPr/>
        </p:nvSpPr>
        <p:spPr>
          <a:xfrm>
            <a:off x="4754880" y="1645920"/>
            <a:ext cx="3931920" cy="23774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D2D2D"/>
              </a:buClr>
              <a:buSzPts val="2000"/>
              <a:buFont typeface="Arial"/>
              <a:buNone/>
            </a:pPr>
            <a:r>
              <a:rPr lang="en-US" sz="2000">
                <a:solidFill>
                  <a:srgbClr val="2D2D2D"/>
                </a:solidFill>
                <a:latin typeface="Arial"/>
                <a:ea typeface="Arial"/>
                <a:cs typeface="Arial"/>
                <a:sym typeface="Arial"/>
              </a:rPr>
              <a:t>1.  Provision AWS, pin configs</a:t>
            </a:r>
            <a:endParaRPr sz="2000">
              <a:solidFill>
                <a:schemeClr val="dk1"/>
              </a:solidFill>
              <a:latin typeface="Calibri"/>
              <a:ea typeface="Calibri"/>
              <a:cs typeface="Calibri"/>
              <a:sym typeface="Calibri"/>
            </a:endParaRPr>
          </a:p>
          <a:p>
            <a:pPr indent="0" lvl="0" marL="0" marR="0" rtl="0" algn="l">
              <a:spcBef>
                <a:spcPts val="1200"/>
              </a:spcBef>
              <a:spcAft>
                <a:spcPts val="0"/>
              </a:spcAft>
              <a:buClr>
                <a:srgbClr val="2D2D2D"/>
              </a:buClr>
              <a:buSzPts val="2000"/>
              <a:buFont typeface="Arial"/>
              <a:buNone/>
            </a:pPr>
            <a:r>
              <a:rPr lang="en-US" sz="2000">
                <a:solidFill>
                  <a:srgbClr val="2D2D2D"/>
                </a:solidFill>
                <a:latin typeface="Arial"/>
                <a:ea typeface="Arial"/>
                <a:cs typeface="Arial"/>
                <a:sym typeface="Arial"/>
              </a:rPr>
              <a:t>2.  Reproduce one Debian failure</a:t>
            </a:r>
            <a:endParaRPr sz="2000">
              <a:solidFill>
                <a:schemeClr val="dk1"/>
              </a:solidFill>
              <a:latin typeface="Calibri"/>
              <a:ea typeface="Calibri"/>
              <a:cs typeface="Calibri"/>
              <a:sym typeface="Calibri"/>
            </a:endParaRPr>
          </a:p>
          <a:p>
            <a:pPr indent="0" lvl="0" marL="0" marR="0" rtl="0" algn="l">
              <a:spcBef>
                <a:spcPts val="1200"/>
              </a:spcBef>
              <a:spcAft>
                <a:spcPts val="0"/>
              </a:spcAft>
              <a:buClr>
                <a:srgbClr val="2D2D2D"/>
              </a:buClr>
              <a:buSzPts val="2000"/>
              <a:buFont typeface="Arial"/>
              <a:buNone/>
            </a:pPr>
            <a:r>
              <a:rPr lang="en-US" sz="2000">
                <a:solidFill>
                  <a:srgbClr val="2D2D2D"/>
                </a:solidFill>
                <a:latin typeface="Arial"/>
                <a:ea typeface="Arial"/>
                <a:cs typeface="Arial"/>
                <a:sym typeface="Arial"/>
              </a:rPr>
              <a:t>3.  Confirm model + build APIs</a:t>
            </a:r>
            <a:endParaRPr sz="2000">
              <a:solidFill>
                <a:schemeClr val="dk1"/>
              </a:solidFill>
              <a:latin typeface="Calibri"/>
              <a:ea typeface="Calibri"/>
              <a:cs typeface="Calibri"/>
              <a:sym typeface="Calibri"/>
            </a:endParaRPr>
          </a:p>
          <a:p>
            <a:pPr indent="0" lvl="0" marL="0" marR="0" rtl="0" algn="l">
              <a:spcBef>
                <a:spcPts val="1200"/>
              </a:spcBef>
              <a:spcAft>
                <a:spcPts val="0"/>
              </a:spcAft>
              <a:buClr>
                <a:srgbClr val="2D2D2D"/>
              </a:buClr>
              <a:buSzPts val="2000"/>
              <a:buFont typeface="Arial"/>
              <a:buNone/>
            </a:pPr>
            <a:r>
              <a:rPr lang="en-US" sz="2000">
                <a:solidFill>
                  <a:srgbClr val="2D2D2D"/>
                </a:solidFill>
                <a:latin typeface="Arial"/>
                <a:ea typeface="Arial"/>
                <a:cs typeface="Arial"/>
                <a:sym typeface="Arial"/>
              </a:rPr>
              <a:t>4.  Implement bounded repair loop</a:t>
            </a:r>
            <a:endParaRPr sz="2000">
              <a:solidFill>
                <a:schemeClr val="dk1"/>
              </a:solidFill>
              <a:latin typeface="Calibri"/>
              <a:ea typeface="Calibri"/>
              <a:cs typeface="Calibri"/>
              <a:sym typeface="Calibri"/>
            </a:endParaRPr>
          </a:p>
        </p:txBody>
      </p:sp>
      <p:sp>
        <p:nvSpPr>
          <p:cNvPr id="158" name="Google Shape;158;p9"/>
          <p:cNvSpPr txBox="1"/>
          <p:nvPr/>
        </p:nvSpPr>
        <p:spPr>
          <a:xfrm>
            <a:off x="4754880" y="3520440"/>
            <a:ext cx="393192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4E79"/>
              </a:buClr>
              <a:buSzPts val="2000"/>
              <a:buFont typeface="Arial"/>
              <a:buNone/>
            </a:pPr>
            <a:r>
              <a:rPr b="1" lang="en-US" sz="2000">
                <a:solidFill>
                  <a:srgbClr val="1F4E79"/>
                </a:solidFill>
                <a:latin typeface="Arial"/>
                <a:ea typeface="Arial"/>
                <a:cs typeface="Arial"/>
                <a:sym typeface="Arial"/>
              </a:rPr>
              <a:t>Core challenge: choosing useful evidence and revising diagnoses within budget.</a:t>
            </a:r>
            <a:endParaRPr sz="2000">
              <a:solidFill>
                <a:schemeClr val="dk1"/>
              </a:solidFill>
              <a:latin typeface="Calibri"/>
              <a:ea typeface="Calibri"/>
              <a:cs typeface="Calibri"/>
              <a:sym typeface="Calibri"/>
            </a:endParaRPr>
          </a:p>
        </p:txBody>
      </p:sp>
      <p:sp>
        <p:nvSpPr>
          <p:cNvPr id="159" name="Google Shape;159;p9"/>
          <p:cNvSpPr txBox="1"/>
          <p:nvPr/>
        </p:nvSpPr>
        <p:spPr>
          <a:xfrm>
            <a:off x="457200" y="4590288"/>
            <a:ext cx="7589520" cy="384048"/>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666666"/>
              </a:buClr>
              <a:buSzPts val="1200"/>
              <a:buFont typeface="Arial"/>
              <a:buNone/>
            </a:pPr>
            <a:r>
              <a:rPr lang="en-US" sz="1200">
                <a:solidFill>
                  <a:srgbClr val="666666"/>
                </a:solidFill>
                <a:latin typeface="Arial"/>
                <a:ea typeface="Arial"/>
                <a:cs typeface="Arial"/>
                <a:sym typeface="Arial"/>
              </a:rPr>
              <a:t>Build-Bench development cases v0.1; EC528 Build-Bench team, docs/evidence/demo-1 (2026).</a:t>
            </a:r>
            <a:endParaRPr sz="1200">
              <a:solidFill>
                <a:schemeClr val="dk1"/>
              </a:solidFill>
              <a:latin typeface="Calibri"/>
              <a:ea typeface="Calibri"/>
              <a:cs typeface="Calibri"/>
              <a:sym typeface="Calibri"/>
            </a:endParaRPr>
          </a:p>
        </p:txBody>
      </p:sp>
      <p:sp>
        <p:nvSpPr>
          <p:cNvPr id="160" name="Google Shape;160;p9"/>
          <p:cNvSpPr txBox="1"/>
          <p:nvPr/>
        </p:nvSpPr>
        <p:spPr>
          <a:xfrm>
            <a:off x="8229600" y="4590288"/>
            <a:ext cx="457200" cy="384048"/>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Clr>
                <a:srgbClr val="666666"/>
              </a:buClr>
              <a:buSzPts val="1200"/>
              <a:buFont typeface="Arial"/>
              <a:buNone/>
            </a:pPr>
            <a:r>
              <a:rPr lang="en-US" sz="1200">
                <a:solidFill>
                  <a:srgbClr val="666666"/>
                </a:solidFill>
                <a:latin typeface="Arial"/>
                <a:ea typeface="Arial"/>
                <a:cs typeface="Arial"/>
                <a:sym typeface="Arial"/>
              </a:rPr>
              <a:t>9</a:t>
            </a:r>
            <a:endParaRPr sz="12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4E79"/>
        </a:solidFill>
      </p:bgPr>
    </p:bg>
    <p:spTree>
      <p:nvGrpSpPr>
        <p:cNvPr id="165" name="Shape 165"/>
        <p:cNvGrpSpPr/>
        <p:nvPr/>
      </p:nvGrpSpPr>
      <p:grpSpPr>
        <a:xfrm>
          <a:off x="0" y="0"/>
          <a:ext cx="0" cy="0"/>
          <a:chOff x="0" y="0"/>
          <a:chExt cx="0" cy="0"/>
        </a:xfrm>
      </p:grpSpPr>
      <p:sp>
        <p:nvSpPr>
          <p:cNvPr id="166" name="Google Shape;166;p10"/>
          <p:cNvSpPr txBox="1"/>
          <p:nvPr/>
        </p:nvSpPr>
        <p:spPr>
          <a:xfrm>
            <a:off x="457200" y="320040"/>
            <a:ext cx="822960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ADCFC"/>
              </a:buClr>
              <a:buSzPts val="2000"/>
              <a:buFont typeface="Arial"/>
              <a:buNone/>
            </a:pPr>
            <a:r>
              <a:rPr lang="en-US" sz="2000">
                <a:solidFill>
                  <a:srgbClr val="CADCFC"/>
                </a:solidFill>
                <a:latin typeface="Arial"/>
                <a:ea typeface="Arial"/>
                <a:cs typeface="Arial"/>
                <a:sym typeface="Arial"/>
              </a:rPr>
              <a:t>Conclusions</a:t>
            </a:r>
            <a:endParaRPr sz="2000">
              <a:solidFill>
                <a:schemeClr val="dk1"/>
              </a:solidFill>
              <a:latin typeface="Calibri"/>
              <a:ea typeface="Calibri"/>
              <a:cs typeface="Calibri"/>
              <a:sym typeface="Calibri"/>
            </a:endParaRPr>
          </a:p>
        </p:txBody>
      </p:sp>
      <p:sp>
        <p:nvSpPr>
          <p:cNvPr id="167" name="Google Shape;167;p10"/>
          <p:cNvSpPr txBox="1"/>
          <p:nvPr/>
        </p:nvSpPr>
        <p:spPr>
          <a:xfrm>
            <a:off x="457200" y="868680"/>
            <a:ext cx="8229600" cy="3108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2100"/>
              <a:buFont typeface="Arial"/>
              <a:buNone/>
            </a:pPr>
            <a:r>
              <a:rPr b="1" lang="en-US" sz="2100">
                <a:solidFill>
                  <a:srgbClr val="FFFFFF"/>
                </a:solidFill>
                <a:latin typeface="Arial"/>
                <a:ea typeface="Arial"/>
                <a:cs typeface="Arial"/>
                <a:sym typeface="Arial"/>
              </a:rPr>
              <a:t>1.  Success is external and binary: </a:t>
            </a:r>
            <a:r>
              <a:rPr lang="en-US" sz="2100">
                <a:solidFill>
                  <a:srgbClr val="FFFFFF"/>
                </a:solidFill>
                <a:latin typeface="Arial"/>
                <a:ea typeface="Arial"/>
                <a:cs typeface="Arial"/>
                <a:sym typeface="Arial"/>
              </a:rPr>
              <a:t>only the organizer's clean build with verified artifacts counts.</a:t>
            </a:r>
            <a:endParaRPr sz="2100">
              <a:solidFill>
                <a:schemeClr val="dk1"/>
              </a:solidFill>
              <a:latin typeface="Calibri"/>
              <a:ea typeface="Calibri"/>
              <a:cs typeface="Calibri"/>
              <a:sym typeface="Calibri"/>
            </a:endParaRPr>
          </a:p>
          <a:p>
            <a:pPr indent="0" lvl="0" marL="0" marR="0" rtl="0" algn="l">
              <a:spcBef>
                <a:spcPts val="1800"/>
              </a:spcBef>
              <a:spcAft>
                <a:spcPts val="0"/>
              </a:spcAft>
              <a:buClr>
                <a:srgbClr val="FFFFFF"/>
              </a:buClr>
              <a:buSzPts val="2100"/>
              <a:buFont typeface="Arial"/>
              <a:buNone/>
            </a:pPr>
            <a:r>
              <a:rPr b="1" lang="en-US" sz="2100">
                <a:solidFill>
                  <a:srgbClr val="FFFFFF"/>
                </a:solidFill>
                <a:latin typeface="Arial"/>
                <a:ea typeface="Arial"/>
                <a:cs typeface="Arial"/>
                <a:sym typeface="Arial"/>
              </a:rPr>
              <a:t>2.  Our agent is designed to test stated hypotheses: </a:t>
            </a:r>
            <a:r>
              <a:rPr lang="en-US" sz="2100">
                <a:solidFill>
                  <a:srgbClr val="FFFFFF"/>
                </a:solidFill>
                <a:latin typeface="Arial"/>
                <a:ea typeface="Arial"/>
                <a:cs typeface="Arial"/>
                <a:sym typeface="Arial"/>
              </a:rPr>
              <a:t>bounded evidence, repair history and provisional caps.</a:t>
            </a:r>
            <a:endParaRPr sz="2100">
              <a:solidFill>
                <a:schemeClr val="dk1"/>
              </a:solidFill>
              <a:latin typeface="Calibri"/>
              <a:ea typeface="Calibri"/>
              <a:cs typeface="Calibri"/>
              <a:sym typeface="Calibri"/>
            </a:endParaRPr>
          </a:p>
          <a:p>
            <a:pPr indent="0" lvl="0" marL="0" marR="0" rtl="0" algn="l">
              <a:spcBef>
                <a:spcPts val="1800"/>
              </a:spcBef>
              <a:spcAft>
                <a:spcPts val="0"/>
              </a:spcAft>
              <a:buClr>
                <a:srgbClr val="FFFFFF"/>
              </a:buClr>
              <a:buSzPts val="2100"/>
              <a:buFont typeface="Arial"/>
              <a:buNone/>
            </a:pPr>
            <a:r>
              <a:rPr b="1" lang="en-US" sz="2100">
                <a:solidFill>
                  <a:srgbClr val="FFFFFF"/>
                </a:solidFill>
                <a:latin typeface="Arial"/>
                <a:ea typeface="Arial"/>
                <a:cs typeface="Arial"/>
                <a:sym typeface="Arial"/>
              </a:rPr>
              <a:t>3.  The next checkpoint is measurable: </a:t>
            </a:r>
            <a:r>
              <a:rPr lang="en-US" sz="2100">
                <a:solidFill>
                  <a:srgbClr val="FFFFFF"/>
                </a:solidFill>
                <a:latin typeface="Arial"/>
                <a:ea typeface="Arial"/>
                <a:cs typeface="Arial"/>
                <a:sym typeface="Arial"/>
              </a:rPr>
              <a:t>a runnable prototype on 10 fixed cases by October 21, with a baseline or a documented blocker.</a:t>
            </a:r>
            <a:endParaRPr sz="2100">
              <a:solidFill>
                <a:schemeClr val="dk1"/>
              </a:solidFill>
              <a:latin typeface="Calibri"/>
              <a:ea typeface="Calibri"/>
              <a:cs typeface="Calibri"/>
              <a:sym typeface="Calibri"/>
            </a:endParaRPr>
          </a:p>
        </p:txBody>
      </p:sp>
      <p:sp>
        <p:nvSpPr>
          <p:cNvPr id="168" name="Google Shape;168;p10"/>
          <p:cNvSpPr txBox="1"/>
          <p:nvPr/>
        </p:nvSpPr>
        <p:spPr>
          <a:xfrm>
            <a:off x="457200" y="4160520"/>
            <a:ext cx="82296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ADCFC"/>
              </a:buClr>
              <a:buSzPts val="1600"/>
              <a:buFont typeface="Arial"/>
              <a:buNone/>
            </a:pPr>
            <a:r>
              <a:rPr lang="en-US" sz="1600">
                <a:solidFill>
                  <a:srgbClr val="CADCFC"/>
                </a:solidFill>
                <a:latin typeface="Arial"/>
                <a:ea typeface="Arial"/>
                <a:cs typeface="Arial"/>
                <a:sym typeface="Arial"/>
              </a:rPr>
              <a:t>Questions and feedback welcome  ·  github.com/ec528-fall26/build-bench</a:t>
            </a:r>
            <a:endParaRPr sz="1600">
              <a:solidFill>
                <a:schemeClr val="dk1"/>
              </a:solidFill>
              <a:latin typeface="Calibri"/>
              <a:ea typeface="Calibri"/>
              <a:cs typeface="Calibri"/>
              <a:sym typeface="Calibri"/>
            </a:endParaRPr>
          </a:p>
        </p:txBody>
      </p:sp>
      <p:sp>
        <p:nvSpPr>
          <p:cNvPr id="169" name="Google Shape;169;p10"/>
          <p:cNvSpPr txBox="1"/>
          <p:nvPr/>
        </p:nvSpPr>
        <p:spPr>
          <a:xfrm>
            <a:off x="8229600" y="4590288"/>
            <a:ext cx="457200" cy="384048"/>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Clr>
                <a:srgbClr val="CADCFC"/>
              </a:buClr>
              <a:buSzPts val="1200"/>
              <a:buFont typeface="Arial"/>
              <a:buNone/>
            </a:pPr>
            <a:r>
              <a:rPr lang="en-US" sz="1200">
                <a:solidFill>
                  <a:srgbClr val="CADCFC"/>
                </a:solidFill>
                <a:latin typeface="Arial"/>
                <a:ea typeface="Arial"/>
                <a:cs typeface="Arial"/>
                <a:sym typeface="Arial"/>
              </a:rPr>
              <a:t>10</a:t>
            </a:r>
            <a:endParaRPr sz="12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sp>
        <p:nvSpPr>
          <p:cNvPr id="175" name="Google Shape;175;p11"/>
          <p:cNvSpPr txBox="1"/>
          <p:nvPr/>
        </p:nvSpPr>
        <p:spPr>
          <a:xfrm>
            <a:off x="457200" y="256032"/>
            <a:ext cx="8229600" cy="8046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4E79"/>
              </a:buClr>
              <a:buSzPts val="2400"/>
              <a:buFont typeface="Arial"/>
              <a:buNone/>
            </a:pPr>
            <a:r>
              <a:rPr b="1" lang="en-US" sz="2400">
                <a:solidFill>
                  <a:srgbClr val="1F4E79"/>
                </a:solidFill>
                <a:latin typeface="Arial"/>
                <a:ea typeface="Arial"/>
                <a:cs typeface="Arial"/>
                <a:sym typeface="Arial"/>
              </a:rPr>
              <a:t>References</a:t>
            </a:r>
            <a:endParaRPr sz="2400">
              <a:solidFill>
                <a:schemeClr val="dk1"/>
              </a:solidFill>
              <a:latin typeface="Calibri"/>
              <a:ea typeface="Calibri"/>
              <a:cs typeface="Calibri"/>
              <a:sym typeface="Calibri"/>
            </a:endParaRPr>
          </a:p>
        </p:txBody>
      </p:sp>
      <p:sp>
        <p:nvSpPr>
          <p:cNvPr id="176" name="Google Shape;176;p11"/>
          <p:cNvSpPr txBox="1"/>
          <p:nvPr/>
        </p:nvSpPr>
        <p:spPr>
          <a:xfrm>
            <a:off x="457200" y="822960"/>
            <a:ext cx="8229600" cy="3657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D2D2D"/>
              </a:buClr>
              <a:buSzPts val="1300"/>
              <a:buFont typeface="Arial"/>
              <a:buNone/>
            </a:pPr>
            <a:r>
              <a:rPr lang="en-US" sz="1300">
                <a:solidFill>
                  <a:srgbClr val="2D2D2D"/>
                </a:solidFill>
                <a:latin typeface="Arial"/>
                <a:ea typeface="Arial"/>
                <a:cs typeface="Arial"/>
                <a:sym typeface="Arial"/>
              </a:rPr>
              <a:t>Build-Bench Challenge (2026). ICSE 2027 Competition Track: rules, scoring and timeline.</a:t>
            </a:r>
            <a:br>
              <a:rPr lang="en-US" sz="1800">
                <a:solidFill>
                  <a:schemeClr val="dk1"/>
                </a:solidFill>
                <a:latin typeface="Calibri"/>
                <a:ea typeface="Calibri"/>
                <a:cs typeface="Calibri"/>
                <a:sym typeface="Calibri"/>
              </a:rPr>
            </a:br>
            <a:r>
              <a:rPr lang="en-US" sz="1300">
                <a:solidFill>
                  <a:srgbClr val="2E75B6"/>
                </a:solidFill>
                <a:latin typeface="Arial"/>
                <a:ea typeface="Arial"/>
                <a:cs typeface="Arial"/>
                <a:sym typeface="Arial"/>
              </a:rPr>
              <a:t>https://matrix.cstcloud.cn/build-bench/ (accessed 2026-09-21)</a:t>
            </a:r>
            <a:endParaRPr sz="1300">
              <a:solidFill>
                <a:schemeClr val="dk1"/>
              </a:solidFill>
              <a:latin typeface="Calibri"/>
              <a:ea typeface="Calibri"/>
              <a:cs typeface="Calibri"/>
              <a:sym typeface="Calibri"/>
            </a:endParaRPr>
          </a:p>
          <a:p>
            <a:pPr indent="0" lvl="0" marL="0" marR="0" rtl="0" algn="l">
              <a:spcBef>
                <a:spcPts val="800"/>
              </a:spcBef>
              <a:spcAft>
                <a:spcPts val="0"/>
              </a:spcAft>
              <a:buClr>
                <a:srgbClr val="2D2D2D"/>
              </a:buClr>
              <a:buSzPts val="1300"/>
              <a:buFont typeface="Arial"/>
              <a:buNone/>
            </a:pPr>
            <a:r>
              <a:rPr lang="en-US" sz="1300">
                <a:solidFill>
                  <a:srgbClr val="2D2D2D"/>
                </a:solidFill>
                <a:latin typeface="Arial"/>
                <a:ea typeface="Arial"/>
                <a:cs typeface="Arial"/>
                <a:sym typeface="Arial"/>
              </a:rPr>
              <a:t>Build-Bench Starter Kit v0.1.0-rc.2 (2026). README, AGENTS.md and runner; archived in the team repository.</a:t>
            </a:r>
            <a:br>
              <a:rPr lang="en-US" sz="1800">
                <a:solidFill>
                  <a:schemeClr val="dk1"/>
                </a:solidFill>
                <a:latin typeface="Calibri"/>
                <a:ea typeface="Calibri"/>
                <a:cs typeface="Calibri"/>
                <a:sym typeface="Calibri"/>
              </a:rPr>
            </a:br>
            <a:r>
              <a:rPr lang="en-US" sz="1300">
                <a:solidFill>
                  <a:srgbClr val="2E75B6"/>
                </a:solidFill>
                <a:latin typeface="Arial"/>
                <a:ea typeface="Arial"/>
                <a:cs typeface="Arial"/>
                <a:sym typeface="Arial"/>
              </a:rPr>
              <a:t>buildbench-starter-kit-0.1.0-rc.2/</a:t>
            </a:r>
            <a:endParaRPr sz="1300">
              <a:solidFill>
                <a:schemeClr val="dk1"/>
              </a:solidFill>
              <a:latin typeface="Calibri"/>
              <a:ea typeface="Calibri"/>
              <a:cs typeface="Calibri"/>
              <a:sym typeface="Calibri"/>
            </a:endParaRPr>
          </a:p>
          <a:p>
            <a:pPr indent="0" lvl="0" marL="0" marR="0" rtl="0" algn="l">
              <a:spcBef>
                <a:spcPts val="800"/>
              </a:spcBef>
              <a:spcAft>
                <a:spcPts val="0"/>
              </a:spcAft>
              <a:buClr>
                <a:srgbClr val="2D2D2D"/>
              </a:buClr>
              <a:buSzPts val="1300"/>
              <a:buFont typeface="Arial"/>
              <a:buNone/>
            </a:pPr>
            <a:r>
              <a:rPr lang="en-US" sz="1300">
                <a:solidFill>
                  <a:srgbClr val="2D2D2D"/>
                </a:solidFill>
                <a:latin typeface="Arial"/>
                <a:ea typeface="Arial"/>
                <a:cs typeface="Arial"/>
                <a:sym typeface="Arial"/>
              </a:rPr>
              <a:t>Build-Bench Development Cases v0.1 (2026). 200 public cases with target-failure logs; example case:</a:t>
            </a:r>
            <a:br>
              <a:rPr lang="en-US" sz="1800">
                <a:solidFill>
                  <a:schemeClr val="dk1"/>
                </a:solidFill>
                <a:latin typeface="Calibri"/>
                <a:ea typeface="Calibri"/>
                <a:cs typeface="Calibri"/>
                <a:sym typeface="Calibri"/>
              </a:rPr>
            </a:br>
            <a:r>
              <a:rPr lang="en-US" sz="1300">
                <a:solidFill>
                  <a:srgbClr val="2E75B6"/>
                </a:solidFill>
                <a:latin typeface="Arial"/>
                <a:ea typeface="Arial"/>
                <a:cs typeface="Arial"/>
                <a:sym typeface="Arial"/>
              </a:rPr>
              <a:t>launchpad-jammy-amd64-arm64-liboqs-df7b6ca57151</a:t>
            </a:r>
            <a:endParaRPr sz="1300">
              <a:solidFill>
                <a:schemeClr val="dk1"/>
              </a:solidFill>
              <a:latin typeface="Calibri"/>
              <a:ea typeface="Calibri"/>
              <a:cs typeface="Calibri"/>
              <a:sym typeface="Calibri"/>
            </a:endParaRPr>
          </a:p>
          <a:p>
            <a:pPr indent="0" lvl="0" marL="0" marR="0" rtl="0" algn="l">
              <a:spcBef>
                <a:spcPts val="800"/>
              </a:spcBef>
              <a:spcAft>
                <a:spcPts val="0"/>
              </a:spcAft>
              <a:buClr>
                <a:srgbClr val="2D2D2D"/>
              </a:buClr>
              <a:buSzPts val="1300"/>
              <a:buFont typeface="Arial"/>
              <a:buNone/>
            </a:pPr>
            <a:r>
              <a:rPr lang="en-US" sz="1300">
                <a:solidFill>
                  <a:srgbClr val="2D2D2D"/>
                </a:solidFill>
                <a:latin typeface="Arial"/>
                <a:ea typeface="Arial"/>
                <a:cs typeface="Arial"/>
                <a:sym typeface="Arial"/>
              </a:rPr>
              <a:t>EC528 Build-Bench team (2026). Design proposal and Demo 1 evidence (docs/), commit 5f5a9f9.</a:t>
            </a:r>
            <a:br>
              <a:rPr lang="en-US" sz="1800">
                <a:solidFill>
                  <a:schemeClr val="dk1"/>
                </a:solidFill>
                <a:latin typeface="Calibri"/>
                <a:ea typeface="Calibri"/>
                <a:cs typeface="Calibri"/>
                <a:sym typeface="Calibri"/>
              </a:rPr>
            </a:br>
            <a:r>
              <a:rPr lang="en-US" sz="1300">
                <a:solidFill>
                  <a:srgbClr val="2E75B6"/>
                </a:solidFill>
                <a:latin typeface="Arial"/>
                <a:ea typeface="Arial"/>
                <a:cs typeface="Arial"/>
                <a:sym typeface="Arial"/>
              </a:rPr>
              <a:t>https://github.com/ec528-fall26/build-bench</a:t>
            </a:r>
            <a:endParaRPr sz="1300">
              <a:solidFill>
                <a:schemeClr val="dk1"/>
              </a:solidFill>
              <a:latin typeface="Calibri"/>
              <a:ea typeface="Calibri"/>
              <a:cs typeface="Calibri"/>
              <a:sym typeface="Calibri"/>
            </a:endParaRPr>
          </a:p>
          <a:p>
            <a:pPr indent="0" lvl="0" marL="0" marR="0" rtl="0" algn="l">
              <a:spcBef>
                <a:spcPts val="800"/>
              </a:spcBef>
              <a:spcAft>
                <a:spcPts val="0"/>
              </a:spcAft>
              <a:buClr>
                <a:srgbClr val="2D2D2D"/>
              </a:buClr>
              <a:buSzPts val="1300"/>
              <a:buFont typeface="Arial"/>
              <a:buNone/>
            </a:pPr>
            <a:r>
              <a:rPr lang="en-US" sz="1300">
                <a:solidFill>
                  <a:srgbClr val="2D2D2D"/>
                </a:solidFill>
                <a:latin typeface="Arial"/>
                <a:ea typeface="Arial"/>
                <a:cs typeface="Arial"/>
                <a:sym typeface="Arial"/>
              </a:rPr>
              <a:t>AIOps Lab, Nankai University (2026). BuildBench-Agent-Baseline (checked Sep 21, 2026).</a:t>
            </a:r>
            <a:br>
              <a:rPr lang="en-US" sz="1800">
                <a:solidFill>
                  <a:schemeClr val="dk1"/>
                </a:solidFill>
                <a:latin typeface="Calibri"/>
                <a:ea typeface="Calibri"/>
                <a:cs typeface="Calibri"/>
                <a:sym typeface="Calibri"/>
              </a:rPr>
            </a:br>
            <a:r>
              <a:rPr lang="en-US" sz="1300">
                <a:solidFill>
                  <a:srgbClr val="2E75B6"/>
                </a:solidFill>
                <a:latin typeface="Arial"/>
                <a:ea typeface="Arial"/>
                <a:cs typeface="Arial"/>
                <a:sym typeface="Arial"/>
              </a:rPr>
              <a:t>https://github.com/AIOps-Lab-NKU/BuildBench-Agent-Baseline</a:t>
            </a:r>
            <a:endParaRPr sz="1300">
              <a:solidFill>
                <a:schemeClr val="dk1"/>
              </a:solidFill>
              <a:latin typeface="Calibri"/>
              <a:ea typeface="Calibri"/>
              <a:cs typeface="Calibri"/>
              <a:sym typeface="Calibri"/>
            </a:endParaRPr>
          </a:p>
          <a:p>
            <a:pPr indent="0" lvl="0" marL="0" marR="0" rtl="0" algn="l">
              <a:spcBef>
                <a:spcPts val="800"/>
              </a:spcBef>
              <a:spcAft>
                <a:spcPts val="0"/>
              </a:spcAft>
              <a:buClr>
                <a:srgbClr val="2D2D2D"/>
              </a:buClr>
              <a:buSzPts val="1300"/>
              <a:buFont typeface="Arial"/>
              <a:buNone/>
            </a:pPr>
            <a:r>
              <a:rPr lang="en-US" sz="1300">
                <a:solidFill>
                  <a:srgbClr val="2D2D2D"/>
                </a:solidFill>
                <a:latin typeface="Arial"/>
                <a:ea typeface="Arial"/>
                <a:cs typeface="Arial"/>
                <a:sym typeface="Arial"/>
              </a:rPr>
              <a:t>EC528 Fall 2026 (2026). Submission schedule and grading.</a:t>
            </a:r>
            <a:br>
              <a:rPr lang="en-US" sz="1800">
                <a:solidFill>
                  <a:schemeClr val="dk1"/>
                </a:solidFill>
                <a:latin typeface="Calibri"/>
                <a:ea typeface="Calibri"/>
                <a:cs typeface="Calibri"/>
                <a:sym typeface="Calibri"/>
              </a:rPr>
            </a:br>
            <a:r>
              <a:rPr lang="en-US" sz="1300">
                <a:solidFill>
                  <a:srgbClr val="2E75B6"/>
                </a:solidFill>
                <a:latin typeface="Arial"/>
                <a:ea typeface="Arial"/>
                <a:cs typeface="Arial"/>
                <a:sym typeface="Arial"/>
              </a:rPr>
              <a:t>https://ec528.github.io/ec528/fall26/</a:t>
            </a:r>
            <a:endParaRPr sz="1300">
              <a:solidFill>
                <a:schemeClr val="dk1"/>
              </a:solidFill>
              <a:latin typeface="Calibri"/>
              <a:ea typeface="Calibri"/>
              <a:cs typeface="Calibri"/>
              <a:sym typeface="Calibri"/>
            </a:endParaRPr>
          </a:p>
        </p:txBody>
      </p:sp>
      <p:sp>
        <p:nvSpPr>
          <p:cNvPr id="177" name="Google Shape;177;p11"/>
          <p:cNvSpPr txBox="1"/>
          <p:nvPr/>
        </p:nvSpPr>
        <p:spPr>
          <a:xfrm>
            <a:off x="8229600" y="4590288"/>
            <a:ext cx="457200" cy="384048"/>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Clr>
                <a:srgbClr val="666666"/>
              </a:buClr>
              <a:buSzPts val="1200"/>
              <a:buFont typeface="Arial"/>
              <a:buNone/>
            </a:pPr>
            <a:r>
              <a:rPr lang="en-US" sz="1200">
                <a:solidFill>
                  <a:srgbClr val="666666"/>
                </a:solidFill>
                <a:latin typeface="Arial"/>
                <a:ea typeface="Arial"/>
                <a:cs typeface="Arial"/>
                <a:sym typeface="Arial"/>
              </a:rPr>
              <a:t>11</a:t>
            </a:r>
            <a:endParaRPr sz="12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 name="Shape 182"/>
        <p:cNvGrpSpPr/>
        <p:nvPr/>
      </p:nvGrpSpPr>
      <p:grpSpPr>
        <a:xfrm>
          <a:off x="0" y="0"/>
          <a:ext cx="0" cy="0"/>
          <a:chOff x="0" y="0"/>
          <a:chExt cx="0" cy="0"/>
        </a:xfrm>
      </p:grpSpPr>
      <p:sp>
        <p:nvSpPr>
          <p:cNvPr id="183" name="Google Shape;183;p12"/>
          <p:cNvSpPr txBox="1"/>
          <p:nvPr/>
        </p:nvSpPr>
        <p:spPr>
          <a:xfrm>
            <a:off x="457200" y="292608"/>
            <a:ext cx="822960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66666"/>
              </a:buClr>
              <a:buSzPts val="1400"/>
              <a:buFont typeface="Arial"/>
              <a:buNone/>
            </a:pPr>
            <a:r>
              <a:rPr i="1" lang="en-US" sz="1400">
                <a:solidFill>
                  <a:srgbClr val="666666"/>
                </a:solidFill>
                <a:latin typeface="Arial"/>
                <a:ea typeface="Arial"/>
                <a:cs typeface="Arial"/>
                <a:sym typeface="Arial"/>
              </a:rPr>
              <a:t>Appendix A</a:t>
            </a:r>
            <a:endParaRPr sz="1400">
              <a:solidFill>
                <a:schemeClr val="dk1"/>
              </a:solidFill>
              <a:latin typeface="Calibri"/>
              <a:ea typeface="Calibri"/>
              <a:cs typeface="Calibri"/>
              <a:sym typeface="Calibri"/>
            </a:endParaRPr>
          </a:p>
        </p:txBody>
      </p:sp>
      <p:sp>
        <p:nvSpPr>
          <p:cNvPr id="184" name="Google Shape;184;p12"/>
          <p:cNvSpPr txBox="1"/>
          <p:nvPr/>
        </p:nvSpPr>
        <p:spPr>
          <a:xfrm>
            <a:off x="457200" y="621792"/>
            <a:ext cx="8229600"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4E79"/>
              </a:buClr>
              <a:buSzPts val="2400"/>
              <a:buFont typeface="Arial"/>
              <a:buNone/>
            </a:pPr>
            <a:r>
              <a:rPr b="1" lang="en-US" sz="2400">
                <a:solidFill>
                  <a:srgbClr val="1F4E79"/>
                </a:solidFill>
                <a:latin typeface="Arial"/>
                <a:ea typeface="Arial"/>
                <a:cs typeface="Arial"/>
                <a:sym typeface="Arial"/>
              </a:rPr>
              <a:t>A proposed harness would supply model access and builds; hosted interfaces are unconfirmed</a:t>
            </a:r>
            <a:endParaRPr sz="2400">
              <a:solidFill>
                <a:schemeClr val="dk1"/>
              </a:solidFill>
              <a:latin typeface="Calibri"/>
              <a:ea typeface="Calibri"/>
              <a:cs typeface="Calibri"/>
              <a:sym typeface="Calibri"/>
            </a:endParaRPr>
          </a:p>
        </p:txBody>
      </p:sp>
      <p:sp>
        <p:nvSpPr>
          <p:cNvPr id="185" name="Google Shape;185;p12"/>
          <p:cNvSpPr txBox="1"/>
          <p:nvPr/>
        </p:nvSpPr>
        <p:spPr>
          <a:xfrm>
            <a:off x="457200" y="1627632"/>
            <a:ext cx="8229600" cy="283464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rgbClr val="2D2D2D"/>
              </a:buClr>
              <a:buSzPts val="2000"/>
              <a:buFont typeface="Arial"/>
              <a:buChar char="•"/>
            </a:pPr>
            <a:r>
              <a:rPr b="1" lang="en-US" sz="2000">
                <a:solidFill>
                  <a:srgbClr val="2D2D2D"/>
                </a:solidFill>
                <a:latin typeface="Arial"/>
                <a:ea typeface="Arial"/>
                <a:cs typeface="Arial"/>
                <a:sym typeface="Arial"/>
              </a:rPr>
              <a:t>Two adapters: </a:t>
            </a:r>
            <a:r>
              <a:rPr lang="en-US" sz="2000">
                <a:solidFill>
                  <a:srgbClr val="2D2D2D"/>
                </a:solidFill>
                <a:latin typeface="Arial"/>
                <a:ea typeface="Arial"/>
                <a:cs typeface="Arial"/>
                <a:sym typeface="Arial"/>
              </a:rPr>
              <a:t>ModelClient for model calls, BuildFeedback for optional builds</a:t>
            </a:r>
            <a:endParaRPr sz="2000">
              <a:solidFill>
                <a:schemeClr val="dk1"/>
              </a:solidFill>
              <a:latin typeface="Calibri"/>
              <a:ea typeface="Calibri"/>
              <a:cs typeface="Calibri"/>
              <a:sym typeface="Calibri"/>
            </a:endParaRPr>
          </a:p>
          <a:p>
            <a:pPr indent="-342900" lvl="0" marL="342900" marR="0" rtl="0" algn="l">
              <a:spcBef>
                <a:spcPts val="1400"/>
              </a:spcBef>
              <a:spcAft>
                <a:spcPts val="0"/>
              </a:spcAft>
              <a:buClr>
                <a:srgbClr val="2D2D2D"/>
              </a:buClr>
              <a:buSzPts val="2000"/>
              <a:buFont typeface="Arial"/>
              <a:buChar char="•"/>
            </a:pPr>
            <a:r>
              <a:rPr b="1" lang="en-US" sz="2000">
                <a:solidFill>
                  <a:srgbClr val="2D2D2D"/>
                </a:solidFill>
                <a:latin typeface="Arial"/>
                <a:ea typeface="Arial"/>
                <a:cs typeface="Arial"/>
                <a:sym typeface="Arial"/>
              </a:rPr>
              <a:t>Local harness (proposed): </a:t>
            </a:r>
            <a:r>
              <a:rPr lang="en-US" sz="2000">
                <a:solidFill>
                  <a:srgbClr val="2D2D2D"/>
                </a:solidFill>
                <a:latin typeface="Arial"/>
                <a:ea typeface="Arial"/>
                <a:cs typeface="Arial"/>
                <a:sym typeface="Arial"/>
              </a:rPr>
              <a:t>holds credentials, runs the validator outside the sandbox</a:t>
            </a:r>
            <a:endParaRPr sz="2000">
              <a:solidFill>
                <a:schemeClr val="dk1"/>
              </a:solidFill>
              <a:latin typeface="Calibri"/>
              <a:ea typeface="Calibri"/>
              <a:cs typeface="Calibri"/>
              <a:sym typeface="Calibri"/>
            </a:endParaRPr>
          </a:p>
          <a:p>
            <a:pPr indent="-342900" lvl="0" marL="342900" marR="0" rtl="0" algn="l">
              <a:spcBef>
                <a:spcPts val="1400"/>
              </a:spcBef>
              <a:spcAft>
                <a:spcPts val="0"/>
              </a:spcAft>
              <a:buClr>
                <a:srgbClr val="2D2D2D"/>
              </a:buClr>
              <a:buSzPts val="2000"/>
              <a:buFont typeface="Arial"/>
              <a:buChar char="•"/>
            </a:pPr>
            <a:r>
              <a:rPr b="1" lang="en-US" sz="2000">
                <a:solidFill>
                  <a:srgbClr val="2D2D2D"/>
                </a:solidFill>
                <a:latin typeface="Arial"/>
                <a:ea typeface="Arial"/>
                <a:cs typeface="Arial"/>
                <a:sym typeface="Arial"/>
              </a:rPr>
              <a:t>If no iterative feedback: </a:t>
            </a:r>
            <a:r>
              <a:rPr lang="en-US" sz="2000">
                <a:solidFill>
                  <a:srgbClr val="2D2D2D"/>
                </a:solidFill>
                <a:latin typeface="Arial"/>
                <a:ea typeface="Arial"/>
                <a:cs typeface="Arial"/>
                <a:sym typeface="Arial"/>
              </a:rPr>
              <a:t>submit one bounded candidate for final validation</a:t>
            </a:r>
            <a:endParaRPr sz="2000">
              <a:solidFill>
                <a:schemeClr val="dk1"/>
              </a:solidFill>
              <a:latin typeface="Calibri"/>
              <a:ea typeface="Calibri"/>
              <a:cs typeface="Calibri"/>
              <a:sym typeface="Calibri"/>
            </a:endParaRPr>
          </a:p>
        </p:txBody>
      </p:sp>
      <p:sp>
        <p:nvSpPr>
          <p:cNvPr id="186" name="Google Shape;186;p12"/>
          <p:cNvSpPr txBox="1"/>
          <p:nvPr/>
        </p:nvSpPr>
        <p:spPr>
          <a:xfrm>
            <a:off x="457200" y="4590288"/>
            <a:ext cx="7589520" cy="384048"/>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666666"/>
              </a:buClr>
              <a:buSzPts val="1200"/>
              <a:buFont typeface="Arial"/>
              <a:buNone/>
            </a:pPr>
            <a:r>
              <a:rPr lang="en-US" sz="1200">
                <a:solidFill>
                  <a:srgbClr val="666666"/>
                </a:solidFill>
                <a:latin typeface="Arial"/>
                <a:ea typeface="Arial"/>
                <a:cs typeface="Arial"/>
                <a:sym typeface="Arial"/>
              </a:rPr>
              <a:t>Design: EC528 Build-Bench team, design proposal (2026), section 2; Starter Kit runner disables agent networking.</a:t>
            </a:r>
            <a:endParaRPr sz="1200">
              <a:solidFill>
                <a:schemeClr val="dk1"/>
              </a:solidFill>
              <a:latin typeface="Calibri"/>
              <a:ea typeface="Calibri"/>
              <a:cs typeface="Calibri"/>
              <a:sym typeface="Calibri"/>
            </a:endParaRPr>
          </a:p>
        </p:txBody>
      </p:sp>
      <p:sp>
        <p:nvSpPr>
          <p:cNvPr id="187" name="Google Shape;187;p12"/>
          <p:cNvSpPr txBox="1"/>
          <p:nvPr/>
        </p:nvSpPr>
        <p:spPr>
          <a:xfrm>
            <a:off x="8229600" y="4590288"/>
            <a:ext cx="457200" cy="384048"/>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Clr>
                <a:srgbClr val="666666"/>
              </a:buClr>
              <a:buSzPts val="1200"/>
              <a:buFont typeface="Arial"/>
              <a:buNone/>
            </a:pPr>
            <a:r>
              <a:rPr lang="en-US" sz="1200">
                <a:solidFill>
                  <a:srgbClr val="666666"/>
                </a:solidFill>
                <a:latin typeface="Arial"/>
                <a:ea typeface="Arial"/>
                <a:cs typeface="Arial"/>
                <a:sym typeface="Arial"/>
              </a:rPr>
              <a:t>12</a:t>
            </a:r>
            <a:endParaRPr sz="12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 name="Shape 192"/>
        <p:cNvGrpSpPr/>
        <p:nvPr/>
      </p:nvGrpSpPr>
      <p:grpSpPr>
        <a:xfrm>
          <a:off x="0" y="0"/>
          <a:ext cx="0" cy="0"/>
          <a:chOff x="0" y="0"/>
          <a:chExt cx="0" cy="0"/>
        </a:xfrm>
      </p:grpSpPr>
      <p:sp>
        <p:nvSpPr>
          <p:cNvPr id="193" name="Google Shape;193;p13"/>
          <p:cNvSpPr txBox="1"/>
          <p:nvPr/>
        </p:nvSpPr>
        <p:spPr>
          <a:xfrm>
            <a:off x="457200" y="292608"/>
            <a:ext cx="822960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66666"/>
              </a:buClr>
              <a:buSzPts val="1400"/>
              <a:buFont typeface="Arial"/>
              <a:buNone/>
            </a:pPr>
            <a:r>
              <a:rPr i="1" lang="en-US" sz="1400">
                <a:solidFill>
                  <a:srgbClr val="666666"/>
                </a:solidFill>
                <a:latin typeface="Arial"/>
                <a:ea typeface="Arial"/>
                <a:cs typeface="Arial"/>
                <a:sym typeface="Arial"/>
              </a:rPr>
              <a:t>Appendix B</a:t>
            </a:r>
            <a:endParaRPr sz="1400">
              <a:solidFill>
                <a:schemeClr val="dk1"/>
              </a:solidFill>
              <a:latin typeface="Calibri"/>
              <a:ea typeface="Calibri"/>
              <a:cs typeface="Calibri"/>
              <a:sym typeface="Calibri"/>
            </a:endParaRPr>
          </a:p>
        </p:txBody>
      </p:sp>
      <p:sp>
        <p:nvSpPr>
          <p:cNvPr id="194" name="Google Shape;194;p13"/>
          <p:cNvSpPr txBox="1"/>
          <p:nvPr/>
        </p:nvSpPr>
        <p:spPr>
          <a:xfrm>
            <a:off x="457200" y="621792"/>
            <a:ext cx="8229600"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4E79"/>
              </a:buClr>
              <a:buSzPts val="2400"/>
              <a:buFont typeface="Arial"/>
              <a:buNone/>
            </a:pPr>
            <a:r>
              <a:rPr b="1" lang="en-US" sz="2400">
                <a:solidFill>
                  <a:srgbClr val="1F4E79"/>
                </a:solidFill>
                <a:latin typeface="Arial"/>
                <a:ea typeface="Arial"/>
                <a:cs typeface="Arial"/>
                <a:sym typeface="Arial"/>
              </a:rPr>
              <a:t>Public cases must be rebuilt into runnable cases before any repair can be measured</a:t>
            </a:r>
            <a:endParaRPr sz="2400">
              <a:solidFill>
                <a:schemeClr val="dk1"/>
              </a:solidFill>
              <a:latin typeface="Calibri"/>
              <a:ea typeface="Calibri"/>
              <a:cs typeface="Calibri"/>
              <a:sym typeface="Calibri"/>
            </a:endParaRPr>
          </a:p>
        </p:txBody>
      </p:sp>
      <p:sp>
        <p:nvSpPr>
          <p:cNvPr id="195" name="Google Shape;195;p13"/>
          <p:cNvSpPr txBox="1"/>
          <p:nvPr/>
        </p:nvSpPr>
        <p:spPr>
          <a:xfrm>
            <a:off x="457200" y="1627632"/>
            <a:ext cx="8229600" cy="283464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rgbClr val="2D2D2D"/>
              </a:buClr>
              <a:buSzPts val="2000"/>
              <a:buFont typeface="Arial"/>
              <a:buChar char="•"/>
            </a:pPr>
            <a:r>
              <a:rPr lang="en-US" sz="2000">
                <a:solidFill>
                  <a:srgbClr val="2D2D2D"/>
                </a:solidFill>
                <a:latin typeface="Arial"/>
                <a:ea typeface="Arial"/>
                <a:cs typeface="Arial"/>
                <a:sym typeface="Arial"/>
              </a:rPr>
              <a:t>Cases ship compressed source and historical logs only</a:t>
            </a:r>
            <a:endParaRPr sz="2000">
              <a:solidFill>
                <a:schemeClr val="dk1"/>
              </a:solidFill>
              <a:latin typeface="Calibri"/>
              <a:ea typeface="Calibri"/>
              <a:cs typeface="Calibri"/>
              <a:sym typeface="Calibri"/>
            </a:endParaRPr>
          </a:p>
          <a:p>
            <a:pPr indent="-342900" lvl="0" marL="342900" marR="0" rtl="0" algn="l">
              <a:spcBef>
                <a:spcPts val="1400"/>
              </a:spcBef>
              <a:spcAft>
                <a:spcPts val="0"/>
              </a:spcAft>
              <a:buClr>
                <a:srgbClr val="2D2D2D"/>
              </a:buClr>
              <a:buSzPts val="2000"/>
              <a:buFont typeface="Arial"/>
              <a:buChar char="•"/>
            </a:pPr>
            <a:r>
              <a:rPr lang="en-US" sz="2000">
                <a:solidFill>
                  <a:srgbClr val="2D2D2D"/>
                </a:solidFill>
                <a:latin typeface="Arial"/>
                <a:ea typeface="Arial"/>
                <a:cs typeface="Arial"/>
                <a:sym typeface="Arial"/>
              </a:rPr>
              <a:t>Harness must add unpacked source, build config and a dependency snapshot</a:t>
            </a:r>
            <a:endParaRPr sz="2000">
              <a:solidFill>
                <a:schemeClr val="dk1"/>
              </a:solidFill>
              <a:latin typeface="Calibri"/>
              <a:ea typeface="Calibri"/>
              <a:cs typeface="Calibri"/>
              <a:sym typeface="Calibri"/>
            </a:endParaRPr>
          </a:p>
          <a:p>
            <a:pPr indent="-342900" lvl="0" marL="342900" marR="0" rtl="0" algn="l">
              <a:spcBef>
                <a:spcPts val="1400"/>
              </a:spcBef>
              <a:spcAft>
                <a:spcPts val="0"/>
              </a:spcAft>
              <a:buClr>
                <a:srgbClr val="2D2D2D"/>
              </a:buClr>
              <a:buSzPts val="2000"/>
              <a:buFont typeface="Arial"/>
              <a:buChar char="•"/>
            </a:pPr>
            <a:r>
              <a:rPr b="1" lang="en-US" sz="2000">
                <a:solidFill>
                  <a:srgbClr val="2D2D2D"/>
                </a:solidFill>
                <a:latin typeface="Arial"/>
                <a:ea typeface="Arial"/>
                <a:cs typeface="Arial"/>
                <a:sym typeface="Arial"/>
              </a:rPr>
              <a:t>Gate: </a:t>
            </a:r>
            <a:r>
              <a:rPr lang="en-US" sz="2000">
                <a:solidFill>
                  <a:srgbClr val="2D2D2D"/>
                </a:solidFill>
                <a:latin typeface="Arial"/>
                <a:ea typeface="Arial"/>
                <a:cs typeface="Arial"/>
                <a:sym typeface="Arial"/>
              </a:rPr>
              <a:t>reproduce the original failure before attempting repair</a:t>
            </a:r>
            <a:endParaRPr sz="2000">
              <a:solidFill>
                <a:schemeClr val="dk1"/>
              </a:solidFill>
              <a:latin typeface="Calibri"/>
              <a:ea typeface="Calibri"/>
              <a:cs typeface="Calibri"/>
              <a:sym typeface="Calibri"/>
            </a:endParaRPr>
          </a:p>
          <a:p>
            <a:pPr indent="-342900" lvl="0" marL="342900" marR="0" rtl="0" algn="l">
              <a:spcBef>
                <a:spcPts val="1400"/>
              </a:spcBef>
              <a:spcAft>
                <a:spcPts val="0"/>
              </a:spcAft>
              <a:buClr>
                <a:srgbClr val="2D2D2D"/>
              </a:buClr>
              <a:buSzPts val="2000"/>
              <a:buFont typeface="Arial"/>
              <a:buChar char="•"/>
            </a:pPr>
            <a:r>
              <a:rPr b="1" lang="en-US" sz="2000">
                <a:solidFill>
                  <a:srgbClr val="2D2D2D"/>
                </a:solidFill>
                <a:latin typeface="Arial"/>
                <a:ea typeface="Arial"/>
                <a:cs typeface="Arial"/>
                <a:sym typeface="Arial"/>
              </a:rPr>
              <a:t>Compute: </a:t>
            </a:r>
            <a:r>
              <a:rPr lang="en-US" sz="2000">
                <a:solidFill>
                  <a:srgbClr val="2D2D2D"/>
                </a:solidFill>
                <a:latin typeface="Arial"/>
                <a:ea typeface="Arial"/>
                <a:cs typeface="Arial"/>
                <a:sym typeface="Arial"/>
              </a:rPr>
              <a:t>AWS x86_64 and ARM64, pinned; not yet provisioned</a:t>
            </a:r>
            <a:endParaRPr sz="2000">
              <a:solidFill>
                <a:schemeClr val="dk1"/>
              </a:solidFill>
              <a:latin typeface="Calibri"/>
              <a:ea typeface="Calibri"/>
              <a:cs typeface="Calibri"/>
              <a:sym typeface="Calibri"/>
            </a:endParaRPr>
          </a:p>
        </p:txBody>
      </p:sp>
      <p:sp>
        <p:nvSpPr>
          <p:cNvPr id="196" name="Google Shape;196;p13"/>
          <p:cNvSpPr txBox="1"/>
          <p:nvPr/>
        </p:nvSpPr>
        <p:spPr>
          <a:xfrm>
            <a:off x="457200" y="4590288"/>
            <a:ext cx="7589520" cy="384048"/>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666666"/>
              </a:buClr>
              <a:buSzPts val="1200"/>
              <a:buFont typeface="Arial"/>
              <a:buNone/>
            </a:pPr>
            <a:r>
              <a:rPr lang="en-US" sz="1200">
                <a:solidFill>
                  <a:srgbClr val="666666"/>
                </a:solidFill>
                <a:latin typeface="Arial"/>
                <a:ea typeface="Arial"/>
                <a:cs typeface="Arial"/>
                <a:sym typeface="Arial"/>
              </a:rPr>
              <a:t>Build-Bench development cases v0.1; EC528 Build-Bench team, design proposal (2026), sections 2 and 6.</a:t>
            </a:r>
            <a:endParaRPr sz="1200">
              <a:solidFill>
                <a:schemeClr val="dk1"/>
              </a:solidFill>
              <a:latin typeface="Calibri"/>
              <a:ea typeface="Calibri"/>
              <a:cs typeface="Calibri"/>
              <a:sym typeface="Calibri"/>
            </a:endParaRPr>
          </a:p>
        </p:txBody>
      </p:sp>
      <p:sp>
        <p:nvSpPr>
          <p:cNvPr id="197" name="Google Shape;197;p13"/>
          <p:cNvSpPr txBox="1"/>
          <p:nvPr/>
        </p:nvSpPr>
        <p:spPr>
          <a:xfrm>
            <a:off x="8229600" y="4590288"/>
            <a:ext cx="457200" cy="384048"/>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Clr>
                <a:srgbClr val="666666"/>
              </a:buClr>
              <a:buSzPts val="1200"/>
              <a:buFont typeface="Arial"/>
              <a:buNone/>
            </a:pPr>
            <a:r>
              <a:rPr lang="en-US" sz="1200">
                <a:solidFill>
                  <a:srgbClr val="666666"/>
                </a:solidFill>
                <a:latin typeface="Arial"/>
                <a:ea typeface="Arial"/>
                <a:cs typeface="Arial"/>
                <a:sym typeface="Arial"/>
              </a:rPr>
              <a:t>13</a:t>
            </a:r>
            <a:endParaRPr sz="12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 name="Shape 202"/>
        <p:cNvGrpSpPr/>
        <p:nvPr/>
      </p:nvGrpSpPr>
      <p:grpSpPr>
        <a:xfrm>
          <a:off x="0" y="0"/>
          <a:ext cx="0" cy="0"/>
          <a:chOff x="0" y="0"/>
          <a:chExt cx="0" cy="0"/>
        </a:xfrm>
      </p:grpSpPr>
      <p:sp>
        <p:nvSpPr>
          <p:cNvPr id="203" name="Google Shape;203;p14"/>
          <p:cNvSpPr txBox="1"/>
          <p:nvPr/>
        </p:nvSpPr>
        <p:spPr>
          <a:xfrm>
            <a:off x="457200" y="292608"/>
            <a:ext cx="822960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66666"/>
              </a:buClr>
              <a:buSzPts val="1400"/>
              <a:buFont typeface="Arial"/>
              <a:buNone/>
            </a:pPr>
            <a:r>
              <a:rPr i="1" lang="en-US" sz="1400">
                <a:solidFill>
                  <a:srgbClr val="666666"/>
                </a:solidFill>
                <a:latin typeface="Arial"/>
                <a:ea typeface="Arial"/>
                <a:cs typeface="Arial"/>
                <a:sym typeface="Arial"/>
              </a:rPr>
              <a:t>Appendix C</a:t>
            </a:r>
            <a:endParaRPr sz="1400">
              <a:solidFill>
                <a:schemeClr val="dk1"/>
              </a:solidFill>
              <a:latin typeface="Calibri"/>
              <a:ea typeface="Calibri"/>
              <a:cs typeface="Calibri"/>
              <a:sym typeface="Calibri"/>
            </a:endParaRPr>
          </a:p>
        </p:txBody>
      </p:sp>
      <p:sp>
        <p:nvSpPr>
          <p:cNvPr id="204" name="Google Shape;204;p14"/>
          <p:cNvSpPr txBox="1"/>
          <p:nvPr/>
        </p:nvSpPr>
        <p:spPr>
          <a:xfrm>
            <a:off x="457200" y="621792"/>
            <a:ext cx="8229600"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4E79"/>
              </a:buClr>
              <a:buSzPts val="2400"/>
              <a:buFont typeface="Arial"/>
              <a:buNone/>
            </a:pPr>
            <a:r>
              <a:rPr b="1" lang="en-US" sz="2400">
                <a:solidFill>
                  <a:srgbClr val="1F4E79"/>
                </a:solidFill>
                <a:latin typeface="Arial"/>
                <a:ea typeface="Arial"/>
                <a:cs typeface="Arial"/>
                <a:sym typeface="Arial"/>
              </a:rPr>
              <a:t>If no compatible official baseline exists, we compare against a named one-shot comparator</a:t>
            </a:r>
            <a:endParaRPr sz="2400">
              <a:solidFill>
                <a:schemeClr val="dk1"/>
              </a:solidFill>
              <a:latin typeface="Calibri"/>
              <a:ea typeface="Calibri"/>
              <a:cs typeface="Calibri"/>
              <a:sym typeface="Calibri"/>
            </a:endParaRPr>
          </a:p>
        </p:txBody>
      </p:sp>
      <p:sp>
        <p:nvSpPr>
          <p:cNvPr id="205" name="Google Shape;205;p14"/>
          <p:cNvSpPr txBox="1"/>
          <p:nvPr/>
        </p:nvSpPr>
        <p:spPr>
          <a:xfrm>
            <a:off x="457200" y="1627632"/>
            <a:ext cx="8229600" cy="283464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rgbClr val="2D2D2D"/>
              </a:buClr>
              <a:buSzPts val="2000"/>
              <a:buFont typeface="Arial"/>
              <a:buChar char="•"/>
            </a:pPr>
            <a:r>
              <a:rPr lang="en-US" sz="2000">
                <a:solidFill>
                  <a:srgbClr val="2D2D2D"/>
                </a:solidFill>
                <a:latin typeface="Arial"/>
                <a:ea typeface="Arial"/>
                <a:cs typeface="Arial"/>
                <a:sym typeface="Arial"/>
              </a:rPr>
              <a:t>Organizer-linked repository held only the starter-kit example agent on Sep 21</a:t>
            </a:r>
            <a:endParaRPr sz="2000">
              <a:solidFill>
                <a:schemeClr val="dk1"/>
              </a:solidFill>
              <a:latin typeface="Calibri"/>
              <a:ea typeface="Calibri"/>
              <a:cs typeface="Calibri"/>
              <a:sym typeface="Calibri"/>
            </a:endParaRPr>
          </a:p>
          <a:p>
            <a:pPr indent="-342900" lvl="0" marL="342900" marR="0" rtl="0" algn="l">
              <a:spcBef>
                <a:spcPts val="1400"/>
              </a:spcBef>
              <a:spcAft>
                <a:spcPts val="0"/>
              </a:spcAft>
              <a:buClr>
                <a:srgbClr val="2D2D2D"/>
              </a:buClr>
              <a:buSzPts val="2000"/>
              <a:buFont typeface="Arial"/>
              <a:buChar char="•"/>
            </a:pPr>
            <a:r>
              <a:rPr b="1" lang="en-US" sz="2000">
                <a:solidFill>
                  <a:srgbClr val="2D2D2D"/>
                </a:solidFill>
                <a:latin typeface="Arial"/>
                <a:ea typeface="Arial"/>
                <a:cs typeface="Arial"/>
                <a:sym typeface="Arial"/>
              </a:rPr>
              <a:t>If an LLM baseline is published and runs: </a:t>
            </a:r>
            <a:r>
              <a:rPr lang="en-US" sz="2000">
                <a:solidFill>
                  <a:srgbClr val="2D2D2D"/>
                </a:solidFill>
                <a:latin typeface="Arial"/>
                <a:ea typeface="Arial"/>
                <a:cs typeface="Arial"/>
                <a:sym typeface="Arial"/>
              </a:rPr>
              <a:t>pin its commit, model and budgets</a:t>
            </a:r>
            <a:endParaRPr sz="2000">
              <a:solidFill>
                <a:schemeClr val="dk1"/>
              </a:solidFill>
              <a:latin typeface="Calibri"/>
              <a:ea typeface="Calibri"/>
              <a:cs typeface="Calibri"/>
              <a:sym typeface="Calibri"/>
            </a:endParaRPr>
          </a:p>
          <a:p>
            <a:pPr indent="-342900" lvl="0" marL="342900" marR="0" rtl="0" algn="l">
              <a:spcBef>
                <a:spcPts val="1400"/>
              </a:spcBef>
              <a:spcAft>
                <a:spcPts val="0"/>
              </a:spcAft>
              <a:buClr>
                <a:srgbClr val="2D2D2D"/>
              </a:buClr>
              <a:buSzPts val="2000"/>
              <a:buFont typeface="Arial"/>
              <a:buChar char="•"/>
            </a:pPr>
            <a:r>
              <a:rPr b="1" lang="en-US" sz="2000">
                <a:solidFill>
                  <a:srgbClr val="2D2D2D"/>
                </a:solidFill>
                <a:latin typeface="Arial"/>
                <a:ea typeface="Arial"/>
                <a:cs typeface="Arial"/>
                <a:sym typeface="Arial"/>
              </a:rPr>
              <a:t>Otherwise: </a:t>
            </a:r>
            <a:r>
              <a:rPr lang="en-US" sz="2000">
                <a:solidFill>
                  <a:srgbClr val="2D2D2D"/>
                </a:solidFill>
                <a:latin typeface="Arial"/>
                <a:ea typeface="Arial"/>
                <a:cs typeface="Arial"/>
                <a:sym typeface="Arial"/>
              </a:rPr>
              <a:t>named one-shot LLM comparator, same validator, never labeled official</a:t>
            </a:r>
            <a:endParaRPr sz="2000">
              <a:solidFill>
                <a:schemeClr val="dk1"/>
              </a:solidFill>
              <a:latin typeface="Calibri"/>
              <a:ea typeface="Calibri"/>
              <a:cs typeface="Calibri"/>
              <a:sym typeface="Calibri"/>
            </a:endParaRPr>
          </a:p>
        </p:txBody>
      </p:sp>
      <p:sp>
        <p:nvSpPr>
          <p:cNvPr id="206" name="Google Shape;206;p14"/>
          <p:cNvSpPr txBox="1"/>
          <p:nvPr/>
        </p:nvSpPr>
        <p:spPr>
          <a:xfrm>
            <a:off x="457200" y="4590288"/>
            <a:ext cx="7589520" cy="384048"/>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666666"/>
              </a:buClr>
              <a:buSzPts val="1200"/>
              <a:buFont typeface="Arial"/>
              <a:buNone/>
            </a:pPr>
            <a:r>
              <a:rPr lang="en-US" sz="1200">
                <a:solidFill>
                  <a:srgbClr val="666666"/>
                </a:solidFill>
                <a:latin typeface="Arial"/>
                <a:ea typeface="Arial"/>
                <a:cs typeface="Arial"/>
                <a:sym typeface="Arial"/>
              </a:rPr>
              <a:t>AIOps-Lab-NKU/BuildBench-Agent-Baseline (checked Sep 21, 2026); design proposal (2026), section 4.</a:t>
            </a:r>
            <a:endParaRPr sz="1200">
              <a:solidFill>
                <a:schemeClr val="dk1"/>
              </a:solidFill>
              <a:latin typeface="Calibri"/>
              <a:ea typeface="Calibri"/>
              <a:cs typeface="Calibri"/>
              <a:sym typeface="Calibri"/>
            </a:endParaRPr>
          </a:p>
        </p:txBody>
      </p:sp>
      <p:sp>
        <p:nvSpPr>
          <p:cNvPr id="207" name="Google Shape;207;p14"/>
          <p:cNvSpPr txBox="1"/>
          <p:nvPr/>
        </p:nvSpPr>
        <p:spPr>
          <a:xfrm>
            <a:off x="8229600" y="4590288"/>
            <a:ext cx="457200" cy="384048"/>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Clr>
                <a:srgbClr val="666666"/>
              </a:buClr>
              <a:buSzPts val="1200"/>
              <a:buFont typeface="Arial"/>
              <a:buNone/>
            </a:pPr>
            <a:r>
              <a:rPr lang="en-US" sz="1200">
                <a:solidFill>
                  <a:srgbClr val="666666"/>
                </a:solidFill>
                <a:latin typeface="Arial"/>
                <a:ea typeface="Arial"/>
                <a:cs typeface="Arial"/>
                <a:sym typeface="Arial"/>
              </a:rPr>
              <a:t>14</a:t>
            </a:r>
            <a:endParaRPr sz="12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2026-09-22T23:55:36Z</dcterms:created>
  <dc:creator>Anthony Capraru, Austin Li, Joonseo Moon, Juliette Jacques, Owen Zhang</dc:creator>
</cp:coreProperties>
</file>