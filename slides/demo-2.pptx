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embeddedFontLst>
    <p:embeddedFont>
      <p:font typeface="IBM Plex Sans" panose="020B0503050203000203" pitchFamily="34" charset="0"/>
      <p:regular r:id="rId18"/>
      <p:bold r:id="rId19"/>
      <p:italic r:id="rId20"/>
      <p:boldItalic r:id="rId21"/>
    </p:embeddedFont>
    <p:embeddedFont>
      <p:font typeface="JetBrains Mono" panose="02000009000000000000" pitchFamily="49"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g0XvNM8sPcoblBhL1QSvDaJkj4Z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B3D7E4-98E0-446D-BD89-4FCEEEE099C4}">
  <a:tblStyle styleId="{ADB3D7E4-98E0-446D-BD89-4FCEEEE099C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4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IBM Plex Sans"/>
                <a:ea typeface="IBM Plex Sans"/>
                <a:cs typeface="IBM Plex Sans"/>
                <a:sym typeface="IBM Plex Sans"/>
              </a:defRPr>
            </a:lvl1pPr>
            <a:lvl2pPr marR="0" lvl="1"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2pPr>
            <a:lvl3pPr marR="0" lvl="2"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3pPr>
            <a:lvl4pPr marR="0" lvl="3"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4pPr>
            <a:lvl5pPr marR="0" lvl="4"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5pPr>
            <a:lvl6pPr marR="0" lvl="5"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6pPr>
            <a:lvl7pPr marR="0" lvl="6"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7pPr>
            <a:lvl8pPr marR="0" lvl="7"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8pPr>
            <a:lvl9pPr marR="0" lvl="8"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IBM Plex Sans"/>
                <a:ea typeface="IBM Plex Sans"/>
                <a:cs typeface="IBM Plex Sans"/>
                <a:sym typeface="IBM Plex Sans"/>
              </a:defRPr>
            </a:lvl1pPr>
            <a:lvl2pPr marR="0" lvl="1"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2pPr>
            <a:lvl3pPr marR="0" lvl="2"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3pPr>
            <a:lvl4pPr marR="0" lvl="3"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4pPr>
            <a:lvl5pPr marR="0" lvl="4"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5pPr>
            <a:lvl6pPr marR="0" lvl="5"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6pPr>
            <a:lvl7pPr marR="0" lvl="6"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7pPr>
            <a:lvl8pPr marR="0" lvl="7"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8pPr>
            <a:lvl9pPr marR="0" lvl="8"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IBM Plex Sans"/>
                <a:ea typeface="IBM Plex Sans"/>
                <a:cs typeface="IBM Plex Sans"/>
                <a:sym typeface="IBM Plex Sans"/>
              </a:defRPr>
            </a:lvl1pPr>
            <a:lvl2pPr marL="914400" marR="0" lvl="1" indent="-228600" algn="l" rtl="0">
              <a:spcBef>
                <a:spcPts val="0"/>
              </a:spcBef>
              <a:spcAft>
                <a:spcPts val="0"/>
              </a:spcAft>
              <a:buSzPts val="1400"/>
              <a:buNone/>
              <a:defRPr sz="1200" b="0" i="0" u="none" strike="noStrike" cap="none">
                <a:solidFill>
                  <a:schemeClr val="dk1"/>
                </a:solidFill>
                <a:latin typeface="IBM Plex Sans"/>
                <a:ea typeface="IBM Plex Sans"/>
                <a:cs typeface="IBM Plex Sans"/>
                <a:sym typeface="IBM Plex Sans"/>
              </a:defRPr>
            </a:lvl2pPr>
            <a:lvl3pPr marL="1371600" marR="0" lvl="2" indent="-228600" algn="l" rtl="0">
              <a:spcBef>
                <a:spcPts val="0"/>
              </a:spcBef>
              <a:spcAft>
                <a:spcPts val="0"/>
              </a:spcAft>
              <a:buSzPts val="1400"/>
              <a:buNone/>
              <a:defRPr sz="1200" b="0" i="0" u="none" strike="noStrike" cap="none">
                <a:solidFill>
                  <a:schemeClr val="dk1"/>
                </a:solidFill>
                <a:latin typeface="IBM Plex Sans"/>
                <a:ea typeface="IBM Plex Sans"/>
                <a:cs typeface="IBM Plex Sans"/>
                <a:sym typeface="IBM Plex Sans"/>
              </a:defRPr>
            </a:lvl3pPr>
            <a:lvl4pPr marL="1828800" marR="0" lvl="3" indent="-228600" algn="l" rtl="0">
              <a:spcBef>
                <a:spcPts val="0"/>
              </a:spcBef>
              <a:spcAft>
                <a:spcPts val="0"/>
              </a:spcAft>
              <a:buSzPts val="1400"/>
              <a:buNone/>
              <a:defRPr sz="1200" b="0" i="0" u="none" strike="noStrike" cap="none">
                <a:solidFill>
                  <a:schemeClr val="dk1"/>
                </a:solidFill>
                <a:latin typeface="IBM Plex Sans"/>
                <a:ea typeface="IBM Plex Sans"/>
                <a:cs typeface="IBM Plex Sans"/>
                <a:sym typeface="IBM Plex Sans"/>
              </a:defRPr>
            </a:lvl4pPr>
            <a:lvl5pPr marL="2286000" marR="0" lvl="4" indent="-228600" algn="l" rtl="0">
              <a:spcBef>
                <a:spcPts val="0"/>
              </a:spcBef>
              <a:spcAft>
                <a:spcPts val="0"/>
              </a:spcAft>
              <a:buSzPts val="1400"/>
              <a:buNone/>
              <a:defRPr sz="1200" b="0" i="0" u="none" strike="noStrike" cap="none">
                <a:solidFill>
                  <a:schemeClr val="dk1"/>
                </a:solidFill>
                <a:latin typeface="IBM Plex Sans"/>
                <a:ea typeface="IBM Plex Sans"/>
                <a:cs typeface="IBM Plex Sans"/>
                <a:sym typeface="IBM Plex Sans"/>
              </a:defRPr>
            </a:lvl5pPr>
            <a:lvl6pPr marL="2743200" marR="0" lvl="5" indent="-228600" algn="l" rtl="0">
              <a:spcBef>
                <a:spcPts val="0"/>
              </a:spcBef>
              <a:spcAft>
                <a:spcPts val="0"/>
              </a:spcAft>
              <a:buSzPts val="1400"/>
              <a:buNone/>
              <a:defRPr sz="1200" b="0" i="0" u="none" strike="noStrike" cap="none">
                <a:solidFill>
                  <a:schemeClr val="dk1"/>
                </a:solidFill>
                <a:latin typeface="IBM Plex Sans"/>
                <a:ea typeface="IBM Plex Sans"/>
                <a:cs typeface="IBM Plex Sans"/>
                <a:sym typeface="IBM Plex Sans"/>
              </a:defRPr>
            </a:lvl6pPr>
            <a:lvl7pPr marL="3200400" marR="0" lvl="6" indent="-228600" algn="l" rtl="0">
              <a:spcBef>
                <a:spcPts val="0"/>
              </a:spcBef>
              <a:spcAft>
                <a:spcPts val="0"/>
              </a:spcAft>
              <a:buSzPts val="1400"/>
              <a:buNone/>
              <a:defRPr sz="1200" b="0" i="0" u="none" strike="noStrike" cap="none">
                <a:solidFill>
                  <a:schemeClr val="dk1"/>
                </a:solidFill>
                <a:latin typeface="IBM Plex Sans"/>
                <a:ea typeface="IBM Plex Sans"/>
                <a:cs typeface="IBM Plex Sans"/>
                <a:sym typeface="IBM Plex Sans"/>
              </a:defRPr>
            </a:lvl7pPr>
            <a:lvl8pPr marL="3657600" marR="0" lvl="7" indent="-228600" algn="l" rtl="0">
              <a:spcBef>
                <a:spcPts val="0"/>
              </a:spcBef>
              <a:spcAft>
                <a:spcPts val="0"/>
              </a:spcAft>
              <a:buSzPts val="1400"/>
              <a:buNone/>
              <a:defRPr sz="1200" b="0" i="0" u="none" strike="noStrike" cap="none">
                <a:solidFill>
                  <a:schemeClr val="dk1"/>
                </a:solidFill>
                <a:latin typeface="IBM Plex Sans"/>
                <a:ea typeface="IBM Plex Sans"/>
                <a:cs typeface="IBM Plex Sans"/>
                <a:sym typeface="IBM Plex Sans"/>
              </a:defRPr>
            </a:lvl8pPr>
            <a:lvl9pPr marL="4114800" marR="0" lvl="8" indent="-228600" algn="l" rtl="0">
              <a:spcBef>
                <a:spcPts val="0"/>
              </a:spcBef>
              <a:spcAft>
                <a:spcPts val="0"/>
              </a:spcAft>
              <a:buSzPts val="1400"/>
              <a:buNone/>
              <a:defRPr sz="1200" b="0" i="0" u="none" strike="noStrike" cap="none">
                <a:solidFill>
                  <a:schemeClr val="dk1"/>
                </a:solidFill>
                <a:latin typeface="IBM Plex Sans"/>
                <a:ea typeface="IBM Plex Sans"/>
                <a:cs typeface="IBM Plex Sans"/>
                <a:sym typeface="IBM Plex Sans"/>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IBM Plex Sans"/>
                <a:ea typeface="IBM Plex Sans"/>
                <a:cs typeface="IBM Plex Sans"/>
                <a:sym typeface="IBM Plex Sans"/>
              </a:defRPr>
            </a:lvl1pPr>
            <a:lvl2pPr marR="0" lvl="1"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2pPr>
            <a:lvl3pPr marR="0" lvl="2"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3pPr>
            <a:lvl4pPr marR="0" lvl="3"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4pPr>
            <a:lvl5pPr marR="0" lvl="4"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5pPr>
            <a:lvl6pPr marR="0" lvl="5"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6pPr>
            <a:lvl7pPr marR="0" lvl="6"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7pPr>
            <a:lvl8pPr marR="0" lvl="7"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8pPr>
            <a:lvl9pPr marR="0" lvl="8" algn="l" rtl="0">
              <a:spcBef>
                <a:spcPts val="0"/>
              </a:spcBef>
              <a:spcAft>
                <a:spcPts val="0"/>
              </a:spcAft>
              <a:buSzPts val="1400"/>
              <a:buNone/>
              <a:defRPr sz="1800" b="0" i="0" u="none" strike="noStrike" cap="none">
                <a:solidFill>
                  <a:schemeClr val="dk1"/>
                </a:solidFill>
                <a:latin typeface="IBM Plex Sans"/>
                <a:ea typeface="IBM Plex Sans"/>
                <a:cs typeface="IBM Plex Sans"/>
                <a:sym typeface="IBM Plex Sans"/>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IBM Plex Sans"/>
                <a:ea typeface="IBM Plex Sans"/>
                <a:cs typeface="IBM Plex Sans"/>
                <a:sym typeface="IBM Plex Sans"/>
              </a:rPr>
              <a:t>‹#›</a:t>
            </a:fld>
            <a:endParaRPr sz="1200" b="0" i="0" u="none" strike="noStrike" cap="none">
              <a:solidFill>
                <a:schemeClr val="dk1"/>
              </a:solidFill>
              <a:latin typeface="IBM Plex Sans"/>
              <a:ea typeface="IBM Plex Sans"/>
              <a:cs typeface="IBM Plex Sans"/>
              <a:sym typeface="IBM Plex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 name="Google Shape;1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[Presenter A] · about 20 seconds Hi everyone. We’re the Build-Bench team: [names], with our mentor Minghua Ma from Microsoft. At Demo 1 we showed you a design on paper. Today we’ll show you the agent actually running: what it repairs, what it doesn’t repair yet, and the evidence for both.</a:t>
            </a:r>
            <a:endParaRPr/>
          </a:p>
        </p:txBody>
      </p:sp>
      <p:sp>
        <p:nvSpPr>
          <p:cNvPr id="19" name="Google Shape;1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 name="Google Shape;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[Presenter A] · about 40 seconds </a:t>
            </a:r>
            <a:endParaRPr/>
          </a:p>
          <a:p>
            <a:pPr marL="0" lvl="0" indent="0" algn="l" rtl="0">
              <a:spcBef>
                <a:spcPts val="0"/>
              </a:spcBef>
              <a:spcAft>
                <a:spcPts val="0"/>
              </a:spcAft>
              <a:buNone/>
            </a:pPr>
            <a:endParaRPr/>
          </a:p>
          <a:p>
            <a:pPr marL="0" lvl="0" indent="0" algn="l" rtl="0">
              <a:spcBef>
                <a:spcPts val="0"/>
              </a:spcBef>
              <a:spcAft>
                <a:spcPts val="0"/>
              </a:spcAft>
              <a:buNone/>
            </a:pPr>
            <a:r>
              <a:rPr lang="en-US"/>
              <a:t>Quick reminder of the problem. </a:t>
            </a:r>
            <a:endParaRPr/>
          </a:p>
          <a:p>
            <a:pPr marL="0" lvl="0" indent="0" algn="l" rtl="0">
              <a:spcBef>
                <a:spcPts val="0"/>
              </a:spcBef>
              <a:spcAft>
                <a:spcPts val="0"/>
              </a:spcAft>
              <a:buNone/>
            </a:pPr>
            <a:endParaRPr/>
          </a:p>
          <a:p>
            <a:pPr marL="0" lvl="0" indent="0" algn="l" rtl="0">
              <a:spcBef>
                <a:spcPts val="0"/>
              </a:spcBef>
              <a:spcAft>
                <a:spcPts val="0"/>
              </a:spcAft>
              <a:buNone/>
            </a:pPr>
            <a:r>
              <a:rPr lang="en-US"/>
              <a:t>The same source package can build fine on x86 and then fail on ARM. </a:t>
            </a:r>
            <a:endParaRPr/>
          </a:p>
          <a:p>
            <a:pPr marL="0" lvl="0" indent="0" algn="l" rtl="0">
              <a:spcBef>
                <a:spcPts val="0"/>
              </a:spcBef>
              <a:spcAft>
                <a:spcPts val="0"/>
              </a:spcAft>
              <a:buNone/>
            </a:pPr>
            <a:endParaRPr/>
          </a:p>
          <a:p>
            <a:pPr marL="0" lvl="0" indent="0" algn="l" rtl="0">
              <a:spcBef>
                <a:spcPts val="0"/>
              </a:spcBef>
              <a:spcAft>
                <a:spcPts val="0"/>
              </a:spcAft>
              <a:buNone/>
            </a:pPr>
            <a:r>
              <a:rPr lang="en-US"/>
              <a:t>Here is a real case from the benchmark: r-cran-digest. On ARM64 the compiler stops because it cannot find xmmintrin.h, an x86-only header. </a:t>
            </a:r>
            <a:endParaRPr/>
          </a:p>
          <a:p>
            <a:pPr marL="0" lvl="0" indent="0" algn="l" rtl="0">
              <a:spcBef>
                <a:spcPts val="0"/>
              </a:spcBef>
              <a:spcAft>
                <a:spcPts val="0"/>
              </a:spcAft>
              <a:buNone/>
            </a:pPr>
            <a:endParaRPr/>
          </a:p>
          <a:p>
            <a:pPr marL="0" lvl="0" indent="0" algn="l" rtl="0">
              <a:spcBef>
                <a:spcPts val="0"/>
              </a:spcBef>
              <a:spcAft>
                <a:spcPts val="0"/>
              </a:spcAft>
              <a:buNone/>
            </a:pPr>
            <a:r>
              <a:rPr lang="en-US"/>
              <a:t>The log points at that include, but the real fault is one level up: a config file that was generated on an x86 machine and shipped with the source. It switches on an x86 feature unconditionally. </a:t>
            </a:r>
            <a:endParaRPr/>
          </a:p>
          <a:p>
            <a:pPr marL="0" lvl="0" indent="0" algn="l" rtl="0">
              <a:spcBef>
                <a:spcPts val="0"/>
              </a:spcBef>
              <a:spcAft>
                <a:spcPts val="0"/>
              </a:spcAft>
              <a:buNone/>
            </a:pPr>
            <a:endParaRPr/>
          </a:p>
          <a:p>
            <a:pPr marL="0" lvl="0" indent="0" algn="l" rtl="0">
              <a:spcBef>
                <a:spcPts val="0"/>
              </a:spcBef>
              <a:spcAft>
                <a:spcPts val="0"/>
              </a:spcAft>
              <a:buNone/>
            </a:pPr>
            <a:r>
              <a:rPr lang="en-US"/>
              <a:t>Fixing this by hand means reading logs, guessing, and rebuilding. Our agent does that loop automatically for the Build-Bench Challenge at ICSE 2027. And success is not something we get to decide. A repair only counts when the organizers’ validator reports the build succeeded and the artifacts check out.</a:t>
            </a:r>
            <a:endParaRPr/>
          </a:p>
        </p:txBody>
      </p:sp>
      <p:sp>
        <p:nvSpPr>
          <p:cNvPr id="32" name="Google Shape;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0" algn="l" rtl="0">
              <a:lnSpc>
                <a:spcPct val="115000"/>
              </a:lnSpc>
              <a:spcBef>
                <a:spcPts val="1200"/>
              </a:spcBef>
              <a:spcAft>
                <a:spcPts val="0"/>
              </a:spcAft>
              <a:buNone/>
            </a:pPr>
            <a:r>
              <a:rPr lang="en-US">
                <a:solidFill>
                  <a:srgbClr val="000000"/>
                </a:solidFill>
              </a:rPr>
              <a:t>[Presenter A] · about 45–50 seconds</a:t>
            </a:r>
            <a:endParaRPr>
              <a:solidFill>
                <a:srgbClr val="000000"/>
              </a:solidFill>
            </a:endParaRPr>
          </a:p>
          <a:p>
            <a:pPr marL="457200" lvl="0" indent="-317500" algn="l" rtl="0">
              <a:lnSpc>
                <a:spcPct val="115000"/>
              </a:lnSpc>
              <a:spcBef>
                <a:spcPts val="1200"/>
              </a:spcBef>
              <a:spcAft>
                <a:spcPts val="0"/>
              </a:spcAft>
              <a:buSzPts val="1400"/>
              <a:buChar char="-"/>
            </a:pPr>
            <a:r>
              <a:rPr lang="en-US">
                <a:solidFill>
                  <a:srgbClr val="000000"/>
                </a:solidFill>
              </a:rPr>
              <a:t>Since Demo 1, we’ve built the local repair pipeline: the one-shot baseline, structured evidence, inspection tools, reply parsing, and the full-agent loop with real build feedback.</a:t>
            </a:r>
            <a:endParaRPr>
              <a:solidFill>
                <a:srgbClr val="000000"/>
              </a:solidFill>
            </a:endParaRPr>
          </a:p>
          <a:p>
            <a:pPr marL="457200" lvl="0" indent="-317500" algn="l" rtl="0">
              <a:lnSpc>
                <a:spcPct val="115000"/>
              </a:lnSpc>
              <a:spcBef>
                <a:spcPts val="0"/>
              </a:spcBef>
              <a:spcAft>
                <a:spcPts val="0"/>
              </a:spcAft>
              <a:buSzPts val="1400"/>
              <a:buChar char="-"/>
            </a:pPr>
            <a:r>
              <a:rPr lang="en-US">
                <a:solidFill>
                  <a:srgbClr val="000000"/>
                </a:solidFill>
              </a:rPr>
              <a:t>We froze the one-shot baseline on October 3. The evidence, tools and parser followed, and by October 14 the integrated full agent had produced its first repairs.</a:t>
            </a:r>
            <a:endParaRPr>
              <a:solidFill>
                <a:srgbClr val="000000"/>
              </a:solidFill>
            </a:endParaRPr>
          </a:p>
          <a:p>
            <a:pPr marL="457200" lvl="0" indent="-317500" algn="l" rtl="0">
              <a:lnSpc>
                <a:spcPct val="115000"/>
              </a:lnSpc>
              <a:spcBef>
                <a:spcPts val="0"/>
              </a:spcBef>
              <a:spcAft>
                <a:spcPts val="0"/>
              </a:spcAft>
              <a:buSzPts val="1400"/>
              <a:buChar char="-"/>
            </a:pPr>
            <a:r>
              <a:rPr lang="en-US">
                <a:solidFill>
                  <a:srgbClr val="000000"/>
                </a:solidFill>
              </a:rPr>
              <a:t>By October 19, both agents had processed all ten development cases plus rcran. We preserved the source versions, settings and results, including failures.</a:t>
            </a:r>
            <a:endParaRPr>
              <a:solidFill>
                <a:srgbClr val="000000"/>
              </a:solidFill>
            </a:endParaRPr>
          </a:p>
          <a:p>
            <a:pPr marL="457200" lvl="0" indent="-317500" algn="l" rtl="0">
              <a:lnSpc>
                <a:spcPct val="115000"/>
              </a:lnSpc>
              <a:spcBef>
                <a:spcPts val="0"/>
              </a:spcBef>
              <a:spcAft>
                <a:spcPts val="0"/>
              </a:spcAft>
              <a:buSzPts val="1400"/>
              <a:buChar char="-"/>
            </a:pPr>
            <a:r>
              <a:rPr lang="en-US">
                <a:solidFill>
                  <a:srgbClr val="000000"/>
                </a:solidFill>
              </a:rPr>
              <a:t>We also explored larger budgets—up to one million tokens, eighty turns and ten loop builds—but more allowance alone did not ensure repairs.</a:t>
            </a:r>
            <a:endParaRPr>
              <a:solidFill>
                <a:srgbClr val="000000"/>
              </a:solidFill>
            </a:endParaRPr>
          </a:p>
          <a:p>
            <a:pPr marL="457200" lvl="0" indent="-317500" algn="l" rtl="0">
              <a:lnSpc>
                <a:spcPct val="115000"/>
              </a:lnSpc>
              <a:spcBef>
                <a:spcPts val="0"/>
              </a:spcBef>
              <a:spcAft>
                <a:spcPts val="0"/>
              </a:spcAft>
              <a:buSzPts val="1400"/>
              <a:buChar char="-"/>
            </a:pPr>
            <a:r>
              <a:rPr lang="en-US">
                <a:solidFill>
                  <a:srgbClr val="000000"/>
                </a:solidFill>
              </a:rPr>
              <a:t>Our controller uses explicit JSON actions and retains candidates using build evidence and snapshots. These are implemented local capabilities; adapting to the newly documented hosted model interface remains</a:t>
            </a:r>
            <a:endParaRPr>
              <a:solidFill>
                <a:srgbClr val="000000"/>
              </a:solidFill>
            </a:endParaRPr>
          </a:p>
          <a:p>
            <a:pPr marL="457200" lvl="0" indent="0" algn="l" rtl="0">
              <a:lnSpc>
                <a:spcPct val="115000"/>
              </a:lnSpc>
              <a:spcBef>
                <a:spcPts val="1200"/>
              </a:spcBef>
              <a:spcAft>
                <a:spcPts val="0"/>
              </a:spcAft>
              <a:buNone/>
            </a:pPr>
            <a:endParaRPr>
              <a:solidFill>
                <a:srgbClr val="000000"/>
              </a:solidFill>
            </a:endParaRPr>
          </a:p>
          <a:p>
            <a:pPr marL="0" lvl="0" indent="0" algn="l" rtl="0">
              <a:spcBef>
                <a:spcPts val="0"/>
              </a:spcBef>
              <a:spcAft>
                <a:spcPts val="0"/>
              </a:spcAft>
              <a:buNone/>
            </a:pPr>
            <a:endParaRPr/>
          </a:p>
        </p:txBody>
      </p:sp>
      <p:sp>
        <p:nvSpPr>
          <p:cNvPr id="53" name="Google Shape;5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h401b5273f97888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 name="Google Shape;79;h401b5273f978885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a:solidFill>
                <a:srgbClr val="000000"/>
              </a:solidFill>
              <a:latin typeface="Arial"/>
              <a:ea typeface="Arial"/>
              <a:cs typeface="Arial"/>
              <a:sym typeface="Arial"/>
            </a:endParaRPr>
          </a:p>
          <a:p>
            <a:pPr marL="0" lvl="0" indent="0" algn="l" rtl="0">
              <a:lnSpc>
                <a:spcPct val="115000"/>
              </a:lnSpc>
              <a:spcBef>
                <a:spcPts val="1200"/>
              </a:spcBef>
              <a:spcAft>
                <a:spcPts val="0"/>
              </a:spcAft>
              <a:buNone/>
            </a:pPr>
            <a:r>
              <a:rPr lang="en-US">
                <a:solidFill>
                  <a:srgbClr val="000000"/>
                </a:solidFill>
                <a:latin typeface="Arial"/>
                <a:ea typeface="Arial"/>
                <a:cs typeface="Arial"/>
                <a:sym typeface="Arial"/>
              </a:rPr>
              <a:t>[Presenter A] · about 45 seconds</a:t>
            </a:r>
            <a:endParaRPr>
              <a:solidFill>
                <a:srgbClr val="000000"/>
              </a:solidFill>
              <a:latin typeface="Arial"/>
              <a:ea typeface="Arial"/>
              <a:cs typeface="Arial"/>
              <a:sym typeface="Arial"/>
            </a:endParaRPr>
          </a:p>
          <a:p>
            <a:pPr marL="0" lvl="0" indent="0" algn="l" rtl="0">
              <a:lnSpc>
                <a:spcPct val="115000"/>
              </a:lnSpc>
              <a:spcBef>
                <a:spcPts val="1200"/>
              </a:spcBef>
              <a:spcAft>
                <a:spcPts val="0"/>
              </a:spcAft>
              <a:buNone/>
            </a:pPr>
            <a:r>
              <a:rPr lang="en-US">
                <a:solidFill>
                  <a:srgbClr val="000000"/>
                </a:solidFill>
                <a:latin typeface="Arial"/>
                <a:ea typeface="Arial"/>
                <a:cs typeface="Arial"/>
                <a:sym typeface="Arial"/>
              </a:rPr>
              <a:t>This is our main Demo 2 deliverable: the frozen one-shot pipeline.</a:t>
            </a:r>
            <a:endParaRPr>
              <a:solidFill>
                <a:srgbClr val="000000"/>
              </a:solidFill>
              <a:latin typeface="Arial"/>
              <a:ea typeface="Arial"/>
              <a:cs typeface="Arial"/>
              <a:sym typeface="Arial"/>
            </a:endParaRPr>
          </a:p>
          <a:p>
            <a:pPr marL="0" lvl="0" indent="0" algn="l" rtl="0">
              <a:lnSpc>
                <a:spcPct val="115000"/>
              </a:lnSpc>
              <a:spcBef>
                <a:spcPts val="1200"/>
              </a:spcBef>
              <a:spcAft>
                <a:spcPts val="0"/>
              </a:spcAft>
              <a:buNone/>
            </a:pPr>
            <a:r>
              <a:rPr lang="en-US">
                <a:solidFill>
                  <a:srgbClr val="000000"/>
                </a:solidFill>
                <a:latin typeface="Arial"/>
                <a:ea typeface="Arial"/>
                <a:cs typeface="Arial"/>
                <a:sym typeface="Arial"/>
              </a:rPr>
              <a:t>The harness first builds the original package. If it already succeeds, we record that and give no repair credit.</a:t>
            </a:r>
            <a:endParaRPr>
              <a:solidFill>
                <a:srgbClr val="000000"/>
              </a:solidFill>
              <a:latin typeface="Arial"/>
              <a:ea typeface="Arial"/>
              <a:cs typeface="Arial"/>
              <a:sym typeface="Arial"/>
            </a:endParaRPr>
          </a:p>
          <a:p>
            <a:pPr marL="0" lvl="0" indent="0" algn="l" rtl="0">
              <a:lnSpc>
                <a:spcPct val="115000"/>
              </a:lnSpc>
              <a:spcBef>
                <a:spcPts val="1200"/>
              </a:spcBef>
              <a:spcAft>
                <a:spcPts val="0"/>
              </a:spcAft>
              <a:buNone/>
            </a:pPr>
            <a:r>
              <a:rPr lang="en-US">
                <a:solidFill>
                  <a:srgbClr val="000000"/>
                </a:solidFill>
                <a:latin typeface="Arial"/>
                <a:ea typeface="Arial"/>
                <a:cs typeface="Arial"/>
                <a:sym typeface="Arial"/>
              </a:rPr>
              <a:t>For a failing case, the agent receives the last five hundred log lines and a fixed set of package files. The model returns one proposal containing edits and a rationale.</a:t>
            </a:r>
            <a:endParaRPr>
              <a:solidFill>
                <a:srgbClr val="000000"/>
              </a:solidFill>
              <a:latin typeface="Arial"/>
              <a:ea typeface="Arial"/>
              <a:cs typeface="Arial"/>
              <a:sym typeface="Arial"/>
            </a:endParaRPr>
          </a:p>
          <a:p>
            <a:pPr marL="0" lvl="0" indent="0" algn="l" rtl="0">
              <a:lnSpc>
                <a:spcPct val="115000"/>
              </a:lnSpc>
              <a:spcBef>
                <a:spcPts val="1200"/>
              </a:spcBef>
              <a:spcAft>
                <a:spcPts val="0"/>
              </a:spcAft>
              <a:buNone/>
            </a:pPr>
            <a:r>
              <a:rPr lang="en-US">
                <a:solidFill>
                  <a:srgbClr val="000000"/>
                </a:solidFill>
                <a:latin typeface="Arial"/>
                <a:ea typeface="Arial"/>
                <a:cs typeface="Arial"/>
                <a:sym typeface="Arial"/>
              </a:rPr>
              <a:t>The edit applier checks permitted paths and requires exact, unique text matches. If no edits apply, the run stops. Otherwise, the harness saves the diff, repacks the Debian source and runs a clean build.</a:t>
            </a:r>
            <a:endParaRPr>
              <a:solidFill>
                <a:srgbClr val="000000"/>
              </a:solidFill>
              <a:latin typeface="Arial"/>
              <a:ea typeface="Arial"/>
              <a:cs typeface="Arial"/>
              <a:sym typeface="Arial"/>
            </a:endParaRPr>
          </a:p>
          <a:p>
            <a:pPr marL="0" lvl="0" indent="0" algn="l" rtl="0">
              <a:lnSpc>
                <a:spcPct val="115000"/>
              </a:lnSpc>
              <a:spcBef>
                <a:spcPts val="1200"/>
              </a:spcBef>
              <a:spcAft>
                <a:spcPts val="0"/>
              </a:spcAft>
              <a:buNone/>
            </a:pPr>
            <a:r>
              <a:rPr lang="en-US">
                <a:solidFill>
                  <a:srgbClr val="000000"/>
                </a:solidFill>
                <a:latin typeface="Arial"/>
                <a:ea typeface="Arial"/>
                <a:cs typeface="Arial"/>
                <a:sym typeface="Arial"/>
              </a:rPr>
              <a:t>A repair counts only when the build succeeds and the expected artifacts pass validation. Every outcome is recorded.</a:t>
            </a:r>
            <a:endParaRPr>
              <a:solidFill>
                <a:srgbClr val="000000"/>
              </a:solidFill>
              <a:latin typeface="Arial"/>
              <a:ea typeface="Arial"/>
              <a:cs typeface="Arial"/>
              <a:sym typeface="Arial"/>
            </a:endParaRPr>
          </a:p>
          <a:p>
            <a:pPr marL="0" lvl="0" indent="0" algn="l" rtl="0">
              <a:lnSpc>
                <a:spcPct val="115000"/>
              </a:lnSpc>
              <a:spcBef>
                <a:spcPts val="1200"/>
              </a:spcBef>
              <a:spcAft>
                <a:spcPts val="0"/>
              </a:spcAft>
              <a:buNone/>
            </a:pPr>
            <a:r>
              <a:rPr lang="en-US">
                <a:solidFill>
                  <a:srgbClr val="000000"/>
                </a:solidFill>
                <a:latin typeface="Arial"/>
                <a:ea typeface="Arial"/>
                <a:cs typeface="Arial"/>
                <a:sym typeface="Arial"/>
              </a:rPr>
              <a:t>The defining limitation is that one-shot cannot revise its proposal after seeing the candidate build fail.</a:t>
            </a:r>
            <a:endParaRPr>
              <a:solidFill>
                <a:srgbClr val="000000"/>
              </a:solidFill>
              <a:latin typeface="Arial"/>
              <a:ea typeface="Arial"/>
              <a:cs typeface="Arial"/>
              <a:sym typeface="Arial"/>
            </a:endParaRPr>
          </a:p>
          <a:p>
            <a:pPr marL="0" lvl="0" indent="0" algn="l" rtl="0">
              <a:lnSpc>
                <a:spcPct val="115000"/>
              </a:lnSpc>
              <a:spcBef>
                <a:spcPts val="1200"/>
              </a:spcBef>
              <a:spcAft>
                <a:spcPts val="0"/>
              </a:spcAft>
              <a:buNone/>
            </a:pP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b="1">
              <a:solidFill>
                <a:srgbClr val="000000"/>
              </a:solidFill>
              <a:latin typeface="Arial"/>
              <a:ea typeface="Arial"/>
              <a:cs typeface="Arial"/>
              <a:sym typeface="Arial"/>
            </a:endParaRPr>
          </a:p>
          <a:p>
            <a:pPr marL="0" lvl="0" indent="0" algn="l" rtl="0">
              <a:lnSpc>
                <a:spcPct val="115000"/>
              </a:lnSpc>
              <a:spcBef>
                <a:spcPts val="0"/>
              </a:spcBef>
              <a:spcAft>
                <a:spcPts val="0"/>
              </a:spcAft>
              <a:buNone/>
            </a:pPr>
            <a:r>
              <a:rPr lang="en-US" b="1">
                <a:solidFill>
                  <a:srgbClr val="000000"/>
                </a:solidFill>
                <a:latin typeface="Arial"/>
                <a:ea typeface="Arial"/>
                <a:cs typeface="Arial"/>
                <a:sym typeface="Arial"/>
              </a:rPr>
              <a:t>Backup details:</a:t>
            </a:r>
            <a:r>
              <a:rPr lang="en-US">
                <a:solidFill>
                  <a:srgbClr val="000000"/>
                </a:solidFill>
                <a:latin typeface="Arial"/>
                <a:ea typeface="Arial"/>
                <a:cs typeface="Arial"/>
                <a:sym typeface="Arial"/>
              </a:rPr>
              <a:t> </a:t>
            </a: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r>
              <a:rPr lang="en-US">
                <a:solidFill>
                  <a:srgbClr val="000000"/>
                </a:solidFill>
                <a:latin typeface="Arial"/>
                <a:ea typeface="Arial"/>
                <a:cs typeface="Arial"/>
                <a:sym typeface="Arial"/>
              </a:rPr>
              <a:t>The harness first runs the unmodified case. If it already builds, it records case_not_failing and gives no repair credit. For a failing case, it extracts a fresh work/input tree. The agent constructs a fixed prompt containing the last 500 log lines and a predetermined package-file list. Each file is capped at 8 KiB and total file evidence at 32 KiB; 500 log lines is not a token cap. There is no interactive source-retrieval loop.</a:t>
            </a: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r>
              <a:rPr lang="en-US">
                <a:solidFill>
                  <a:srgbClr val="000000"/>
                </a:solidFill>
                <a:latin typeface="Arial"/>
                <a:ea typeface="Arial"/>
                <a:cs typeface="Arial"/>
                <a:sym typeface="Arial"/>
              </a:rPr>
              <a:t>The configured model returns one JSON object with edits and rationale. Each edit has path, old_text and new_text. The frozen edit applier checks permitted paths under input/ and requires a unique literal match. Some edits may be rejected; evaluation concerns the edits actually applied. If none apply, the run stops with no_edit_applied.</a:t>
            </a: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r>
              <a:rPr lang="en-US">
                <a:solidFill>
                  <a:srgbClr val="000000"/>
                </a:solidFill>
                <a:latin typeface="Arial"/>
                <a:ea typeface="Arial"/>
                <a:cs typeface="Arial"/>
                <a:sym typeface="Arial"/>
              </a:rPr>
              <a:t>The harness saves the actual diff and repacks the Debian source, preserving the original case configuration and dependencies. The unchanged local validator performs a clean target build. A repair requires both successful build status and the expected binary artifacts. All outcomes, including failures, are recorded.</a:t>
            </a: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r>
              <a:rPr lang="en-US">
                <a:solidFill>
                  <a:srgbClr val="000000"/>
                </a:solidFill>
                <a:latin typeface="Arial"/>
                <a:ea typeface="Arial"/>
                <a:cs typeface="Arial"/>
                <a:sym typeface="Arial"/>
              </a:rPr>
              <a:t>One-shot means one repair proposal with no revision from the failed candidate build. HTTP transport retries do not constitute repair iterations. The next full-agent diagram adds inspection tools and feedback-driven repair iterations.</a:t>
            </a: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i="1">
              <a:solidFill>
                <a:srgbClr val="000000"/>
              </a:solidFill>
              <a:latin typeface="Arial"/>
              <a:ea typeface="Arial"/>
              <a:cs typeface="Arial"/>
              <a:sym typeface="Arial"/>
            </a:endParaRPr>
          </a:p>
          <a:p>
            <a:pPr marL="0" lvl="0" indent="0" algn="l" rtl="0">
              <a:lnSpc>
                <a:spcPct val="115000"/>
              </a:lnSpc>
              <a:spcBef>
                <a:spcPts val="0"/>
              </a:spcBef>
              <a:spcAft>
                <a:spcPts val="0"/>
              </a:spcAft>
              <a:buNone/>
            </a:pPr>
            <a:r>
              <a:rPr lang="en-US" i="1">
                <a:solidFill>
                  <a:srgbClr val="000000"/>
                </a:solidFill>
                <a:latin typeface="Arial"/>
                <a:ea typeface="Arial"/>
                <a:cs typeface="Arial"/>
                <a:sym typeface="Arial"/>
              </a:rPr>
              <a:t>Source: docs/design-document.md, section 1.1, Main Demo 2 architecture: the frozen one-shot pipeline, including What the frozen agent sees and does and One-shot modules and boundaries. Baseline tag: one-shot-v1. Modules: agents/one-shot/src/main.py, log_tail.py, model_client.py, edit_applier.py; harness/run_case.py and harness/record.py.</a:t>
            </a:r>
            <a:endParaRPr i="1">
              <a:solidFill>
                <a:srgbClr val="000000"/>
              </a:solidFill>
              <a:latin typeface="Arial"/>
              <a:ea typeface="Arial"/>
              <a:cs typeface="Arial"/>
              <a:sym typeface="Arial"/>
            </a:endParaRPr>
          </a:p>
          <a:p>
            <a:pPr marL="0" lvl="0" indent="0" algn="l" rtl="0">
              <a:spcBef>
                <a:spcPts val="0"/>
              </a:spcBef>
              <a:spcAft>
                <a:spcPts val="0"/>
              </a:spcAft>
              <a:buNone/>
            </a:pPr>
            <a:endParaRPr>
              <a:solidFill>
                <a:srgbClr val="000000"/>
              </a:solidFill>
              <a:latin typeface="Arial"/>
              <a:ea typeface="Arial"/>
              <a:cs typeface="Arial"/>
              <a:sym typeface="Arial"/>
            </a:endParaRPr>
          </a:p>
        </p:txBody>
      </p:sp>
      <p:sp>
        <p:nvSpPr>
          <p:cNvPr id="80" name="Google Shape;80;h401b5273f978885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a:t>[Presenter A] · about 60 seconds</a:t>
            </a:r>
            <a:endParaRPr/>
          </a:p>
          <a:p>
            <a:pPr marL="0" lvl="0" indent="0" algn="l" rtl="0">
              <a:lnSpc>
                <a:spcPct val="115000"/>
              </a:lnSpc>
              <a:spcBef>
                <a:spcPts val="1200"/>
              </a:spcBef>
              <a:spcAft>
                <a:spcPts val="0"/>
              </a:spcAft>
              <a:buNone/>
            </a:pPr>
            <a:r>
              <a:rPr lang="en-US"/>
              <a:t>This is the full-agent extension we built after the one-shot baseline. The labeled components show how we divided the implementation across the team.</a:t>
            </a:r>
            <a:endParaRPr/>
          </a:p>
          <a:p>
            <a:pPr marL="0" lvl="0" indent="0" algn="l" rtl="0">
              <a:lnSpc>
                <a:spcPct val="115000"/>
              </a:lnSpc>
              <a:spcBef>
                <a:spcPts val="1200"/>
              </a:spcBef>
              <a:spcAft>
                <a:spcPts val="0"/>
              </a:spcAft>
              <a:buNone/>
            </a:pPr>
            <a:r>
              <a:rPr lang="en-US"/>
              <a:t>The evidence manager extracts diagnostic locations and checks compiler paths against actual package files. The repair controller combines that evidence with prompts and calls the model.</a:t>
            </a:r>
            <a:endParaRPr/>
          </a:p>
          <a:p>
            <a:pPr marL="0" lvl="0" indent="0" algn="l" rtl="0">
              <a:lnSpc>
                <a:spcPct val="115000"/>
              </a:lnSpc>
              <a:spcBef>
                <a:spcPts val="1200"/>
              </a:spcBef>
              <a:spcAft>
                <a:spcPts val="0"/>
              </a:spcAft>
              <a:buNone/>
            </a:pPr>
            <a:r>
              <a:rPr lang="en-US"/>
              <a:t>The model can request read-only inspection tools, propose edits, or stop. Proposed edits go through validation before writing. Invalid batches receive correction feedback, so a rejected edit does not immediately consume a build.</a:t>
            </a:r>
            <a:endParaRPr/>
          </a:p>
          <a:p>
            <a:pPr marL="0" lvl="0" indent="0" algn="l" rtl="0">
              <a:lnSpc>
                <a:spcPct val="115000"/>
              </a:lnSpc>
              <a:spcBef>
                <a:spcPts val="1200"/>
              </a:spcBef>
              <a:spcAft>
                <a:spcPts val="0"/>
              </a:spcAft>
              <a:buNone/>
            </a:pPr>
            <a:r>
              <a:rPr lang="en-US"/>
              <a:t>After valid edits, our local harness repacks a copy of the source and runs the validator. New diagnostics return to the loop, allowing another repair attempt. The controller tracks budgets and progress, retains a selected candidate, and sends it through separate final validation.</a:t>
            </a:r>
            <a:endParaRPr/>
          </a:p>
          <a:p>
            <a:pPr marL="0" lvl="0" indent="0" algn="l" rtl="0">
              <a:lnSpc>
                <a:spcPct val="115000"/>
              </a:lnSpc>
              <a:spcBef>
                <a:spcPts val="1200"/>
              </a:spcBef>
              <a:spcAft>
                <a:spcPts val="0"/>
              </a:spcAft>
              <a:buNone/>
            </a:pPr>
            <a:r>
              <a:rPr lang="en-US"/>
              <a:t>The dashed build component is an important boundary: it belongs to our local research harness. The official platform does not allow agents to request builds during a run; organizers control any later repair rounds.</a:t>
            </a:r>
            <a:endParaRPr/>
          </a:p>
          <a:p>
            <a:pPr marL="0" lvl="0" indent="0" algn="l" rtl="0">
              <a:spcBef>
                <a:spcPts val="1200"/>
              </a:spcBef>
              <a:spcAft>
                <a:spcPts val="0"/>
              </a:spcAft>
              <a:buNone/>
            </a:pPr>
            <a:endParaRPr/>
          </a:p>
        </p:txBody>
      </p:sp>
      <p:sp>
        <p:nvSpPr>
          <p:cNvPr id="89" name="Google Shape;8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a:t>[Presenter A] · about 45 seconds</a:t>
            </a:r>
            <a:endParaRPr/>
          </a:p>
          <a:p>
            <a:pPr marL="0" lvl="0" indent="0" algn="l" rtl="0">
              <a:lnSpc>
                <a:spcPct val="115000"/>
              </a:lnSpc>
              <a:spcBef>
                <a:spcPts val="1200"/>
              </a:spcBef>
              <a:spcAft>
                <a:spcPts val="0"/>
              </a:spcAft>
              <a:buNone/>
            </a:pPr>
            <a:r>
              <a:rPr lang="en-US"/>
              <a:t>The full-agent design grew directly out of failures in our one-shot baseline.</a:t>
            </a:r>
            <a:endParaRPr/>
          </a:p>
          <a:p>
            <a:pPr marL="0" lvl="0" indent="0" algn="l" rtl="0">
              <a:lnSpc>
                <a:spcPct val="115000"/>
              </a:lnSpc>
              <a:spcBef>
                <a:spcPts val="1200"/>
              </a:spcBef>
              <a:spcAft>
                <a:spcPts val="0"/>
              </a:spcAft>
              <a:buNone/>
            </a:pPr>
            <a:r>
              <a:rPr lang="en-US"/>
              <a:t>First, the baseline copied a compiler path that did not match the source location. That motivated diagnostic path resolution and edit-path validation.</a:t>
            </a:r>
            <a:endParaRPr/>
          </a:p>
          <a:p>
            <a:pPr marL="0" lvl="0" indent="0" algn="l" rtl="0">
              <a:lnSpc>
                <a:spcPct val="115000"/>
              </a:lnSpc>
              <a:spcBef>
                <a:spcPts val="1200"/>
              </a:spcBef>
              <a:spcAft>
                <a:spcPts val="0"/>
              </a:spcAft>
              <a:buNone/>
            </a:pPr>
            <a:r>
              <a:rPr lang="en-US"/>
              <a:t>Second, its fixed prompt could omit relevant source. We added inspection tools so the model could explore permitted package files. Historical rcran runs demonstrated that capability, although harder cases remain unresolved.</a:t>
            </a:r>
            <a:endParaRPr/>
          </a:p>
          <a:p>
            <a:pPr marL="0" lvl="0" indent="0" algn="l" rtl="0">
              <a:lnSpc>
                <a:spcPct val="115000"/>
              </a:lnSpc>
              <a:spcBef>
                <a:spcPts val="1200"/>
              </a:spcBef>
              <a:spcAft>
                <a:spcPts val="0"/>
              </a:spcAft>
              <a:buNone/>
            </a:pPr>
            <a:r>
              <a:rPr lang="en-US"/>
              <a:t>Third, one-shot could not learn from a failed candidate build. We added local build feedback, and a scripted wrong-edit test demonstrated failure detection and revision.</a:t>
            </a:r>
            <a:endParaRPr/>
          </a:p>
          <a:p>
            <a:pPr marL="0" lvl="0" indent="0" algn="l" rtl="0">
              <a:lnSpc>
                <a:spcPct val="115000"/>
              </a:lnSpc>
              <a:spcBef>
                <a:spcPts val="1200"/>
              </a:spcBef>
              <a:spcAft>
                <a:spcPts val="0"/>
              </a:spcAft>
              <a:buNone/>
            </a:pPr>
            <a:r>
              <a:rPr lang="en-US"/>
              <a:t>Finally, different runs produced different fixes. We preserved detailed records and added component switches so we can run matched comparisons.</a:t>
            </a:r>
            <a:endParaRPr/>
          </a:p>
          <a:p>
            <a:pPr marL="0" lvl="0" indent="0" algn="l" rtl="0">
              <a:lnSpc>
                <a:spcPct val="115000"/>
              </a:lnSpc>
              <a:spcBef>
                <a:spcPts val="1200"/>
              </a:spcBef>
              <a:spcAft>
                <a:spcPts val="0"/>
              </a:spcAft>
              <a:buNone/>
            </a:pPr>
            <a:r>
              <a:rPr lang="en-US"/>
              <a:t>These observations explain the design. Measuring how much each component contributes is planned for Demo 3.</a:t>
            </a:r>
            <a:endParaRPr/>
          </a:p>
          <a:p>
            <a:pPr marL="0" lvl="0" indent="0" algn="l" rtl="0">
              <a:spcBef>
                <a:spcPts val="1200"/>
              </a:spcBef>
              <a:spcAft>
                <a:spcPts val="0"/>
              </a:spcAft>
              <a:buNone/>
            </a:pPr>
            <a:endParaRPr/>
          </a:p>
        </p:txBody>
      </p:sp>
      <p:sp>
        <p:nvSpPr>
          <p:cNvPr id="130" name="Google Shape;13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[Presenter A] · about 50 seconds </a:t>
            </a:r>
            <a:endParaRPr/>
          </a:p>
          <a:p>
            <a:pPr marL="0" lvl="0" indent="0" algn="l" rtl="0">
              <a:spcBef>
                <a:spcPts val="0"/>
              </a:spcBef>
              <a:spcAft>
                <a:spcPts val="0"/>
              </a:spcAft>
              <a:buNone/>
            </a:pPr>
            <a:endParaRPr/>
          </a:p>
          <a:p>
            <a:pPr marL="0" lvl="0" indent="0" algn="l" rtl="0">
              <a:spcBef>
                <a:spcPts val="0"/>
              </a:spcBef>
              <a:spcAft>
                <a:spcPts val="0"/>
              </a:spcAft>
              <a:buNone/>
            </a:pPr>
            <a:r>
              <a:rPr lang="en-US"/>
              <a:t>Here is one real run, start to finish, from its log. </a:t>
            </a:r>
            <a:endParaRPr/>
          </a:p>
          <a:p>
            <a:pPr marL="0" lvl="0" indent="0" algn="l" rtl="0">
              <a:spcBef>
                <a:spcPts val="0"/>
              </a:spcBef>
              <a:spcAft>
                <a:spcPts val="0"/>
              </a:spcAft>
              <a:buNone/>
            </a:pPr>
            <a:endParaRPr/>
          </a:p>
          <a:p>
            <a:pPr marL="0" lvl="0" indent="0" algn="l" rtl="0">
              <a:spcBef>
                <a:spcPts val="0"/>
              </a:spcBef>
              <a:spcAft>
                <a:spcPts val="0"/>
              </a:spcAft>
              <a:buNone/>
            </a:pPr>
            <a:r>
              <a:rPr lang="en-US"/>
              <a:t>Step one: the agent reads the original failure, the same xmmintrin error. </a:t>
            </a:r>
            <a:endParaRPr/>
          </a:p>
          <a:p>
            <a:pPr marL="0" lvl="0" indent="0" algn="l" rtl="0">
              <a:spcBef>
                <a:spcPts val="0"/>
              </a:spcBef>
              <a:spcAft>
                <a:spcPts val="0"/>
              </a:spcAft>
              <a:buNone/>
            </a:pPr>
            <a:r>
              <a:rPr lang="en-US"/>
              <a:t>Step two: the model’s first reply had no valid action. The loop told it what was wrong and asked again, and that retry counts against the budget. </a:t>
            </a:r>
            <a:endParaRPr/>
          </a:p>
          <a:p>
            <a:pPr marL="0" lvl="0" indent="0" algn="l" rtl="0">
              <a:spcBef>
                <a:spcPts val="0"/>
              </a:spcBef>
              <a:spcAft>
                <a:spcPts val="0"/>
              </a:spcAft>
              <a:buNone/>
            </a:pPr>
            <a:endParaRPr/>
          </a:p>
          <a:p>
            <a:pPr marL="0" lvl="0" indent="0" algn="l" rtl="0">
              <a:spcBef>
                <a:spcPts val="0"/>
              </a:spcBef>
              <a:spcAft>
                <a:spcPts val="0"/>
              </a:spcAft>
              <a:buNone/>
            </a:pPr>
            <a:r>
              <a:rPr lang="en-US"/>
              <a:t>Step three: it asked to look at the package’s files before guessing. </a:t>
            </a:r>
            <a:endParaRPr/>
          </a:p>
          <a:p>
            <a:pPr marL="0" lvl="0" indent="0" algn="l" rtl="0">
              <a:spcBef>
                <a:spcPts val="0"/>
              </a:spcBef>
              <a:spcAft>
                <a:spcPts val="0"/>
              </a:spcAft>
              <a:buNone/>
            </a:pPr>
            <a:r>
              <a:rPr lang="en-US"/>
              <a:t>Step four: it stated a hypothesis in its own words, that this header pulls in an x86-only file, and proposed one edit, on the right: guard the include so it only applies on x86. Its wording isn’t perfectly precise, since that include already sits inside another guard, but the edit is sound. </a:t>
            </a:r>
            <a:endParaRPr/>
          </a:p>
          <a:p>
            <a:pPr marL="0" lvl="0" indent="0" algn="l" rtl="0">
              <a:spcBef>
                <a:spcPts val="0"/>
              </a:spcBef>
              <a:spcAft>
                <a:spcPts val="0"/>
              </a:spcAft>
              <a:buNone/>
            </a:pPr>
            <a:endParaRPr/>
          </a:p>
          <a:p>
            <a:pPr marL="0" lvl="0" indent="0" algn="l" rtl="0">
              <a:spcBef>
                <a:spcPts val="0"/>
              </a:spcBef>
              <a:spcAft>
                <a:spcPts val="0"/>
              </a:spcAft>
              <a:buNone/>
            </a:pPr>
            <a:r>
              <a:rPr lang="en-US"/>
              <a:t>Step five: a real build on the organizers’ validator, running on our machine. It passed in about 30 seconds, the artifacts validated, and out came the ARM64 Debian package that the unrepaired source never produces. </a:t>
            </a:r>
            <a:endParaRPr/>
          </a:p>
          <a:p>
            <a:pPr marL="0" lvl="0" indent="0" algn="l" rtl="0">
              <a:spcBef>
                <a:spcPts val="0"/>
              </a:spcBef>
              <a:spcAft>
                <a:spcPts val="0"/>
              </a:spcAft>
              <a:buNone/>
            </a:pPr>
            <a:endParaRPr/>
          </a:p>
          <a:p>
            <a:pPr marL="0" lvl="0" indent="0" algn="l" rtl="0">
              <a:spcBef>
                <a:spcPts val="0"/>
              </a:spcBef>
              <a:spcAft>
                <a:spcPts val="0"/>
              </a:spcAft>
              <a:buNone/>
            </a:pPr>
            <a:r>
              <a:rPr lang="en-US"/>
              <a:t>Whole run: three model calls, one build, 44 seconds. </a:t>
            </a:r>
            <a:endParaRPr/>
          </a:p>
          <a:p>
            <a:pPr marL="0" lvl="0" indent="0" algn="l" rtl="0">
              <a:spcBef>
                <a:spcPts val="0"/>
              </a:spcBef>
              <a:spcAft>
                <a:spcPts val="0"/>
              </a:spcAft>
              <a:buNone/>
            </a:pPr>
            <a:r>
              <a:rPr lang="en-US"/>
              <a:t>One thing worth noting: this is a different fix from the one we found by hand. </a:t>
            </a:r>
            <a:endParaRPr/>
          </a:p>
          <a:p>
            <a:pPr marL="0" lvl="0" indent="0" algn="l" rtl="0">
              <a:spcBef>
                <a:spcPts val="0"/>
              </a:spcBef>
              <a:spcAft>
                <a:spcPts val="0"/>
              </a:spcAft>
              <a:buNone/>
            </a:pPr>
            <a:r>
              <a:rPr lang="en-US"/>
              <a:t>We changed the config flag; the agent guarded the include. Both pass. That’s exactly why we always let the validator decide, rather than comparing against our own answer. </a:t>
            </a:r>
            <a:endParaRPr/>
          </a:p>
          <a:p>
            <a:pPr marL="0" lvl="0" indent="0" algn="l" rtl="0">
              <a:spcBef>
                <a:spcPts val="0"/>
              </a:spcBef>
              <a:spcAft>
                <a:spcPts val="0"/>
              </a:spcAft>
              <a:buNone/>
            </a:pPr>
            <a:endParaRPr/>
          </a:p>
          <a:p>
            <a:pPr marL="0" lvl="0" indent="0" algn="l" rtl="0">
              <a:spcBef>
                <a:spcPts val="0"/>
              </a:spcBef>
              <a:spcAft>
                <a:spcPts val="0"/>
              </a:spcAft>
              <a:buNone/>
            </a:pPr>
            <a:r>
              <a:rPr lang="en-US"/>
              <a:t>To be precise: this was the Part C checkpoint run on October 14th, before the evidence manager and final prompts were wired in, with a 30 thousand token cap. It is the run with the most complete log. The runs on the next slide use the fully integrated agent. We had a more recent run that succeeded still to repair the whole package in 288 seconds and final build 94s.</a:t>
            </a:r>
            <a:endParaRPr/>
          </a:p>
        </p:txBody>
      </p:sp>
      <p:sp>
        <p:nvSpPr>
          <p:cNvPr id="139" name="Google Shape;13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a:t>These are our earlier rcran experiments: the baseline runs from October 3 and the full-agent runs from October 14.</a:t>
            </a:r>
            <a:endParaRPr/>
          </a:p>
          <a:p>
            <a:pPr marL="0" lvl="0" indent="0" algn="l" rtl="0">
              <a:lnSpc>
                <a:spcPct val="115000"/>
              </a:lnSpc>
              <a:spcBef>
                <a:spcPts val="1200"/>
              </a:spcBef>
              <a:spcAft>
                <a:spcPts val="0"/>
              </a:spcAft>
              <a:buNone/>
            </a:pPr>
            <a:r>
              <a:rPr lang="en-US"/>
              <a:t>The baseline repaired one of three runs. The full agent repaired all four recorded runs across different settings, with success checked by the local validator and expected build artifacts.</a:t>
            </a:r>
            <a:endParaRPr/>
          </a:p>
          <a:p>
            <a:pPr marL="0" lvl="0" indent="0" algn="l" rtl="0">
              <a:lnSpc>
                <a:spcPct val="115000"/>
              </a:lnSpc>
              <a:spcBef>
                <a:spcPts val="1200"/>
              </a:spcBef>
              <a:spcAft>
                <a:spcPts val="0"/>
              </a:spcAft>
              <a:buNone/>
            </a:pPr>
            <a:r>
              <a:rPr lang="en-US"/>
              <a:t>The repairs took different forms. The baseline changed a Debian build rule to rewrite the header during the build. The full agent edited the source directly.</a:t>
            </a:r>
            <a:endParaRPr/>
          </a:p>
          <a:p>
            <a:pPr marL="0" lvl="0" indent="0" algn="l" rtl="0">
              <a:lnSpc>
                <a:spcPct val="115000"/>
              </a:lnSpc>
              <a:spcBef>
                <a:spcPts val="1200"/>
              </a:spcBef>
              <a:spcAft>
                <a:spcPts val="0"/>
              </a:spcAft>
              <a:buNone/>
            </a:pPr>
            <a:r>
              <a:rPr lang="en-US"/>
              <a:t>On the right are token counts from individual runs. Most full-agent examples used around ten to eleven thousand tokens; one used about twenty-nine thousand before a reply-format fix. We recorded baseline tokens for one run, so this is descriptive evidence, not a controlled efficiency comparison.</a:t>
            </a:r>
            <a:endParaRPr/>
          </a:p>
          <a:p>
            <a:pPr marL="0" lvl="0" indent="0" algn="l" rtl="0">
              <a:lnSpc>
                <a:spcPct val="115000"/>
              </a:lnSpc>
              <a:spcBef>
                <a:spcPts val="1200"/>
              </a:spcBef>
              <a:spcAft>
                <a:spcPts val="0"/>
              </a:spcAft>
              <a:buNone/>
            </a:pPr>
            <a:r>
              <a:rPr lang="en-US"/>
              <a:t>These experiments showed that the pipeline could repair rcran. The broader October 19 evaluation, which we discuss next, tests how far that success extends.</a:t>
            </a:r>
            <a:endParaRPr/>
          </a:p>
          <a:p>
            <a:pPr marL="0" lvl="0" indent="0" algn="l" rtl="0">
              <a:spcBef>
                <a:spcPts val="1200"/>
              </a:spcBef>
              <a:spcAft>
                <a:spcPts val="0"/>
              </a:spcAft>
              <a:buNone/>
            </a:pPr>
            <a:endParaRPr/>
          </a:p>
        </p:txBody>
      </p:sp>
      <p:sp>
        <p:nvSpPr>
          <p:cNvPr id="173" name="Google Shape;17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a:t>On October 19, we evaluated both agents on all ten development cases, plus rcran separately.</a:t>
            </a:r>
            <a:endParaRPr/>
          </a:p>
          <a:p>
            <a:pPr marL="0" lvl="0" indent="0" algn="l" rtl="0">
              <a:lnSpc>
                <a:spcPct val="115000"/>
              </a:lnSpc>
              <a:spcBef>
                <a:spcPts val="1200"/>
              </a:spcBef>
              <a:spcAft>
                <a:spcPts val="0"/>
              </a:spcAft>
              <a:buNone/>
            </a:pPr>
            <a:r>
              <a:rPr lang="en-US"/>
              <a:t>This table shows the four development cases where we could evaluate source repair. Neither agent repaired any of them. The full agent explored multiple candidates, but repeated diagnostics, rejected edits and ineffective fixes prevented success.</a:t>
            </a:r>
            <a:endParaRPr/>
          </a:p>
          <a:p>
            <a:pPr marL="0" lvl="0" indent="0" algn="l" rtl="0">
              <a:lnSpc>
                <a:spcPct val="115000"/>
              </a:lnSpc>
              <a:spcBef>
                <a:spcPts val="1200"/>
              </a:spcBef>
              <a:spcAft>
                <a:spcPts val="0"/>
              </a:spcAft>
              <a:buNone/>
            </a:pPr>
            <a:r>
              <a:rPr lang="en-US"/>
              <a:t>The other six cases need different interpretations. Html-xml-utils already built unchanged, so it receives no repair credit. All five reverse-direction cases encountered environment setup failures under QEMU before package compilation. Their package-repair capability remains untested.</a:t>
            </a:r>
            <a:endParaRPr/>
          </a:p>
          <a:p>
            <a:pPr marL="0" lvl="0" indent="0" algn="l" rtl="0">
              <a:lnSpc>
                <a:spcPct val="115000"/>
              </a:lnSpc>
              <a:spcBef>
                <a:spcPts val="1200"/>
              </a:spcBef>
              <a:spcAft>
                <a:spcPts val="0"/>
              </a:spcAft>
              <a:buNone/>
            </a:pPr>
            <a:r>
              <a:rPr lang="en-US"/>
              <a:t>Separately, the full agent repaired rcran in this repeat; the one-shot did not.</a:t>
            </a:r>
            <a:endParaRPr/>
          </a:p>
          <a:p>
            <a:pPr marL="0" lvl="0" indent="0" algn="l" rtl="0">
              <a:lnSpc>
                <a:spcPct val="115000"/>
              </a:lnSpc>
              <a:spcBef>
                <a:spcPts val="1200"/>
              </a:spcBef>
              <a:spcAft>
                <a:spcPts val="0"/>
              </a:spcAft>
              <a:buNone/>
            </a:pPr>
            <a:r>
              <a:rPr lang="en-US"/>
              <a:t>We had enlarged the full-agent budget to one million tokens and eighty turns. More room alone did not solve these cases. Our next work is to fix the environment blockers and improve diagnosis and edit correction before running matched repeats.</a:t>
            </a:r>
            <a:endParaRPr/>
          </a:p>
          <a:p>
            <a:pPr marL="457200" lvl="0" indent="0" algn="l" rtl="0">
              <a:spcBef>
                <a:spcPts val="1200"/>
              </a:spcBef>
              <a:spcAft>
                <a:spcPts val="0"/>
              </a:spcAft>
              <a:buNone/>
            </a:pPr>
            <a:endParaRPr/>
          </a:p>
        </p:txBody>
      </p:sp>
      <p:sp>
        <p:nvSpPr>
          <p:cNvPr id="220" name="Google Shape;22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381000" marR="381000" lvl="0" indent="0" algn="l" rtl="0">
              <a:lnSpc>
                <a:spcPct val="115000"/>
              </a:lnSpc>
              <a:spcBef>
                <a:spcPts val="1200"/>
              </a:spcBef>
              <a:spcAft>
                <a:spcPts val="0"/>
              </a:spcAft>
              <a:buNone/>
            </a:pPr>
            <a:r>
              <a:rPr lang="en-US"/>
              <a:t>Here is our progress against the Demo 2 commitments.</a:t>
            </a:r>
            <a:endParaRPr/>
          </a:p>
          <a:p>
            <a:pPr marL="381000" marR="381000" lvl="0" indent="0" algn="l" rtl="0">
              <a:lnSpc>
                <a:spcPct val="115000"/>
              </a:lnSpc>
              <a:spcBef>
                <a:spcPts val="1200"/>
              </a:spcBef>
              <a:spcAft>
                <a:spcPts val="0"/>
              </a:spcAft>
              <a:buNone/>
            </a:pPr>
            <a:r>
              <a:rPr lang="en-US"/>
              <a:t>The local prototype runs end to end. The full agent produced a model-generated rcran repair that passed a final clean build and artifact validation. The latest trace includes model turns, edits, build feedback and the final verdict.</a:t>
            </a:r>
            <a:endParaRPr/>
          </a:p>
          <a:p>
            <a:pPr marL="381000" marR="381000" lvl="0" indent="0" algn="l" rtl="0">
              <a:lnSpc>
                <a:spcPct val="115000"/>
              </a:lnSpc>
              <a:spcBef>
                <a:spcPts val="1200"/>
              </a:spcBef>
              <a:spcAft>
                <a:spcPts val="0"/>
              </a:spcAft>
              <a:buNone/>
            </a:pPr>
            <a:r>
              <a:rPr lang="en-US"/>
              <a:t>We retained the frozen one-shot comparator and evaluated both agents on the ten-case development bundle plus rcran. That produced twenty-two run records.</a:t>
            </a:r>
            <a:endParaRPr/>
          </a:p>
          <a:p>
            <a:pPr marL="381000" marR="381000" lvl="0" indent="0" algn="l" rtl="0">
              <a:lnSpc>
                <a:spcPct val="115000"/>
              </a:lnSpc>
              <a:spcBef>
                <a:spcPts val="1200"/>
              </a:spcBef>
              <a:spcAft>
                <a:spcPts val="1200"/>
              </a:spcAft>
              <a:buNone/>
            </a:pPr>
            <a:r>
              <a:rPr lang="en-US"/>
              <a:t>We also recorded the local readiness check. Static submission validation passed, but the agent received no model credentials and produced no edit. That check did not pass; hosted model integration and Hosted Smoke remain pending.</a:t>
            </a:r>
            <a:endParaRPr/>
          </a:p>
        </p:txBody>
      </p:sp>
      <p:sp>
        <p:nvSpPr>
          <p:cNvPr id="238" name="Google Shape;23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a:t>Next, we’ll preserve the Demo 2 agent and its settings as our reference.</a:t>
            </a:r>
            <a:endParaRPr/>
          </a:p>
          <a:p>
            <a:pPr marL="0" lvl="0" indent="0" algn="l" rtl="0">
              <a:lnSpc>
                <a:spcPct val="115000"/>
              </a:lnSpc>
              <a:spcBef>
                <a:spcPts val="1200"/>
              </a:spcBef>
              <a:spcAft>
                <a:spcPts val="0"/>
              </a:spcAft>
              <a:buNone/>
            </a:pPr>
            <a:r>
              <a:rPr lang="en-US"/>
              <a:t>Our first task is to resolve the environment blockers affecting the five x86-target cases. The supplied validator runtime is ARM64, and those cases failed during setup under QEMU. Changing the host alone does not establish a native build environment. We need to verify a functioning setup and reproduce the intended package failures before rerunning the agents.</a:t>
            </a:r>
            <a:endParaRPr/>
          </a:p>
          <a:p>
            <a:pPr marL="0" lvl="0" indent="0" algn="l" rtl="0">
              <a:lnSpc>
                <a:spcPct val="115000"/>
              </a:lnSpc>
              <a:spcBef>
                <a:spcPts val="1200"/>
              </a:spcBef>
              <a:spcAft>
                <a:spcPts val="0"/>
              </a:spcAft>
              <a:buNone/>
            </a:pPr>
            <a:r>
              <a:rPr lang="en-US"/>
              <a:t>We’ll also improve diagnostic focus and edit correction, reduce repeated evidence in prompts, and run matched comparisons with history on and off.</a:t>
            </a:r>
            <a:endParaRPr/>
          </a:p>
          <a:p>
            <a:pPr marL="0" lvl="0" indent="0" algn="l" rtl="0">
              <a:lnSpc>
                <a:spcPct val="115000"/>
              </a:lnSpc>
              <a:spcBef>
                <a:spcPts val="1200"/>
              </a:spcBef>
              <a:spcAft>
                <a:spcPts val="0"/>
              </a:spcAft>
              <a:buNone/>
            </a:pPr>
            <a:r>
              <a:rPr lang="en-US"/>
              <a:t>For competition readiness, we need to support the injected model endpoint, model alias and token file, then check, package and pass Hosted Smoke before confirming our version by November 13, Beijing time.</a:t>
            </a:r>
            <a:endParaRPr/>
          </a:p>
          <a:p>
            <a:pPr marL="0" lvl="0" indent="0" algn="l" rtl="0">
              <a:lnSpc>
                <a:spcPct val="115000"/>
              </a:lnSpc>
              <a:spcBef>
                <a:spcPts val="1200"/>
              </a:spcBef>
              <a:spcAft>
                <a:spcPts val="0"/>
              </a:spcAft>
              <a:buNone/>
            </a:pPr>
            <a:r>
              <a:rPr lang="en-US"/>
              <a:t>Official builds cannot be requested during an agent run; organizers control repair rounds.</a:t>
            </a:r>
            <a:endParaRPr/>
          </a:p>
          <a:p>
            <a:pPr marL="0" lvl="0" indent="0" algn="l" rtl="0">
              <a:lnSpc>
                <a:spcPct val="115000"/>
              </a:lnSpc>
              <a:spcBef>
                <a:spcPts val="1200"/>
              </a:spcBef>
              <a:spcAft>
                <a:spcPts val="0"/>
              </a:spcAft>
              <a:buNone/>
            </a:pPr>
            <a:r>
              <a:rPr lang="en-US"/>
              <a:t>Our Demo 3 target remains one additional verified repair per ten cases on average, or twenty percent fewer tokens without losing a repair.</a:t>
            </a:r>
            <a:endParaRPr/>
          </a:p>
          <a:p>
            <a:pPr marL="0" lvl="0" indent="0" algn="l" rtl="0">
              <a:lnSpc>
                <a:spcPct val="115000"/>
              </a:lnSpc>
              <a:spcBef>
                <a:spcPts val="1200"/>
              </a:spcBef>
              <a:spcAft>
                <a:spcPts val="0"/>
              </a:spcAft>
              <a:buNone/>
            </a:pPr>
            <a:endParaRPr/>
          </a:p>
          <a:p>
            <a:pPr marL="0" lvl="0" indent="0" algn="l" rtl="0">
              <a:lnSpc>
                <a:spcPct val="115000"/>
              </a:lnSpc>
              <a:spcBef>
                <a:spcPts val="1200"/>
              </a:spcBef>
              <a:spcAft>
                <a:spcPts val="0"/>
              </a:spcAft>
              <a:buNone/>
            </a:pPr>
            <a:endParaRPr/>
          </a:p>
          <a:p>
            <a:pPr marL="0" lvl="0" indent="0" algn="l" rtl="0">
              <a:spcBef>
                <a:spcPts val="1200"/>
              </a:spcBef>
              <a:spcAft>
                <a:spcPts val="0"/>
              </a:spcAft>
              <a:buNone/>
            </a:pPr>
            <a:endParaRPr/>
          </a:p>
        </p:txBody>
      </p:sp>
      <p:sp>
        <p:nvSpPr>
          <p:cNvPr id="280" name="Google Shape;28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a:t>Three things to take away.</a:t>
            </a:r>
            <a:endParaRPr/>
          </a:p>
          <a:p>
            <a:pPr marL="0" lvl="0" indent="0" algn="l" rtl="0">
              <a:lnSpc>
                <a:spcPct val="115000"/>
              </a:lnSpc>
              <a:spcBef>
                <a:spcPts val="1200"/>
              </a:spcBef>
              <a:spcAft>
                <a:spcPts val="0"/>
              </a:spcAft>
              <a:buNone/>
            </a:pPr>
            <a:r>
              <a:rPr lang="en-US"/>
              <a:t>First, the local prototype works end to end: the full agent repaired rcran and produced a validated ARM64 package.</a:t>
            </a:r>
            <a:endParaRPr/>
          </a:p>
          <a:p>
            <a:pPr marL="0" lvl="0" indent="0" algn="l" rtl="0">
              <a:lnSpc>
                <a:spcPct val="115000"/>
              </a:lnSpc>
              <a:spcBef>
                <a:spcPts val="1200"/>
              </a:spcBef>
              <a:spcAft>
                <a:spcPts val="0"/>
              </a:spcAft>
              <a:buNone/>
            </a:pPr>
            <a:r>
              <a:rPr lang="en-US"/>
              <a:t>Second, both agents completed all scheduled evaluations. The development bundle exposed four unrepaired cases, five environment blockers and one case that already built unchanged.</a:t>
            </a:r>
            <a:endParaRPr/>
          </a:p>
          <a:p>
            <a:pPr marL="0" lvl="0" indent="0" algn="l" rtl="0">
              <a:lnSpc>
                <a:spcPct val="115000"/>
              </a:lnSpc>
              <a:spcBef>
                <a:spcPts val="1200"/>
              </a:spcBef>
              <a:spcAft>
                <a:spcPts val="0"/>
              </a:spcAft>
              <a:buNone/>
            </a:pPr>
            <a:r>
              <a:rPr lang="en-US"/>
              <a:t>Third, we have concrete next steps: test native x86 execution, improve diagnosis and edit correction, and run matched repeats to measure whether history helps.</a:t>
            </a:r>
            <a:endParaRPr/>
          </a:p>
          <a:p>
            <a:pPr marL="0" lvl="0" indent="0" algn="l" rtl="0">
              <a:lnSpc>
                <a:spcPct val="115000"/>
              </a:lnSpc>
              <a:spcBef>
                <a:spcPts val="1200"/>
              </a:spcBef>
              <a:spcAft>
                <a:spcPts val="0"/>
              </a:spcAft>
              <a:buNone/>
            </a:pPr>
            <a:r>
              <a:rPr lang="en-US"/>
              <a:t>Thank you—we’re happy to take questions.</a:t>
            </a:r>
            <a:endParaRPr/>
          </a:p>
          <a:p>
            <a:pPr marL="0" lvl="0" indent="0" algn="l" rtl="0">
              <a:spcBef>
                <a:spcPts val="120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Questions:</a:t>
            </a:r>
            <a:endParaRPr/>
          </a:p>
          <a:p>
            <a:pPr marL="457200" lvl="0" indent="-317500" algn="l" rtl="0">
              <a:spcBef>
                <a:spcPts val="0"/>
              </a:spcBef>
              <a:spcAft>
                <a:spcPts val="0"/>
              </a:spcAft>
              <a:buSzPts val="1400"/>
              <a:buAutoNum type="arabicPeriod"/>
            </a:pPr>
            <a:r>
              <a:rPr lang="en-US"/>
              <a:t>What is Hosted SMoke?</a:t>
            </a:r>
            <a:br>
              <a:rPr lang="en-US"/>
            </a:br>
            <a:r>
              <a:rPr lang="en-US">
                <a:solidFill>
                  <a:srgbClr val="000000"/>
                </a:solidFill>
                <a:latin typeface="Arial"/>
                <a:ea typeface="Arial"/>
                <a:cs typeface="Arial"/>
                <a:sym typeface="Arial"/>
              </a:rPr>
              <a:t>“Hosted Smoke checks whether our submitted agent works under the organizers’ runtime and can make an official model call and a validated repair. We haven’t run it yet. Our local prototype works, but we still need to adapt model access and ensure it operates without our local build-feedback callback.”</a:t>
            </a:r>
            <a:endParaRPr>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AutoNum type="arabicPeriod"/>
            </a:pPr>
            <a:r>
              <a:rPr lang="en-US">
                <a:solidFill>
                  <a:srgbClr val="000000"/>
                </a:solidFill>
                <a:latin typeface="Arial"/>
                <a:ea typeface="Arial"/>
                <a:cs typeface="Arial"/>
                <a:sym typeface="Arial"/>
              </a:rPr>
              <a:t>How did you do the local build feedback callback?</a:t>
            </a:r>
            <a:endParaRPr>
              <a:solidFill>
                <a:srgbClr val="000000"/>
              </a:solidFill>
              <a:latin typeface="Arial"/>
              <a:ea typeface="Arial"/>
              <a:cs typeface="Arial"/>
              <a:sym typeface="Arial"/>
            </a:endParaRPr>
          </a:p>
          <a:p>
            <a:pPr marL="457200" lvl="0" indent="0" algn="l" rtl="0">
              <a:lnSpc>
                <a:spcPct val="115000"/>
              </a:lnSpc>
              <a:spcBef>
                <a:spcPts val="1200"/>
              </a:spcBef>
              <a:spcAft>
                <a:spcPts val="0"/>
              </a:spcAft>
              <a:buNone/>
            </a:pPr>
            <a:r>
              <a:rPr lang="en-US" sz="1100">
                <a:solidFill>
                  <a:srgbClr val="000000"/>
                </a:solidFill>
                <a:latin typeface="Arial"/>
                <a:ea typeface="Arial"/>
                <a:cs typeface="Arial"/>
                <a:sym typeface="Arial"/>
              </a:rPr>
              <a:t>In our system:</a:t>
            </a:r>
            <a:endParaRPr sz="1100">
              <a:solidFill>
                <a:srgbClr val="000000"/>
              </a:solidFill>
              <a:latin typeface="Arial"/>
              <a:ea typeface="Arial"/>
              <a:cs typeface="Arial"/>
              <a:sym typeface="Arial"/>
            </a:endParaRPr>
          </a:p>
          <a:p>
            <a:pPr marL="914400" lvl="0" indent="-298450" algn="l" rtl="0">
              <a:lnSpc>
                <a:spcPct val="115000"/>
              </a:lnSpc>
              <a:spcBef>
                <a:spcPts val="1200"/>
              </a:spcBef>
              <a:spcAft>
                <a:spcPts val="0"/>
              </a:spcAft>
              <a:buSzPts val="1100"/>
              <a:buAutoNum type="arabicPeriod"/>
            </a:pPr>
            <a:r>
              <a:rPr lang="en-US" sz="1100">
                <a:solidFill>
                  <a:srgbClr val="000000"/>
                </a:solidFill>
                <a:latin typeface="Arial"/>
                <a:ea typeface="Arial"/>
                <a:cs typeface="Arial"/>
                <a:sym typeface="Arial"/>
              </a:rPr>
              <a:t>The agent applies an edit.</a:t>
            </a:r>
            <a:endParaRPr sz="1100">
              <a:solidFill>
                <a:srgbClr val="000000"/>
              </a:solidFill>
              <a:latin typeface="Arial"/>
              <a:ea typeface="Arial"/>
              <a:cs typeface="Arial"/>
              <a:sym typeface="Arial"/>
            </a:endParaRPr>
          </a:p>
          <a:p>
            <a:pPr marL="914400" lvl="0" indent="-298450" algn="l" rtl="0">
              <a:lnSpc>
                <a:spcPct val="115000"/>
              </a:lnSpc>
              <a:spcBef>
                <a:spcPts val="0"/>
              </a:spcBef>
              <a:spcAft>
                <a:spcPts val="0"/>
              </a:spcAft>
              <a:buSzPts val="1100"/>
              <a:buAutoNum type="arabicPeriod"/>
            </a:pPr>
            <a:r>
              <a:rPr lang="en-US" sz="1100">
                <a:solidFill>
                  <a:srgbClr val="000000"/>
                </a:solidFill>
                <a:latin typeface="Arial"/>
                <a:ea typeface="Arial"/>
                <a:cs typeface="Arial"/>
                <a:sym typeface="Arial"/>
              </a:rPr>
              <a:t>The repair controller calls the build-feedback function.</a:t>
            </a:r>
            <a:endParaRPr sz="1100">
              <a:solidFill>
                <a:srgbClr val="000000"/>
              </a:solidFill>
              <a:latin typeface="Arial"/>
              <a:ea typeface="Arial"/>
              <a:cs typeface="Arial"/>
              <a:sym typeface="Arial"/>
            </a:endParaRPr>
          </a:p>
          <a:p>
            <a:pPr marL="914400" lvl="0" indent="-298450" algn="l" rtl="0">
              <a:lnSpc>
                <a:spcPct val="115000"/>
              </a:lnSpc>
              <a:spcBef>
                <a:spcPts val="0"/>
              </a:spcBef>
              <a:spcAft>
                <a:spcPts val="0"/>
              </a:spcAft>
              <a:buSzPts val="1100"/>
              <a:buAutoNum type="arabicPeriod"/>
            </a:pPr>
            <a:r>
              <a:rPr lang="en-US" sz="1100">
                <a:solidFill>
                  <a:srgbClr val="000000"/>
                </a:solidFill>
                <a:latin typeface="Arial"/>
                <a:ea typeface="Arial"/>
                <a:cs typeface="Arial"/>
                <a:sym typeface="Arial"/>
              </a:rPr>
              <a:t>Our </a:t>
            </a:r>
            <a:r>
              <a:rPr lang="en-US" sz="1100" b="1">
                <a:solidFill>
                  <a:srgbClr val="000000"/>
                </a:solidFill>
                <a:latin typeface="Arial"/>
                <a:ea typeface="Arial"/>
                <a:cs typeface="Arial"/>
                <a:sym typeface="Arial"/>
              </a:rPr>
              <a:t>harness</a:t>
            </a:r>
            <a:r>
              <a:rPr lang="en-US" sz="1100">
                <a:solidFill>
                  <a:srgbClr val="000000"/>
                </a:solidFill>
                <a:latin typeface="Arial"/>
                <a:ea typeface="Arial"/>
                <a:cs typeface="Arial"/>
                <a:sym typeface="Arial"/>
              </a:rPr>
              <a:t> prepares a copy of the modified package and runs the real validator build.</a:t>
            </a:r>
            <a:endParaRPr sz="1100">
              <a:solidFill>
                <a:srgbClr val="000000"/>
              </a:solidFill>
              <a:latin typeface="Arial"/>
              <a:ea typeface="Arial"/>
              <a:cs typeface="Arial"/>
              <a:sym typeface="Arial"/>
            </a:endParaRPr>
          </a:p>
          <a:p>
            <a:pPr marL="914400" lvl="0" indent="-298450" algn="l" rtl="0">
              <a:lnSpc>
                <a:spcPct val="115000"/>
              </a:lnSpc>
              <a:spcBef>
                <a:spcPts val="0"/>
              </a:spcBef>
              <a:spcAft>
                <a:spcPts val="0"/>
              </a:spcAft>
              <a:buSzPts val="1100"/>
              <a:buAutoNum type="arabicPeriod"/>
            </a:pPr>
            <a:r>
              <a:rPr lang="en-US" sz="1100">
                <a:solidFill>
                  <a:srgbClr val="000000"/>
                </a:solidFill>
                <a:latin typeface="Arial"/>
                <a:ea typeface="Arial"/>
                <a:cs typeface="Arial"/>
                <a:sym typeface="Arial"/>
              </a:rPr>
              <a:t>It returns the build outcome and diagnostic information.</a:t>
            </a:r>
            <a:endParaRPr sz="1100">
              <a:solidFill>
                <a:srgbClr val="000000"/>
              </a:solidFill>
              <a:latin typeface="Arial"/>
              <a:ea typeface="Arial"/>
              <a:cs typeface="Arial"/>
              <a:sym typeface="Arial"/>
            </a:endParaRPr>
          </a:p>
          <a:p>
            <a:pPr marL="914400" lvl="0" indent="-298450" algn="l" rtl="0">
              <a:lnSpc>
                <a:spcPct val="115000"/>
              </a:lnSpc>
              <a:spcBef>
                <a:spcPts val="0"/>
              </a:spcBef>
              <a:spcAft>
                <a:spcPts val="0"/>
              </a:spcAft>
              <a:buSzPts val="1100"/>
              <a:buAutoNum type="arabicPeriod"/>
            </a:pPr>
            <a:r>
              <a:rPr lang="en-US" sz="1100">
                <a:solidFill>
                  <a:srgbClr val="000000"/>
                </a:solidFill>
                <a:latin typeface="Arial"/>
                <a:ea typeface="Arial"/>
                <a:cs typeface="Arial"/>
                <a:sym typeface="Arial"/>
              </a:rPr>
              <a:t>The agent uses that feedback to decide whether to revise its repair.</a:t>
            </a:r>
            <a:endParaRPr sz="1100">
              <a:solidFill>
                <a:srgbClr val="000000"/>
              </a:solidFill>
              <a:latin typeface="Arial"/>
              <a:ea typeface="Arial"/>
              <a:cs typeface="Arial"/>
              <a:sym typeface="Arial"/>
            </a:endParaRPr>
          </a:p>
          <a:p>
            <a:pPr marL="0" lvl="0" indent="0" algn="l" rtl="0">
              <a:lnSpc>
                <a:spcPct val="115000"/>
              </a:lnSpc>
              <a:spcBef>
                <a:spcPts val="1200"/>
              </a:spcBef>
              <a:spcAft>
                <a:spcPts val="0"/>
              </a:spcAft>
              <a:buNone/>
            </a:pPr>
            <a:r>
              <a:rPr lang="en-US" sz="1100">
                <a:solidFill>
                  <a:srgbClr val="000000"/>
                </a:solidFill>
                <a:latin typeface="Arial"/>
                <a:ea typeface="Arial"/>
                <a:cs typeface="Arial"/>
                <a:sym typeface="Arial"/>
              </a:rPr>
              <a:t>3. </a:t>
            </a:r>
            <a:r>
              <a:rPr lang="en-US">
                <a:solidFill>
                  <a:srgbClr val="000000"/>
                </a:solidFill>
                <a:latin typeface="Arial"/>
                <a:ea typeface="Arial"/>
                <a:cs typeface="Arial"/>
                <a:sym typeface="Arial"/>
              </a:rPr>
              <a:t>can you summarize your system and how the full-agent worked?</a:t>
            </a:r>
            <a:endParaRPr>
              <a:solidFill>
                <a:srgbClr val="000000"/>
              </a:solidFill>
              <a:latin typeface="Arial"/>
              <a:ea typeface="Arial"/>
              <a:cs typeface="Arial"/>
              <a:sym typeface="Arial"/>
            </a:endParaRPr>
          </a:p>
          <a:p>
            <a:pPr marL="0" lvl="0" indent="0" algn="l" rtl="0">
              <a:lnSpc>
                <a:spcPct val="115000"/>
              </a:lnSpc>
              <a:spcBef>
                <a:spcPts val="1200"/>
              </a:spcBef>
              <a:spcAft>
                <a:spcPts val="0"/>
              </a:spcAft>
              <a:buNone/>
            </a:pPr>
            <a:r>
              <a:rPr lang="en-US">
                <a:solidFill>
                  <a:srgbClr val="000000"/>
                </a:solidFill>
                <a:latin typeface="Arial"/>
                <a:ea typeface="Arial"/>
                <a:cs typeface="Arial"/>
                <a:sym typeface="Arial"/>
              </a:rPr>
              <a:t>Answer: </a:t>
            </a:r>
            <a:endParaRPr>
              <a:solidFill>
                <a:srgbClr val="000000"/>
              </a:solidFill>
              <a:latin typeface="Arial"/>
              <a:ea typeface="Arial"/>
              <a:cs typeface="Arial"/>
              <a:sym typeface="Arial"/>
            </a:endParaRPr>
          </a:p>
          <a:p>
            <a:pPr marL="1371600" lvl="0" indent="0" algn="l" rtl="0">
              <a:spcBef>
                <a:spcPts val="1200"/>
              </a:spcBef>
              <a:spcAft>
                <a:spcPts val="0"/>
              </a:spcAft>
              <a:buNone/>
            </a:pPr>
            <a:endParaRPr>
              <a:solidFill>
                <a:srgbClr val="000000"/>
              </a:solidFill>
              <a:latin typeface="Arial"/>
              <a:ea typeface="Arial"/>
              <a:cs typeface="Arial"/>
              <a:sym typeface="Arial"/>
            </a:endParaRPr>
          </a:p>
        </p:txBody>
      </p:sp>
      <p:sp>
        <p:nvSpPr>
          <p:cNvPr id="308" name="Google Shape;30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[Presenter B] · about 35 seconds </a:t>
            </a:r>
            <a:endParaRPr/>
          </a:p>
          <a:p>
            <a:pPr marL="0" lvl="0" indent="0" algn="l" rtl="0">
              <a:lnSpc>
                <a:spcPct val="115000"/>
              </a:lnSpc>
              <a:spcBef>
                <a:spcPts val="1200"/>
              </a:spcBef>
              <a:spcAft>
                <a:spcPts val="0"/>
              </a:spcAft>
              <a:buNone/>
            </a:pPr>
            <a:r>
              <a:rPr lang="en-US"/>
              <a:t>The implementation is modular, with shared contracts between the evidence manager, tools, repair controller and build harness.</a:t>
            </a:r>
            <a:endParaRPr/>
          </a:p>
          <a:p>
            <a:pPr marL="0" lvl="0" indent="0" algn="l" rtl="0">
              <a:lnSpc>
                <a:spcPct val="115000"/>
              </a:lnSpc>
              <a:spcBef>
                <a:spcPts val="1200"/>
              </a:spcBef>
              <a:spcAft>
                <a:spcPts val="0"/>
              </a:spcAft>
              <a:buNone/>
            </a:pPr>
            <a:r>
              <a:rPr lang="en-US"/>
              <a:t>At the recorded code milestone, three hundred and twenty full-agent tests and seventy-nine harness tests passed. Fifteen TA-wrapper tests passed later; those are separate checks, rather than one combined CI result.</a:t>
            </a:r>
            <a:endParaRPr/>
          </a:p>
          <a:p>
            <a:pPr marL="0" lvl="0" indent="0" algn="l" rtl="0">
              <a:lnSpc>
                <a:spcPct val="115000"/>
              </a:lnSpc>
              <a:spcBef>
                <a:spcPts val="1200"/>
              </a:spcBef>
              <a:spcAft>
                <a:spcPts val="0"/>
              </a:spcAft>
              <a:buNone/>
            </a:pPr>
            <a:r>
              <a:rPr lang="en-US"/>
              <a:t>The agent uses Python’s standard library, although the build environment still requires Docker and system tools.</a:t>
            </a:r>
            <a:endParaRPr/>
          </a:p>
          <a:p>
            <a:pPr marL="0" lvl="0" indent="0" algn="l" rtl="0">
              <a:lnSpc>
                <a:spcPct val="115000"/>
              </a:lnSpc>
              <a:spcBef>
                <a:spcPts val="1200"/>
              </a:spcBef>
              <a:spcAft>
                <a:spcPts val="0"/>
              </a:spcAft>
              <a:buNone/>
            </a:pPr>
            <a:r>
              <a:rPr lang="en-US"/>
              <a:t>Capability switches support future controlled comparisons, and the frozen baseline provides a stable reference.</a:t>
            </a:r>
            <a:endParaRPr/>
          </a:p>
          <a:p>
            <a:pPr marL="0" lvl="0" indent="0" algn="l" rtl="0">
              <a:lnSpc>
                <a:spcPct val="115000"/>
              </a:lnSpc>
              <a:spcBef>
                <a:spcPts val="1200"/>
              </a:spcBef>
              <a:spcAft>
                <a:spcPts val="0"/>
              </a:spcAft>
              <a:buNone/>
            </a:pPr>
            <a:r>
              <a:rPr lang="en-US"/>
              <a:t>We retain model responses, edits, build outcomes and token usage so failures can be inspected. The agent’s tools constrain file access and edits and provide no general shell execution; the harness performs the real builds.</a:t>
            </a:r>
            <a:endParaRPr/>
          </a:p>
          <a:p>
            <a:pPr marL="0" lvl="0" indent="0" algn="l" rtl="0">
              <a:spcBef>
                <a:spcPts val="1200"/>
              </a:spcBef>
              <a:spcAft>
                <a:spcPts val="0"/>
              </a:spcAft>
              <a:buNone/>
            </a:pPr>
            <a:endParaRPr/>
          </a:p>
        </p:txBody>
      </p:sp>
      <p:sp>
        <p:nvSpPr>
          <p:cNvPr id="322" name="Google Shape;32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Backup for the question “why not use the model’s built-in tool calling?” </a:t>
            </a:r>
            <a:endParaRPr/>
          </a:p>
          <a:p>
            <a:pPr marL="0" lvl="0" indent="0" algn="l" rtl="0">
              <a:spcBef>
                <a:spcPts val="0"/>
              </a:spcBef>
              <a:spcAft>
                <a:spcPts val="0"/>
              </a:spcAft>
              <a:buNone/>
            </a:pPr>
            <a:endParaRPr/>
          </a:p>
          <a:p>
            <a:pPr marL="0" lvl="0" indent="0" algn="l" rtl="0">
              <a:spcBef>
                <a:spcPts val="0"/>
              </a:spcBef>
              <a:spcAft>
                <a:spcPts val="0"/>
              </a:spcAft>
              <a:buNone/>
            </a:pPr>
            <a:r>
              <a:rPr lang="en-US"/>
              <a:t>OpenAI-compatible describes the request format, not what a given server supports. Tool calling varies by server and model, and we don’t know the competition’s. Plain text is the one thing every endpoint guarantees. </a:t>
            </a:r>
            <a:endParaRPr/>
          </a:p>
          <a:p>
            <a:pPr marL="0" lvl="0" indent="0" algn="l" rtl="0">
              <a:spcBef>
                <a:spcPts val="0"/>
              </a:spcBef>
              <a:spcAft>
                <a:spcPts val="0"/>
              </a:spcAft>
              <a:buNone/>
            </a:pPr>
            <a:endParaRPr/>
          </a:p>
          <a:p>
            <a:pPr marL="0" lvl="0" indent="0" algn="l" rtl="0">
              <a:spcBef>
                <a:spcPts val="0"/>
              </a:spcBef>
              <a:spcAft>
                <a:spcPts val="0"/>
              </a:spcAft>
              <a:buNone/>
            </a:pPr>
            <a:r>
              <a:rPr lang="en-US"/>
              <a:t>The baseline uses the same format, so the Demo 3 comparison isn’t mixing two formats. If the organizers confirm tool calling, only the layer that turns a reply into an action changes.</a:t>
            </a:r>
            <a:endParaRPr/>
          </a:p>
        </p:txBody>
      </p:sp>
      <p:sp>
        <p:nvSpPr>
          <p:cNvPr id="354" name="Google Shape;354;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Backup for “does your local setup match the competition?” </a:t>
            </a:r>
            <a:endParaRPr/>
          </a:p>
          <a:p>
            <a:pPr marL="0" lvl="0" indent="0" algn="l" rtl="0">
              <a:spcBef>
                <a:spcPts val="0"/>
              </a:spcBef>
              <a:spcAft>
                <a:spcPts val="0"/>
              </a:spcAft>
              <a:buNone/>
            </a:pPr>
            <a:endParaRPr/>
          </a:p>
          <a:p>
            <a:pPr marL="0" lvl="0" indent="0" algn="l" rtl="0">
              <a:spcBef>
                <a:spcPts val="0"/>
              </a:spcBef>
              <a:spcAft>
                <a:spcPts val="0"/>
              </a:spcAft>
              <a:buNone/>
            </a:pPr>
            <a:r>
              <a:rPr lang="en-US"/>
              <a:t>Not fully, and we design for the gap. Locally we use gpt-oss-120b and real validator builds after every attempt. </a:t>
            </a:r>
            <a:endParaRPr/>
          </a:p>
          <a:p>
            <a:pPr marL="0" lvl="0" indent="0" algn="l" rtl="0">
              <a:spcBef>
                <a:spcPts val="0"/>
              </a:spcBef>
              <a:spcAft>
                <a:spcPts val="0"/>
              </a:spcAft>
              <a:buNone/>
            </a:pPr>
            <a:endParaRPr/>
          </a:p>
          <a:p>
            <a:pPr marL="0" lvl="0" indent="0" algn="l" rtl="0">
              <a:spcBef>
                <a:spcPts val="0"/>
              </a:spcBef>
              <a:spcAft>
                <a:spcPts val="0"/>
              </a:spcAft>
              <a:buNone/>
            </a:pPr>
            <a:r>
              <a:rPr lang="en-US"/>
              <a:t>In the competition the model is undisclosed and the build service’s protocol isn’t published, so the agent must still investigate and submit without testing. </a:t>
            </a:r>
            <a:endParaRPr/>
          </a:p>
          <a:p>
            <a:pPr marL="0" lvl="0" indent="0" algn="l" rtl="0">
              <a:spcBef>
                <a:spcPts val="0"/>
              </a:spcBef>
              <a:spcAft>
                <a:spcPts val="0"/>
              </a:spcAft>
              <a:buNone/>
            </a:pPr>
            <a:endParaRPr/>
          </a:p>
          <a:p>
            <a:pPr marL="0" lvl="0" indent="0" algn="l" rtl="0">
              <a:spcBef>
                <a:spcPts val="0"/>
              </a:spcBef>
              <a:spcAft>
                <a:spcPts val="0"/>
              </a:spcAft>
              <a:buNone/>
            </a:pPr>
            <a:r>
              <a:rPr lang="en-US"/>
              <a:t>Excerpt mode exists so we don’t tune the agent to full logs it won’t get. Our budgets are research settings until the organizers publish theirs.</a:t>
            </a:r>
            <a:endParaRPr/>
          </a:p>
        </p:txBody>
      </p:sp>
      <p:sp>
        <p:nvSpPr>
          <p:cNvPr id="373" name="Google Shape;37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cSld name="Title and body">
    <p:bg>
      <p:bgPr>
        <a:solidFill>
          <a:srgbClr val="F6F7F4"/>
        </a:solidFill>
        <a:effectLst/>
      </p:bgPr>
    </p:bg>
    <p:spTree>
      <p:nvGrpSpPr>
        <p:cNvPr id="1" name="Shape 12"/>
        <p:cNvGrpSpPr/>
        <p:nvPr/>
      </p:nvGrpSpPr>
      <p:grpSpPr>
        <a:xfrm>
          <a:off x="0" y="0"/>
          <a:ext cx="0" cy="0"/>
          <a:chOff x="0" y="0"/>
          <a:chExt cx="0" cy="0"/>
        </a:xfrm>
      </p:grpSpPr>
      <p:sp>
        <p:nvSpPr>
          <p:cNvPr id="13" name="Google Shape;13;p17"/>
          <p:cNvSpPr txBox="1">
            <a:spLocks noGrp="1"/>
          </p:cNvSpPr>
          <p:nvPr>
            <p:ph type="title"/>
          </p:nvPr>
        </p:nvSpPr>
        <p:spPr>
          <a:xfrm>
            <a:off x="812750" y="609563"/>
            <a:ext cx="10566473" cy="817822"/>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rgbClr val="14304F"/>
              </a:buClr>
              <a:buSzPts val="2800"/>
              <a:buFont typeface="IBM Plex Sans"/>
              <a:buNone/>
              <a:defRPr sz="2800">
                <a:solidFill>
                  <a:srgbClr val="14304F"/>
                </a:solidFill>
                <a:latin typeface="IBM Plex Sans"/>
                <a:ea typeface="IBM Plex Sans"/>
                <a:cs typeface="IBM Plex Sans"/>
                <a:sym typeface="IBM Plex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17"/>
          <p:cNvSpPr txBox="1">
            <a:spLocks noGrp="1"/>
          </p:cNvSpPr>
          <p:nvPr>
            <p:ph type="body" idx="1"/>
          </p:nvPr>
        </p:nvSpPr>
        <p:spPr>
          <a:xfrm>
            <a:off x="812750" y="1732185"/>
            <a:ext cx="10566450" cy="4313015"/>
          </a:xfrm>
          <a:prstGeom prst="rect">
            <a:avLst/>
          </a:prstGeom>
          <a:noFill/>
          <a:ln>
            <a:noFill/>
          </a:ln>
        </p:spPr>
        <p:txBody>
          <a:bodyPr spcFirstLastPara="1" wrap="square" lIns="0" tIns="0" rIns="0" bIns="0" anchor="t" anchorCtr="0">
            <a:noAutofit/>
          </a:bodyPr>
          <a:lstStyle>
            <a:lvl1pPr marL="457200" lvl="0" indent="-228600" algn="l">
              <a:lnSpc>
                <a:spcPct val="140000"/>
              </a:lnSpc>
              <a:spcBef>
                <a:spcPts val="320"/>
              </a:spcBef>
              <a:spcAft>
                <a:spcPts val="0"/>
              </a:spcAft>
              <a:buClr>
                <a:srgbClr val="14304F"/>
              </a:buClr>
              <a:buSzPts val="1600"/>
              <a:buNone/>
              <a:defRPr sz="1600">
                <a:solidFill>
                  <a:srgbClr val="14304F"/>
                </a:solidFill>
                <a:latin typeface="IBM Plex Sans"/>
                <a:ea typeface="IBM Plex Sans"/>
                <a:cs typeface="IBM Plex Sans"/>
                <a:sym typeface="IBM Plex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12750" y="609563"/>
            <a:ext cx="10566473" cy="817822"/>
          </a:xfrm>
          <a:prstGeom prst="rect">
            <a:avLst/>
          </a:prstGeom>
          <a:noFill/>
          <a:ln>
            <a:noFill/>
          </a:ln>
        </p:spPr>
        <p:txBody>
          <a:bodyPr spcFirstLastPara="1" wrap="square" lIns="0" tIns="0" rIns="0" bIns="0" anchor="t" anchorCtr="0">
            <a:noAutofit/>
          </a:bodyPr>
          <a:lstStyle>
            <a:lvl1pPr marR="0" lvl="0" algn="l" rtl="0">
              <a:lnSpc>
                <a:spcPct val="115000"/>
              </a:lnSpc>
              <a:spcBef>
                <a:spcPts val="0"/>
              </a:spcBef>
              <a:spcAft>
                <a:spcPts val="0"/>
              </a:spcAft>
              <a:buClr>
                <a:srgbClr val="14304F"/>
              </a:buClr>
              <a:buSzPts val="2800"/>
              <a:buFont typeface="IBM Plex Sans"/>
              <a:buNone/>
              <a:defRPr sz="2800" b="0" i="0" u="none" strike="noStrike" cap="none">
                <a:solidFill>
                  <a:srgbClr val="14304F"/>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812750" y="1732185"/>
            <a:ext cx="10566450" cy="4313015"/>
          </a:xfrm>
          <a:prstGeom prst="rect">
            <a:avLst/>
          </a:prstGeom>
          <a:noFill/>
          <a:ln>
            <a:noFill/>
          </a:ln>
        </p:spPr>
        <p:txBody>
          <a:bodyPr spcFirstLastPara="1" wrap="square" lIns="0" tIns="0" rIns="0" bIns="0" anchor="t" anchorCtr="0">
            <a:noAutofit/>
          </a:bodyPr>
          <a:lstStyle>
            <a:lvl1pPr marL="457200" marR="0" lvl="0" indent="-228600" algn="l" rtl="0">
              <a:lnSpc>
                <a:spcPct val="140000"/>
              </a:lnSpc>
              <a:spcBef>
                <a:spcPts val="320"/>
              </a:spcBef>
              <a:spcAft>
                <a:spcPts val="0"/>
              </a:spcAft>
              <a:buClr>
                <a:srgbClr val="14304F"/>
              </a:buClr>
              <a:buSzPts val="1600"/>
              <a:buFont typeface="Arial"/>
              <a:buNone/>
              <a:defRPr sz="1600" b="0" i="0" u="none" strike="noStrike" cap="none">
                <a:solidFill>
                  <a:srgbClr val="14304F"/>
                </a:solidFill>
                <a:latin typeface="IBM Plex Sans"/>
                <a:ea typeface="IBM Plex Sans"/>
                <a:cs typeface="IBM Plex Sans"/>
                <a:sym typeface="IBM Plex Sans"/>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IBM Plex Sans"/>
                <a:ea typeface="IBM Plex Sans"/>
                <a:cs typeface="IBM Plex Sans"/>
                <a:sym typeface="IBM Plex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IBM Plex Sans"/>
                <a:ea typeface="IBM Plex Sans"/>
                <a:cs typeface="IBM Plex Sans"/>
                <a:sym typeface="IBM Plex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IBM Plex Sans"/>
                <a:ea typeface="IBM Plex Sans"/>
                <a:cs typeface="IBM Plex Sans"/>
                <a:sym typeface="IBM Plex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IBM Plex Sans"/>
                <a:ea typeface="IBM Plex Sans"/>
                <a:cs typeface="IBM Plex Sans"/>
                <a:sym typeface="IBM Plex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IBM Plex Sans"/>
                <a:ea typeface="IBM Plex Sans"/>
                <a:cs typeface="IBM Plex Sans"/>
                <a:sym typeface="IBM Plex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IBM Plex Sans"/>
                <a:ea typeface="IBM Plex Sans"/>
                <a:cs typeface="IBM Plex Sans"/>
                <a:sym typeface="IBM Plex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IBM Plex Sans"/>
                <a:ea typeface="IBM Plex Sans"/>
                <a:cs typeface="IBM Plex Sans"/>
                <a:sym typeface="IBM Plex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IBM Plex Sans"/>
                <a:ea typeface="IBM Plex Sans"/>
                <a:cs typeface="IBM Plex Sans"/>
                <a:sym typeface="IBM Plex Sa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304F"/>
        </a:solidFill>
        <a:effectLst/>
      </p:bgPr>
    </p:bg>
    <p:spTree>
      <p:nvGrpSpPr>
        <p:cNvPr id="1" name="Shape 20"/>
        <p:cNvGrpSpPr/>
        <p:nvPr/>
      </p:nvGrpSpPr>
      <p:grpSpPr>
        <a:xfrm>
          <a:off x="0" y="0"/>
          <a:ext cx="0" cy="0"/>
          <a:chOff x="0" y="0"/>
          <a:chExt cx="0" cy="0"/>
        </a:xfrm>
      </p:grpSpPr>
      <p:sp>
        <p:nvSpPr>
          <p:cNvPr id="21" name="Google Shape;21;p1"/>
          <p:cNvSpPr/>
          <p:nvPr/>
        </p:nvSpPr>
        <p:spPr>
          <a:xfrm>
            <a:off x="812750" y="812750"/>
            <a:ext cx="10883467" cy="274357"/>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9C7D6"/>
              </a:buClr>
              <a:buSzPts val="1400"/>
              <a:buFont typeface="IBM Plex Sans"/>
              <a:buNone/>
            </a:pPr>
            <a:r>
              <a:rPr lang="en-US" sz="1400" b="0" i="0" u="none" strike="noStrike" cap="none">
                <a:solidFill>
                  <a:srgbClr val="B9C7D6"/>
                </a:solidFill>
                <a:latin typeface="IBM Plex Sans"/>
                <a:ea typeface="IBM Plex Sans"/>
                <a:cs typeface="IBM Plex Sans"/>
                <a:sym typeface="IBM Plex Sans"/>
              </a:rPr>
              <a:t>Boston University · EC528 Cloud Computing · Fall 2026</a:t>
            </a:r>
            <a:endParaRPr sz="1400" b="0" i="0" u="none" strike="noStrike" cap="none">
              <a:solidFill>
                <a:schemeClr val="dk1"/>
              </a:solidFill>
              <a:latin typeface="IBM Plex Sans"/>
              <a:ea typeface="IBM Plex Sans"/>
              <a:cs typeface="IBM Plex Sans"/>
              <a:sym typeface="IBM Plex Sans"/>
            </a:endParaRPr>
          </a:p>
        </p:txBody>
      </p:sp>
      <p:sp>
        <p:nvSpPr>
          <p:cNvPr id="22" name="Google Shape;22;p1"/>
          <p:cNvSpPr/>
          <p:nvPr/>
        </p:nvSpPr>
        <p:spPr>
          <a:xfrm>
            <a:off x="812750" y="1264895"/>
            <a:ext cx="761968" cy="50782"/>
          </a:xfrm>
          <a:prstGeom prst="rect">
            <a:avLst/>
          </a:prstGeom>
          <a:solidFill>
            <a:srgbClr val="F2A6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1"/>
          <p:cNvSpPr txBox="1">
            <a:spLocks noGrp="1"/>
          </p:cNvSpPr>
          <p:nvPr>
            <p:ph type="title"/>
          </p:nvPr>
        </p:nvSpPr>
        <p:spPr>
          <a:xfrm>
            <a:off x="812750" y="1518864"/>
            <a:ext cx="10883467" cy="718773"/>
          </a:xfrm>
          <a:prstGeom prst="rect">
            <a:avLst/>
          </a:prstGeom>
          <a:noFill/>
          <a:ln>
            <a:noFill/>
          </a:ln>
        </p:spPr>
        <p:txBody>
          <a:bodyPr spcFirstLastPara="1" wrap="square" lIns="0" tIns="0" rIns="0" bIns="0" anchor="t" anchorCtr="0">
            <a:normAutofit/>
          </a:bodyPr>
          <a:lstStyle/>
          <a:p>
            <a:pPr marL="0" lvl="0" indent="0" algn="l" rtl="0">
              <a:lnSpc>
                <a:spcPct val="104999"/>
              </a:lnSpc>
              <a:spcBef>
                <a:spcPts val="0"/>
              </a:spcBef>
              <a:spcAft>
                <a:spcPts val="0"/>
              </a:spcAft>
              <a:buClr>
                <a:srgbClr val="F3F5F7"/>
              </a:buClr>
              <a:buSzPts val="5200"/>
              <a:buFont typeface="IBM Plex Sans"/>
              <a:buNone/>
            </a:pPr>
            <a:r>
              <a:rPr lang="en-US" sz="5200" b="1" i="0">
                <a:solidFill>
                  <a:srgbClr val="F3F5F7"/>
                </a:solidFill>
                <a:latin typeface="IBM Plex Sans"/>
                <a:ea typeface="IBM Plex Sans"/>
                <a:cs typeface="IBM Plex Sans"/>
                <a:sym typeface="IBM Plex Sans"/>
              </a:rPr>
              <a:t>Build-Bench Challenge</a:t>
            </a:r>
            <a:endParaRPr sz="5200"/>
          </a:p>
        </p:txBody>
      </p:sp>
      <p:sp>
        <p:nvSpPr>
          <p:cNvPr id="24" name="Google Shape;24;p1"/>
          <p:cNvSpPr/>
          <p:nvPr/>
        </p:nvSpPr>
        <p:spPr>
          <a:xfrm>
            <a:off x="812750" y="2415425"/>
            <a:ext cx="10883467" cy="723785"/>
          </a:xfrm>
          <a:prstGeom prst="rect">
            <a:avLst/>
          </a:prstGeom>
          <a:noFill/>
          <a:ln>
            <a:noFill/>
          </a:ln>
        </p:spPr>
        <p:txBody>
          <a:bodyPr spcFirstLastPara="1" wrap="square" lIns="0" tIns="0" rIns="0" bIns="0" anchor="t" anchorCtr="0">
            <a:normAutofit/>
          </a:bodyPr>
          <a:lstStyle/>
          <a:p>
            <a:pPr marL="0" marR="0" lvl="0" indent="0" algn="l" rtl="0">
              <a:lnSpc>
                <a:spcPct val="125000"/>
              </a:lnSpc>
              <a:spcBef>
                <a:spcPts val="0"/>
              </a:spcBef>
              <a:spcAft>
                <a:spcPts val="0"/>
              </a:spcAft>
              <a:buClr>
                <a:srgbClr val="F3F5F7"/>
              </a:buClr>
              <a:buSzPts val="2200"/>
              <a:buFont typeface="IBM Plex Sans"/>
              <a:buNone/>
            </a:pPr>
            <a:r>
              <a:rPr lang="en-US" sz="2200" b="0" i="0" u="none" strike="noStrike" cap="none">
                <a:solidFill>
                  <a:srgbClr val="F3F5F7"/>
                </a:solidFill>
                <a:latin typeface="IBM Plex Sans"/>
                <a:ea typeface="IBM Plex Sans"/>
                <a:cs typeface="IBM Plex Sans"/>
                <a:sym typeface="IBM Plex Sans"/>
              </a:rPr>
              <a:t>A working agent that repairs packages</a:t>
            </a:r>
            <a:r>
              <a:rPr lang="en-US" sz="2200">
                <a:solidFill>
                  <a:schemeClr val="dk1"/>
                </a:solidFill>
                <a:latin typeface="IBM Plex Sans"/>
                <a:ea typeface="IBM Plex Sans"/>
                <a:cs typeface="IBM Plex Sans"/>
                <a:sym typeface="IBM Plex Sans"/>
              </a:rPr>
              <a:t> </a:t>
            </a:r>
            <a:r>
              <a:rPr lang="en-US" sz="2200" b="0" i="0" u="none" strike="noStrike" cap="none">
                <a:solidFill>
                  <a:srgbClr val="F3F5F7"/>
                </a:solidFill>
                <a:latin typeface="IBM Plex Sans"/>
                <a:ea typeface="IBM Plex Sans"/>
                <a:cs typeface="IBM Plex Sans"/>
                <a:sym typeface="IBM Plex Sans"/>
              </a:rPr>
              <a:t>that fail to build on a new CPU architecture.</a:t>
            </a:r>
            <a:endParaRPr sz="2200" b="0" i="0" u="none" strike="noStrike" cap="none">
              <a:solidFill>
                <a:schemeClr val="dk1"/>
              </a:solidFill>
              <a:latin typeface="IBM Plex Sans"/>
              <a:ea typeface="IBM Plex Sans"/>
              <a:cs typeface="IBM Plex Sans"/>
              <a:sym typeface="IBM Plex Sans"/>
            </a:endParaRPr>
          </a:p>
        </p:txBody>
      </p:sp>
      <p:sp>
        <p:nvSpPr>
          <p:cNvPr id="25" name="Google Shape;25;p1"/>
          <p:cNvSpPr/>
          <p:nvPr/>
        </p:nvSpPr>
        <p:spPr>
          <a:xfrm>
            <a:off x="812750" y="4785442"/>
            <a:ext cx="10883467" cy="30986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2A65A"/>
              </a:buClr>
              <a:buSzPts val="1600"/>
              <a:buFont typeface="IBM Plex Sans"/>
              <a:buNone/>
            </a:pPr>
            <a:r>
              <a:rPr lang="en-US" sz="1600" b="1" i="0" u="none" strike="noStrike" cap="none">
                <a:solidFill>
                  <a:srgbClr val="F2A65A"/>
                </a:solidFill>
                <a:latin typeface="IBM Plex Sans"/>
                <a:ea typeface="IBM Plex Sans"/>
                <a:cs typeface="IBM Plex Sans"/>
                <a:sym typeface="IBM Plex Sans"/>
              </a:rPr>
              <a:t>Demo 2 · Working prototype · October 21, 2026</a:t>
            </a:r>
            <a:endParaRPr sz="1600" b="0" i="0" u="none" strike="noStrike" cap="none">
              <a:solidFill>
                <a:schemeClr val="dk1"/>
              </a:solidFill>
              <a:latin typeface="IBM Plex Sans"/>
              <a:ea typeface="IBM Plex Sans"/>
              <a:cs typeface="IBM Plex Sans"/>
              <a:sym typeface="IBM Plex Sans"/>
            </a:endParaRPr>
          </a:p>
        </p:txBody>
      </p:sp>
      <p:sp>
        <p:nvSpPr>
          <p:cNvPr id="26" name="Google Shape;26;p1"/>
          <p:cNvSpPr/>
          <p:nvPr/>
        </p:nvSpPr>
        <p:spPr>
          <a:xfrm>
            <a:off x="812750" y="5146047"/>
            <a:ext cx="10883467" cy="274357"/>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9C7D6"/>
              </a:buClr>
              <a:buSzPts val="1400"/>
              <a:buFont typeface="IBM Plex Sans"/>
              <a:buNone/>
            </a:pPr>
            <a:r>
              <a:rPr lang="en-US" sz="1400" b="0" i="0" u="none" strike="noStrike" cap="none">
                <a:solidFill>
                  <a:srgbClr val="B9C7D6"/>
                </a:solidFill>
                <a:latin typeface="IBM Plex Sans"/>
                <a:ea typeface="IBM Plex Sans"/>
                <a:cs typeface="IBM Plex Sans"/>
                <a:sym typeface="IBM Plex Sans"/>
              </a:rPr>
              <a:t>Presenters: </a:t>
            </a:r>
            <a:r>
              <a:rPr lang="en-US">
                <a:solidFill>
                  <a:srgbClr val="B9C7D6"/>
                </a:solidFill>
                <a:latin typeface="IBM Plex Sans"/>
                <a:ea typeface="IBM Plex Sans"/>
                <a:cs typeface="IBM Plex Sans"/>
                <a:sym typeface="IBM Plex Sans"/>
              </a:rPr>
              <a:t>Anthony Capraru and Juliette Jacques</a:t>
            </a:r>
            <a:r>
              <a:rPr lang="en-US" sz="1400" b="0" i="0" u="none" strike="noStrike" cap="none">
                <a:solidFill>
                  <a:srgbClr val="B9C7D6"/>
                </a:solidFill>
                <a:latin typeface="IBM Plex Sans"/>
                <a:ea typeface="IBM Plex Sans"/>
                <a:cs typeface="IBM Plex Sans"/>
                <a:sym typeface="IBM Plex Sans"/>
              </a:rPr>
              <a:t> </a:t>
            </a:r>
            <a:endParaRPr sz="1400" b="0" i="0" u="none" strike="noStrike" cap="none">
              <a:solidFill>
                <a:schemeClr val="dk1"/>
              </a:solidFill>
              <a:latin typeface="IBM Plex Sans"/>
              <a:ea typeface="IBM Plex Sans"/>
              <a:cs typeface="IBM Plex Sans"/>
              <a:sym typeface="IBM Plex Sans"/>
            </a:endParaRPr>
          </a:p>
        </p:txBody>
      </p:sp>
      <p:sp>
        <p:nvSpPr>
          <p:cNvPr id="27" name="Google Shape;27;p1"/>
          <p:cNvSpPr/>
          <p:nvPr/>
        </p:nvSpPr>
        <p:spPr>
          <a:xfrm>
            <a:off x="812750" y="5471147"/>
            <a:ext cx="10883467" cy="274357"/>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9C7D6"/>
              </a:buClr>
              <a:buSzPts val="1400"/>
              <a:buFont typeface="IBM Plex Sans"/>
              <a:buNone/>
            </a:pPr>
            <a:r>
              <a:rPr lang="en-US" sz="1400" b="0" i="0" u="none" strike="noStrike" cap="none">
                <a:solidFill>
                  <a:srgbClr val="B9C7D6"/>
                </a:solidFill>
                <a:latin typeface="IBM Plex Sans"/>
                <a:ea typeface="IBM Plex Sans"/>
                <a:cs typeface="IBM Plex Sans"/>
                <a:sym typeface="IBM Plex Sans"/>
              </a:rPr>
              <a:t>Team: Anthony Capraru, Austin Li, Joonseo Moon, Juliette Jacques, Owen Zhang</a:t>
            </a:r>
            <a:endParaRPr sz="1400" b="0" i="0" u="none" strike="noStrike" cap="none">
              <a:solidFill>
                <a:schemeClr val="dk1"/>
              </a:solidFill>
              <a:latin typeface="IBM Plex Sans"/>
              <a:ea typeface="IBM Plex Sans"/>
              <a:cs typeface="IBM Plex Sans"/>
              <a:sym typeface="IBM Plex Sans"/>
            </a:endParaRPr>
          </a:p>
        </p:txBody>
      </p:sp>
      <p:sp>
        <p:nvSpPr>
          <p:cNvPr id="28" name="Google Shape;28;p1"/>
          <p:cNvSpPr/>
          <p:nvPr/>
        </p:nvSpPr>
        <p:spPr>
          <a:xfrm>
            <a:off x="812750" y="5796247"/>
            <a:ext cx="10883467" cy="274357"/>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9C7D6"/>
              </a:buClr>
              <a:buSzPts val="1400"/>
              <a:buFont typeface="IBM Plex Sans"/>
              <a:buNone/>
            </a:pPr>
            <a:r>
              <a:rPr lang="en-US" sz="1400" b="0" i="0" u="none" strike="noStrike" cap="none">
                <a:solidFill>
                  <a:srgbClr val="B9C7D6"/>
                </a:solidFill>
                <a:latin typeface="IBM Plex Sans"/>
                <a:ea typeface="IBM Plex Sans"/>
                <a:cs typeface="IBM Plex Sans"/>
                <a:sym typeface="IBM Plex Sans"/>
              </a:rPr>
              <a:t>Mentor: Minghua Ma, Microsoft</a:t>
            </a:r>
            <a:endParaRPr sz="14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33"/>
        <p:cNvGrpSpPr/>
        <p:nvPr/>
      </p:nvGrpSpPr>
      <p:grpSpPr>
        <a:xfrm>
          <a:off x="0" y="0"/>
          <a:ext cx="0" cy="0"/>
          <a:chOff x="0" y="0"/>
          <a:chExt cx="0" cy="0"/>
        </a:xfrm>
      </p:grpSpPr>
      <p:sp>
        <p:nvSpPr>
          <p:cNvPr id="34" name="Google Shape;34;p2"/>
          <p:cNvSpPr txBox="1">
            <a:spLocks noGrp="1"/>
          </p:cNvSpPr>
          <p:nvPr>
            <p:ph type="title"/>
          </p:nvPr>
        </p:nvSpPr>
        <p:spPr>
          <a:xfrm>
            <a:off x="812750" y="609563"/>
            <a:ext cx="10883467" cy="843222"/>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4304F"/>
              </a:buClr>
              <a:buSzPts val="2800"/>
              <a:buFont typeface="IBM Plex Sans"/>
              <a:buNone/>
            </a:pPr>
            <a:r>
              <a:rPr lang="en-US" sz="2800" b="1" i="0">
                <a:solidFill>
                  <a:srgbClr val="14304F"/>
                </a:solidFill>
                <a:latin typeface="IBM Plex Sans"/>
                <a:ea typeface="IBM Plex Sans"/>
                <a:cs typeface="IBM Plex Sans"/>
                <a:sym typeface="IBM Plex Sans"/>
              </a:rPr>
              <a:t>A package that builds on x86 can fail on ARM. We repair it, and only the organizers’ clean build can say it worked</a:t>
            </a:r>
            <a:endParaRPr sz="2800"/>
          </a:p>
        </p:txBody>
      </p:sp>
      <p:sp>
        <p:nvSpPr>
          <p:cNvPr id="35" name="Google Shape;35;p2"/>
          <p:cNvSpPr/>
          <p:nvPr/>
        </p:nvSpPr>
        <p:spPr>
          <a:xfrm>
            <a:off x="819100" y="1789328"/>
            <a:ext cx="5668820" cy="3070919"/>
          </a:xfrm>
          <a:prstGeom prst="roundRect">
            <a:avLst>
              <a:gd name="adj" fmla="val 3102"/>
            </a:avLst>
          </a:prstGeom>
          <a:solidFill>
            <a:srgbClr val="FCFCFA"/>
          </a:solidFill>
          <a:ln w="12700" cap="flat" cmpd="sng">
            <a:solidFill>
              <a:srgbClr val="D5DBE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1078313" y="2048540"/>
            <a:ext cx="5304906"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4530F"/>
              </a:buClr>
              <a:buSzPts val="1200"/>
              <a:buFont typeface="IBM Plex Sans"/>
              <a:buNone/>
            </a:pPr>
            <a:r>
              <a:rPr lang="en-US" sz="1200" b="1" i="0" u="none" strike="noStrike" cap="none">
                <a:solidFill>
                  <a:srgbClr val="B4530F"/>
                </a:solidFill>
                <a:latin typeface="IBM Plex Sans"/>
                <a:ea typeface="IBM Plex Sans"/>
                <a:cs typeface="IBM Plex Sans"/>
                <a:sym typeface="IBM Plex Sans"/>
              </a:rPr>
              <a:t>REAL CASE · r-cran-digest · amd64 → arm64</a:t>
            </a:r>
            <a:endParaRPr sz="1200" b="0" i="0" u="none" strike="noStrike" cap="none">
              <a:solidFill>
                <a:schemeClr val="dk1"/>
              </a:solidFill>
              <a:latin typeface="IBM Plex Sans"/>
              <a:ea typeface="IBM Plex Sans"/>
              <a:cs typeface="IBM Plex Sans"/>
              <a:sym typeface="IBM Plex Sans"/>
            </a:endParaRPr>
          </a:p>
        </p:txBody>
      </p:sp>
      <p:sp>
        <p:nvSpPr>
          <p:cNvPr id="37" name="Google Shape;37;p2"/>
          <p:cNvSpPr/>
          <p:nvPr/>
        </p:nvSpPr>
        <p:spPr>
          <a:xfrm>
            <a:off x="1078313" y="2414218"/>
            <a:ext cx="1734853" cy="401242"/>
          </a:xfrm>
          <a:prstGeom prst="roundRect">
            <a:avLst>
              <a:gd name="adj" fmla="val 12661"/>
            </a:avLst>
          </a:prstGeom>
          <a:solidFill>
            <a:srgbClr val="EDF1F5"/>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14304F"/>
              </a:buClr>
              <a:buSzPts val="1400"/>
              <a:buFont typeface="IBM Plex Sans"/>
              <a:buNone/>
            </a:pPr>
            <a:r>
              <a:rPr lang="en-US" sz="1400" b="1" i="0" u="none" strike="noStrike" cap="none">
                <a:solidFill>
                  <a:srgbClr val="14304F"/>
                </a:solidFill>
                <a:latin typeface="IBM Plex Sans"/>
                <a:ea typeface="IBM Plex Sans"/>
                <a:cs typeface="IBM Plex Sans"/>
                <a:sym typeface="IBM Plex Sans"/>
              </a:rPr>
              <a:t>Builds on x86_64</a:t>
            </a:r>
            <a:endParaRPr sz="1400" b="0" i="0" u="none" strike="noStrike" cap="none">
              <a:solidFill>
                <a:schemeClr val="dk1"/>
              </a:solidFill>
              <a:latin typeface="IBM Plex Sans"/>
              <a:ea typeface="IBM Plex Sans"/>
              <a:cs typeface="IBM Plex Sans"/>
              <a:sym typeface="IBM Plex Sans"/>
            </a:endParaRPr>
          </a:p>
        </p:txBody>
      </p:sp>
      <p:sp>
        <p:nvSpPr>
          <p:cNvPr id="38" name="Google Shape;38;p2"/>
          <p:cNvSpPr/>
          <p:nvPr/>
        </p:nvSpPr>
        <p:spPr>
          <a:xfrm>
            <a:off x="2914729" y="2490360"/>
            <a:ext cx="434320" cy="274357"/>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400"/>
              <a:buFont typeface="IBM Plex Sans"/>
              <a:buNone/>
            </a:pPr>
            <a:r>
              <a:rPr lang="en-US" sz="1400" b="0" i="0" u="none" strike="noStrike" cap="none">
                <a:solidFill>
                  <a:srgbClr val="4A5568"/>
                </a:solidFill>
                <a:latin typeface="IBM Plex Sans"/>
                <a:ea typeface="IBM Plex Sans"/>
                <a:cs typeface="IBM Plex Sans"/>
                <a:sym typeface="IBM Plex Sans"/>
              </a:rPr>
              <a:t>then</a:t>
            </a:r>
            <a:endParaRPr sz="1400" b="0" i="0" u="none" strike="noStrike" cap="none">
              <a:solidFill>
                <a:schemeClr val="dk1"/>
              </a:solidFill>
              <a:latin typeface="IBM Plex Sans"/>
              <a:ea typeface="IBM Plex Sans"/>
              <a:cs typeface="IBM Plex Sans"/>
              <a:sym typeface="IBM Plex Sans"/>
            </a:endParaRPr>
          </a:p>
        </p:txBody>
      </p:sp>
      <p:sp>
        <p:nvSpPr>
          <p:cNvPr id="39" name="Google Shape;39;p2"/>
          <p:cNvSpPr/>
          <p:nvPr/>
        </p:nvSpPr>
        <p:spPr>
          <a:xfrm>
            <a:off x="3378226" y="2414218"/>
            <a:ext cx="1573993" cy="401242"/>
          </a:xfrm>
          <a:prstGeom prst="roundRect">
            <a:avLst>
              <a:gd name="adj" fmla="val 12661"/>
            </a:avLst>
          </a:prstGeom>
          <a:solidFill>
            <a:srgbClr val="B4530F"/>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FCFCFA"/>
              </a:buClr>
              <a:buSzPts val="1400"/>
              <a:buFont typeface="IBM Plex Sans"/>
              <a:buNone/>
            </a:pPr>
            <a:r>
              <a:rPr lang="en-US" sz="1400" b="1" i="0" u="none" strike="noStrike" cap="none">
                <a:solidFill>
                  <a:srgbClr val="FCFCFA"/>
                </a:solidFill>
                <a:latin typeface="IBM Plex Sans"/>
                <a:ea typeface="IBM Plex Sans"/>
                <a:cs typeface="IBM Plex Sans"/>
                <a:sym typeface="IBM Plex Sans"/>
              </a:rPr>
              <a:t>Fails on ARM64</a:t>
            </a:r>
            <a:endParaRPr sz="1400" b="0" i="0" u="none" strike="noStrike" cap="none">
              <a:solidFill>
                <a:schemeClr val="dk1"/>
              </a:solidFill>
              <a:latin typeface="IBM Plex Sans"/>
              <a:ea typeface="IBM Plex Sans"/>
              <a:cs typeface="IBM Plex Sans"/>
              <a:sym typeface="IBM Plex Sans"/>
            </a:endParaRPr>
          </a:p>
        </p:txBody>
      </p:sp>
      <p:sp>
        <p:nvSpPr>
          <p:cNvPr id="40" name="Google Shape;40;p2"/>
          <p:cNvSpPr/>
          <p:nvPr/>
        </p:nvSpPr>
        <p:spPr>
          <a:xfrm>
            <a:off x="1078313" y="2967805"/>
            <a:ext cx="5150395" cy="783404"/>
          </a:xfrm>
          <a:prstGeom prst="roundRect">
            <a:avLst>
              <a:gd name="adj" fmla="val 6485"/>
            </a:avLst>
          </a:prstGeom>
          <a:solidFill>
            <a:srgbClr val="172433"/>
          </a:solidFill>
          <a:ln>
            <a:noFill/>
          </a:ln>
        </p:spPr>
        <p:txBody>
          <a:bodyPr spcFirstLastPara="1" wrap="square" lIns="162900" tIns="137500" rIns="19075" bIns="112100" anchor="t" anchorCtr="0">
            <a:normAutofit/>
          </a:bodyPr>
          <a:lstStyle/>
          <a:p>
            <a:pPr marL="0" marR="0" lvl="0" indent="0" algn="l" rtl="0">
              <a:lnSpc>
                <a:spcPct val="145000"/>
              </a:lnSpc>
              <a:spcBef>
                <a:spcPts val="0"/>
              </a:spcBef>
              <a:spcAft>
                <a:spcPts val="0"/>
              </a:spcAft>
              <a:buClr>
                <a:srgbClr val="E8EDF2"/>
              </a:buClr>
              <a:buSzPts val="1300"/>
              <a:buFont typeface="JetBrains Mono"/>
              <a:buNone/>
            </a:pPr>
            <a:r>
              <a:rPr lang="en-US" sz="1300" b="0" i="0" u="none" strike="noStrike" cap="none">
                <a:solidFill>
                  <a:srgbClr val="E8EDF2"/>
                </a:solidFill>
                <a:latin typeface="JetBrains Mono"/>
                <a:ea typeface="JetBrains Mono"/>
                <a:cs typeface="JetBrains Mono"/>
                <a:sym typeface="JetBrains Mono"/>
              </a:rPr>
              <a:t>crc32c/crc32c_prefetch.h:18:10: fatal error: xmmintrin.h: No such file or directory</a:t>
            </a:r>
            <a:endParaRPr sz="1300" b="0" i="0" u="none" strike="noStrike" cap="none">
              <a:solidFill>
                <a:schemeClr val="dk1"/>
              </a:solidFill>
              <a:latin typeface="IBM Plex Sans"/>
              <a:ea typeface="IBM Plex Sans"/>
              <a:cs typeface="IBM Plex Sans"/>
              <a:sym typeface="IBM Plex Sans"/>
            </a:endParaRPr>
          </a:p>
        </p:txBody>
      </p:sp>
      <p:sp>
        <p:nvSpPr>
          <p:cNvPr id="41" name="Google Shape;41;p2"/>
          <p:cNvSpPr/>
          <p:nvPr/>
        </p:nvSpPr>
        <p:spPr>
          <a:xfrm>
            <a:off x="1078313" y="3903555"/>
            <a:ext cx="5304906" cy="523315"/>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400"/>
              <a:buFont typeface="IBM Plex Sans"/>
              <a:buNone/>
            </a:pPr>
            <a:r>
              <a:rPr lang="en-US" sz="1400" b="0" i="0" u="none" strike="noStrike" cap="none">
                <a:solidFill>
                  <a:srgbClr val="4A5568"/>
                </a:solidFill>
                <a:latin typeface="IBM Plex Sans"/>
                <a:ea typeface="IBM Plex Sans"/>
                <a:cs typeface="IBM Plex Sans"/>
                <a:sym typeface="IBM Plex Sans"/>
              </a:rPr>
              <a:t>The cause: a config header, generated on an x86 machine and shipped with the source, turns on an x86-only feature.</a:t>
            </a:r>
            <a:endParaRPr sz="1400" b="0" i="0" u="none" strike="noStrike" cap="none">
              <a:solidFill>
                <a:schemeClr val="dk1"/>
              </a:solidFill>
              <a:latin typeface="IBM Plex Sans"/>
              <a:ea typeface="IBM Plex Sans"/>
              <a:cs typeface="IBM Plex Sans"/>
              <a:sym typeface="IBM Plex Sans"/>
            </a:endParaRPr>
          </a:p>
        </p:txBody>
      </p:sp>
      <p:sp>
        <p:nvSpPr>
          <p:cNvPr id="42" name="Google Shape;42;p2"/>
          <p:cNvSpPr/>
          <p:nvPr/>
        </p:nvSpPr>
        <p:spPr>
          <a:xfrm>
            <a:off x="6900645" y="1782978"/>
            <a:ext cx="4612935" cy="269225"/>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4304F"/>
              </a:buClr>
              <a:buSzPts val="1600"/>
              <a:buFont typeface="IBM Plex Sans"/>
              <a:buNone/>
            </a:pPr>
            <a:r>
              <a:rPr lang="en-US" sz="1600" b="1" i="0" u="none" strike="noStrike" cap="none">
                <a:solidFill>
                  <a:srgbClr val="14304F"/>
                </a:solidFill>
                <a:latin typeface="IBM Plex Sans"/>
                <a:ea typeface="IBM Plex Sans"/>
                <a:cs typeface="IBM Plex Sans"/>
                <a:sym typeface="IBM Plex Sans"/>
              </a:rPr>
              <a:t>Why it matters</a:t>
            </a:r>
            <a:endParaRPr sz="1600" b="0" i="0" u="none" strike="noStrike" cap="none">
              <a:solidFill>
                <a:schemeClr val="dk1"/>
              </a:solidFill>
              <a:latin typeface="IBM Plex Sans"/>
              <a:ea typeface="IBM Plex Sans"/>
              <a:cs typeface="IBM Plex Sans"/>
              <a:sym typeface="IBM Plex Sans"/>
            </a:endParaRPr>
          </a:p>
        </p:txBody>
      </p:sp>
      <p:sp>
        <p:nvSpPr>
          <p:cNvPr id="43" name="Google Shape;43;p2"/>
          <p:cNvSpPr/>
          <p:nvPr/>
        </p:nvSpPr>
        <p:spPr>
          <a:xfrm>
            <a:off x="6900645" y="2077585"/>
            <a:ext cx="4612935" cy="523315"/>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400"/>
              <a:buFont typeface="IBM Plex Sans"/>
              <a:buNone/>
            </a:pPr>
            <a:r>
              <a:rPr lang="en-US" sz="1400" b="0" i="0" u="none" strike="noStrike" cap="none">
                <a:solidFill>
                  <a:srgbClr val="4A5568"/>
                </a:solidFill>
                <a:latin typeface="IBM Plex Sans"/>
                <a:ea typeface="IBM Plex Sans"/>
                <a:cs typeface="IBM Plex Sans"/>
                <a:sym typeface="IBM Plex Sans"/>
              </a:rPr>
              <a:t>Porting Debian packages to ARM and RISC-V is manual: read the log, guess a fix, rebuild, repeat.</a:t>
            </a:r>
            <a:endParaRPr sz="1400" b="0" i="0" u="none" strike="noStrike" cap="none">
              <a:solidFill>
                <a:schemeClr val="dk1"/>
              </a:solidFill>
              <a:latin typeface="IBM Plex Sans"/>
              <a:ea typeface="IBM Plex Sans"/>
              <a:cs typeface="IBM Plex Sans"/>
              <a:sym typeface="IBM Plex Sans"/>
            </a:endParaRPr>
          </a:p>
        </p:txBody>
      </p:sp>
      <p:sp>
        <p:nvSpPr>
          <p:cNvPr id="44" name="Google Shape;44;p2"/>
          <p:cNvSpPr/>
          <p:nvPr/>
        </p:nvSpPr>
        <p:spPr>
          <a:xfrm>
            <a:off x="6900645" y="2804047"/>
            <a:ext cx="4612935" cy="269225"/>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4304F"/>
              </a:buClr>
              <a:buSzPts val="1600"/>
              <a:buFont typeface="IBM Plex Sans"/>
              <a:buNone/>
            </a:pPr>
            <a:r>
              <a:rPr lang="en-US" sz="1600" b="1" i="0" u="none" strike="noStrike" cap="none">
                <a:solidFill>
                  <a:srgbClr val="14304F"/>
                </a:solidFill>
                <a:latin typeface="IBM Plex Sans"/>
                <a:ea typeface="IBM Plex Sans"/>
                <a:cs typeface="IBM Plex Sans"/>
                <a:sym typeface="IBM Plex Sans"/>
              </a:rPr>
              <a:t>Our target</a:t>
            </a:r>
            <a:endParaRPr sz="1600" b="0" i="0" u="none" strike="noStrike" cap="none">
              <a:solidFill>
                <a:schemeClr val="dk1"/>
              </a:solidFill>
              <a:latin typeface="IBM Plex Sans"/>
              <a:ea typeface="IBM Plex Sans"/>
              <a:cs typeface="IBM Plex Sans"/>
              <a:sym typeface="IBM Plex Sans"/>
            </a:endParaRPr>
          </a:p>
        </p:txBody>
      </p:sp>
      <p:sp>
        <p:nvSpPr>
          <p:cNvPr id="45" name="Google Shape;45;p2"/>
          <p:cNvSpPr/>
          <p:nvPr/>
        </p:nvSpPr>
        <p:spPr>
          <a:xfrm>
            <a:off x="6900645" y="3098654"/>
            <a:ext cx="4612935" cy="523315"/>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400"/>
              <a:buFont typeface="IBM Plex Sans"/>
              <a:buNone/>
            </a:pPr>
            <a:r>
              <a:rPr lang="en-US" sz="1400" b="0" i="0" u="none" strike="noStrike" cap="none">
                <a:solidFill>
                  <a:srgbClr val="4A5568"/>
                </a:solidFill>
                <a:latin typeface="IBM Plex Sans"/>
                <a:ea typeface="IBM Plex Sans"/>
                <a:cs typeface="IBM Plex Sans"/>
                <a:sym typeface="IBM Plex Sans"/>
              </a:rPr>
              <a:t>ICSE 2027 Build-Bench Challenge: 200 public cases, 100 each way between x86_64 and ARM64.</a:t>
            </a:r>
            <a:endParaRPr sz="1400" b="0" i="0" u="none" strike="noStrike" cap="none">
              <a:solidFill>
                <a:schemeClr val="dk1"/>
              </a:solidFill>
              <a:latin typeface="IBM Plex Sans"/>
              <a:ea typeface="IBM Plex Sans"/>
              <a:cs typeface="IBM Plex Sans"/>
              <a:sym typeface="IBM Plex Sans"/>
            </a:endParaRPr>
          </a:p>
        </p:txBody>
      </p:sp>
      <p:sp>
        <p:nvSpPr>
          <p:cNvPr id="46" name="Google Shape;46;p2"/>
          <p:cNvSpPr/>
          <p:nvPr/>
        </p:nvSpPr>
        <p:spPr>
          <a:xfrm>
            <a:off x="6900645" y="3825118"/>
            <a:ext cx="4612935" cy="269225"/>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4304F"/>
              </a:buClr>
              <a:buSzPts val="1600"/>
              <a:buFont typeface="IBM Plex Sans"/>
              <a:buNone/>
            </a:pPr>
            <a:r>
              <a:rPr lang="en-US" sz="1600" b="1" i="0" u="none" strike="noStrike" cap="none">
                <a:solidFill>
                  <a:srgbClr val="14304F"/>
                </a:solidFill>
                <a:latin typeface="IBM Plex Sans"/>
                <a:ea typeface="IBM Plex Sans"/>
                <a:cs typeface="IBM Plex Sans"/>
                <a:sym typeface="IBM Plex Sans"/>
              </a:rPr>
              <a:t>What counts as success</a:t>
            </a:r>
            <a:endParaRPr sz="1600" b="0" i="0" u="none" strike="noStrike" cap="none">
              <a:solidFill>
                <a:schemeClr val="dk1"/>
              </a:solidFill>
              <a:latin typeface="IBM Plex Sans"/>
              <a:ea typeface="IBM Plex Sans"/>
              <a:cs typeface="IBM Plex Sans"/>
              <a:sym typeface="IBM Plex Sans"/>
            </a:endParaRPr>
          </a:p>
        </p:txBody>
      </p:sp>
      <p:sp>
        <p:nvSpPr>
          <p:cNvPr id="47" name="Google Shape;47;p2"/>
          <p:cNvSpPr/>
          <p:nvPr/>
        </p:nvSpPr>
        <p:spPr>
          <a:xfrm>
            <a:off x="6900645" y="4119725"/>
            <a:ext cx="4612935" cy="77227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400"/>
              <a:buFont typeface="IBM Plex Sans"/>
              <a:buNone/>
            </a:pPr>
            <a:r>
              <a:rPr lang="en-US" sz="1400" b="0" i="0" u="none" strike="noStrike" cap="none">
                <a:solidFill>
                  <a:srgbClr val="4A5568"/>
                </a:solidFill>
                <a:latin typeface="IBM Plex Sans"/>
                <a:ea typeface="IBM Plex Sans"/>
                <a:cs typeface="IBM Plex Sans"/>
                <a:sym typeface="IBM Plex Sans"/>
              </a:rPr>
              <a:t>The validator reports </a:t>
            </a:r>
            <a:r>
              <a:rPr lang="en-US" sz="1400" b="1" i="0" u="none" strike="noStrike" cap="none">
                <a:solidFill>
                  <a:srgbClr val="4A5568"/>
                </a:solidFill>
                <a:latin typeface="IBM Plex Sans"/>
                <a:ea typeface="IBM Plex Sans"/>
                <a:cs typeface="IBM Plex Sans"/>
                <a:sym typeface="IBM Plex Sans"/>
              </a:rPr>
              <a:t>succeeded</a:t>
            </a:r>
            <a:r>
              <a:rPr lang="en-US" sz="1400" b="0" i="0" u="none" strike="noStrike" cap="none">
                <a:solidFill>
                  <a:srgbClr val="4A5568"/>
                </a:solidFill>
                <a:latin typeface="IBM Plex Sans"/>
                <a:ea typeface="IBM Plex Sans"/>
                <a:cs typeface="IBM Plex Sans"/>
                <a:sym typeface="IBM Plex Sans"/>
              </a:rPr>
              <a:t> and the build artifacts pass validation. Nothing we report about ourselves counts.</a:t>
            </a:r>
            <a:endParaRPr sz="1400" b="0" i="0" u="none" strike="noStrike" cap="none">
              <a:solidFill>
                <a:schemeClr val="dk1"/>
              </a:solidFill>
              <a:latin typeface="IBM Plex Sans"/>
              <a:ea typeface="IBM Plex Sans"/>
              <a:cs typeface="IBM Plex Sans"/>
              <a:sym typeface="IBM Plex Sans"/>
            </a:endParaRPr>
          </a:p>
        </p:txBody>
      </p:sp>
      <p:sp>
        <p:nvSpPr>
          <p:cNvPr id="48" name="Google Shape;48;p2"/>
          <p:cNvSpPr/>
          <p:nvPr/>
        </p:nvSpPr>
        <p:spPr>
          <a:xfrm>
            <a:off x="812750" y="6238248"/>
            <a:ext cx="9810744"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Example: Build-Bench public case r-cran-digest (Ubuntu mantic, amd64 → arm64)</a:t>
            </a:r>
            <a:endParaRPr sz="1200" b="0" i="0" u="none" strike="noStrike" cap="none">
              <a:solidFill>
                <a:schemeClr val="dk1"/>
              </a:solidFill>
              <a:latin typeface="IBM Plex Sans"/>
              <a:ea typeface="IBM Plex Sans"/>
              <a:cs typeface="IBM Plex Sans"/>
              <a:sym typeface="IBM Plex Sans"/>
            </a:endParaRPr>
          </a:p>
        </p:txBody>
      </p:sp>
      <p:sp>
        <p:nvSpPr>
          <p:cNvPr id="49" name="Google Shape;49;p2"/>
          <p:cNvSpPr/>
          <p:nvPr/>
        </p:nvSpPr>
        <p:spPr>
          <a:xfrm>
            <a:off x="10820424" y="6238248"/>
            <a:ext cx="55879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2</a:t>
            </a:r>
            <a:endParaRPr sz="12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54"/>
        <p:cNvGrpSpPr/>
        <p:nvPr/>
      </p:nvGrpSpPr>
      <p:grpSpPr>
        <a:xfrm>
          <a:off x="0" y="0"/>
          <a:ext cx="0" cy="0"/>
          <a:chOff x="0" y="0"/>
          <a:chExt cx="0" cy="0"/>
        </a:xfrm>
      </p:grpSpPr>
      <p:sp>
        <p:nvSpPr>
          <p:cNvPr id="55" name="Google Shape;55;p3"/>
          <p:cNvSpPr txBox="1">
            <a:spLocks noGrp="1"/>
          </p:cNvSpPr>
          <p:nvPr>
            <p:ph type="title"/>
          </p:nvPr>
        </p:nvSpPr>
        <p:spPr>
          <a:xfrm>
            <a:off x="812750" y="609563"/>
            <a:ext cx="10883467" cy="843222"/>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4304F"/>
              </a:buClr>
              <a:buSzPts val="2800"/>
              <a:buFont typeface="IBM Plex Sans"/>
              <a:buNone/>
            </a:pPr>
            <a:r>
              <a:rPr lang="en-US" sz="2800" b="1" i="0">
                <a:solidFill>
                  <a:srgbClr val="14304F"/>
                </a:solidFill>
                <a:latin typeface="IBM Plex Sans"/>
                <a:ea typeface="IBM Plex Sans"/>
                <a:cs typeface="IBM Plex Sans"/>
                <a:sym typeface="IBM Plex Sans"/>
              </a:rPr>
              <a:t>Since Demo 1, </a:t>
            </a:r>
            <a:r>
              <a:rPr lang="en-US" b="1"/>
              <a:t>we built and evaluated the local repair pipeline</a:t>
            </a:r>
            <a:endParaRPr sz="2800"/>
          </a:p>
        </p:txBody>
      </p:sp>
      <p:cxnSp>
        <p:nvCxnSpPr>
          <p:cNvPr id="56" name="Google Shape;56;p3"/>
          <p:cNvCxnSpPr/>
          <p:nvPr/>
        </p:nvCxnSpPr>
        <p:spPr>
          <a:xfrm>
            <a:off x="812750" y="1942900"/>
            <a:ext cx="0" cy="3510600"/>
          </a:xfrm>
          <a:prstGeom prst="straightConnector1">
            <a:avLst/>
          </a:prstGeom>
          <a:noFill/>
          <a:ln w="25400" cap="flat" cmpd="sng">
            <a:solidFill>
              <a:srgbClr val="C9D2DC"/>
            </a:solidFill>
            <a:prstDash val="solid"/>
            <a:round/>
            <a:headEnd type="none" w="sm" len="sm"/>
            <a:tailEnd type="none" w="sm" len="sm"/>
          </a:ln>
        </p:spPr>
      </p:cxnSp>
      <p:sp>
        <p:nvSpPr>
          <p:cNvPr id="57" name="Google Shape;57;p3"/>
          <p:cNvSpPr/>
          <p:nvPr/>
        </p:nvSpPr>
        <p:spPr>
          <a:xfrm>
            <a:off x="1077206" y="1942900"/>
            <a:ext cx="1638300" cy="5703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6B7684"/>
              </a:buClr>
              <a:buSzPts val="1400"/>
              <a:buFont typeface="IBM Plex Sans"/>
              <a:buNone/>
            </a:pPr>
            <a:r>
              <a:rPr lang="en-US" sz="1400" b="1" i="0" u="none" strike="noStrike" cap="none">
                <a:solidFill>
                  <a:srgbClr val="6B7684"/>
                </a:solidFill>
                <a:latin typeface="IBM Plex Sans"/>
                <a:ea typeface="IBM Plex Sans"/>
                <a:cs typeface="IBM Plex Sans"/>
                <a:sym typeface="IBM Plex Sans"/>
              </a:rPr>
              <a:t>Sep 23 · Demo 1</a:t>
            </a:r>
            <a:endParaRPr sz="1400" b="0" i="0" u="none" strike="noStrike" cap="none">
              <a:solidFill>
                <a:schemeClr val="dk1"/>
              </a:solidFill>
              <a:latin typeface="IBM Plex Sans"/>
              <a:ea typeface="IBM Plex Sans"/>
              <a:cs typeface="IBM Plex Sans"/>
              <a:sym typeface="IBM Plex Sans"/>
            </a:endParaRPr>
          </a:p>
        </p:txBody>
      </p:sp>
      <p:sp>
        <p:nvSpPr>
          <p:cNvPr id="58" name="Google Shape;58;p3"/>
          <p:cNvSpPr/>
          <p:nvPr/>
        </p:nvSpPr>
        <p:spPr>
          <a:xfrm>
            <a:off x="2842430" y="1942900"/>
            <a:ext cx="4051200" cy="570300"/>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6B7684"/>
              </a:buClr>
              <a:buSzPts val="1400"/>
              <a:buFont typeface="IBM Plex Sans"/>
              <a:buNone/>
            </a:pPr>
            <a:r>
              <a:rPr lang="en-US" sz="1400" b="0" i="0" u="none" strike="noStrike" cap="none">
                <a:solidFill>
                  <a:srgbClr val="6B7684"/>
                </a:solidFill>
                <a:latin typeface="IBM Plex Sans"/>
                <a:ea typeface="IBM Plex Sans"/>
                <a:cs typeface="IBM Plex Sans"/>
                <a:sym typeface="IBM Plex Sans"/>
              </a:rPr>
              <a:t>Design proposal only</a:t>
            </a:r>
            <a:endParaRPr sz="1400" b="0" i="0" u="none" strike="noStrike" cap="none">
              <a:solidFill>
                <a:schemeClr val="dk1"/>
              </a:solidFill>
              <a:latin typeface="IBM Plex Sans"/>
              <a:ea typeface="IBM Plex Sans"/>
              <a:cs typeface="IBM Plex Sans"/>
              <a:sym typeface="IBM Plex Sans"/>
            </a:endParaRPr>
          </a:p>
        </p:txBody>
      </p:sp>
      <p:sp>
        <p:nvSpPr>
          <p:cNvPr id="59" name="Google Shape;59;p3"/>
          <p:cNvSpPr/>
          <p:nvPr/>
        </p:nvSpPr>
        <p:spPr>
          <a:xfrm>
            <a:off x="1077206" y="2685150"/>
            <a:ext cx="1638300" cy="5703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400"/>
              <a:buFont typeface="IBM Plex Sans"/>
              <a:buNone/>
            </a:pPr>
            <a:r>
              <a:rPr lang="en-US" sz="1400" b="1" i="0" u="none" strike="noStrike" cap="none">
                <a:solidFill>
                  <a:srgbClr val="1F5F99"/>
                </a:solidFill>
                <a:latin typeface="IBM Plex Sans"/>
                <a:ea typeface="IBM Plex Sans"/>
                <a:cs typeface="IBM Plex Sans"/>
                <a:sym typeface="IBM Plex Sans"/>
              </a:rPr>
              <a:t>Oct 3</a:t>
            </a:r>
            <a:endParaRPr sz="1400" b="0" i="0" u="none" strike="noStrike" cap="none">
              <a:solidFill>
                <a:schemeClr val="dk1"/>
              </a:solidFill>
              <a:latin typeface="IBM Plex Sans"/>
              <a:ea typeface="IBM Plex Sans"/>
              <a:cs typeface="IBM Plex Sans"/>
              <a:sym typeface="IBM Plex Sans"/>
            </a:endParaRPr>
          </a:p>
        </p:txBody>
      </p:sp>
      <p:sp>
        <p:nvSpPr>
          <p:cNvPr id="60" name="Google Shape;60;p3"/>
          <p:cNvSpPr/>
          <p:nvPr/>
        </p:nvSpPr>
        <p:spPr>
          <a:xfrm>
            <a:off x="2842430" y="2685150"/>
            <a:ext cx="4051200" cy="570300"/>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172433"/>
              </a:buClr>
              <a:buSzPts val="1400"/>
              <a:buFont typeface="IBM Plex Sans"/>
              <a:buNone/>
            </a:pPr>
            <a:r>
              <a:rPr lang="en-US" sz="1400" b="0" i="0" u="none" strike="noStrike" cap="none">
                <a:solidFill>
                  <a:srgbClr val="172433"/>
                </a:solidFill>
                <a:latin typeface="IBM Plex Sans"/>
                <a:ea typeface="IBM Plex Sans"/>
                <a:cs typeface="IBM Plex Sans"/>
                <a:sym typeface="IBM Plex Sans"/>
              </a:rPr>
              <a:t>One-shot baseline frozen as </a:t>
            </a:r>
            <a:r>
              <a:rPr lang="en-US" sz="1400" b="1" i="0" u="none" strike="noStrike" cap="none">
                <a:solidFill>
                  <a:srgbClr val="172433"/>
                </a:solidFill>
                <a:latin typeface="IBM Plex Sans"/>
                <a:ea typeface="IBM Plex Sans"/>
                <a:cs typeface="IBM Plex Sans"/>
                <a:sym typeface="IBM Plex Sans"/>
              </a:rPr>
              <a:t>one-shot-v1</a:t>
            </a:r>
            <a:endParaRPr sz="1400" b="0" i="0" u="none" strike="noStrike" cap="none">
              <a:solidFill>
                <a:schemeClr val="dk1"/>
              </a:solidFill>
              <a:latin typeface="IBM Plex Sans"/>
              <a:ea typeface="IBM Plex Sans"/>
              <a:cs typeface="IBM Plex Sans"/>
              <a:sym typeface="IBM Plex Sans"/>
            </a:endParaRPr>
          </a:p>
        </p:txBody>
      </p:sp>
      <p:sp>
        <p:nvSpPr>
          <p:cNvPr id="61" name="Google Shape;61;p3"/>
          <p:cNvSpPr/>
          <p:nvPr/>
        </p:nvSpPr>
        <p:spPr>
          <a:xfrm>
            <a:off x="1077206" y="3427400"/>
            <a:ext cx="1638300" cy="5703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400"/>
              <a:buFont typeface="IBM Plex Sans"/>
              <a:buNone/>
            </a:pPr>
            <a:r>
              <a:rPr lang="en-US" sz="1400" b="1" i="0" u="none" strike="noStrike" cap="none">
                <a:solidFill>
                  <a:srgbClr val="1F5F99"/>
                </a:solidFill>
                <a:latin typeface="IBM Plex Sans"/>
                <a:ea typeface="IBM Plex Sans"/>
                <a:cs typeface="IBM Plex Sans"/>
                <a:sym typeface="IBM Plex Sans"/>
              </a:rPr>
              <a:t>Oct 11–13</a:t>
            </a:r>
            <a:endParaRPr sz="1400" b="0" i="0" u="none" strike="noStrike" cap="none">
              <a:solidFill>
                <a:schemeClr val="dk1"/>
              </a:solidFill>
              <a:latin typeface="IBM Plex Sans"/>
              <a:ea typeface="IBM Plex Sans"/>
              <a:cs typeface="IBM Plex Sans"/>
              <a:sym typeface="IBM Plex Sans"/>
            </a:endParaRPr>
          </a:p>
        </p:txBody>
      </p:sp>
      <p:sp>
        <p:nvSpPr>
          <p:cNvPr id="62" name="Google Shape;62;p3"/>
          <p:cNvSpPr/>
          <p:nvPr/>
        </p:nvSpPr>
        <p:spPr>
          <a:xfrm>
            <a:off x="2842430" y="3427400"/>
            <a:ext cx="4051200" cy="570300"/>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172433"/>
              </a:buClr>
              <a:buSzPts val="1400"/>
              <a:buFont typeface="IBM Plex Sans"/>
              <a:buNone/>
            </a:pPr>
            <a:r>
              <a:rPr lang="en-US" sz="1400" b="0" i="0" u="none" strike="noStrike" cap="none">
                <a:solidFill>
                  <a:srgbClr val="172433"/>
                </a:solidFill>
                <a:latin typeface="IBM Plex Sans"/>
                <a:ea typeface="IBM Plex Sans"/>
                <a:cs typeface="IBM Plex Sans"/>
                <a:sym typeface="IBM Plex Sans"/>
              </a:rPr>
              <a:t>Evidence manager (A), read-only tools (B), prompts and reply parser (E)</a:t>
            </a:r>
            <a:endParaRPr sz="1400" b="0" i="0" u="none" strike="noStrike" cap="none">
              <a:solidFill>
                <a:schemeClr val="dk1"/>
              </a:solidFill>
              <a:latin typeface="IBM Plex Sans"/>
              <a:ea typeface="IBM Plex Sans"/>
              <a:cs typeface="IBM Plex Sans"/>
              <a:sym typeface="IBM Plex Sans"/>
            </a:endParaRPr>
          </a:p>
        </p:txBody>
      </p:sp>
      <p:sp>
        <p:nvSpPr>
          <p:cNvPr id="63" name="Google Shape;63;p3"/>
          <p:cNvSpPr/>
          <p:nvPr/>
        </p:nvSpPr>
        <p:spPr>
          <a:xfrm>
            <a:off x="1077206" y="4169650"/>
            <a:ext cx="1638300" cy="5703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400"/>
              <a:buFont typeface="IBM Plex Sans"/>
              <a:buNone/>
            </a:pPr>
            <a:r>
              <a:rPr lang="en-US" sz="1400" b="1" i="0" u="none" strike="noStrike" cap="none">
                <a:solidFill>
                  <a:srgbClr val="1F5F99"/>
                </a:solidFill>
                <a:latin typeface="IBM Plex Sans"/>
                <a:ea typeface="IBM Plex Sans"/>
                <a:cs typeface="IBM Plex Sans"/>
                <a:sym typeface="IBM Plex Sans"/>
              </a:rPr>
              <a:t>Oct 14</a:t>
            </a:r>
            <a:endParaRPr sz="1400" b="0" i="0" u="none" strike="noStrike" cap="none">
              <a:solidFill>
                <a:schemeClr val="dk1"/>
              </a:solidFill>
              <a:latin typeface="IBM Plex Sans"/>
              <a:ea typeface="IBM Plex Sans"/>
              <a:cs typeface="IBM Plex Sans"/>
              <a:sym typeface="IBM Plex Sans"/>
            </a:endParaRPr>
          </a:p>
        </p:txBody>
      </p:sp>
      <p:sp>
        <p:nvSpPr>
          <p:cNvPr id="64" name="Google Shape;64;p3"/>
          <p:cNvSpPr/>
          <p:nvPr/>
        </p:nvSpPr>
        <p:spPr>
          <a:xfrm>
            <a:off x="2842430" y="4169650"/>
            <a:ext cx="4051200" cy="570300"/>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172433"/>
              </a:buClr>
              <a:buSzPts val="1400"/>
              <a:buFont typeface="IBM Plex Sans"/>
              <a:buNone/>
            </a:pPr>
            <a:r>
              <a:rPr lang="en-US" sz="1400" b="0" i="0" u="none" strike="noStrike" cap="none">
                <a:solidFill>
                  <a:srgbClr val="172433"/>
                </a:solidFill>
                <a:latin typeface="IBM Plex Sans"/>
                <a:ea typeface="IBM Plex Sans"/>
                <a:cs typeface="IBM Plex Sans"/>
                <a:sym typeface="IBM Plex Sans"/>
              </a:rPr>
              <a:t>Repair loop (C) and real builds (D) wired in: </a:t>
            </a:r>
            <a:r>
              <a:rPr lang="en-US" sz="1400" b="1" i="0" u="none" strike="noStrike" cap="none">
                <a:solidFill>
                  <a:srgbClr val="172433"/>
                </a:solidFill>
                <a:latin typeface="IBM Plex Sans"/>
                <a:ea typeface="IBM Plex Sans"/>
                <a:cs typeface="IBM Plex Sans"/>
                <a:sym typeface="IBM Plex Sans"/>
              </a:rPr>
              <a:t>first full-agent repairs</a:t>
            </a:r>
            <a:endParaRPr sz="1400" b="0" i="0" u="none" strike="noStrike" cap="none">
              <a:solidFill>
                <a:schemeClr val="dk1"/>
              </a:solidFill>
              <a:latin typeface="IBM Plex Sans"/>
              <a:ea typeface="IBM Plex Sans"/>
              <a:cs typeface="IBM Plex Sans"/>
              <a:sym typeface="IBM Plex Sans"/>
            </a:endParaRPr>
          </a:p>
        </p:txBody>
      </p:sp>
      <p:sp>
        <p:nvSpPr>
          <p:cNvPr id="65" name="Google Shape;65;p3"/>
          <p:cNvSpPr/>
          <p:nvPr/>
        </p:nvSpPr>
        <p:spPr>
          <a:xfrm>
            <a:off x="1077206" y="4911900"/>
            <a:ext cx="1638300" cy="5703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400"/>
              <a:buFont typeface="IBM Plex Sans"/>
              <a:buNone/>
            </a:pPr>
            <a:r>
              <a:rPr lang="en-US" sz="1400" b="1" i="0" u="none" strike="noStrike" cap="none">
                <a:solidFill>
                  <a:srgbClr val="1F5F99"/>
                </a:solidFill>
                <a:latin typeface="IBM Plex Sans"/>
                <a:ea typeface="IBM Plex Sans"/>
                <a:cs typeface="IBM Plex Sans"/>
                <a:sym typeface="IBM Plex Sans"/>
              </a:rPr>
              <a:t>Oct 1</a:t>
            </a:r>
            <a:r>
              <a:rPr lang="en-US" b="1">
                <a:solidFill>
                  <a:srgbClr val="1F5F99"/>
                </a:solidFill>
                <a:latin typeface="IBM Plex Sans"/>
                <a:ea typeface="IBM Plex Sans"/>
                <a:cs typeface="IBM Plex Sans"/>
                <a:sym typeface="IBM Plex Sans"/>
              </a:rPr>
              <a:t>9</a:t>
            </a:r>
            <a:endParaRPr sz="1400" b="0" i="0" u="none" strike="noStrike" cap="none">
              <a:solidFill>
                <a:schemeClr val="dk1"/>
              </a:solidFill>
              <a:latin typeface="IBM Plex Sans"/>
              <a:ea typeface="IBM Plex Sans"/>
              <a:cs typeface="IBM Plex Sans"/>
              <a:sym typeface="IBM Plex Sans"/>
            </a:endParaRPr>
          </a:p>
        </p:txBody>
      </p:sp>
      <p:sp>
        <p:nvSpPr>
          <p:cNvPr id="66" name="Google Shape;66;p3"/>
          <p:cNvSpPr/>
          <p:nvPr/>
        </p:nvSpPr>
        <p:spPr>
          <a:xfrm>
            <a:off x="2842430" y="4911900"/>
            <a:ext cx="4051200" cy="570300"/>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172433"/>
              </a:buClr>
              <a:buSzPts val="1400"/>
              <a:buFont typeface="IBM Plex Sans"/>
              <a:buNone/>
            </a:pPr>
            <a:r>
              <a:rPr lang="en-US">
                <a:solidFill>
                  <a:srgbClr val="172433"/>
                </a:solidFill>
                <a:latin typeface="IBM Plex Sans"/>
                <a:ea typeface="IBM Plex Sans"/>
                <a:cs typeface="IBM Plex Sans"/>
                <a:sym typeface="IBM Plex Sans"/>
              </a:rPr>
              <a:t>Both agents evaluated on all ten bundle cases and rcran; evidence and diagnostics committed</a:t>
            </a:r>
            <a:endParaRPr sz="1400" b="0" i="0" u="none" strike="noStrike" cap="none">
              <a:solidFill>
                <a:schemeClr val="dk1"/>
              </a:solidFill>
              <a:latin typeface="IBM Plex Sans"/>
              <a:ea typeface="IBM Plex Sans"/>
              <a:cs typeface="IBM Plex Sans"/>
              <a:sym typeface="IBM Plex Sans"/>
            </a:endParaRPr>
          </a:p>
        </p:txBody>
      </p:sp>
      <p:sp>
        <p:nvSpPr>
          <p:cNvPr id="67" name="Google Shape;67;p3"/>
          <p:cNvSpPr/>
          <p:nvPr/>
        </p:nvSpPr>
        <p:spPr>
          <a:xfrm>
            <a:off x="7194825" y="2044700"/>
            <a:ext cx="4184400" cy="3718800"/>
          </a:xfrm>
          <a:prstGeom prst="roundRect">
            <a:avLst>
              <a:gd name="adj" fmla="val 3266"/>
            </a:avLst>
          </a:prstGeom>
          <a:solidFill>
            <a:srgbClr val="EDF1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7448798" y="2204622"/>
            <a:ext cx="3786600" cy="26910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4304F"/>
              </a:buClr>
              <a:buSzPts val="1600"/>
              <a:buFont typeface="IBM Plex Sans"/>
              <a:buNone/>
            </a:pPr>
            <a:r>
              <a:rPr lang="en-US" sz="1600" b="1" i="0" u="none" strike="noStrike" cap="none">
                <a:solidFill>
                  <a:srgbClr val="14304F"/>
                </a:solidFill>
                <a:latin typeface="IBM Plex Sans"/>
                <a:ea typeface="IBM Plex Sans"/>
                <a:cs typeface="IBM Plex Sans"/>
                <a:sym typeface="IBM Plex Sans"/>
              </a:rPr>
              <a:t>Changes to the plan</a:t>
            </a:r>
            <a:endParaRPr sz="1600" b="0" i="0" u="none" strike="noStrike" cap="none">
              <a:solidFill>
                <a:schemeClr val="dk1"/>
              </a:solidFill>
              <a:latin typeface="IBM Plex Sans"/>
              <a:ea typeface="IBM Plex Sans"/>
              <a:cs typeface="IBM Plex Sans"/>
              <a:sym typeface="IBM Plex Sans"/>
            </a:endParaRPr>
          </a:p>
        </p:txBody>
      </p:sp>
      <p:sp>
        <p:nvSpPr>
          <p:cNvPr id="69" name="Google Shape;69;p3"/>
          <p:cNvSpPr/>
          <p:nvPr/>
        </p:nvSpPr>
        <p:spPr>
          <a:xfrm>
            <a:off x="7448648" y="2528380"/>
            <a:ext cx="3786600" cy="2565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72433"/>
              </a:buClr>
              <a:buSzPts val="1300"/>
              <a:buFont typeface="IBM Plex Sans"/>
              <a:buNone/>
            </a:pPr>
            <a:r>
              <a:rPr lang="en-US" sz="1300" b="1" i="0" u="none" strike="noStrike" cap="none">
                <a:solidFill>
                  <a:srgbClr val="172433"/>
                </a:solidFill>
                <a:latin typeface="IBM Plex Sans"/>
                <a:ea typeface="IBM Plex Sans"/>
                <a:cs typeface="IBM Plex Sans"/>
                <a:sym typeface="IBM Plex Sans"/>
              </a:rPr>
              <a:t>Token cap 30k → 100k per case </a:t>
            </a:r>
            <a:r>
              <a:rPr lang="en-US" sz="1300" b="1">
                <a:solidFill>
                  <a:srgbClr val="172433"/>
                </a:solidFill>
                <a:latin typeface="IBM Plex Sans"/>
                <a:ea typeface="IBM Plex Sans"/>
                <a:cs typeface="IBM Plex Sans"/>
                <a:sym typeface="IBM Plex Sans"/>
              </a:rPr>
              <a:t>→ 1M</a:t>
            </a:r>
            <a:endParaRPr sz="1300" b="0" i="0" u="none" strike="noStrike" cap="none">
              <a:solidFill>
                <a:schemeClr val="dk1"/>
              </a:solidFill>
              <a:latin typeface="IBM Plex Sans"/>
              <a:ea typeface="IBM Plex Sans"/>
              <a:cs typeface="IBM Plex Sans"/>
              <a:sym typeface="IBM Plex Sans"/>
            </a:endParaRPr>
          </a:p>
        </p:txBody>
      </p:sp>
      <p:sp>
        <p:nvSpPr>
          <p:cNvPr id="70" name="Google Shape;70;p3"/>
          <p:cNvSpPr/>
          <p:nvPr/>
        </p:nvSpPr>
        <p:spPr>
          <a:xfrm>
            <a:off x="7448648" y="2782318"/>
            <a:ext cx="3786600" cy="2388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a:solidFill>
                  <a:srgbClr val="4A5568"/>
                </a:solidFill>
                <a:latin typeface="IBM Plex Sans"/>
                <a:ea typeface="IBM Plex Sans"/>
                <a:cs typeface="IBM Plex Sans"/>
                <a:sym typeface="IBM Plex Sans"/>
              </a:rPr>
              <a:t>1M tokens, 80 turns and 10 loop builds; larger budgets did not ensure repairs.</a:t>
            </a:r>
            <a:endParaRPr sz="1200" b="0" i="0" u="none" strike="noStrike" cap="none">
              <a:solidFill>
                <a:schemeClr val="dk1"/>
              </a:solidFill>
              <a:latin typeface="IBM Plex Sans"/>
              <a:ea typeface="IBM Plex Sans"/>
              <a:cs typeface="IBM Plex Sans"/>
              <a:sym typeface="IBM Plex Sans"/>
            </a:endParaRPr>
          </a:p>
        </p:txBody>
      </p:sp>
      <p:sp>
        <p:nvSpPr>
          <p:cNvPr id="71" name="Google Shape;71;p3"/>
          <p:cNvSpPr/>
          <p:nvPr/>
        </p:nvSpPr>
        <p:spPr>
          <a:xfrm>
            <a:off x="7448798" y="3329645"/>
            <a:ext cx="3786600" cy="2565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72433"/>
              </a:buClr>
              <a:buSzPts val="1300"/>
              <a:buFont typeface="IBM Plex Sans"/>
              <a:buNone/>
            </a:pPr>
            <a:r>
              <a:rPr lang="en-US" sz="1300" b="1" i="0" u="none" strike="noStrike" cap="none">
                <a:solidFill>
                  <a:srgbClr val="172433"/>
                </a:solidFill>
                <a:latin typeface="IBM Plex Sans"/>
                <a:ea typeface="IBM Plex Sans"/>
                <a:cs typeface="IBM Plex Sans"/>
                <a:sym typeface="IBM Plex Sans"/>
              </a:rPr>
              <a:t>Replies are JSON in plain text</a:t>
            </a:r>
            <a:endParaRPr sz="1300" b="0" i="0" u="none" strike="noStrike" cap="none">
              <a:solidFill>
                <a:schemeClr val="dk1"/>
              </a:solidFill>
              <a:latin typeface="IBM Plex Sans"/>
              <a:ea typeface="IBM Plex Sans"/>
              <a:cs typeface="IBM Plex Sans"/>
              <a:sym typeface="IBM Plex Sans"/>
            </a:endParaRPr>
          </a:p>
        </p:txBody>
      </p:sp>
      <p:sp>
        <p:nvSpPr>
          <p:cNvPr id="72" name="Google Shape;72;p3"/>
          <p:cNvSpPr/>
          <p:nvPr/>
        </p:nvSpPr>
        <p:spPr>
          <a:xfrm>
            <a:off x="7448798" y="3598769"/>
            <a:ext cx="3786600" cy="4521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a:solidFill>
                  <a:srgbClr val="4A5568"/>
                </a:solidFill>
                <a:latin typeface="IBM Plex Sans"/>
                <a:ea typeface="IBM Plex Sans"/>
                <a:cs typeface="IBM Plex Sans"/>
                <a:sym typeface="IBM Plex Sans"/>
              </a:rPr>
              <a:t>Explicit actions work with our tested endpoint; malformed replies require correction.</a:t>
            </a:r>
            <a:endParaRPr sz="1200" b="0" i="0" u="none" strike="noStrike" cap="none">
              <a:solidFill>
                <a:schemeClr val="dk1"/>
              </a:solidFill>
              <a:latin typeface="IBM Plex Sans"/>
              <a:ea typeface="IBM Plex Sans"/>
              <a:cs typeface="IBM Plex Sans"/>
              <a:sym typeface="IBM Plex Sans"/>
            </a:endParaRPr>
          </a:p>
        </p:txBody>
      </p:sp>
      <p:sp>
        <p:nvSpPr>
          <p:cNvPr id="73" name="Google Shape;73;p3"/>
          <p:cNvSpPr/>
          <p:nvPr/>
        </p:nvSpPr>
        <p:spPr>
          <a:xfrm>
            <a:off x="7448798" y="4177779"/>
            <a:ext cx="3786600" cy="2565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72433"/>
              </a:buClr>
              <a:buSzPts val="1300"/>
              <a:buFont typeface="IBM Plex Sans"/>
              <a:buNone/>
            </a:pPr>
            <a:r>
              <a:rPr lang="en-US" sz="1300" b="1" i="0" u="none" strike="noStrike" cap="none">
                <a:solidFill>
                  <a:srgbClr val="172433"/>
                </a:solidFill>
                <a:latin typeface="IBM Plex Sans"/>
                <a:ea typeface="IBM Plex Sans"/>
                <a:cs typeface="IBM Plex Sans"/>
                <a:sym typeface="IBM Plex Sans"/>
              </a:rPr>
              <a:t>Keep the best attempt</a:t>
            </a:r>
            <a:endParaRPr sz="1300" b="0" i="0" u="none" strike="noStrike" cap="none">
              <a:solidFill>
                <a:schemeClr val="dk1"/>
              </a:solidFill>
              <a:latin typeface="IBM Plex Sans"/>
              <a:ea typeface="IBM Plex Sans"/>
              <a:cs typeface="IBM Plex Sans"/>
              <a:sym typeface="IBM Plex Sans"/>
            </a:endParaRPr>
          </a:p>
        </p:txBody>
      </p:sp>
      <p:sp>
        <p:nvSpPr>
          <p:cNvPr id="74" name="Google Shape;74;p3"/>
          <p:cNvSpPr/>
          <p:nvPr/>
        </p:nvSpPr>
        <p:spPr>
          <a:xfrm>
            <a:off x="7448798" y="4446904"/>
            <a:ext cx="3786600" cy="4521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a:solidFill>
                  <a:srgbClr val="4A5568"/>
                </a:solidFill>
                <a:latin typeface="IBM Plex Sans"/>
                <a:ea typeface="IBM Plex Sans"/>
                <a:cs typeface="IBM Plex Sans"/>
                <a:sym typeface="IBM Plex Sans"/>
              </a:rPr>
              <a:t>Rank candidate builds and restore snapshots when replacing changes; retain the selected candidate.</a:t>
            </a:r>
            <a:endParaRPr sz="1200" b="0" i="0" u="none" strike="noStrike" cap="none">
              <a:solidFill>
                <a:schemeClr val="dk1"/>
              </a:solidFill>
              <a:latin typeface="IBM Plex Sans"/>
              <a:ea typeface="IBM Plex Sans"/>
              <a:cs typeface="IBM Plex Sans"/>
              <a:sym typeface="IBM Plex Sans"/>
            </a:endParaRPr>
          </a:p>
        </p:txBody>
      </p:sp>
      <p:sp>
        <p:nvSpPr>
          <p:cNvPr id="75" name="Google Shape;75;p3"/>
          <p:cNvSpPr/>
          <p:nvPr/>
        </p:nvSpPr>
        <p:spPr>
          <a:xfrm>
            <a:off x="812750" y="6238249"/>
            <a:ext cx="9810744"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Team timeline, September 23 – October </a:t>
            </a:r>
            <a:r>
              <a:rPr lang="en-US" sz="1200">
                <a:solidFill>
                  <a:srgbClr val="6B7684"/>
                </a:solidFill>
                <a:latin typeface="IBM Plex Sans"/>
                <a:ea typeface="IBM Plex Sans"/>
                <a:cs typeface="IBM Plex Sans"/>
                <a:sym typeface="IBM Plex Sans"/>
              </a:rPr>
              <a:t>20</a:t>
            </a:r>
            <a:endParaRPr sz="1200" b="0" i="0" u="none" strike="noStrike" cap="none">
              <a:solidFill>
                <a:schemeClr val="dk1"/>
              </a:solidFill>
              <a:latin typeface="IBM Plex Sans"/>
              <a:ea typeface="IBM Plex Sans"/>
              <a:cs typeface="IBM Plex Sans"/>
              <a:sym typeface="IBM Plex Sans"/>
            </a:endParaRPr>
          </a:p>
        </p:txBody>
      </p:sp>
      <p:sp>
        <p:nvSpPr>
          <p:cNvPr id="76" name="Google Shape;76;p3"/>
          <p:cNvSpPr/>
          <p:nvPr/>
        </p:nvSpPr>
        <p:spPr>
          <a:xfrm>
            <a:off x="10820424" y="6238249"/>
            <a:ext cx="55879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3</a:t>
            </a:r>
            <a:endParaRPr sz="12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81"/>
        <p:cNvGrpSpPr/>
        <p:nvPr/>
      </p:nvGrpSpPr>
      <p:grpSpPr>
        <a:xfrm>
          <a:off x="0" y="0"/>
          <a:ext cx="0" cy="0"/>
          <a:chOff x="0" y="0"/>
          <a:chExt cx="0" cy="0"/>
        </a:xfrm>
      </p:grpSpPr>
      <p:sp>
        <p:nvSpPr>
          <p:cNvPr id="82" name="Google Shape;82;h401b5273f978885_0_26"/>
          <p:cNvSpPr txBox="1">
            <a:spLocks noGrp="1"/>
          </p:cNvSpPr>
          <p:nvPr>
            <p:ph type="title"/>
          </p:nvPr>
        </p:nvSpPr>
        <p:spPr>
          <a:xfrm>
            <a:off x="812750" y="609563"/>
            <a:ext cx="10883400" cy="84330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4304F"/>
              </a:buClr>
              <a:buSzPts val="2800"/>
              <a:buFont typeface="IBM Plex Sans"/>
              <a:buNone/>
            </a:pPr>
            <a:r>
              <a:rPr lang="en-US" b="1"/>
              <a:t>One-shot architecture</a:t>
            </a:r>
            <a:endParaRPr sz="2800"/>
          </a:p>
        </p:txBody>
      </p:sp>
      <p:sp>
        <p:nvSpPr>
          <p:cNvPr id="83" name="Google Shape;83;h401b5273f978885_0_26"/>
          <p:cNvSpPr/>
          <p:nvPr/>
        </p:nvSpPr>
        <p:spPr>
          <a:xfrm>
            <a:off x="10820424" y="6238248"/>
            <a:ext cx="558900" cy="2388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2</a:t>
            </a:r>
            <a:endParaRPr sz="1200" b="0" i="0" u="none" strike="noStrike" cap="none">
              <a:solidFill>
                <a:schemeClr val="dk1"/>
              </a:solidFill>
              <a:latin typeface="IBM Plex Sans"/>
              <a:ea typeface="IBM Plex Sans"/>
              <a:cs typeface="IBM Plex Sans"/>
              <a:sym typeface="IBM Plex Sans"/>
            </a:endParaRPr>
          </a:p>
        </p:txBody>
      </p:sp>
      <p:pic>
        <p:nvPicPr>
          <p:cNvPr id="84" name="Google Shape;84;h401b5273f978885_0_26"/>
          <p:cNvPicPr preferRelativeResize="0"/>
          <p:nvPr/>
        </p:nvPicPr>
        <p:blipFill rotWithShape="1">
          <a:blip r:embed="rId3">
            <a:alphaModFix/>
          </a:blip>
          <a:srcRect t="15226"/>
          <a:stretch/>
        </p:blipFill>
        <p:spPr>
          <a:xfrm>
            <a:off x="0" y="1044000"/>
            <a:ext cx="12192000" cy="5814000"/>
          </a:xfrm>
          <a:prstGeom prst="rect">
            <a:avLst/>
          </a:prstGeom>
          <a:noFill/>
          <a:ln>
            <a:noFill/>
          </a:ln>
        </p:spPr>
      </p:pic>
      <p:sp>
        <p:nvSpPr>
          <p:cNvPr id="85" name="Google Shape;85;h401b5273f978885_0_26"/>
          <p:cNvSpPr txBox="1"/>
          <p:nvPr/>
        </p:nvSpPr>
        <p:spPr>
          <a:xfrm>
            <a:off x="9597725" y="2968325"/>
            <a:ext cx="3000000" cy="3000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a:p>
          <a:p>
            <a:pPr marL="0" lvl="0" indent="0" algn="l" rtl="0">
              <a:lnSpc>
                <a:spcPct val="115000"/>
              </a:lnSpc>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90"/>
        <p:cNvGrpSpPr/>
        <p:nvPr/>
      </p:nvGrpSpPr>
      <p:grpSpPr>
        <a:xfrm>
          <a:off x="0" y="0"/>
          <a:ext cx="0" cy="0"/>
          <a:chOff x="0" y="0"/>
          <a:chExt cx="0" cy="0"/>
        </a:xfrm>
      </p:grpSpPr>
      <p:pic>
        <p:nvPicPr>
          <p:cNvPr id="91" name="Google Shape;91;p4" descr="Arrows: failure log to evidence manager to repair loop; loop to and from the model; loop to and from read-only tools; loop to edit applier to build feedback; build feedback back to the loop when the build fails"/>
          <p:cNvPicPr preferRelativeResize="0"/>
          <p:nvPr/>
        </p:nvPicPr>
        <p:blipFill rotWithShape="1">
          <a:blip r:embed="rId3">
            <a:alphaModFix/>
          </a:blip>
          <a:srcRect/>
          <a:stretch/>
        </p:blipFill>
        <p:spPr>
          <a:xfrm>
            <a:off x="0" y="0"/>
            <a:ext cx="12191974" cy="6857954"/>
          </a:xfrm>
          <a:prstGeom prst="rect">
            <a:avLst/>
          </a:prstGeom>
          <a:noFill/>
          <a:ln>
            <a:noFill/>
          </a:ln>
        </p:spPr>
      </p:pic>
      <p:sp>
        <p:nvSpPr>
          <p:cNvPr id="92" name="Google Shape;92;p4"/>
          <p:cNvSpPr txBox="1">
            <a:spLocks noGrp="1"/>
          </p:cNvSpPr>
          <p:nvPr>
            <p:ph type="title"/>
          </p:nvPr>
        </p:nvSpPr>
        <p:spPr>
          <a:xfrm>
            <a:off x="812750" y="609563"/>
            <a:ext cx="10883467" cy="843222"/>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4304F"/>
              </a:buClr>
              <a:buSzPts val="2800"/>
              <a:buFont typeface="IBM Plex Sans"/>
              <a:buNone/>
            </a:pPr>
            <a:r>
              <a:rPr lang="en-US" b="1"/>
              <a:t>Full-agent architecture</a:t>
            </a:r>
            <a:endParaRPr sz="2800"/>
          </a:p>
        </p:txBody>
      </p:sp>
      <p:sp>
        <p:nvSpPr>
          <p:cNvPr id="93" name="Google Shape;93;p4"/>
          <p:cNvSpPr/>
          <p:nvPr/>
        </p:nvSpPr>
        <p:spPr>
          <a:xfrm>
            <a:off x="812750" y="1777966"/>
            <a:ext cx="1523997" cy="1460474"/>
          </a:xfrm>
          <a:prstGeom prst="roundRect">
            <a:avLst>
              <a:gd name="adj" fmla="val 5217"/>
            </a:avLst>
          </a:prstGeom>
          <a:solidFill>
            <a:srgbClr val="EDF1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a:off x="965095" y="1930310"/>
            <a:ext cx="1270106"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b="1" i="0" u="none" strike="noStrike" cap="none">
                <a:solidFill>
                  <a:srgbClr val="4A5568"/>
                </a:solidFill>
                <a:latin typeface="IBM Plex Sans"/>
                <a:ea typeface="IBM Plex Sans"/>
                <a:cs typeface="IBM Plex Sans"/>
                <a:sym typeface="IBM Plex Sans"/>
              </a:rPr>
              <a:t>INPUT</a:t>
            </a:r>
            <a:endParaRPr sz="1200" b="0" i="0" u="none" strike="noStrike" cap="none">
              <a:solidFill>
                <a:schemeClr val="dk1"/>
              </a:solidFill>
              <a:latin typeface="IBM Plex Sans"/>
              <a:ea typeface="IBM Plex Sans"/>
              <a:cs typeface="IBM Plex Sans"/>
              <a:sym typeface="IBM Plex Sans"/>
            </a:endParaRPr>
          </a:p>
        </p:txBody>
      </p:sp>
      <p:sp>
        <p:nvSpPr>
          <p:cNvPr id="95" name="Google Shape;95;p4"/>
          <p:cNvSpPr/>
          <p:nvPr/>
        </p:nvSpPr>
        <p:spPr>
          <a:xfrm>
            <a:off x="965095" y="2194424"/>
            <a:ext cx="1270106" cy="482617"/>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72433"/>
              </a:buClr>
              <a:buSzPts val="1500"/>
              <a:buFont typeface="IBM Plex Sans"/>
              <a:buNone/>
            </a:pPr>
            <a:r>
              <a:rPr lang="en-US" sz="1500" b="1" i="0" u="none" strike="noStrike" cap="none">
                <a:solidFill>
                  <a:srgbClr val="172433"/>
                </a:solidFill>
                <a:latin typeface="IBM Plex Sans"/>
                <a:ea typeface="IBM Plex Sans"/>
                <a:cs typeface="IBM Plex Sans"/>
                <a:sym typeface="IBM Plex Sans"/>
              </a:rPr>
              <a:t>Failure log + task.json</a:t>
            </a:r>
            <a:endParaRPr sz="1500" b="0" i="0" u="none" strike="noStrike" cap="none">
              <a:solidFill>
                <a:schemeClr val="dk1"/>
              </a:solidFill>
              <a:latin typeface="IBM Plex Sans"/>
              <a:ea typeface="IBM Plex Sans"/>
              <a:cs typeface="IBM Plex Sans"/>
              <a:sym typeface="IBM Plex Sans"/>
            </a:endParaRPr>
          </a:p>
        </p:txBody>
      </p:sp>
      <p:sp>
        <p:nvSpPr>
          <p:cNvPr id="96" name="Google Shape;96;p4"/>
          <p:cNvSpPr/>
          <p:nvPr/>
        </p:nvSpPr>
        <p:spPr>
          <a:xfrm>
            <a:off x="965095" y="2702423"/>
            <a:ext cx="1270106" cy="223515"/>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from the case</a:t>
            </a:r>
            <a:endParaRPr sz="1200" b="0" i="0" u="none" strike="noStrike" cap="none">
              <a:solidFill>
                <a:schemeClr val="dk1"/>
              </a:solidFill>
              <a:latin typeface="IBM Plex Sans"/>
              <a:ea typeface="IBM Plex Sans"/>
              <a:cs typeface="IBM Plex Sans"/>
              <a:sym typeface="IBM Plex Sans"/>
            </a:endParaRPr>
          </a:p>
        </p:txBody>
      </p:sp>
      <p:sp>
        <p:nvSpPr>
          <p:cNvPr id="97" name="Google Shape;97;p4"/>
          <p:cNvSpPr/>
          <p:nvPr/>
        </p:nvSpPr>
        <p:spPr>
          <a:xfrm>
            <a:off x="2851095" y="1784316"/>
            <a:ext cx="2527294" cy="1447774"/>
          </a:xfrm>
          <a:prstGeom prst="roundRect">
            <a:avLst>
              <a:gd name="adj" fmla="val 4825"/>
            </a:avLst>
          </a:prstGeom>
          <a:solidFill>
            <a:srgbClr val="FCFCFA"/>
          </a:solidFill>
          <a:ln w="12700" cap="flat" cmpd="sng">
            <a:solidFill>
              <a:srgbClr val="C9D2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4"/>
          <p:cNvSpPr/>
          <p:nvPr/>
        </p:nvSpPr>
        <p:spPr>
          <a:xfrm>
            <a:off x="3008684" y="1941905"/>
            <a:ext cx="2278480"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200"/>
              <a:buFont typeface="IBM Plex Sans"/>
              <a:buNone/>
            </a:pPr>
            <a:r>
              <a:rPr lang="en-US" sz="1200" b="1" i="0" u="none" strike="noStrike" cap="none">
                <a:solidFill>
                  <a:srgbClr val="1F5F99"/>
                </a:solidFill>
                <a:latin typeface="IBM Plex Sans"/>
                <a:ea typeface="IBM Plex Sans"/>
                <a:cs typeface="IBM Plex Sans"/>
                <a:sym typeface="IBM Plex Sans"/>
              </a:rPr>
              <a:t>A · Anthony</a:t>
            </a:r>
            <a:endParaRPr sz="1200" b="0" i="0" u="none" strike="noStrike" cap="none">
              <a:solidFill>
                <a:schemeClr val="dk1"/>
              </a:solidFill>
              <a:latin typeface="IBM Plex Sans"/>
              <a:ea typeface="IBM Plex Sans"/>
              <a:cs typeface="IBM Plex Sans"/>
              <a:sym typeface="IBM Plex Sans"/>
            </a:endParaRPr>
          </a:p>
        </p:txBody>
      </p:sp>
      <p:sp>
        <p:nvSpPr>
          <p:cNvPr id="99" name="Google Shape;99;p4"/>
          <p:cNvSpPr/>
          <p:nvPr/>
        </p:nvSpPr>
        <p:spPr>
          <a:xfrm>
            <a:off x="3008684" y="2206017"/>
            <a:ext cx="2278480" cy="254009"/>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72433"/>
              </a:buClr>
              <a:buSzPts val="1500"/>
              <a:buFont typeface="IBM Plex Sans"/>
              <a:buNone/>
            </a:pPr>
            <a:r>
              <a:rPr lang="en-US" sz="1500" b="1" i="0" u="none" strike="noStrike" cap="none">
                <a:solidFill>
                  <a:srgbClr val="172433"/>
                </a:solidFill>
                <a:latin typeface="IBM Plex Sans"/>
                <a:ea typeface="IBM Plex Sans"/>
                <a:cs typeface="IBM Plex Sans"/>
                <a:sym typeface="IBM Plex Sans"/>
              </a:rPr>
              <a:t>Evidence manager</a:t>
            </a:r>
            <a:endParaRPr sz="1500" b="0" i="0" u="none" strike="noStrike" cap="none">
              <a:solidFill>
                <a:schemeClr val="dk1"/>
              </a:solidFill>
              <a:latin typeface="IBM Plex Sans"/>
              <a:ea typeface="IBM Plex Sans"/>
              <a:cs typeface="IBM Plex Sans"/>
              <a:sym typeface="IBM Plex Sans"/>
            </a:endParaRPr>
          </a:p>
        </p:txBody>
      </p:sp>
      <p:sp>
        <p:nvSpPr>
          <p:cNvPr id="100" name="Google Shape;100;p4"/>
          <p:cNvSpPr/>
          <p:nvPr/>
        </p:nvSpPr>
        <p:spPr>
          <a:xfrm>
            <a:off x="3008684" y="2485408"/>
            <a:ext cx="2278480" cy="421631"/>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Errors with file, line and stage; paths checked against real files</a:t>
            </a:r>
            <a:endParaRPr sz="1200" b="0" i="0" u="none" strike="noStrike" cap="none">
              <a:solidFill>
                <a:schemeClr val="dk1"/>
              </a:solidFill>
              <a:latin typeface="IBM Plex Sans"/>
              <a:ea typeface="IBM Plex Sans"/>
              <a:cs typeface="IBM Plex Sans"/>
              <a:sym typeface="IBM Plex Sans"/>
            </a:endParaRPr>
          </a:p>
        </p:txBody>
      </p:sp>
      <p:sp>
        <p:nvSpPr>
          <p:cNvPr id="101" name="Google Shape;101;p4"/>
          <p:cNvSpPr/>
          <p:nvPr/>
        </p:nvSpPr>
        <p:spPr>
          <a:xfrm>
            <a:off x="5892799" y="1777966"/>
            <a:ext cx="2666979" cy="1460474"/>
          </a:xfrm>
          <a:prstGeom prst="roundRect">
            <a:avLst>
              <a:gd name="adj" fmla="val 5217"/>
            </a:avLst>
          </a:prstGeom>
          <a:solidFill>
            <a:srgbClr val="143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4"/>
          <p:cNvSpPr/>
          <p:nvPr/>
        </p:nvSpPr>
        <p:spPr>
          <a:xfrm>
            <a:off x="6045144" y="1930310"/>
            <a:ext cx="2433157"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2A65A"/>
              </a:buClr>
              <a:buSzPts val="1200"/>
              <a:buFont typeface="IBM Plex Sans"/>
              <a:buNone/>
            </a:pPr>
            <a:r>
              <a:rPr lang="en-US" sz="1200" b="1" i="0" u="none" strike="noStrike" cap="none">
                <a:solidFill>
                  <a:srgbClr val="F2A65A"/>
                </a:solidFill>
                <a:latin typeface="IBM Plex Sans"/>
                <a:ea typeface="IBM Plex Sans"/>
                <a:cs typeface="IBM Plex Sans"/>
                <a:sym typeface="IBM Plex Sans"/>
              </a:rPr>
              <a:t>C · Juliette, E · Owen</a:t>
            </a:r>
            <a:endParaRPr sz="1200" b="0" i="0" u="none" strike="noStrike" cap="none">
              <a:solidFill>
                <a:schemeClr val="dk1"/>
              </a:solidFill>
              <a:latin typeface="IBM Plex Sans"/>
              <a:ea typeface="IBM Plex Sans"/>
              <a:cs typeface="IBM Plex Sans"/>
              <a:sym typeface="IBM Plex Sans"/>
            </a:endParaRPr>
          </a:p>
        </p:txBody>
      </p:sp>
      <p:sp>
        <p:nvSpPr>
          <p:cNvPr id="103" name="Google Shape;103;p4"/>
          <p:cNvSpPr/>
          <p:nvPr/>
        </p:nvSpPr>
        <p:spPr>
          <a:xfrm>
            <a:off x="6045144" y="2194424"/>
            <a:ext cx="2433157" cy="254009"/>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F3F5F7"/>
              </a:buClr>
              <a:buSzPts val="1500"/>
              <a:buFont typeface="IBM Plex Sans"/>
              <a:buNone/>
            </a:pPr>
            <a:r>
              <a:rPr lang="en-US" sz="1500" b="1" i="0" u="none" strike="noStrike" cap="none">
                <a:solidFill>
                  <a:srgbClr val="F3F5F7"/>
                </a:solidFill>
                <a:latin typeface="IBM Plex Sans"/>
                <a:ea typeface="IBM Plex Sans"/>
                <a:cs typeface="IBM Plex Sans"/>
                <a:sym typeface="IBM Plex Sans"/>
              </a:rPr>
              <a:t>Repair loop + prompts</a:t>
            </a:r>
            <a:endParaRPr sz="1500" b="0" i="0" u="none" strike="noStrike" cap="none">
              <a:solidFill>
                <a:schemeClr val="dk1"/>
              </a:solidFill>
              <a:latin typeface="IBM Plex Sans"/>
              <a:ea typeface="IBM Plex Sans"/>
              <a:cs typeface="IBM Plex Sans"/>
              <a:sym typeface="IBM Plex Sans"/>
            </a:endParaRPr>
          </a:p>
        </p:txBody>
      </p:sp>
      <p:sp>
        <p:nvSpPr>
          <p:cNvPr id="104" name="Google Shape;104;p4"/>
          <p:cNvSpPr/>
          <p:nvPr/>
        </p:nvSpPr>
        <p:spPr>
          <a:xfrm>
            <a:off x="6045144" y="2473815"/>
            <a:ext cx="2433157" cy="619746"/>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B9C7D6"/>
              </a:buClr>
              <a:buSzPts val="1200"/>
              <a:buFont typeface="IBM Plex Sans"/>
              <a:buNone/>
            </a:pPr>
            <a:r>
              <a:rPr lang="en-US" sz="1200" b="0" i="0" u="none" strike="noStrike" cap="none">
                <a:solidFill>
                  <a:srgbClr val="B9C7D6"/>
                </a:solidFill>
                <a:latin typeface="IBM Plex Sans"/>
                <a:ea typeface="IBM Plex Sans"/>
                <a:cs typeface="IBM Plex Sans"/>
                <a:sym typeface="IBM Plex Sans"/>
              </a:rPr>
              <a:t>One model turn at a time: tool request, edit or stop; enforces budgets</a:t>
            </a:r>
            <a:endParaRPr sz="1200" b="0" i="0" u="none" strike="noStrike" cap="none">
              <a:solidFill>
                <a:schemeClr val="dk1"/>
              </a:solidFill>
              <a:latin typeface="IBM Plex Sans"/>
              <a:ea typeface="IBM Plex Sans"/>
              <a:cs typeface="IBM Plex Sans"/>
              <a:sym typeface="IBM Plex Sans"/>
            </a:endParaRPr>
          </a:p>
        </p:txBody>
      </p:sp>
      <p:sp>
        <p:nvSpPr>
          <p:cNvPr id="105" name="Google Shape;105;p4"/>
          <p:cNvSpPr/>
          <p:nvPr/>
        </p:nvSpPr>
        <p:spPr>
          <a:xfrm>
            <a:off x="9067774" y="1777975"/>
            <a:ext cx="2920200" cy="1460400"/>
          </a:xfrm>
          <a:prstGeom prst="roundRect">
            <a:avLst>
              <a:gd name="adj" fmla="val 5217"/>
            </a:avLst>
          </a:prstGeom>
          <a:solidFill>
            <a:srgbClr val="EDF1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p:nvPr/>
        </p:nvSpPr>
        <p:spPr>
          <a:xfrm>
            <a:off x="9220122" y="1930310"/>
            <a:ext cx="2066896"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b="1" i="0" u="none" strike="noStrike" cap="none">
                <a:solidFill>
                  <a:srgbClr val="4A5568"/>
                </a:solidFill>
                <a:latin typeface="IBM Plex Sans"/>
                <a:ea typeface="IBM Plex Sans"/>
                <a:cs typeface="IBM Plex Sans"/>
                <a:sym typeface="IBM Plex Sans"/>
              </a:rPr>
              <a:t>MODEL</a:t>
            </a:r>
            <a:endParaRPr sz="1200" b="0" i="0" u="none" strike="noStrike" cap="none">
              <a:solidFill>
                <a:schemeClr val="dk1"/>
              </a:solidFill>
              <a:latin typeface="IBM Plex Sans"/>
              <a:ea typeface="IBM Plex Sans"/>
              <a:cs typeface="IBM Plex Sans"/>
              <a:sym typeface="IBM Plex Sans"/>
            </a:endParaRPr>
          </a:p>
        </p:txBody>
      </p:sp>
      <p:sp>
        <p:nvSpPr>
          <p:cNvPr id="107" name="Google Shape;107;p4"/>
          <p:cNvSpPr/>
          <p:nvPr/>
        </p:nvSpPr>
        <p:spPr>
          <a:xfrm>
            <a:off x="9220122" y="2194424"/>
            <a:ext cx="2066896" cy="254009"/>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72433"/>
              </a:buClr>
              <a:buSzPts val="1500"/>
              <a:buFont typeface="IBM Plex Sans"/>
              <a:buNone/>
            </a:pPr>
            <a:r>
              <a:rPr lang="en-US" sz="1500" b="1" i="0" u="none" strike="noStrike" cap="none">
                <a:solidFill>
                  <a:srgbClr val="172433"/>
                </a:solidFill>
                <a:latin typeface="IBM Plex Sans"/>
                <a:ea typeface="IBM Plex Sans"/>
                <a:cs typeface="IBM Plex Sans"/>
                <a:sym typeface="IBM Plex Sans"/>
              </a:rPr>
              <a:t>gpt-oss-120b</a:t>
            </a:r>
            <a:endParaRPr sz="1500" b="0" i="0" u="none" strike="noStrike" cap="none">
              <a:solidFill>
                <a:schemeClr val="dk1"/>
              </a:solidFill>
              <a:latin typeface="IBM Plex Sans"/>
              <a:ea typeface="IBM Plex Sans"/>
              <a:cs typeface="IBM Plex Sans"/>
              <a:sym typeface="IBM Plex Sans"/>
            </a:endParaRPr>
          </a:p>
        </p:txBody>
      </p:sp>
      <p:sp>
        <p:nvSpPr>
          <p:cNvPr id="108" name="Google Shape;108;p4"/>
          <p:cNvSpPr/>
          <p:nvPr/>
        </p:nvSpPr>
        <p:spPr>
          <a:xfrm>
            <a:off x="9220126" y="2473825"/>
            <a:ext cx="2767800" cy="6198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OpenAI-compatible API; competition model undisclosed; Bedrock model used in testing</a:t>
            </a:r>
            <a:endParaRPr sz="1200" b="0" i="0" u="none" strike="noStrike" cap="none">
              <a:solidFill>
                <a:schemeClr val="dk1"/>
              </a:solidFill>
              <a:latin typeface="IBM Plex Sans"/>
              <a:ea typeface="IBM Plex Sans"/>
              <a:cs typeface="IBM Plex Sans"/>
              <a:sym typeface="IBM Plex Sans"/>
            </a:endParaRPr>
          </a:p>
        </p:txBody>
      </p:sp>
      <p:sp>
        <p:nvSpPr>
          <p:cNvPr id="109" name="Google Shape;109;p4"/>
          <p:cNvSpPr/>
          <p:nvPr/>
        </p:nvSpPr>
        <p:spPr>
          <a:xfrm>
            <a:off x="4267178" y="3301963"/>
            <a:ext cx="1962099"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tool requests, results</a:t>
            </a:r>
            <a:endParaRPr sz="1200" b="0" i="0" u="none" strike="noStrike" cap="none">
              <a:solidFill>
                <a:schemeClr val="dk1"/>
              </a:solidFill>
              <a:latin typeface="IBM Plex Sans"/>
              <a:ea typeface="IBM Plex Sans"/>
              <a:cs typeface="IBM Plex Sans"/>
              <a:sym typeface="IBM Plex Sans"/>
            </a:endParaRPr>
          </a:p>
        </p:txBody>
      </p:sp>
      <p:sp>
        <p:nvSpPr>
          <p:cNvPr id="110" name="Google Shape;110;p4"/>
          <p:cNvSpPr/>
          <p:nvPr/>
        </p:nvSpPr>
        <p:spPr>
          <a:xfrm>
            <a:off x="6819853" y="3428947"/>
            <a:ext cx="685783"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edit</a:t>
            </a:r>
            <a:endParaRPr sz="1200" b="0" i="0" u="none" strike="noStrike" cap="none">
              <a:solidFill>
                <a:schemeClr val="dk1"/>
              </a:solidFill>
              <a:latin typeface="IBM Plex Sans"/>
              <a:ea typeface="IBM Plex Sans"/>
              <a:cs typeface="IBM Plex Sans"/>
              <a:sym typeface="IBM Plex Sans"/>
            </a:endParaRPr>
          </a:p>
        </p:txBody>
      </p:sp>
      <p:sp>
        <p:nvSpPr>
          <p:cNvPr id="111" name="Google Shape;111;p4"/>
          <p:cNvSpPr/>
          <p:nvPr/>
        </p:nvSpPr>
        <p:spPr>
          <a:xfrm>
            <a:off x="7988257" y="3301963"/>
            <a:ext cx="2158321"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4530F"/>
              </a:buClr>
              <a:buSzPts val="1200"/>
              <a:buFont typeface="IBM Plex Sans"/>
              <a:buNone/>
            </a:pPr>
            <a:r>
              <a:rPr lang="en-US" sz="1200" b="1" i="0" u="none" strike="noStrike" cap="none">
                <a:solidFill>
                  <a:srgbClr val="B4530F"/>
                </a:solidFill>
                <a:latin typeface="IBM Plex Sans"/>
                <a:ea typeface="IBM Plex Sans"/>
                <a:cs typeface="IBM Plex Sans"/>
                <a:sym typeface="IBM Plex Sans"/>
              </a:rPr>
              <a:t>build failed: new errors</a:t>
            </a:r>
            <a:endParaRPr sz="1200" b="0" i="0" u="none" strike="noStrike" cap="none">
              <a:solidFill>
                <a:schemeClr val="dk1"/>
              </a:solidFill>
              <a:latin typeface="IBM Plex Sans"/>
              <a:ea typeface="IBM Plex Sans"/>
              <a:cs typeface="IBM Plex Sans"/>
              <a:sym typeface="IBM Plex Sans"/>
            </a:endParaRPr>
          </a:p>
        </p:txBody>
      </p:sp>
      <p:sp>
        <p:nvSpPr>
          <p:cNvPr id="112" name="Google Shape;112;p4"/>
          <p:cNvSpPr/>
          <p:nvPr/>
        </p:nvSpPr>
        <p:spPr>
          <a:xfrm>
            <a:off x="2851095" y="3879833"/>
            <a:ext cx="2527294" cy="1257267"/>
          </a:xfrm>
          <a:prstGeom prst="roundRect">
            <a:avLst>
              <a:gd name="adj" fmla="val 5556"/>
            </a:avLst>
          </a:prstGeom>
          <a:solidFill>
            <a:srgbClr val="FCFCFA"/>
          </a:solidFill>
          <a:ln w="12700" cap="flat" cmpd="sng">
            <a:solidFill>
              <a:srgbClr val="C9D2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3008684" y="4037422"/>
            <a:ext cx="2278480"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200"/>
              <a:buFont typeface="IBM Plex Sans"/>
              <a:buNone/>
            </a:pPr>
            <a:r>
              <a:rPr lang="en-US" sz="1200" b="1" i="0" u="none" strike="noStrike" cap="none">
                <a:solidFill>
                  <a:srgbClr val="1F5F99"/>
                </a:solidFill>
                <a:latin typeface="IBM Plex Sans"/>
                <a:ea typeface="IBM Plex Sans"/>
                <a:cs typeface="IBM Plex Sans"/>
                <a:sym typeface="IBM Plex Sans"/>
              </a:rPr>
              <a:t>B · Austin</a:t>
            </a:r>
            <a:endParaRPr sz="1200" b="0" i="0" u="none" strike="noStrike" cap="none">
              <a:solidFill>
                <a:schemeClr val="dk1"/>
              </a:solidFill>
              <a:latin typeface="IBM Plex Sans"/>
              <a:ea typeface="IBM Plex Sans"/>
              <a:cs typeface="IBM Plex Sans"/>
              <a:sym typeface="IBM Plex Sans"/>
            </a:endParaRPr>
          </a:p>
        </p:txBody>
      </p:sp>
      <p:sp>
        <p:nvSpPr>
          <p:cNvPr id="114" name="Google Shape;114;p4"/>
          <p:cNvSpPr/>
          <p:nvPr/>
        </p:nvSpPr>
        <p:spPr>
          <a:xfrm>
            <a:off x="3008684" y="4301536"/>
            <a:ext cx="2278480" cy="254009"/>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72433"/>
              </a:buClr>
              <a:buSzPts val="1500"/>
              <a:buFont typeface="IBM Plex Sans"/>
              <a:buNone/>
            </a:pPr>
            <a:r>
              <a:rPr lang="en-US" sz="1500" b="1" i="0" u="none" strike="noStrike" cap="none">
                <a:solidFill>
                  <a:srgbClr val="172433"/>
                </a:solidFill>
                <a:latin typeface="IBM Plex Sans"/>
                <a:ea typeface="IBM Plex Sans"/>
                <a:cs typeface="IBM Plex Sans"/>
                <a:sym typeface="IBM Plex Sans"/>
              </a:rPr>
              <a:t>Read-only tools</a:t>
            </a:r>
            <a:endParaRPr sz="1500" b="0" i="0" u="none" strike="noStrike" cap="none">
              <a:solidFill>
                <a:schemeClr val="dk1"/>
              </a:solidFill>
              <a:latin typeface="IBM Plex Sans"/>
              <a:ea typeface="IBM Plex Sans"/>
              <a:cs typeface="IBM Plex Sans"/>
              <a:sym typeface="IBM Plex Sans"/>
            </a:endParaRPr>
          </a:p>
        </p:txBody>
      </p:sp>
      <p:sp>
        <p:nvSpPr>
          <p:cNvPr id="115" name="Google Shape;115;p4"/>
          <p:cNvSpPr/>
          <p:nvPr/>
        </p:nvSpPr>
        <p:spPr>
          <a:xfrm>
            <a:off x="3008684" y="4580927"/>
            <a:ext cx="2278480" cy="421631"/>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list, find, search, read, diff, patch series</a:t>
            </a:r>
            <a:endParaRPr sz="1200" b="0" i="0" u="none" strike="noStrike" cap="none">
              <a:solidFill>
                <a:schemeClr val="dk1"/>
              </a:solidFill>
              <a:latin typeface="IBM Plex Sans"/>
              <a:ea typeface="IBM Plex Sans"/>
              <a:cs typeface="IBM Plex Sans"/>
              <a:sym typeface="IBM Plex Sans"/>
            </a:endParaRPr>
          </a:p>
        </p:txBody>
      </p:sp>
      <p:sp>
        <p:nvSpPr>
          <p:cNvPr id="116" name="Google Shape;116;p4"/>
          <p:cNvSpPr/>
          <p:nvPr/>
        </p:nvSpPr>
        <p:spPr>
          <a:xfrm>
            <a:off x="5899149" y="3879833"/>
            <a:ext cx="2654279" cy="1257267"/>
          </a:xfrm>
          <a:prstGeom prst="roundRect">
            <a:avLst>
              <a:gd name="adj" fmla="val 5556"/>
            </a:avLst>
          </a:prstGeom>
          <a:solidFill>
            <a:srgbClr val="FCFCFA"/>
          </a:solidFill>
          <a:ln w="12700" cap="flat" cmpd="sng">
            <a:solidFill>
              <a:srgbClr val="C9D2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4"/>
          <p:cNvSpPr/>
          <p:nvPr/>
        </p:nvSpPr>
        <p:spPr>
          <a:xfrm>
            <a:off x="6056738" y="4037422"/>
            <a:ext cx="2409274"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200"/>
              <a:buFont typeface="IBM Plex Sans"/>
              <a:buNone/>
            </a:pPr>
            <a:r>
              <a:rPr lang="en-US" sz="1200" b="1" i="0" u="none" strike="noStrike" cap="none">
                <a:solidFill>
                  <a:srgbClr val="1F5F99"/>
                </a:solidFill>
                <a:latin typeface="IBM Plex Sans"/>
                <a:ea typeface="IBM Plex Sans"/>
                <a:cs typeface="IBM Plex Sans"/>
                <a:sym typeface="IBM Plex Sans"/>
              </a:rPr>
              <a:t>From the baseline</a:t>
            </a:r>
            <a:endParaRPr sz="1200" b="0" i="0" u="none" strike="noStrike" cap="none">
              <a:solidFill>
                <a:schemeClr val="dk1"/>
              </a:solidFill>
              <a:latin typeface="IBM Plex Sans"/>
              <a:ea typeface="IBM Plex Sans"/>
              <a:cs typeface="IBM Plex Sans"/>
              <a:sym typeface="IBM Plex Sans"/>
            </a:endParaRPr>
          </a:p>
        </p:txBody>
      </p:sp>
      <p:sp>
        <p:nvSpPr>
          <p:cNvPr id="118" name="Google Shape;118;p4"/>
          <p:cNvSpPr/>
          <p:nvPr/>
        </p:nvSpPr>
        <p:spPr>
          <a:xfrm>
            <a:off x="6056738" y="4301536"/>
            <a:ext cx="2409274" cy="254009"/>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72433"/>
              </a:buClr>
              <a:buSzPts val="1500"/>
              <a:buFont typeface="IBM Plex Sans"/>
              <a:buNone/>
            </a:pPr>
            <a:r>
              <a:rPr lang="en-US" sz="1500" b="1" i="0" u="none" strike="noStrike" cap="none">
                <a:solidFill>
                  <a:srgbClr val="172433"/>
                </a:solidFill>
                <a:latin typeface="IBM Plex Sans"/>
                <a:ea typeface="IBM Plex Sans"/>
                <a:cs typeface="IBM Plex Sans"/>
                <a:sym typeface="IBM Plex Sans"/>
              </a:rPr>
              <a:t>Edit applier</a:t>
            </a:r>
            <a:endParaRPr sz="1500" b="0" i="0" u="none" strike="noStrike" cap="none">
              <a:solidFill>
                <a:schemeClr val="dk1"/>
              </a:solidFill>
              <a:latin typeface="IBM Plex Sans"/>
              <a:ea typeface="IBM Plex Sans"/>
              <a:cs typeface="IBM Plex Sans"/>
              <a:sym typeface="IBM Plex Sans"/>
            </a:endParaRPr>
          </a:p>
        </p:txBody>
      </p:sp>
      <p:sp>
        <p:nvSpPr>
          <p:cNvPr id="119" name="Google Shape;119;p4"/>
          <p:cNvSpPr/>
          <p:nvPr/>
        </p:nvSpPr>
        <p:spPr>
          <a:xfrm>
            <a:off x="6056738" y="4580927"/>
            <a:ext cx="2409274" cy="421631"/>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4A5568"/>
              </a:buClr>
              <a:buSzPts val="1200"/>
              <a:buFont typeface="IBM Plex Sans"/>
              <a:buNone/>
            </a:pPr>
            <a:r>
              <a:rPr lang="en-US" sz="1200">
                <a:solidFill>
                  <a:srgbClr val="4A5568"/>
                </a:solidFill>
                <a:latin typeface="IBM Plex Sans"/>
                <a:ea typeface="IBM Plex Sans"/>
                <a:cs typeface="IBM Plex Sans"/>
                <a:sym typeface="IBM Plex Sans"/>
              </a:rPr>
              <a:t>Validate exact edits before writing, return correction feedback</a:t>
            </a:r>
            <a:endParaRPr sz="1200" b="0" i="0" u="none" strike="noStrike" cap="none">
              <a:solidFill>
                <a:schemeClr val="dk1"/>
              </a:solidFill>
              <a:latin typeface="IBM Plex Sans"/>
              <a:ea typeface="IBM Plex Sans"/>
              <a:cs typeface="IBM Plex Sans"/>
              <a:sym typeface="IBM Plex Sans"/>
            </a:endParaRPr>
          </a:p>
        </p:txBody>
      </p:sp>
      <p:sp>
        <p:nvSpPr>
          <p:cNvPr id="120" name="Google Shape;120;p4"/>
          <p:cNvSpPr/>
          <p:nvPr/>
        </p:nvSpPr>
        <p:spPr>
          <a:xfrm>
            <a:off x="9077302" y="3883008"/>
            <a:ext cx="2292336" cy="1250917"/>
          </a:xfrm>
          <a:prstGeom prst="roundRect">
            <a:avLst>
              <a:gd name="adj" fmla="val 5330"/>
            </a:avLst>
          </a:prstGeom>
          <a:solidFill>
            <a:srgbClr val="FCFCFA"/>
          </a:solidFill>
          <a:ln w="19050" cap="flat" cmpd="sng">
            <a:solidFill>
              <a:srgbClr val="1F5F99"/>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9235580" y="4041287"/>
            <a:ext cx="2035053" cy="237343"/>
          </a:xfrm>
          <a:prstGeom prst="rect">
            <a:avLst/>
          </a:prstGeom>
          <a:noFill/>
          <a:ln>
            <a:noFill/>
          </a:ln>
        </p:spPr>
        <p:txBody>
          <a:bodyPr spcFirstLastPara="1" wrap="square" lIns="0" tIns="0" rIns="0" bIns="0" anchor="t" anchorCtr="0">
            <a:normAutofit/>
          </a:bodyPr>
          <a:lstStyle/>
          <a:p>
            <a:pPr marL="0" marR="0" lvl="0" indent="0" algn="l" rtl="0">
              <a:lnSpc>
                <a:spcPct val="140050"/>
              </a:lnSpc>
              <a:spcBef>
                <a:spcPts val="0"/>
              </a:spcBef>
              <a:spcAft>
                <a:spcPts val="0"/>
              </a:spcAft>
              <a:buClr>
                <a:srgbClr val="1F5F99"/>
              </a:buClr>
              <a:buSzPts val="1196"/>
              <a:buFont typeface="IBM Plex Sans"/>
              <a:buNone/>
            </a:pPr>
            <a:r>
              <a:rPr lang="en-US" sz="1196" b="1" i="0" u="none" strike="noStrike" cap="none">
                <a:solidFill>
                  <a:srgbClr val="1F5F99"/>
                </a:solidFill>
                <a:latin typeface="IBM Plex Sans"/>
                <a:ea typeface="IBM Plex Sans"/>
                <a:cs typeface="IBM Plex Sans"/>
                <a:sym typeface="IBM Plex Sans"/>
              </a:rPr>
              <a:t>D · Joonseo · harness</a:t>
            </a:r>
            <a:endParaRPr sz="1196" b="0" i="0" u="none" strike="noStrike" cap="none">
              <a:solidFill>
                <a:schemeClr val="dk1"/>
              </a:solidFill>
              <a:latin typeface="IBM Plex Sans"/>
              <a:ea typeface="IBM Plex Sans"/>
              <a:cs typeface="IBM Plex Sans"/>
              <a:sym typeface="IBM Plex Sans"/>
            </a:endParaRPr>
          </a:p>
        </p:txBody>
      </p:sp>
      <p:sp>
        <p:nvSpPr>
          <p:cNvPr id="122" name="Google Shape;122;p4"/>
          <p:cNvSpPr/>
          <p:nvPr/>
        </p:nvSpPr>
        <p:spPr>
          <a:xfrm>
            <a:off x="9235580" y="4304012"/>
            <a:ext cx="2035053" cy="252559"/>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72433"/>
              </a:buClr>
              <a:buSzPts val="1500"/>
              <a:buFont typeface="IBM Plex Sans"/>
              <a:buNone/>
            </a:pPr>
            <a:r>
              <a:rPr lang="en-US" sz="1500" b="1" i="0" u="none" strike="noStrike" cap="none">
                <a:solidFill>
                  <a:srgbClr val="172433"/>
                </a:solidFill>
                <a:latin typeface="IBM Plex Sans"/>
                <a:ea typeface="IBM Plex Sans"/>
                <a:cs typeface="IBM Plex Sans"/>
                <a:sym typeface="IBM Plex Sans"/>
              </a:rPr>
              <a:t>Build feedback</a:t>
            </a:r>
            <a:endParaRPr sz="1500" b="0" i="0" u="none" strike="noStrike" cap="none">
              <a:solidFill>
                <a:schemeClr val="dk1"/>
              </a:solidFill>
              <a:latin typeface="IBM Plex Sans"/>
              <a:ea typeface="IBM Plex Sans"/>
              <a:cs typeface="IBM Plex Sans"/>
              <a:sym typeface="IBM Plex Sans"/>
            </a:endParaRPr>
          </a:p>
        </p:txBody>
      </p:sp>
      <p:sp>
        <p:nvSpPr>
          <p:cNvPr id="123" name="Google Shape;123;p4"/>
          <p:cNvSpPr/>
          <p:nvPr/>
        </p:nvSpPr>
        <p:spPr>
          <a:xfrm>
            <a:off x="9235580" y="4581953"/>
            <a:ext cx="2035053" cy="419095"/>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Repack a copy, build on the real validator</a:t>
            </a:r>
            <a:endParaRPr sz="1200" b="0" i="0" u="none" strike="noStrike" cap="none">
              <a:solidFill>
                <a:schemeClr val="dk1"/>
              </a:solidFill>
              <a:latin typeface="IBM Plex Sans"/>
              <a:ea typeface="IBM Plex Sans"/>
              <a:cs typeface="IBM Plex Sans"/>
              <a:sym typeface="IBM Plex Sans"/>
            </a:endParaRPr>
          </a:p>
        </p:txBody>
      </p:sp>
      <p:sp>
        <p:nvSpPr>
          <p:cNvPr id="124" name="Google Shape;124;p4"/>
          <p:cNvSpPr/>
          <p:nvPr/>
        </p:nvSpPr>
        <p:spPr>
          <a:xfrm>
            <a:off x="812750" y="5346698"/>
            <a:ext cx="10883342" cy="436847"/>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4A5568"/>
              </a:buClr>
              <a:buSzPts val="1200"/>
              <a:buFont typeface="IBM Plex Sans"/>
              <a:buNone/>
            </a:pPr>
            <a:r>
              <a:rPr lang="en-US" sz="1200" b="1" i="0" u="none" strike="noStrike" cap="none">
                <a:solidFill>
                  <a:srgbClr val="4A5568"/>
                </a:solidFill>
                <a:latin typeface="IBM Plex Sans"/>
                <a:ea typeface="IBM Plex Sans"/>
                <a:cs typeface="IBM Plex Sans"/>
                <a:sym typeface="IBM Plex Sans"/>
              </a:rPr>
              <a:t>Stops</a:t>
            </a:r>
            <a:r>
              <a:rPr lang="en-US" sz="1200" b="0" i="0" u="none" strike="noStrike" cap="none">
                <a:solidFill>
                  <a:srgbClr val="4A5568"/>
                </a:solidFill>
                <a:latin typeface="IBM Plex Sans"/>
                <a:ea typeface="IBM Plex Sans"/>
                <a:cs typeface="IBM Plex Sans"/>
                <a:sym typeface="IBM Plex Sans"/>
              </a:rPr>
              <a:t> on a passing build, </a:t>
            </a:r>
            <a:r>
              <a:rPr lang="en-US" sz="1200">
                <a:solidFill>
                  <a:srgbClr val="4A5568"/>
                </a:solidFill>
                <a:latin typeface="IBM Plex Sans"/>
                <a:ea typeface="IBM Plex Sans"/>
                <a:cs typeface="IBM Plex Sans"/>
                <a:sym typeface="IBM Plex Sans"/>
              </a:rPr>
              <a:t>exhausted limits, model stop or repeated diagnostics without sufficient progress. Retains a selected candidate for separate final validation. Build feedback runs only in our local harness; official builds cannot be requested during a hosted agent run.</a:t>
            </a:r>
            <a:endParaRPr sz="1200" b="0" i="0" u="none" strike="noStrike" cap="none">
              <a:solidFill>
                <a:schemeClr val="dk1"/>
              </a:solidFill>
              <a:latin typeface="IBM Plex Sans"/>
              <a:ea typeface="IBM Plex Sans"/>
              <a:cs typeface="IBM Plex Sans"/>
              <a:sym typeface="IBM Plex Sans"/>
            </a:endParaRPr>
          </a:p>
        </p:txBody>
      </p:sp>
      <p:sp>
        <p:nvSpPr>
          <p:cNvPr id="125" name="Google Shape;125;p4"/>
          <p:cNvSpPr/>
          <p:nvPr/>
        </p:nvSpPr>
        <p:spPr>
          <a:xfrm>
            <a:off x="812750" y="6238249"/>
            <a:ext cx="9810744"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The full agent as of October </a:t>
            </a:r>
            <a:r>
              <a:rPr lang="en-US" sz="1200">
                <a:solidFill>
                  <a:srgbClr val="6B7684"/>
                </a:solidFill>
                <a:latin typeface="IBM Plex Sans"/>
                <a:ea typeface="IBM Plex Sans"/>
                <a:cs typeface="IBM Plex Sans"/>
                <a:sym typeface="IBM Plex Sans"/>
              </a:rPr>
              <a:t>20</a:t>
            </a:r>
            <a:endParaRPr sz="1200" b="0" i="0" u="none" strike="noStrike" cap="none">
              <a:solidFill>
                <a:schemeClr val="dk1"/>
              </a:solidFill>
              <a:latin typeface="IBM Plex Sans"/>
              <a:ea typeface="IBM Plex Sans"/>
              <a:cs typeface="IBM Plex Sans"/>
              <a:sym typeface="IBM Plex Sans"/>
            </a:endParaRPr>
          </a:p>
        </p:txBody>
      </p:sp>
      <p:sp>
        <p:nvSpPr>
          <p:cNvPr id="126" name="Google Shape;126;p4"/>
          <p:cNvSpPr/>
          <p:nvPr/>
        </p:nvSpPr>
        <p:spPr>
          <a:xfrm>
            <a:off x="10820424" y="6238249"/>
            <a:ext cx="55879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6B7684"/>
              </a:buClr>
              <a:buSzPts val="1200"/>
              <a:buFont typeface="IBM Plex Sans"/>
              <a:buNone/>
            </a:pPr>
            <a:r>
              <a:rPr lang="en-US" sz="1200">
                <a:solidFill>
                  <a:srgbClr val="6B7684"/>
                </a:solidFill>
                <a:latin typeface="IBM Plex Sans"/>
                <a:ea typeface="IBM Plex Sans"/>
                <a:cs typeface="IBM Plex Sans"/>
                <a:sym typeface="IBM Plex Sans"/>
              </a:rPr>
              <a:t>6</a:t>
            </a:r>
            <a:endParaRPr sz="12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131"/>
        <p:cNvGrpSpPr/>
        <p:nvPr/>
      </p:nvGrpSpPr>
      <p:grpSpPr>
        <a:xfrm>
          <a:off x="0" y="0"/>
          <a:ext cx="0" cy="0"/>
          <a:chOff x="0" y="0"/>
          <a:chExt cx="0" cy="0"/>
        </a:xfrm>
      </p:grpSpPr>
      <p:sp>
        <p:nvSpPr>
          <p:cNvPr id="132" name="Google Shape;132;p5"/>
          <p:cNvSpPr txBox="1">
            <a:spLocks noGrp="1"/>
          </p:cNvSpPr>
          <p:nvPr>
            <p:ph type="title"/>
          </p:nvPr>
        </p:nvSpPr>
        <p:spPr>
          <a:xfrm>
            <a:off x="812750" y="609563"/>
            <a:ext cx="10883467" cy="843222"/>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4304F"/>
              </a:buClr>
              <a:buSzPts val="2800"/>
              <a:buFont typeface="IBM Plex Sans"/>
              <a:buNone/>
            </a:pPr>
            <a:r>
              <a:rPr lang="en-US" b="1"/>
              <a:t>One-shot failures shaped the full-agent design </a:t>
            </a:r>
            <a:endParaRPr sz="2800"/>
          </a:p>
        </p:txBody>
      </p:sp>
      <p:graphicFrame>
        <p:nvGraphicFramePr>
          <p:cNvPr id="133" name="Google Shape;133;p5"/>
          <p:cNvGraphicFramePr/>
          <p:nvPr/>
        </p:nvGraphicFramePr>
        <p:xfrm>
          <a:off x="824343" y="1743730"/>
          <a:ext cx="3000000" cy="3000000"/>
        </p:xfrm>
        <a:graphic>
          <a:graphicData uri="http://schemas.openxmlformats.org/drawingml/2006/table">
            <a:tbl>
              <a:tblPr>
                <a:noFill/>
                <a:tableStyleId>{ADB3D7E4-98E0-446D-BD89-4FCEEEE099C4}</a:tableStyleId>
              </a:tblPr>
              <a:tblGrid>
                <a:gridCol w="3588650">
                  <a:extLst>
                    <a:ext uri="{9D8B030D-6E8A-4147-A177-3AD203B41FA5}">
                      <a16:colId xmlns:a16="http://schemas.microsoft.com/office/drawing/2014/main" val="20000"/>
                    </a:ext>
                  </a:extLst>
                </a:gridCol>
                <a:gridCol w="3483100">
                  <a:extLst>
                    <a:ext uri="{9D8B030D-6E8A-4147-A177-3AD203B41FA5}">
                      <a16:colId xmlns:a16="http://schemas.microsoft.com/office/drawing/2014/main" val="20001"/>
                    </a:ext>
                  </a:extLst>
                </a:gridCol>
                <a:gridCol w="3483100">
                  <a:extLst>
                    <a:ext uri="{9D8B030D-6E8A-4147-A177-3AD203B41FA5}">
                      <a16:colId xmlns:a16="http://schemas.microsoft.com/office/drawing/2014/main" val="20002"/>
                    </a:ext>
                  </a:extLst>
                </a:gridCol>
              </a:tblGrid>
              <a:tr h="514525">
                <a:tc>
                  <a:txBody>
                    <a:bodyPr/>
                    <a:lstStyle/>
                    <a:p>
                      <a:pPr marL="0" marR="0" lvl="0" indent="0" algn="l" rtl="0">
                        <a:lnSpc>
                          <a:spcPct val="140000"/>
                        </a:lnSpc>
                        <a:spcBef>
                          <a:spcPts val="0"/>
                        </a:spcBef>
                        <a:spcAft>
                          <a:spcPts val="0"/>
                        </a:spcAft>
                        <a:buClr>
                          <a:srgbClr val="F3F5F7"/>
                        </a:buClr>
                        <a:buSzPts val="1400"/>
                        <a:buFont typeface="IBM Plex Sans"/>
                        <a:buNone/>
                      </a:pPr>
                      <a:r>
                        <a:rPr lang="en-US" b="1">
                          <a:solidFill>
                            <a:srgbClr val="F3F5F7"/>
                          </a:solidFill>
                          <a:latin typeface="IBM Plex Sans"/>
                          <a:ea typeface="IBM Plex Sans"/>
                          <a:cs typeface="IBM Plex Sans"/>
                          <a:sym typeface="IBM Plex Sans"/>
                        </a:rPr>
                        <a:t>One-shot  limitation</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C4C5C3"/>
                      </a:solidFill>
                      <a:prstDash val="solid"/>
                      <a:round/>
                      <a:headEnd type="none" w="sm" len="sm"/>
                      <a:tailEnd type="none" w="sm" len="sm"/>
                    </a:lnL>
                    <a:lnR w="12700" cap="flat" cmpd="sng">
                      <a:solidFill>
                        <a:srgbClr val="142A42"/>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142A42"/>
                      </a:solidFill>
                      <a:prstDash val="solid"/>
                      <a:round/>
                      <a:headEnd type="none" w="sm" len="sm"/>
                      <a:tailEnd type="none" w="sm" len="sm"/>
                    </a:lnB>
                    <a:solidFill>
                      <a:srgbClr val="14304F"/>
                    </a:solidFill>
                  </a:tcPr>
                </a:tc>
                <a:tc>
                  <a:txBody>
                    <a:bodyPr/>
                    <a:lstStyle/>
                    <a:p>
                      <a:pPr marL="0" marR="0" lvl="0" indent="0" algn="l" rtl="0">
                        <a:lnSpc>
                          <a:spcPct val="140000"/>
                        </a:lnSpc>
                        <a:spcBef>
                          <a:spcPts val="0"/>
                        </a:spcBef>
                        <a:spcAft>
                          <a:spcPts val="0"/>
                        </a:spcAft>
                        <a:buClr>
                          <a:srgbClr val="F3F5F7"/>
                        </a:buClr>
                        <a:buSzPts val="1400"/>
                        <a:buFont typeface="IBM Plex Sans"/>
                        <a:buNone/>
                      </a:pPr>
                      <a:r>
                        <a:rPr lang="en-US" b="1">
                          <a:solidFill>
                            <a:srgbClr val="F3F5F7"/>
                          </a:solidFill>
                          <a:latin typeface="IBM Plex Sans"/>
                          <a:ea typeface="IBM Plex Sans"/>
                          <a:cs typeface="IBM Plex Sans"/>
                          <a:sym typeface="IBM Plex Sans"/>
                        </a:rPr>
                        <a:t>Design response</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142A42"/>
                      </a:solidFill>
                      <a:prstDash val="solid"/>
                      <a:round/>
                      <a:headEnd type="none" w="sm" len="sm"/>
                      <a:tailEnd type="none" w="sm" len="sm"/>
                    </a:lnL>
                    <a:lnR w="12700" cap="flat" cmpd="sng">
                      <a:solidFill>
                        <a:srgbClr val="142A42"/>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142A42"/>
                      </a:solidFill>
                      <a:prstDash val="solid"/>
                      <a:round/>
                      <a:headEnd type="none" w="sm" len="sm"/>
                      <a:tailEnd type="none" w="sm" len="sm"/>
                    </a:lnB>
                    <a:solidFill>
                      <a:srgbClr val="14304F"/>
                    </a:solidFill>
                  </a:tcPr>
                </a:tc>
                <a:tc>
                  <a:txBody>
                    <a:bodyPr/>
                    <a:lstStyle/>
                    <a:p>
                      <a:pPr marL="0" marR="0" lvl="0" indent="0" algn="l" rtl="0">
                        <a:lnSpc>
                          <a:spcPct val="140000"/>
                        </a:lnSpc>
                        <a:spcBef>
                          <a:spcPts val="0"/>
                        </a:spcBef>
                        <a:spcAft>
                          <a:spcPts val="0"/>
                        </a:spcAft>
                        <a:buClr>
                          <a:srgbClr val="F3F5F7"/>
                        </a:buClr>
                        <a:buSzPts val="1400"/>
                        <a:buFont typeface="IBM Plex Sans"/>
                        <a:buNone/>
                      </a:pPr>
                      <a:r>
                        <a:rPr lang="en-US" sz="1400" b="1" u="none" strike="noStrike" cap="none">
                          <a:solidFill>
                            <a:srgbClr val="F3F5F7"/>
                          </a:solidFill>
                          <a:latin typeface="IBM Plex Sans"/>
                          <a:ea typeface="IBM Plex Sans"/>
                          <a:cs typeface="IBM Plex Sans"/>
                          <a:sym typeface="IBM Plex Sans"/>
                        </a:rPr>
                        <a:t>Evidence and </a:t>
                      </a:r>
                      <a:r>
                        <a:rPr lang="en-US" b="1">
                          <a:solidFill>
                            <a:srgbClr val="F3F5F7"/>
                          </a:solidFill>
                          <a:latin typeface="IBM Plex Sans"/>
                          <a:ea typeface="IBM Plex Sans"/>
                          <a:cs typeface="IBM Plex Sans"/>
                          <a:sym typeface="IBM Plex Sans"/>
                        </a:rPr>
                        <a:t>limits</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142A42"/>
                      </a:solidFill>
                      <a:prstDash val="solid"/>
                      <a:round/>
                      <a:headEnd type="none" w="sm" len="sm"/>
                      <a:tailEnd type="none" w="sm" len="sm"/>
                    </a:lnL>
                    <a:lnR w="12700" cap="flat" cmpd="sng">
                      <a:solidFill>
                        <a:srgbClr val="142A42"/>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142A42"/>
                      </a:solidFill>
                      <a:prstDash val="solid"/>
                      <a:round/>
                      <a:headEnd type="none" w="sm" len="sm"/>
                      <a:tailEnd type="none" w="sm" len="sm"/>
                    </a:lnB>
                    <a:solidFill>
                      <a:srgbClr val="14304F"/>
                    </a:solidFill>
                  </a:tcPr>
                </a:tc>
                <a:extLst>
                  <a:ext uri="{0D108BD9-81ED-4DB2-BD59-A6C34878D82A}">
                    <a16:rowId xmlns:a16="http://schemas.microsoft.com/office/drawing/2014/main" val="10000"/>
                  </a:ext>
                </a:extLst>
              </a:tr>
              <a:tr h="1012425">
                <a:tc>
                  <a:txBody>
                    <a:bodyPr/>
                    <a:lstStyle/>
                    <a:p>
                      <a:pPr marL="0" marR="0" lvl="0" indent="0" algn="l" rtl="0">
                        <a:lnSpc>
                          <a:spcPct val="140000"/>
                        </a:lnSpc>
                        <a:spcBef>
                          <a:spcPts val="0"/>
                        </a:spcBef>
                        <a:spcAft>
                          <a:spcPts val="0"/>
                        </a:spcAft>
                        <a:buClr>
                          <a:srgbClr val="172433"/>
                        </a:buClr>
                        <a:buSzPts val="1400"/>
                        <a:buFont typeface="IBM Plex Sans"/>
                        <a:buNone/>
                      </a:pPr>
                      <a:r>
                        <a:rPr lang="en-US">
                          <a:solidFill>
                            <a:srgbClr val="172433"/>
                          </a:solidFill>
                          <a:latin typeface="IBM Plex Sans"/>
                          <a:ea typeface="IBM Plex Sans"/>
                          <a:cs typeface="IBM Plex Sans"/>
                          <a:sym typeface="IBM Plex Sans"/>
                        </a:rPr>
                        <a:t>Compiler paths may differ from valid edit paths</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C4C5C3"/>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142A42"/>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marR="0" lvl="0" indent="0" algn="l" rtl="0">
                        <a:lnSpc>
                          <a:spcPct val="140000"/>
                        </a:lnSpc>
                        <a:spcBef>
                          <a:spcPts val="0"/>
                        </a:spcBef>
                        <a:spcAft>
                          <a:spcPts val="0"/>
                        </a:spcAft>
                        <a:buClr>
                          <a:srgbClr val="172433"/>
                        </a:buClr>
                        <a:buSzPts val="1400"/>
                        <a:buFont typeface="IBM Plex Sans"/>
                        <a:buNone/>
                      </a:pPr>
                      <a:r>
                        <a:rPr lang="en-US">
                          <a:solidFill>
                            <a:srgbClr val="172433"/>
                          </a:solidFill>
                          <a:latin typeface="IBM Plex Sans"/>
                          <a:ea typeface="IBM Plex Sans"/>
                          <a:cs typeface="IBM Plex Sans"/>
                          <a:sym typeface="IBM Plex Sans"/>
                        </a:rPr>
                        <a:t>Resolve diagnostic paths against actual files; validate edit paths</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142A42"/>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marR="0" lvl="0" indent="0" algn="l" rtl="0">
                        <a:lnSpc>
                          <a:spcPct val="140000"/>
                        </a:lnSpc>
                        <a:spcBef>
                          <a:spcPts val="0"/>
                        </a:spcBef>
                        <a:spcAft>
                          <a:spcPts val="0"/>
                        </a:spcAft>
                        <a:buClr>
                          <a:srgbClr val="1F5F99"/>
                        </a:buClr>
                        <a:buSzPts val="1400"/>
                        <a:buFont typeface="IBM Plex Sans"/>
                        <a:buNone/>
                      </a:pPr>
                      <a:r>
                        <a:rPr lang="en-US">
                          <a:solidFill>
                            <a:srgbClr val="1F5F99"/>
                          </a:solidFill>
                          <a:latin typeface="IBM Plex Sans"/>
                          <a:ea typeface="IBM Plex Sans"/>
                          <a:cs typeface="IBM Plex Sans"/>
                          <a:sym typeface="IBM Plex Sans"/>
                        </a:rPr>
                        <a:t>Checked on rcran; path and edit failures still occurred on harder cases</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142A42"/>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extLst>
                  <a:ext uri="{0D108BD9-81ED-4DB2-BD59-A6C34878D82A}">
                    <a16:rowId xmlns:a16="http://schemas.microsoft.com/office/drawing/2014/main" val="10001"/>
                  </a:ext>
                </a:extLst>
              </a:tr>
              <a:tr h="763475">
                <a:tc>
                  <a:txBody>
                    <a:bodyPr/>
                    <a:lstStyle/>
                    <a:p>
                      <a:pPr marL="0" marR="0" lvl="0" indent="0" algn="l" rtl="0">
                        <a:lnSpc>
                          <a:spcPct val="140000"/>
                        </a:lnSpc>
                        <a:spcBef>
                          <a:spcPts val="0"/>
                        </a:spcBef>
                        <a:spcAft>
                          <a:spcPts val="0"/>
                        </a:spcAft>
                        <a:buClr>
                          <a:srgbClr val="172433"/>
                        </a:buClr>
                        <a:buSzPts val="1400"/>
                        <a:buFont typeface="IBM Plex Sans"/>
                        <a:buNone/>
                      </a:pPr>
                      <a:r>
                        <a:rPr lang="en-US">
                          <a:solidFill>
                            <a:srgbClr val="172433"/>
                          </a:solidFill>
                          <a:latin typeface="IBM Plex Sans"/>
                          <a:ea typeface="IBM Plex Sans"/>
                          <a:cs typeface="IBM Plex Sans"/>
                          <a:sym typeface="IBM Plex Sans"/>
                        </a:rPr>
                        <a:t>Fixed prompt files can omit relevant source</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marR="0" lvl="0" indent="0" algn="l" rtl="0">
                        <a:lnSpc>
                          <a:spcPct val="140000"/>
                        </a:lnSpc>
                        <a:spcBef>
                          <a:spcPts val="0"/>
                        </a:spcBef>
                        <a:spcAft>
                          <a:spcPts val="0"/>
                        </a:spcAft>
                        <a:buClr>
                          <a:srgbClr val="172433"/>
                        </a:buClr>
                        <a:buSzPts val="1400"/>
                        <a:buFont typeface="IBM Plex Sans"/>
                        <a:buNone/>
                      </a:pPr>
                      <a:r>
                        <a:rPr lang="en-US" sz="1400" u="none" strike="noStrike" cap="none">
                          <a:solidFill>
                            <a:srgbClr val="172433"/>
                          </a:solidFill>
                          <a:latin typeface="IBM Plex Sans"/>
                          <a:ea typeface="IBM Plex Sans"/>
                          <a:cs typeface="IBM Plex Sans"/>
                          <a:sym typeface="IBM Plex Sans"/>
                        </a:rPr>
                        <a:t>B lets the model list, search and read </a:t>
                      </a:r>
                      <a:r>
                        <a:rPr lang="en-US">
                          <a:solidFill>
                            <a:srgbClr val="172433"/>
                          </a:solidFill>
                          <a:latin typeface="IBM Plex Sans"/>
                          <a:ea typeface="IBM Plex Sans"/>
                          <a:cs typeface="IBM Plex Sans"/>
                          <a:sym typeface="IBM Plex Sans"/>
                        </a:rPr>
                        <a:t>permitted package files</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marR="0" lvl="0" indent="0" algn="l" rtl="0">
                        <a:lnSpc>
                          <a:spcPct val="140000"/>
                        </a:lnSpc>
                        <a:spcBef>
                          <a:spcPts val="0"/>
                        </a:spcBef>
                        <a:spcAft>
                          <a:spcPts val="0"/>
                        </a:spcAft>
                        <a:buClr>
                          <a:srgbClr val="1F5F99"/>
                        </a:buClr>
                        <a:buSzPts val="1400"/>
                        <a:buFont typeface="IBM Plex Sans"/>
                        <a:buNone/>
                      </a:pPr>
                      <a:r>
                        <a:rPr lang="en-US" sz="1400" u="none" strike="noStrike" cap="none">
                          <a:solidFill>
                            <a:srgbClr val="1F5F99"/>
                          </a:solidFill>
                          <a:latin typeface="IBM Plex Sans"/>
                          <a:ea typeface="IBM Plex Sans"/>
                          <a:cs typeface="IBM Plex Sans"/>
                          <a:sym typeface="IBM Plex Sans"/>
                        </a:rPr>
                        <a:t>4 of 4 live rcran runs found the file and edited the source directly</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extLst>
                  <a:ext uri="{0D108BD9-81ED-4DB2-BD59-A6C34878D82A}">
                    <a16:rowId xmlns:a16="http://schemas.microsoft.com/office/drawing/2014/main" val="10002"/>
                  </a:ext>
                </a:extLst>
              </a:tr>
              <a:tr h="1012425">
                <a:tc>
                  <a:txBody>
                    <a:bodyPr/>
                    <a:lstStyle/>
                    <a:p>
                      <a:pPr marL="0" marR="0" lvl="0" indent="0" algn="l" rtl="0">
                        <a:lnSpc>
                          <a:spcPct val="140000"/>
                        </a:lnSpc>
                        <a:spcBef>
                          <a:spcPts val="0"/>
                        </a:spcBef>
                        <a:spcAft>
                          <a:spcPts val="0"/>
                        </a:spcAft>
                        <a:buClr>
                          <a:srgbClr val="172433"/>
                        </a:buClr>
                        <a:buSzPts val="1400"/>
                        <a:buFont typeface="IBM Plex Sans"/>
                        <a:buNone/>
                      </a:pPr>
                      <a:r>
                        <a:rPr lang="en-US" sz="1400" u="none" strike="noStrike" cap="none">
                          <a:solidFill>
                            <a:srgbClr val="172433"/>
                          </a:solidFill>
                          <a:latin typeface="IBM Plex Sans"/>
                          <a:ea typeface="IBM Plex Sans"/>
                          <a:cs typeface="IBM Plex Sans"/>
                          <a:sym typeface="IBM Plex Sans"/>
                        </a:rPr>
                        <a:t>Never saw its own fix fail</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C4C5C3"/>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marR="0" lvl="0" indent="0" algn="l" rtl="0">
                        <a:lnSpc>
                          <a:spcPct val="140000"/>
                        </a:lnSpc>
                        <a:spcBef>
                          <a:spcPts val="0"/>
                        </a:spcBef>
                        <a:spcAft>
                          <a:spcPts val="0"/>
                        </a:spcAft>
                        <a:buClr>
                          <a:srgbClr val="172433"/>
                        </a:buClr>
                        <a:buSzPts val="1400"/>
                        <a:buFont typeface="IBM Plex Sans"/>
                        <a:buNone/>
                      </a:pPr>
                      <a:r>
                        <a:rPr lang="en-US" sz="1400" u="none" strike="noStrike" cap="none">
                          <a:solidFill>
                            <a:srgbClr val="172433"/>
                          </a:solidFill>
                          <a:latin typeface="IBM Plex Sans"/>
                          <a:ea typeface="IBM Plex Sans"/>
                          <a:cs typeface="IBM Plex Sans"/>
                          <a:sym typeface="IBM Plex Sans"/>
                        </a:rPr>
                        <a:t>D builds each attempt and sends the new errors back</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marR="0" lvl="0" indent="0" algn="l" rtl="0">
                        <a:lnSpc>
                          <a:spcPct val="140000"/>
                        </a:lnSpc>
                        <a:spcBef>
                          <a:spcPts val="0"/>
                        </a:spcBef>
                        <a:spcAft>
                          <a:spcPts val="0"/>
                        </a:spcAft>
                        <a:buClr>
                          <a:srgbClr val="1F5F99"/>
                        </a:buClr>
                        <a:buSzPts val="1400"/>
                        <a:buFont typeface="IBM Plex Sans"/>
                        <a:buNone/>
                      </a:pPr>
                      <a:r>
                        <a:rPr lang="en-US" sz="1400" u="none" strike="noStrike" cap="none">
                          <a:solidFill>
                            <a:srgbClr val="1F5F99"/>
                          </a:solidFill>
                          <a:latin typeface="IBM Plex Sans"/>
                          <a:ea typeface="IBM Plex Sans"/>
                          <a:cs typeface="IBM Plex Sans"/>
                          <a:sym typeface="IBM Plex Sans"/>
                        </a:rPr>
                        <a:t>A deliberately wrong edit was caught on a real build and revised; ~95 s per build</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extLst>
                  <a:ext uri="{0D108BD9-81ED-4DB2-BD59-A6C34878D82A}">
                    <a16:rowId xmlns:a16="http://schemas.microsoft.com/office/drawing/2014/main" val="10003"/>
                  </a:ext>
                </a:extLst>
              </a:tr>
              <a:tr h="763475">
                <a:tc>
                  <a:txBody>
                    <a:bodyPr/>
                    <a:lstStyle/>
                    <a:p>
                      <a:pPr marL="0" marR="0" lvl="0" indent="0" algn="l" rtl="0">
                        <a:lnSpc>
                          <a:spcPct val="140000"/>
                        </a:lnSpc>
                        <a:spcBef>
                          <a:spcPts val="0"/>
                        </a:spcBef>
                        <a:spcAft>
                          <a:spcPts val="0"/>
                        </a:spcAft>
                        <a:buClr>
                          <a:srgbClr val="172433"/>
                        </a:buClr>
                        <a:buSzPts val="1400"/>
                        <a:buFont typeface="IBM Plex Sans"/>
                        <a:buNone/>
                      </a:pPr>
                      <a:r>
                        <a:rPr lang="en-US" sz="1400" u="none" strike="noStrike" cap="none">
                          <a:solidFill>
                            <a:srgbClr val="172433"/>
                          </a:solidFill>
                          <a:latin typeface="IBM Plex Sans"/>
                          <a:ea typeface="IBM Plex Sans"/>
                          <a:cs typeface="IBM Plex Sans"/>
                          <a:sym typeface="IBM Plex Sans"/>
                        </a:rPr>
                        <a:t>Produced a different fix on each of 3 runs, even at temperature 0</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marR="0" lvl="0" indent="0" algn="l" rtl="0">
                        <a:lnSpc>
                          <a:spcPct val="140000"/>
                        </a:lnSpc>
                        <a:spcBef>
                          <a:spcPts val="0"/>
                        </a:spcBef>
                        <a:spcAft>
                          <a:spcPts val="0"/>
                        </a:spcAft>
                        <a:buClr>
                          <a:srgbClr val="172433"/>
                        </a:buClr>
                        <a:buSzPts val="1400"/>
                        <a:buFont typeface="IBM Plex Sans"/>
                        <a:buNone/>
                      </a:pPr>
                      <a:r>
                        <a:rPr lang="en-US">
                          <a:solidFill>
                            <a:srgbClr val="172433"/>
                          </a:solidFill>
                          <a:latin typeface="IBM Plex Sans"/>
                          <a:ea typeface="IBM Plex Sans"/>
                          <a:cs typeface="IBM Plex Sans"/>
                          <a:sym typeface="IBM Plex Sans"/>
                        </a:rPr>
                        <a:t>Preserve run records: </a:t>
                      </a:r>
                      <a:r>
                        <a:rPr lang="en-US" sz="1400" u="none" strike="noStrike" cap="none">
                          <a:solidFill>
                            <a:srgbClr val="172433"/>
                          </a:solidFill>
                          <a:latin typeface="IBM Plex Sans"/>
                          <a:ea typeface="IBM Plex Sans"/>
                          <a:cs typeface="IBM Plex Sans"/>
                          <a:sym typeface="IBM Plex Sans"/>
                        </a:rPr>
                        <a:t>every hypothesis, edit and result; 4 switches turn parts off</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marR="0" lvl="0" indent="0" algn="l" rtl="0">
                        <a:lnSpc>
                          <a:spcPct val="140000"/>
                        </a:lnSpc>
                        <a:spcBef>
                          <a:spcPts val="0"/>
                        </a:spcBef>
                        <a:spcAft>
                          <a:spcPts val="0"/>
                        </a:spcAft>
                        <a:buClr>
                          <a:srgbClr val="1F5F99"/>
                        </a:buClr>
                        <a:buSzPts val="1400"/>
                        <a:buFont typeface="IBM Plex Sans"/>
                        <a:buNone/>
                      </a:pPr>
                      <a:r>
                        <a:rPr lang="en-US">
                          <a:solidFill>
                            <a:srgbClr val="1F5F99"/>
                          </a:solidFill>
                          <a:latin typeface="IBM Plex Sans"/>
                          <a:ea typeface="IBM Plex Sans"/>
                          <a:cs typeface="IBM Plex Sans"/>
                          <a:sym typeface="IBM Plex Sans"/>
                        </a:rPr>
                        <a:t>Matched repeats and history on/off comparison are planned for Demo 3</a:t>
                      </a:r>
                      <a:endParaRPr sz="1400" u="none" strike="noStrike" cap="none">
                        <a:latin typeface="IBM Plex Sans"/>
                        <a:ea typeface="IBM Plex Sans"/>
                        <a:cs typeface="IBM Plex Sans"/>
                        <a:sym typeface="IBM Plex Sans"/>
                      </a:endParaRPr>
                    </a:p>
                  </a:txBody>
                  <a:tcPr marL="152400" marR="152400" marT="127000" marB="1270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extLst>
                  <a:ext uri="{0D108BD9-81ED-4DB2-BD59-A6C34878D82A}">
                    <a16:rowId xmlns:a16="http://schemas.microsoft.com/office/drawing/2014/main" val="10004"/>
                  </a:ext>
                </a:extLst>
              </a:tr>
            </a:tbl>
          </a:graphicData>
        </a:graphic>
      </p:graphicFrame>
      <p:sp>
        <p:nvSpPr>
          <p:cNvPr id="134" name="Google Shape;134;p5"/>
          <p:cNvSpPr/>
          <p:nvPr/>
        </p:nvSpPr>
        <p:spPr>
          <a:xfrm>
            <a:off x="812750" y="6238249"/>
            <a:ext cx="9810744"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Baseline runs on rcran, October 3; full-agent runs, October 14</a:t>
            </a:r>
            <a:endParaRPr sz="1200" b="0" i="0" u="none" strike="noStrike" cap="none">
              <a:solidFill>
                <a:schemeClr val="dk1"/>
              </a:solidFill>
              <a:latin typeface="IBM Plex Sans"/>
              <a:ea typeface="IBM Plex Sans"/>
              <a:cs typeface="IBM Plex Sans"/>
              <a:sym typeface="IBM Plex Sans"/>
            </a:endParaRPr>
          </a:p>
        </p:txBody>
      </p:sp>
      <p:sp>
        <p:nvSpPr>
          <p:cNvPr id="135" name="Google Shape;135;p5"/>
          <p:cNvSpPr/>
          <p:nvPr/>
        </p:nvSpPr>
        <p:spPr>
          <a:xfrm>
            <a:off x="10820424" y="6238249"/>
            <a:ext cx="55879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6B7684"/>
              </a:buClr>
              <a:buSzPts val="1200"/>
              <a:buFont typeface="IBM Plex Sans"/>
              <a:buNone/>
            </a:pPr>
            <a:r>
              <a:rPr lang="en-US" sz="1200">
                <a:solidFill>
                  <a:srgbClr val="6B7684"/>
                </a:solidFill>
                <a:latin typeface="IBM Plex Sans"/>
                <a:ea typeface="IBM Plex Sans"/>
                <a:cs typeface="IBM Plex Sans"/>
                <a:sym typeface="IBM Plex Sans"/>
              </a:rPr>
              <a:t>7</a:t>
            </a:r>
            <a:endParaRPr sz="12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140"/>
        <p:cNvGrpSpPr/>
        <p:nvPr/>
      </p:nvGrpSpPr>
      <p:grpSpPr>
        <a:xfrm>
          <a:off x="0" y="0"/>
          <a:ext cx="0" cy="0"/>
          <a:chOff x="0" y="0"/>
          <a:chExt cx="0" cy="0"/>
        </a:xfrm>
      </p:grpSpPr>
      <p:sp>
        <p:nvSpPr>
          <p:cNvPr id="141" name="Google Shape;141;p6"/>
          <p:cNvSpPr txBox="1">
            <a:spLocks noGrp="1"/>
          </p:cNvSpPr>
          <p:nvPr>
            <p:ph type="title"/>
          </p:nvPr>
        </p:nvSpPr>
        <p:spPr>
          <a:xfrm>
            <a:off x="812750" y="609563"/>
            <a:ext cx="10883467" cy="843222"/>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4304F"/>
              </a:buClr>
              <a:buSzPts val="2800"/>
              <a:buFont typeface="IBM Plex Sans"/>
              <a:buNone/>
            </a:pPr>
            <a:r>
              <a:rPr lang="en-US" sz="2800" b="1" i="0">
                <a:solidFill>
                  <a:srgbClr val="14304F"/>
                </a:solidFill>
                <a:latin typeface="IBM Plex Sans"/>
                <a:ea typeface="IBM Plex Sans"/>
                <a:cs typeface="IBM Plex Sans"/>
                <a:sym typeface="IBM Plex Sans"/>
              </a:rPr>
              <a:t>One recorded run: ARM64 repair and build in 44 seconds</a:t>
            </a:r>
            <a:endParaRPr sz="2800"/>
          </a:p>
        </p:txBody>
      </p:sp>
      <p:sp>
        <p:nvSpPr>
          <p:cNvPr id="142" name="Google Shape;142;p6"/>
          <p:cNvSpPr/>
          <p:nvPr/>
        </p:nvSpPr>
        <p:spPr>
          <a:xfrm>
            <a:off x="812750" y="1681355"/>
            <a:ext cx="330172" cy="330172"/>
          </a:xfrm>
          <a:custGeom>
            <a:avLst/>
            <a:gdLst/>
            <a:ahLst/>
            <a:cxnLst/>
            <a:rect l="l" t="t" r="r" b="b"/>
            <a:pathLst>
              <a:path w="330172" h="330172" extrusionOk="0">
                <a:moveTo>
                  <a:pt x="165086" y="0"/>
                </a:moveTo>
                <a:lnTo>
                  <a:pt x="165086" y="0"/>
                </a:lnTo>
                <a:cubicBezTo>
                  <a:pt x="208870" y="0"/>
                  <a:pt x="250860" y="17393"/>
                  <a:pt x="281819" y="48353"/>
                </a:cubicBezTo>
                <a:cubicBezTo>
                  <a:pt x="312779" y="79312"/>
                  <a:pt x="330172" y="121302"/>
                  <a:pt x="330172" y="165086"/>
                </a:cubicBezTo>
                <a:lnTo>
                  <a:pt x="330172" y="165086"/>
                </a:lnTo>
                <a:cubicBezTo>
                  <a:pt x="330172" y="256260"/>
                  <a:pt x="256260" y="330172"/>
                  <a:pt x="165086" y="330172"/>
                </a:cubicBezTo>
                <a:lnTo>
                  <a:pt x="165086" y="330172"/>
                </a:lnTo>
                <a:cubicBezTo>
                  <a:pt x="73912" y="330172"/>
                  <a:pt x="0" y="256260"/>
                  <a:pt x="0" y="165086"/>
                </a:cubicBezTo>
                <a:lnTo>
                  <a:pt x="0" y="165086"/>
                </a:lnTo>
                <a:cubicBezTo>
                  <a:pt x="0" y="73912"/>
                  <a:pt x="73912" y="0"/>
                  <a:pt x="165086" y="0"/>
                </a:cubicBezTo>
                <a:close/>
              </a:path>
            </a:pathLst>
          </a:custGeom>
          <a:solidFill>
            <a:srgbClr val="14304F"/>
          </a:solidFill>
          <a:ln>
            <a:noFill/>
          </a:ln>
        </p:spPr>
        <p:txBody>
          <a:bodyPr spcFirstLastPara="1" wrap="square" lIns="0" tIns="0" rIns="0" bIns="0" anchor="t" anchorCtr="0">
            <a:normAutofit/>
          </a:bodyPr>
          <a:lstStyle/>
          <a:p>
            <a:pPr marL="0" marR="0" lvl="0" indent="0" algn="ctr" rtl="0">
              <a:lnSpc>
                <a:spcPct val="200000"/>
              </a:lnSpc>
              <a:spcBef>
                <a:spcPts val="0"/>
              </a:spcBef>
              <a:spcAft>
                <a:spcPts val="0"/>
              </a:spcAft>
              <a:buClr>
                <a:srgbClr val="F3F5F7"/>
              </a:buClr>
              <a:buSzPts val="1300"/>
              <a:buFont typeface="IBM Plex Sans"/>
              <a:buNone/>
            </a:pPr>
            <a:r>
              <a:rPr lang="en-US" sz="1300" b="1" i="0" u="none" strike="noStrike" cap="none">
                <a:solidFill>
                  <a:srgbClr val="F3F5F7"/>
                </a:solidFill>
                <a:latin typeface="IBM Plex Sans"/>
                <a:ea typeface="IBM Plex Sans"/>
                <a:cs typeface="IBM Plex Sans"/>
                <a:sym typeface="IBM Plex Sans"/>
              </a:rPr>
              <a:t>1</a:t>
            </a:r>
            <a:endParaRPr sz="1300" b="0" i="0" u="none" strike="noStrike" cap="none">
              <a:solidFill>
                <a:schemeClr val="dk1"/>
              </a:solidFill>
              <a:latin typeface="IBM Plex Sans"/>
              <a:ea typeface="IBM Plex Sans"/>
              <a:cs typeface="IBM Plex Sans"/>
              <a:sym typeface="IBM Plex Sans"/>
            </a:endParaRPr>
          </a:p>
        </p:txBody>
      </p:sp>
      <p:sp>
        <p:nvSpPr>
          <p:cNvPr id="143" name="Google Shape;143;p6"/>
          <p:cNvSpPr/>
          <p:nvPr/>
        </p:nvSpPr>
        <p:spPr>
          <a:xfrm>
            <a:off x="1295267" y="1681355"/>
            <a:ext cx="5389428" cy="254009"/>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4304F"/>
              </a:buClr>
              <a:buSzPts val="1500"/>
              <a:buFont typeface="IBM Plex Sans"/>
              <a:buNone/>
            </a:pPr>
            <a:r>
              <a:rPr lang="en-US" sz="1500" b="1" i="0" u="none" strike="noStrike" cap="none">
                <a:solidFill>
                  <a:srgbClr val="14304F"/>
                </a:solidFill>
                <a:latin typeface="IBM Plex Sans"/>
                <a:ea typeface="IBM Plex Sans"/>
                <a:cs typeface="IBM Plex Sans"/>
                <a:sym typeface="IBM Plex Sans"/>
              </a:rPr>
              <a:t>Read the failure: the original error</a:t>
            </a:r>
            <a:endParaRPr sz="1500" b="0" i="0" u="none" strike="noStrike" cap="none">
              <a:solidFill>
                <a:schemeClr val="dk1"/>
              </a:solidFill>
              <a:latin typeface="IBM Plex Sans"/>
              <a:ea typeface="IBM Plex Sans"/>
              <a:cs typeface="IBM Plex Sans"/>
              <a:sym typeface="IBM Plex Sans"/>
            </a:endParaRPr>
          </a:p>
        </p:txBody>
      </p:sp>
      <p:sp>
        <p:nvSpPr>
          <p:cNvPr id="144" name="Google Shape;144;p6"/>
          <p:cNvSpPr/>
          <p:nvPr/>
        </p:nvSpPr>
        <p:spPr>
          <a:xfrm>
            <a:off x="1295267" y="1948005"/>
            <a:ext cx="5389428" cy="436847"/>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B4530F"/>
              </a:buClr>
              <a:buSzPts val="1200"/>
              <a:buFont typeface="JetBrains Mono"/>
              <a:buNone/>
            </a:pPr>
            <a:r>
              <a:rPr lang="en-US" sz="1200" b="0" i="0" u="none" strike="noStrike" cap="none">
                <a:solidFill>
                  <a:srgbClr val="B4530F"/>
                </a:solidFill>
                <a:latin typeface="JetBrains Mono"/>
                <a:ea typeface="JetBrains Mono"/>
                <a:cs typeface="JetBrains Mono"/>
                <a:sym typeface="JetBrains Mono"/>
              </a:rPr>
              <a:t>crc32c/crc32c_prefetch.h:18:10: fatal error: xmmintrin.h: No such file or directory</a:t>
            </a:r>
            <a:endParaRPr sz="1200" b="0" i="0" u="none" strike="noStrike" cap="none">
              <a:solidFill>
                <a:schemeClr val="dk1"/>
              </a:solidFill>
              <a:latin typeface="IBM Plex Sans"/>
              <a:ea typeface="IBM Plex Sans"/>
              <a:cs typeface="IBM Plex Sans"/>
              <a:sym typeface="IBM Plex Sans"/>
            </a:endParaRPr>
          </a:p>
        </p:txBody>
      </p:sp>
      <p:sp>
        <p:nvSpPr>
          <p:cNvPr id="145" name="Google Shape;145;p6"/>
          <p:cNvSpPr/>
          <p:nvPr/>
        </p:nvSpPr>
        <p:spPr>
          <a:xfrm>
            <a:off x="812750" y="2486437"/>
            <a:ext cx="330172" cy="330172"/>
          </a:xfrm>
          <a:custGeom>
            <a:avLst/>
            <a:gdLst/>
            <a:ahLst/>
            <a:cxnLst/>
            <a:rect l="l" t="t" r="r" b="b"/>
            <a:pathLst>
              <a:path w="330172" h="330172" extrusionOk="0">
                <a:moveTo>
                  <a:pt x="165086" y="0"/>
                </a:moveTo>
                <a:lnTo>
                  <a:pt x="165086" y="0"/>
                </a:lnTo>
                <a:cubicBezTo>
                  <a:pt x="208870" y="0"/>
                  <a:pt x="250860" y="17393"/>
                  <a:pt x="281819" y="48353"/>
                </a:cubicBezTo>
                <a:cubicBezTo>
                  <a:pt x="312779" y="79312"/>
                  <a:pt x="330172" y="121302"/>
                  <a:pt x="330172" y="165086"/>
                </a:cubicBezTo>
                <a:lnTo>
                  <a:pt x="330172" y="165086"/>
                </a:lnTo>
                <a:cubicBezTo>
                  <a:pt x="330172" y="256260"/>
                  <a:pt x="256260" y="330172"/>
                  <a:pt x="165086" y="330172"/>
                </a:cubicBezTo>
                <a:lnTo>
                  <a:pt x="165086" y="330172"/>
                </a:lnTo>
                <a:cubicBezTo>
                  <a:pt x="73912" y="330172"/>
                  <a:pt x="0" y="256260"/>
                  <a:pt x="0" y="165086"/>
                </a:cubicBezTo>
                <a:lnTo>
                  <a:pt x="0" y="165086"/>
                </a:lnTo>
                <a:cubicBezTo>
                  <a:pt x="0" y="73912"/>
                  <a:pt x="73912" y="0"/>
                  <a:pt x="165086" y="0"/>
                </a:cubicBezTo>
                <a:close/>
              </a:path>
            </a:pathLst>
          </a:custGeom>
          <a:solidFill>
            <a:srgbClr val="14304F"/>
          </a:solidFill>
          <a:ln>
            <a:noFill/>
          </a:ln>
        </p:spPr>
        <p:txBody>
          <a:bodyPr spcFirstLastPara="1" wrap="square" lIns="0" tIns="0" rIns="0" bIns="0" anchor="t" anchorCtr="0">
            <a:normAutofit/>
          </a:bodyPr>
          <a:lstStyle/>
          <a:p>
            <a:pPr marL="0" marR="0" lvl="0" indent="0" algn="ctr" rtl="0">
              <a:lnSpc>
                <a:spcPct val="200000"/>
              </a:lnSpc>
              <a:spcBef>
                <a:spcPts val="0"/>
              </a:spcBef>
              <a:spcAft>
                <a:spcPts val="0"/>
              </a:spcAft>
              <a:buClr>
                <a:srgbClr val="F3F5F7"/>
              </a:buClr>
              <a:buSzPts val="1300"/>
              <a:buFont typeface="IBM Plex Sans"/>
              <a:buNone/>
            </a:pPr>
            <a:r>
              <a:rPr lang="en-US" sz="1300" b="1" i="0" u="none" strike="noStrike" cap="none">
                <a:solidFill>
                  <a:srgbClr val="F3F5F7"/>
                </a:solidFill>
                <a:latin typeface="IBM Plex Sans"/>
                <a:ea typeface="IBM Plex Sans"/>
                <a:cs typeface="IBM Plex Sans"/>
                <a:sym typeface="IBM Plex Sans"/>
              </a:rPr>
              <a:t>2</a:t>
            </a:r>
            <a:endParaRPr sz="1300" b="0" i="0" u="none" strike="noStrike" cap="none">
              <a:solidFill>
                <a:schemeClr val="dk1"/>
              </a:solidFill>
              <a:latin typeface="IBM Plex Sans"/>
              <a:ea typeface="IBM Plex Sans"/>
              <a:cs typeface="IBM Plex Sans"/>
              <a:sym typeface="IBM Plex Sans"/>
            </a:endParaRPr>
          </a:p>
        </p:txBody>
      </p:sp>
      <p:sp>
        <p:nvSpPr>
          <p:cNvPr id="146" name="Google Shape;146;p6"/>
          <p:cNvSpPr/>
          <p:nvPr/>
        </p:nvSpPr>
        <p:spPr>
          <a:xfrm>
            <a:off x="1295267" y="2486437"/>
            <a:ext cx="5389428" cy="254009"/>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4304F"/>
              </a:buClr>
              <a:buSzPts val="1500"/>
              <a:buFont typeface="IBM Plex Sans"/>
              <a:buNone/>
            </a:pPr>
            <a:r>
              <a:rPr lang="en-US" sz="1500" b="1" i="0" u="none" strike="noStrike" cap="none">
                <a:solidFill>
                  <a:srgbClr val="14304F"/>
                </a:solidFill>
                <a:latin typeface="IBM Plex Sans"/>
                <a:ea typeface="IBM Plex Sans"/>
                <a:cs typeface="IBM Plex Sans"/>
                <a:sym typeface="IBM Plex Sans"/>
              </a:rPr>
              <a:t>Model turn 1: malformed</a:t>
            </a:r>
            <a:endParaRPr sz="1500" b="0" i="0" u="none" strike="noStrike" cap="none">
              <a:solidFill>
                <a:schemeClr val="dk1"/>
              </a:solidFill>
              <a:latin typeface="IBM Plex Sans"/>
              <a:ea typeface="IBM Plex Sans"/>
              <a:cs typeface="IBM Plex Sans"/>
              <a:sym typeface="IBM Plex Sans"/>
            </a:endParaRPr>
          </a:p>
        </p:txBody>
      </p:sp>
      <p:sp>
        <p:nvSpPr>
          <p:cNvPr id="147" name="Google Shape;147;p6"/>
          <p:cNvSpPr/>
          <p:nvPr/>
        </p:nvSpPr>
        <p:spPr>
          <a:xfrm>
            <a:off x="1295267" y="2753085"/>
            <a:ext cx="5389428" cy="471024"/>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4A5568"/>
              </a:buClr>
              <a:buSzPts val="1300"/>
              <a:buFont typeface="IBM Plex Sans"/>
              <a:buNone/>
            </a:pPr>
            <a:r>
              <a:rPr lang="en-US" sz="1300" b="0" i="0" u="none" strike="noStrike" cap="none">
                <a:solidFill>
                  <a:srgbClr val="4A5568"/>
                </a:solidFill>
                <a:latin typeface="IBM Plex Sans"/>
                <a:ea typeface="IBM Plex Sans"/>
                <a:cs typeface="IBM Plex Sans"/>
                <a:sym typeface="IBM Plex Sans"/>
              </a:rPr>
              <a:t>No JSON action, so the loop explains and asks again (counted against the budget)</a:t>
            </a:r>
            <a:endParaRPr sz="1300" b="0" i="0" u="none" strike="noStrike" cap="none">
              <a:solidFill>
                <a:schemeClr val="dk1"/>
              </a:solidFill>
              <a:latin typeface="IBM Plex Sans"/>
              <a:ea typeface="IBM Plex Sans"/>
              <a:cs typeface="IBM Plex Sans"/>
              <a:sym typeface="IBM Plex Sans"/>
            </a:endParaRPr>
          </a:p>
        </p:txBody>
      </p:sp>
      <p:sp>
        <p:nvSpPr>
          <p:cNvPr id="148" name="Google Shape;148;p6"/>
          <p:cNvSpPr/>
          <p:nvPr/>
        </p:nvSpPr>
        <p:spPr>
          <a:xfrm>
            <a:off x="812750" y="3325695"/>
            <a:ext cx="330172" cy="330172"/>
          </a:xfrm>
          <a:custGeom>
            <a:avLst/>
            <a:gdLst/>
            <a:ahLst/>
            <a:cxnLst/>
            <a:rect l="l" t="t" r="r" b="b"/>
            <a:pathLst>
              <a:path w="330172" h="330172" extrusionOk="0">
                <a:moveTo>
                  <a:pt x="165086" y="0"/>
                </a:moveTo>
                <a:lnTo>
                  <a:pt x="165086" y="0"/>
                </a:lnTo>
                <a:cubicBezTo>
                  <a:pt x="208870" y="0"/>
                  <a:pt x="250860" y="17393"/>
                  <a:pt x="281819" y="48353"/>
                </a:cubicBezTo>
                <a:cubicBezTo>
                  <a:pt x="312779" y="79312"/>
                  <a:pt x="330172" y="121302"/>
                  <a:pt x="330172" y="165086"/>
                </a:cubicBezTo>
                <a:lnTo>
                  <a:pt x="330172" y="165086"/>
                </a:lnTo>
                <a:cubicBezTo>
                  <a:pt x="330172" y="256260"/>
                  <a:pt x="256260" y="330172"/>
                  <a:pt x="165086" y="330172"/>
                </a:cubicBezTo>
                <a:lnTo>
                  <a:pt x="165086" y="330172"/>
                </a:lnTo>
                <a:cubicBezTo>
                  <a:pt x="73912" y="330172"/>
                  <a:pt x="0" y="256260"/>
                  <a:pt x="0" y="165086"/>
                </a:cubicBezTo>
                <a:lnTo>
                  <a:pt x="0" y="165086"/>
                </a:lnTo>
                <a:cubicBezTo>
                  <a:pt x="0" y="73912"/>
                  <a:pt x="73912" y="0"/>
                  <a:pt x="165086" y="0"/>
                </a:cubicBezTo>
                <a:close/>
              </a:path>
            </a:pathLst>
          </a:custGeom>
          <a:solidFill>
            <a:srgbClr val="14304F"/>
          </a:solidFill>
          <a:ln>
            <a:noFill/>
          </a:ln>
        </p:spPr>
        <p:txBody>
          <a:bodyPr spcFirstLastPara="1" wrap="square" lIns="0" tIns="0" rIns="0" bIns="0" anchor="t" anchorCtr="0">
            <a:normAutofit/>
          </a:bodyPr>
          <a:lstStyle/>
          <a:p>
            <a:pPr marL="0" marR="0" lvl="0" indent="0" algn="ctr" rtl="0">
              <a:lnSpc>
                <a:spcPct val="200000"/>
              </a:lnSpc>
              <a:spcBef>
                <a:spcPts val="0"/>
              </a:spcBef>
              <a:spcAft>
                <a:spcPts val="0"/>
              </a:spcAft>
              <a:buClr>
                <a:srgbClr val="F3F5F7"/>
              </a:buClr>
              <a:buSzPts val="1300"/>
              <a:buFont typeface="IBM Plex Sans"/>
              <a:buNone/>
            </a:pPr>
            <a:r>
              <a:rPr lang="en-US" sz="1300" b="1" i="0" u="none" strike="noStrike" cap="none">
                <a:solidFill>
                  <a:srgbClr val="F3F5F7"/>
                </a:solidFill>
                <a:latin typeface="IBM Plex Sans"/>
                <a:ea typeface="IBM Plex Sans"/>
                <a:cs typeface="IBM Plex Sans"/>
                <a:sym typeface="IBM Plex Sans"/>
              </a:rPr>
              <a:t>3</a:t>
            </a:r>
            <a:endParaRPr sz="1300" b="0" i="0" u="none" strike="noStrike" cap="none">
              <a:solidFill>
                <a:schemeClr val="dk1"/>
              </a:solidFill>
              <a:latin typeface="IBM Plex Sans"/>
              <a:ea typeface="IBM Plex Sans"/>
              <a:cs typeface="IBM Plex Sans"/>
              <a:sym typeface="IBM Plex Sans"/>
            </a:endParaRPr>
          </a:p>
        </p:txBody>
      </p:sp>
      <p:sp>
        <p:nvSpPr>
          <p:cNvPr id="149" name="Google Shape;149;p6"/>
          <p:cNvSpPr/>
          <p:nvPr/>
        </p:nvSpPr>
        <p:spPr>
          <a:xfrm>
            <a:off x="1295267" y="3325695"/>
            <a:ext cx="5389428" cy="254009"/>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4304F"/>
              </a:buClr>
              <a:buSzPts val="1500"/>
              <a:buFont typeface="IBM Plex Sans"/>
              <a:buNone/>
            </a:pPr>
            <a:r>
              <a:rPr lang="en-US" sz="1500" b="1" i="0" u="none" strike="noStrike" cap="none">
                <a:solidFill>
                  <a:srgbClr val="14304F"/>
                </a:solidFill>
                <a:latin typeface="IBM Plex Sans"/>
                <a:ea typeface="IBM Plex Sans"/>
                <a:cs typeface="IBM Plex Sans"/>
                <a:sym typeface="IBM Plex Sans"/>
              </a:rPr>
              <a:t>Model turn 2: tool request</a:t>
            </a:r>
            <a:endParaRPr sz="1500" b="0" i="0" u="none" strike="noStrike" cap="none">
              <a:solidFill>
                <a:schemeClr val="dk1"/>
              </a:solidFill>
              <a:latin typeface="IBM Plex Sans"/>
              <a:ea typeface="IBM Plex Sans"/>
              <a:cs typeface="IBM Plex Sans"/>
              <a:sym typeface="IBM Plex Sans"/>
            </a:endParaRPr>
          </a:p>
        </p:txBody>
      </p:sp>
      <p:sp>
        <p:nvSpPr>
          <p:cNvPr id="150" name="Google Shape;150;p6"/>
          <p:cNvSpPr/>
          <p:nvPr/>
        </p:nvSpPr>
        <p:spPr>
          <a:xfrm>
            <a:off x="1295267" y="3592345"/>
            <a:ext cx="5389428" cy="248212"/>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4A5568"/>
              </a:buClr>
              <a:buSzPts val="1300"/>
              <a:buFont typeface="IBM Plex Sans"/>
              <a:buNone/>
            </a:pPr>
            <a:r>
              <a:rPr lang="en-US" sz="1300" b="0" i="0" u="none" strike="noStrike" cap="none">
                <a:solidFill>
                  <a:srgbClr val="4A5568"/>
                </a:solidFill>
                <a:latin typeface="IBM Plex Sans"/>
                <a:ea typeface="IBM Plex Sans"/>
                <a:cs typeface="IBM Plex Sans"/>
                <a:sym typeface="IBM Plex Sans"/>
              </a:rPr>
              <a:t>Inspects the package’s files before proposing anything</a:t>
            </a:r>
            <a:endParaRPr sz="1300" b="0" i="0" u="none" strike="noStrike" cap="none">
              <a:solidFill>
                <a:schemeClr val="dk1"/>
              </a:solidFill>
              <a:latin typeface="IBM Plex Sans"/>
              <a:ea typeface="IBM Plex Sans"/>
              <a:cs typeface="IBM Plex Sans"/>
              <a:sym typeface="IBM Plex Sans"/>
            </a:endParaRPr>
          </a:p>
        </p:txBody>
      </p:sp>
      <p:sp>
        <p:nvSpPr>
          <p:cNvPr id="151" name="Google Shape;151;p6"/>
          <p:cNvSpPr/>
          <p:nvPr/>
        </p:nvSpPr>
        <p:spPr>
          <a:xfrm>
            <a:off x="812750" y="3942141"/>
            <a:ext cx="330172" cy="330172"/>
          </a:xfrm>
          <a:custGeom>
            <a:avLst/>
            <a:gdLst/>
            <a:ahLst/>
            <a:cxnLst/>
            <a:rect l="l" t="t" r="r" b="b"/>
            <a:pathLst>
              <a:path w="330172" h="330172" extrusionOk="0">
                <a:moveTo>
                  <a:pt x="165086" y="0"/>
                </a:moveTo>
                <a:lnTo>
                  <a:pt x="165086" y="0"/>
                </a:lnTo>
                <a:cubicBezTo>
                  <a:pt x="208870" y="0"/>
                  <a:pt x="250860" y="17393"/>
                  <a:pt x="281819" y="48353"/>
                </a:cubicBezTo>
                <a:cubicBezTo>
                  <a:pt x="312779" y="79312"/>
                  <a:pt x="330172" y="121302"/>
                  <a:pt x="330172" y="165086"/>
                </a:cubicBezTo>
                <a:lnTo>
                  <a:pt x="330172" y="165086"/>
                </a:lnTo>
                <a:cubicBezTo>
                  <a:pt x="330172" y="256260"/>
                  <a:pt x="256260" y="330172"/>
                  <a:pt x="165086" y="330172"/>
                </a:cubicBezTo>
                <a:lnTo>
                  <a:pt x="165086" y="330172"/>
                </a:lnTo>
                <a:cubicBezTo>
                  <a:pt x="73912" y="330172"/>
                  <a:pt x="0" y="256260"/>
                  <a:pt x="0" y="165086"/>
                </a:cubicBezTo>
                <a:lnTo>
                  <a:pt x="0" y="165086"/>
                </a:lnTo>
                <a:cubicBezTo>
                  <a:pt x="0" y="73912"/>
                  <a:pt x="73912" y="0"/>
                  <a:pt x="165086" y="0"/>
                </a:cubicBezTo>
                <a:close/>
              </a:path>
            </a:pathLst>
          </a:custGeom>
          <a:solidFill>
            <a:srgbClr val="14304F"/>
          </a:solidFill>
          <a:ln>
            <a:noFill/>
          </a:ln>
        </p:spPr>
        <p:txBody>
          <a:bodyPr spcFirstLastPara="1" wrap="square" lIns="0" tIns="0" rIns="0" bIns="0" anchor="t" anchorCtr="0">
            <a:normAutofit/>
          </a:bodyPr>
          <a:lstStyle/>
          <a:p>
            <a:pPr marL="0" marR="0" lvl="0" indent="0" algn="ctr" rtl="0">
              <a:lnSpc>
                <a:spcPct val="200000"/>
              </a:lnSpc>
              <a:spcBef>
                <a:spcPts val="0"/>
              </a:spcBef>
              <a:spcAft>
                <a:spcPts val="0"/>
              </a:spcAft>
              <a:buClr>
                <a:srgbClr val="F3F5F7"/>
              </a:buClr>
              <a:buSzPts val="1300"/>
              <a:buFont typeface="IBM Plex Sans"/>
              <a:buNone/>
            </a:pPr>
            <a:r>
              <a:rPr lang="en-US" sz="1300" b="1" i="0" u="none" strike="noStrike" cap="none">
                <a:solidFill>
                  <a:srgbClr val="F3F5F7"/>
                </a:solidFill>
                <a:latin typeface="IBM Plex Sans"/>
                <a:ea typeface="IBM Plex Sans"/>
                <a:cs typeface="IBM Plex Sans"/>
                <a:sym typeface="IBM Plex Sans"/>
              </a:rPr>
              <a:t>4</a:t>
            </a:r>
            <a:endParaRPr sz="1300" b="0" i="0" u="none" strike="noStrike" cap="none">
              <a:solidFill>
                <a:schemeClr val="dk1"/>
              </a:solidFill>
              <a:latin typeface="IBM Plex Sans"/>
              <a:ea typeface="IBM Plex Sans"/>
              <a:cs typeface="IBM Plex Sans"/>
              <a:sym typeface="IBM Plex Sans"/>
            </a:endParaRPr>
          </a:p>
        </p:txBody>
      </p:sp>
      <p:sp>
        <p:nvSpPr>
          <p:cNvPr id="152" name="Google Shape;152;p6"/>
          <p:cNvSpPr/>
          <p:nvPr/>
        </p:nvSpPr>
        <p:spPr>
          <a:xfrm>
            <a:off x="1295267" y="3942141"/>
            <a:ext cx="5389428" cy="254009"/>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4304F"/>
              </a:buClr>
              <a:buSzPts val="1500"/>
              <a:buFont typeface="IBM Plex Sans"/>
              <a:buNone/>
            </a:pPr>
            <a:r>
              <a:rPr lang="en-US" sz="1500" b="1" i="0" u="none" strike="noStrike" cap="none">
                <a:solidFill>
                  <a:srgbClr val="14304F"/>
                </a:solidFill>
                <a:latin typeface="IBM Plex Sans"/>
                <a:ea typeface="IBM Plex Sans"/>
                <a:cs typeface="IBM Plex Sans"/>
                <a:sym typeface="IBM Plex Sans"/>
              </a:rPr>
              <a:t>Model turn 3: hypothesis and one edit</a:t>
            </a:r>
            <a:endParaRPr sz="1500" b="0" i="0" u="none" strike="noStrike" cap="none">
              <a:solidFill>
                <a:schemeClr val="dk1"/>
              </a:solidFill>
              <a:latin typeface="IBM Plex Sans"/>
              <a:ea typeface="IBM Plex Sans"/>
              <a:cs typeface="IBM Plex Sans"/>
              <a:sym typeface="IBM Plex Sans"/>
            </a:endParaRPr>
          </a:p>
        </p:txBody>
      </p:sp>
      <p:sp>
        <p:nvSpPr>
          <p:cNvPr id="153" name="Google Shape;153;p6"/>
          <p:cNvSpPr/>
          <p:nvPr/>
        </p:nvSpPr>
        <p:spPr>
          <a:xfrm>
            <a:off x="1295267" y="4208791"/>
            <a:ext cx="5389428" cy="471024"/>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4A5568"/>
              </a:buClr>
              <a:buSzPts val="1300"/>
              <a:buFont typeface="IBM Plex Sans"/>
              <a:buNone/>
            </a:pPr>
            <a:r>
              <a:rPr lang="en-US" sz="1300" b="0" i="1" u="none" strike="noStrike" cap="none">
                <a:solidFill>
                  <a:srgbClr val="4A5568"/>
                </a:solidFill>
                <a:latin typeface="IBM Plex Sans"/>
                <a:ea typeface="IBM Plex Sans"/>
                <a:cs typeface="IBM Plex Sans"/>
                <a:sym typeface="IBM Plex Sans"/>
              </a:rPr>
              <a:t>“crc32c_prefetch.h unconditionally includes &lt;xmmintrin.h&gt;, which is only available on x86”</a:t>
            </a:r>
            <a:endParaRPr sz="1300" b="0" i="0" u="none" strike="noStrike" cap="none">
              <a:solidFill>
                <a:schemeClr val="dk1"/>
              </a:solidFill>
              <a:latin typeface="IBM Plex Sans"/>
              <a:ea typeface="IBM Plex Sans"/>
              <a:cs typeface="IBM Plex Sans"/>
              <a:sym typeface="IBM Plex Sans"/>
            </a:endParaRPr>
          </a:p>
        </p:txBody>
      </p:sp>
      <p:sp>
        <p:nvSpPr>
          <p:cNvPr id="154" name="Google Shape;154;p6"/>
          <p:cNvSpPr/>
          <p:nvPr/>
        </p:nvSpPr>
        <p:spPr>
          <a:xfrm>
            <a:off x="812750" y="4781398"/>
            <a:ext cx="330172" cy="330172"/>
          </a:xfrm>
          <a:custGeom>
            <a:avLst/>
            <a:gdLst/>
            <a:ahLst/>
            <a:cxnLst/>
            <a:rect l="l" t="t" r="r" b="b"/>
            <a:pathLst>
              <a:path w="330172" h="330172" extrusionOk="0">
                <a:moveTo>
                  <a:pt x="165086" y="0"/>
                </a:moveTo>
                <a:lnTo>
                  <a:pt x="165086" y="0"/>
                </a:lnTo>
                <a:cubicBezTo>
                  <a:pt x="208870" y="0"/>
                  <a:pt x="250860" y="17393"/>
                  <a:pt x="281819" y="48353"/>
                </a:cubicBezTo>
                <a:cubicBezTo>
                  <a:pt x="312779" y="79312"/>
                  <a:pt x="330172" y="121302"/>
                  <a:pt x="330172" y="165086"/>
                </a:cubicBezTo>
                <a:lnTo>
                  <a:pt x="330172" y="165086"/>
                </a:lnTo>
                <a:cubicBezTo>
                  <a:pt x="330172" y="256260"/>
                  <a:pt x="256260" y="330172"/>
                  <a:pt x="165086" y="330172"/>
                </a:cubicBezTo>
                <a:lnTo>
                  <a:pt x="165086" y="330172"/>
                </a:lnTo>
                <a:cubicBezTo>
                  <a:pt x="73912" y="330172"/>
                  <a:pt x="0" y="256260"/>
                  <a:pt x="0" y="165086"/>
                </a:cubicBezTo>
                <a:lnTo>
                  <a:pt x="0" y="165086"/>
                </a:lnTo>
                <a:cubicBezTo>
                  <a:pt x="0" y="73912"/>
                  <a:pt x="73912" y="0"/>
                  <a:pt x="165086" y="0"/>
                </a:cubicBezTo>
                <a:close/>
              </a:path>
            </a:pathLst>
          </a:custGeom>
          <a:solidFill>
            <a:srgbClr val="1F5F99"/>
          </a:solidFill>
          <a:ln>
            <a:noFill/>
          </a:ln>
        </p:spPr>
        <p:txBody>
          <a:bodyPr spcFirstLastPara="1" wrap="square" lIns="0" tIns="0" rIns="0" bIns="0" anchor="t" anchorCtr="0">
            <a:normAutofit/>
          </a:bodyPr>
          <a:lstStyle/>
          <a:p>
            <a:pPr marL="0" marR="0" lvl="0" indent="0" algn="ctr" rtl="0">
              <a:lnSpc>
                <a:spcPct val="200000"/>
              </a:lnSpc>
              <a:spcBef>
                <a:spcPts val="0"/>
              </a:spcBef>
              <a:spcAft>
                <a:spcPts val="0"/>
              </a:spcAft>
              <a:buClr>
                <a:srgbClr val="F3F5F7"/>
              </a:buClr>
              <a:buSzPts val="1300"/>
              <a:buFont typeface="IBM Plex Sans"/>
              <a:buNone/>
            </a:pPr>
            <a:r>
              <a:rPr lang="en-US" sz="1300" b="1" i="0" u="none" strike="noStrike" cap="none">
                <a:solidFill>
                  <a:srgbClr val="F3F5F7"/>
                </a:solidFill>
                <a:latin typeface="IBM Plex Sans"/>
                <a:ea typeface="IBM Plex Sans"/>
                <a:cs typeface="IBM Plex Sans"/>
                <a:sym typeface="IBM Plex Sans"/>
              </a:rPr>
              <a:t>5</a:t>
            </a:r>
            <a:endParaRPr sz="1300" b="0" i="0" u="none" strike="noStrike" cap="none">
              <a:solidFill>
                <a:schemeClr val="dk1"/>
              </a:solidFill>
              <a:latin typeface="IBM Plex Sans"/>
              <a:ea typeface="IBM Plex Sans"/>
              <a:cs typeface="IBM Plex Sans"/>
              <a:sym typeface="IBM Plex Sans"/>
            </a:endParaRPr>
          </a:p>
        </p:txBody>
      </p:sp>
      <p:sp>
        <p:nvSpPr>
          <p:cNvPr id="155" name="Google Shape;155;p6"/>
          <p:cNvSpPr/>
          <p:nvPr/>
        </p:nvSpPr>
        <p:spPr>
          <a:xfrm>
            <a:off x="1295267" y="4781398"/>
            <a:ext cx="5389428" cy="254009"/>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F5F99"/>
              </a:buClr>
              <a:buSzPts val="1500"/>
              <a:buFont typeface="IBM Plex Sans"/>
              <a:buNone/>
            </a:pPr>
            <a:r>
              <a:rPr lang="en-US" sz="1500" b="1" i="0" u="none" strike="noStrike" cap="none">
                <a:solidFill>
                  <a:srgbClr val="1F5F99"/>
                </a:solidFill>
                <a:latin typeface="IBM Plex Sans"/>
                <a:ea typeface="IBM Plex Sans"/>
                <a:cs typeface="IBM Plex Sans"/>
                <a:sym typeface="IBM Plex Sans"/>
              </a:rPr>
              <a:t>Real build on the local validator: passed</a:t>
            </a:r>
            <a:endParaRPr sz="1500" b="0" i="0" u="none" strike="noStrike" cap="none">
              <a:solidFill>
                <a:schemeClr val="dk1"/>
              </a:solidFill>
              <a:latin typeface="IBM Plex Sans"/>
              <a:ea typeface="IBM Plex Sans"/>
              <a:cs typeface="IBM Plex Sans"/>
              <a:sym typeface="IBM Plex Sans"/>
            </a:endParaRPr>
          </a:p>
        </p:txBody>
      </p:sp>
      <p:sp>
        <p:nvSpPr>
          <p:cNvPr id="156" name="Google Shape;156;p6"/>
          <p:cNvSpPr/>
          <p:nvPr/>
        </p:nvSpPr>
        <p:spPr>
          <a:xfrm>
            <a:off x="1295267" y="5048048"/>
            <a:ext cx="5389428" cy="471024"/>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4A5568"/>
              </a:buClr>
              <a:buSzPts val="1300"/>
              <a:buFont typeface="IBM Plex Sans"/>
              <a:buNone/>
            </a:pPr>
            <a:r>
              <a:rPr lang="en-US" sz="1300" b="0" i="0" u="none" strike="noStrike" cap="none">
                <a:solidFill>
                  <a:srgbClr val="4A5568"/>
                </a:solidFill>
                <a:latin typeface="IBM Plex Sans"/>
                <a:ea typeface="IBM Plex Sans"/>
                <a:cs typeface="IBM Plex Sans"/>
                <a:sym typeface="IBM Plex Sans"/>
              </a:rPr>
              <a:t>30 s build · status succeeded · artifacts validated · arm64 .deb produced</a:t>
            </a:r>
            <a:endParaRPr sz="1300" b="0" i="0" u="none" strike="noStrike" cap="none">
              <a:solidFill>
                <a:schemeClr val="dk1"/>
              </a:solidFill>
              <a:latin typeface="IBM Plex Sans"/>
              <a:ea typeface="IBM Plex Sans"/>
              <a:cs typeface="IBM Plex Sans"/>
              <a:sym typeface="IBM Plex Sans"/>
            </a:endParaRPr>
          </a:p>
        </p:txBody>
      </p:sp>
      <p:sp>
        <p:nvSpPr>
          <p:cNvPr id="157" name="Google Shape;157;p6"/>
          <p:cNvSpPr/>
          <p:nvPr/>
        </p:nvSpPr>
        <p:spPr>
          <a:xfrm>
            <a:off x="6883315" y="1681355"/>
            <a:ext cx="4495908" cy="3812316"/>
          </a:xfrm>
          <a:prstGeom prst="roundRect">
            <a:avLst>
              <a:gd name="adj" fmla="val 2665"/>
            </a:avLst>
          </a:prstGeom>
          <a:solidFill>
            <a:srgbClr val="1724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6"/>
          <p:cNvSpPr/>
          <p:nvPr/>
        </p:nvSpPr>
        <p:spPr>
          <a:xfrm>
            <a:off x="7086502" y="1884542"/>
            <a:ext cx="4212219"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9C7D6"/>
              </a:buClr>
              <a:buSzPts val="1200"/>
              <a:buFont typeface="IBM Plex Sans"/>
              <a:buNone/>
            </a:pPr>
            <a:r>
              <a:rPr lang="en-US" sz="1200" b="1" i="0" u="none" strike="noStrike" cap="none">
                <a:solidFill>
                  <a:srgbClr val="B9C7D6"/>
                </a:solidFill>
                <a:latin typeface="IBM Plex Sans"/>
                <a:ea typeface="IBM Plex Sans"/>
                <a:cs typeface="IBM Plex Sans"/>
                <a:sym typeface="IBM Plex Sans"/>
              </a:rPr>
              <a:t>THE AGENT’S EDIT</a:t>
            </a:r>
            <a:endParaRPr sz="1200" b="0" i="0" u="none" strike="noStrike" cap="none">
              <a:solidFill>
                <a:schemeClr val="dk1"/>
              </a:solidFill>
              <a:latin typeface="IBM Plex Sans"/>
              <a:ea typeface="IBM Plex Sans"/>
              <a:cs typeface="IBM Plex Sans"/>
              <a:sym typeface="IBM Plex Sans"/>
            </a:endParaRPr>
          </a:p>
        </p:txBody>
      </p:sp>
      <p:sp>
        <p:nvSpPr>
          <p:cNvPr id="159" name="Google Shape;159;p6"/>
          <p:cNvSpPr/>
          <p:nvPr/>
        </p:nvSpPr>
        <p:spPr>
          <a:xfrm>
            <a:off x="7086502" y="2174016"/>
            <a:ext cx="4212219"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8C96A3"/>
              </a:buClr>
              <a:buSzPts val="1200"/>
              <a:buFont typeface="JetBrains Mono"/>
              <a:buNone/>
            </a:pPr>
            <a:r>
              <a:rPr lang="en-US" sz="1200" b="0" i="0" u="none" strike="noStrike" cap="none">
                <a:solidFill>
                  <a:srgbClr val="8C96A3"/>
                </a:solidFill>
                <a:latin typeface="JetBrains Mono"/>
                <a:ea typeface="JetBrains Mono"/>
                <a:cs typeface="JetBrains Mono"/>
                <a:sym typeface="JetBrains Mono"/>
              </a:rPr>
              <a:t>input/src/crc32c/crc32c_prefetch.h</a:t>
            </a:r>
            <a:endParaRPr sz="1200" b="0" i="0" u="none" strike="noStrike" cap="none">
              <a:solidFill>
                <a:schemeClr val="dk1"/>
              </a:solidFill>
              <a:latin typeface="IBM Plex Sans"/>
              <a:ea typeface="IBM Plex Sans"/>
              <a:cs typeface="IBM Plex Sans"/>
              <a:sym typeface="IBM Plex Sans"/>
            </a:endParaRPr>
          </a:p>
        </p:txBody>
      </p:sp>
      <p:sp>
        <p:nvSpPr>
          <p:cNvPr id="160" name="Google Shape;160;p6"/>
          <p:cNvSpPr/>
          <p:nvPr/>
        </p:nvSpPr>
        <p:spPr>
          <a:xfrm>
            <a:off x="7086502" y="2412709"/>
            <a:ext cx="4212219"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C9D2DC"/>
              </a:buClr>
              <a:buSzPts val="1200"/>
              <a:buFont typeface="JetBrains Mono"/>
              <a:buNone/>
            </a:pPr>
            <a:r>
              <a:rPr lang="en-US" sz="1200" b="0" i="0" u="none" strike="noStrike" cap="none">
                <a:solidFill>
                  <a:srgbClr val="C9D2DC"/>
                </a:solidFill>
                <a:latin typeface="JetBrains Mono"/>
                <a:ea typeface="JetBrains Mono"/>
                <a:cs typeface="JetBrains Mono"/>
                <a:sym typeface="JetBrains Mono"/>
              </a:rPr>
              <a:t>#else // !defined(_MSC_VER)</a:t>
            </a:r>
            <a:endParaRPr sz="1200" b="0" i="0" u="none" strike="noStrike" cap="none">
              <a:solidFill>
                <a:schemeClr val="dk1"/>
              </a:solidFill>
              <a:latin typeface="IBM Plex Sans"/>
              <a:ea typeface="IBM Plex Sans"/>
              <a:cs typeface="IBM Plex Sans"/>
              <a:sym typeface="IBM Plex Sans"/>
            </a:endParaRPr>
          </a:p>
        </p:txBody>
      </p:sp>
      <p:sp>
        <p:nvSpPr>
          <p:cNvPr id="161" name="Google Shape;161;p6"/>
          <p:cNvSpPr/>
          <p:nvPr/>
        </p:nvSpPr>
        <p:spPr>
          <a:xfrm>
            <a:off x="7086502" y="2651401"/>
            <a:ext cx="4212219" cy="665395"/>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2A65A"/>
              </a:buClr>
              <a:buSzPts val="1200"/>
              <a:buFont typeface="JetBrains Mono"/>
              <a:buNone/>
            </a:pPr>
            <a:r>
              <a:rPr lang="en-US" sz="1200" b="0" i="0" u="none" strike="noStrike" cap="none">
                <a:solidFill>
                  <a:srgbClr val="F2A65A"/>
                </a:solidFill>
                <a:latin typeface="JetBrains Mono"/>
                <a:ea typeface="JetBrains Mono"/>
                <a:cs typeface="JetBrains Mono"/>
                <a:sym typeface="JetBrains Mono"/>
              </a:rPr>
              <a:t>+ #if defined(__x86_64__) || defined(__i386__) || defined(_M_X64) || defined(_M_IX86)</a:t>
            </a:r>
            <a:endParaRPr sz="1200" b="0" i="0" u="none" strike="noStrike" cap="none">
              <a:solidFill>
                <a:schemeClr val="dk1"/>
              </a:solidFill>
              <a:latin typeface="IBM Plex Sans"/>
              <a:ea typeface="IBM Plex Sans"/>
              <a:cs typeface="IBM Plex Sans"/>
              <a:sym typeface="IBM Plex Sans"/>
            </a:endParaRPr>
          </a:p>
        </p:txBody>
      </p:sp>
      <p:sp>
        <p:nvSpPr>
          <p:cNvPr id="162" name="Google Shape;162;p6"/>
          <p:cNvSpPr/>
          <p:nvPr/>
        </p:nvSpPr>
        <p:spPr>
          <a:xfrm>
            <a:off x="7086502" y="3316759"/>
            <a:ext cx="4212219"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C9D2DC"/>
              </a:buClr>
              <a:buSzPts val="1200"/>
              <a:buFont typeface="JetBrains Mono"/>
              <a:buNone/>
            </a:pPr>
            <a:r>
              <a:rPr lang="en-US" sz="1200" b="0" i="0" u="none" strike="noStrike" cap="none">
                <a:solidFill>
                  <a:srgbClr val="C9D2DC"/>
                </a:solidFill>
                <a:latin typeface="JetBrains Mono"/>
                <a:ea typeface="JetBrains Mono"/>
                <a:cs typeface="JetBrains Mono"/>
                <a:sym typeface="JetBrains Mono"/>
              </a:rPr>
              <a:t>#include &lt;xmmintrin.h&gt;</a:t>
            </a:r>
            <a:endParaRPr sz="1200" b="0" i="0" u="none" strike="noStrike" cap="none">
              <a:solidFill>
                <a:schemeClr val="dk1"/>
              </a:solidFill>
              <a:latin typeface="IBM Plex Sans"/>
              <a:ea typeface="IBM Plex Sans"/>
              <a:cs typeface="IBM Plex Sans"/>
              <a:sym typeface="IBM Plex Sans"/>
            </a:endParaRPr>
          </a:p>
        </p:txBody>
      </p:sp>
      <p:sp>
        <p:nvSpPr>
          <p:cNvPr id="163" name="Google Shape;163;p6"/>
          <p:cNvSpPr/>
          <p:nvPr/>
        </p:nvSpPr>
        <p:spPr>
          <a:xfrm>
            <a:off x="7086502" y="3555451"/>
            <a:ext cx="4212219"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2A65A"/>
              </a:buClr>
              <a:buSzPts val="1200"/>
              <a:buFont typeface="JetBrains Mono"/>
              <a:buNone/>
            </a:pPr>
            <a:r>
              <a:rPr lang="en-US" sz="1200" b="0" i="0" u="none" strike="noStrike" cap="none">
                <a:solidFill>
                  <a:srgbClr val="F2A65A"/>
                </a:solidFill>
                <a:latin typeface="JetBrains Mono"/>
                <a:ea typeface="JetBrains Mono"/>
                <a:cs typeface="JetBrains Mono"/>
                <a:sym typeface="JetBrains Mono"/>
              </a:rPr>
              <a:t>+ #endif</a:t>
            </a:r>
            <a:endParaRPr sz="1200" b="0" i="0" u="none" strike="noStrike" cap="none">
              <a:solidFill>
                <a:schemeClr val="dk1"/>
              </a:solidFill>
              <a:latin typeface="IBM Plex Sans"/>
              <a:ea typeface="IBM Plex Sans"/>
              <a:cs typeface="IBM Plex Sans"/>
              <a:sym typeface="IBM Plex Sans"/>
            </a:endParaRPr>
          </a:p>
        </p:txBody>
      </p:sp>
      <p:sp>
        <p:nvSpPr>
          <p:cNvPr id="164" name="Google Shape;164;p6"/>
          <p:cNvSpPr/>
          <p:nvPr/>
        </p:nvSpPr>
        <p:spPr>
          <a:xfrm>
            <a:off x="7086502" y="3794144"/>
            <a:ext cx="4212219"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C9D2DC"/>
              </a:buClr>
              <a:buSzPts val="1200"/>
              <a:buFont typeface="JetBrains Mono"/>
              <a:buNone/>
            </a:pPr>
            <a:r>
              <a:rPr lang="en-US" sz="1200" b="0" i="0" u="none" strike="noStrike" cap="none">
                <a:solidFill>
                  <a:srgbClr val="C9D2DC"/>
                </a:solidFill>
                <a:latin typeface="JetBrains Mono"/>
                <a:ea typeface="JetBrains Mono"/>
                <a:cs typeface="JetBrains Mono"/>
                <a:sym typeface="JetBrains Mono"/>
              </a:rPr>
              <a:t>#endif // defined(_MSC_VER)</a:t>
            </a:r>
            <a:endParaRPr sz="1200" b="0" i="0" u="none" strike="noStrike" cap="none">
              <a:solidFill>
                <a:schemeClr val="dk1"/>
              </a:solidFill>
              <a:latin typeface="IBM Plex Sans"/>
              <a:ea typeface="IBM Plex Sans"/>
              <a:cs typeface="IBM Plex Sans"/>
              <a:sym typeface="IBM Plex Sans"/>
            </a:endParaRPr>
          </a:p>
        </p:txBody>
      </p:sp>
      <p:cxnSp>
        <p:nvCxnSpPr>
          <p:cNvPr id="165" name="Google Shape;165;p6"/>
          <p:cNvCxnSpPr/>
          <p:nvPr/>
        </p:nvCxnSpPr>
        <p:spPr>
          <a:xfrm>
            <a:off x="7086502" y="4680812"/>
            <a:ext cx="4089533" cy="0"/>
          </a:xfrm>
          <a:prstGeom prst="straightConnector1">
            <a:avLst/>
          </a:prstGeom>
          <a:noFill/>
          <a:ln w="12700" cap="flat" cmpd="sng">
            <a:solidFill>
              <a:srgbClr val="3A4A5E"/>
            </a:solidFill>
            <a:prstDash val="solid"/>
            <a:round/>
            <a:headEnd type="none" w="sm" len="sm"/>
            <a:tailEnd type="none" w="sm" len="sm"/>
          </a:ln>
        </p:spPr>
      </p:cxnSp>
      <p:sp>
        <p:nvSpPr>
          <p:cNvPr id="166" name="Google Shape;166;p6"/>
          <p:cNvSpPr/>
          <p:nvPr/>
        </p:nvSpPr>
        <p:spPr>
          <a:xfrm>
            <a:off x="7086502" y="4813040"/>
            <a:ext cx="4212219"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E8EDF2"/>
              </a:buClr>
              <a:buSzPts val="1200"/>
              <a:buFont typeface="IBM Plex Sans"/>
              <a:buNone/>
            </a:pPr>
            <a:r>
              <a:rPr lang="en-US" sz="1200" b="0" i="0" u="none" strike="noStrike" cap="none">
                <a:solidFill>
                  <a:srgbClr val="E8EDF2"/>
                </a:solidFill>
                <a:latin typeface="IBM Plex Sans"/>
                <a:ea typeface="IBM Plex Sans"/>
                <a:cs typeface="IBM Plex Sans"/>
                <a:sym typeface="IBM Plex Sans"/>
              </a:rPr>
              <a:t>3 model calls · 1 build · 43.5 s total</a:t>
            </a:r>
            <a:endParaRPr sz="1200" b="0" i="0" u="none" strike="noStrike" cap="none">
              <a:solidFill>
                <a:schemeClr val="dk1"/>
              </a:solidFill>
              <a:latin typeface="IBM Plex Sans"/>
              <a:ea typeface="IBM Plex Sans"/>
              <a:cs typeface="IBM Plex Sans"/>
              <a:sym typeface="IBM Plex Sans"/>
            </a:endParaRPr>
          </a:p>
        </p:txBody>
      </p:sp>
      <p:sp>
        <p:nvSpPr>
          <p:cNvPr id="167" name="Google Shape;167;p6"/>
          <p:cNvSpPr/>
          <p:nvPr/>
        </p:nvSpPr>
        <p:spPr>
          <a:xfrm>
            <a:off x="7086502" y="5077151"/>
            <a:ext cx="4212219"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E8EDF2"/>
              </a:buClr>
              <a:buSzPts val="1200"/>
              <a:buFont typeface="IBM Plex Sans"/>
              <a:buNone/>
            </a:pPr>
            <a:r>
              <a:rPr lang="en-US" sz="1200" b="0" i="0" u="none" strike="noStrike" cap="none">
                <a:solidFill>
                  <a:srgbClr val="E8EDF2"/>
                </a:solidFill>
                <a:latin typeface="IBM Plex Sans"/>
                <a:ea typeface="IBM Plex Sans"/>
                <a:cs typeface="IBM Plex Sans"/>
                <a:sym typeface="IBM Plex Sans"/>
              </a:rPr>
              <a:t>24.8k input + 1.8k output tokens</a:t>
            </a:r>
            <a:endParaRPr sz="1200" b="0" i="0" u="none" strike="noStrike" cap="none">
              <a:solidFill>
                <a:schemeClr val="dk1"/>
              </a:solidFill>
              <a:latin typeface="IBM Plex Sans"/>
              <a:ea typeface="IBM Plex Sans"/>
              <a:cs typeface="IBM Plex Sans"/>
              <a:sym typeface="IBM Plex Sans"/>
            </a:endParaRPr>
          </a:p>
        </p:txBody>
      </p:sp>
      <p:sp>
        <p:nvSpPr>
          <p:cNvPr id="168" name="Google Shape;168;p6"/>
          <p:cNvSpPr/>
          <p:nvPr/>
        </p:nvSpPr>
        <p:spPr>
          <a:xfrm>
            <a:off x="812750" y="6238249"/>
            <a:ext cx="9810744"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Live run, October 14, gpt-oss-120b; Part C checkpoint with a 30k-token cap</a:t>
            </a:r>
            <a:endParaRPr sz="1200" b="0" i="0" u="none" strike="noStrike" cap="none">
              <a:solidFill>
                <a:schemeClr val="dk1"/>
              </a:solidFill>
              <a:latin typeface="IBM Plex Sans"/>
              <a:ea typeface="IBM Plex Sans"/>
              <a:cs typeface="IBM Plex Sans"/>
              <a:sym typeface="IBM Plex Sans"/>
            </a:endParaRPr>
          </a:p>
        </p:txBody>
      </p:sp>
      <p:sp>
        <p:nvSpPr>
          <p:cNvPr id="169" name="Google Shape;169;p6"/>
          <p:cNvSpPr/>
          <p:nvPr/>
        </p:nvSpPr>
        <p:spPr>
          <a:xfrm>
            <a:off x="10820424" y="6238249"/>
            <a:ext cx="55879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6B7684"/>
              </a:buClr>
              <a:buSzPts val="1200"/>
              <a:buFont typeface="IBM Plex Sans"/>
              <a:buNone/>
            </a:pPr>
            <a:r>
              <a:rPr lang="en-US" sz="1200">
                <a:solidFill>
                  <a:srgbClr val="6B7684"/>
                </a:solidFill>
                <a:latin typeface="IBM Plex Sans"/>
                <a:ea typeface="IBM Plex Sans"/>
                <a:cs typeface="IBM Plex Sans"/>
                <a:sym typeface="IBM Plex Sans"/>
              </a:rPr>
              <a:t>8</a:t>
            </a:r>
            <a:endParaRPr sz="12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174"/>
        <p:cNvGrpSpPr/>
        <p:nvPr/>
      </p:nvGrpSpPr>
      <p:grpSpPr>
        <a:xfrm>
          <a:off x="0" y="0"/>
          <a:ext cx="0" cy="0"/>
          <a:chOff x="0" y="0"/>
          <a:chExt cx="0" cy="0"/>
        </a:xfrm>
      </p:grpSpPr>
      <p:sp>
        <p:nvSpPr>
          <p:cNvPr id="175" name="Google Shape;175;p7"/>
          <p:cNvSpPr txBox="1">
            <a:spLocks noGrp="1"/>
          </p:cNvSpPr>
          <p:nvPr>
            <p:ph type="title"/>
          </p:nvPr>
        </p:nvSpPr>
        <p:spPr>
          <a:xfrm>
            <a:off x="812750" y="609563"/>
            <a:ext cx="10883467" cy="843222"/>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4304F"/>
              </a:buClr>
              <a:buSzPct val="100000"/>
              <a:buFont typeface="IBM Plex Sans"/>
              <a:buNone/>
            </a:pPr>
            <a:r>
              <a:rPr lang="en-US" b="1"/>
              <a:t>Early rcran experiments: 4/4 full-agent repairs and 1/3 one-shot repairs</a:t>
            </a:r>
            <a:endParaRPr sz="2800"/>
          </a:p>
        </p:txBody>
      </p:sp>
      <p:sp>
        <p:nvSpPr>
          <p:cNvPr id="176" name="Google Shape;176;p7"/>
          <p:cNvSpPr/>
          <p:nvPr/>
        </p:nvSpPr>
        <p:spPr>
          <a:xfrm>
            <a:off x="812750" y="1630570"/>
            <a:ext cx="4756790" cy="269225"/>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4304F"/>
              </a:buClr>
              <a:buSzPts val="1600"/>
              <a:buFont typeface="IBM Plex Sans"/>
              <a:buNone/>
            </a:pPr>
            <a:r>
              <a:rPr lang="en-US" sz="1600" b="1" i="0" u="none" strike="noStrike" cap="none">
                <a:solidFill>
                  <a:srgbClr val="14304F"/>
                </a:solidFill>
                <a:latin typeface="IBM Plex Sans"/>
                <a:ea typeface="IBM Plex Sans"/>
                <a:cs typeface="IBM Plex Sans"/>
                <a:sym typeface="IBM Plex Sans"/>
              </a:rPr>
              <a:t>Verified repairs, one square per run</a:t>
            </a:r>
            <a:endParaRPr sz="1600" b="0" i="0" u="none" strike="noStrike" cap="none">
              <a:solidFill>
                <a:schemeClr val="dk1"/>
              </a:solidFill>
              <a:latin typeface="IBM Plex Sans"/>
              <a:ea typeface="IBM Plex Sans"/>
              <a:cs typeface="IBM Plex Sans"/>
              <a:sym typeface="IBM Plex Sans"/>
            </a:endParaRPr>
          </a:p>
        </p:txBody>
      </p:sp>
      <p:sp>
        <p:nvSpPr>
          <p:cNvPr id="177" name="Google Shape;177;p7"/>
          <p:cNvSpPr/>
          <p:nvPr/>
        </p:nvSpPr>
        <p:spPr>
          <a:xfrm>
            <a:off x="812750" y="2139776"/>
            <a:ext cx="1511274" cy="256484"/>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300"/>
              <a:buFont typeface="IBM Plex Sans"/>
              <a:buNone/>
            </a:pPr>
            <a:r>
              <a:rPr lang="en-US" sz="1300" b="1" i="0" u="none" strike="noStrike" cap="none">
                <a:solidFill>
                  <a:srgbClr val="4A5568"/>
                </a:solidFill>
                <a:latin typeface="IBM Plex Sans"/>
                <a:ea typeface="IBM Plex Sans"/>
                <a:cs typeface="IBM Plex Sans"/>
                <a:sym typeface="IBM Plex Sans"/>
              </a:rPr>
              <a:t>Baseline</a:t>
            </a:r>
            <a:endParaRPr sz="1300" b="0" i="0" u="none" strike="noStrike" cap="none">
              <a:solidFill>
                <a:schemeClr val="dk1"/>
              </a:solidFill>
              <a:latin typeface="IBM Plex Sans"/>
              <a:ea typeface="IBM Plex Sans"/>
              <a:cs typeface="IBM Plex Sans"/>
              <a:sym typeface="IBM Plex Sans"/>
            </a:endParaRPr>
          </a:p>
        </p:txBody>
      </p:sp>
      <p:sp>
        <p:nvSpPr>
          <p:cNvPr id="178" name="Google Shape;178;p7"/>
          <p:cNvSpPr/>
          <p:nvPr/>
        </p:nvSpPr>
        <p:spPr>
          <a:xfrm>
            <a:off x="2400209" y="2052163"/>
            <a:ext cx="406375" cy="406375"/>
          </a:xfrm>
          <a:prstGeom prst="roundRect">
            <a:avLst>
              <a:gd name="adj" fmla="val 12501"/>
            </a:avLst>
          </a:prstGeom>
          <a:solidFill>
            <a:srgbClr val="8C96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7"/>
          <p:cNvSpPr/>
          <p:nvPr/>
        </p:nvSpPr>
        <p:spPr>
          <a:xfrm>
            <a:off x="2943093" y="2061688"/>
            <a:ext cx="387325" cy="387325"/>
          </a:xfrm>
          <a:prstGeom prst="roundRect">
            <a:avLst>
              <a:gd name="adj" fmla="val 10656"/>
            </a:avLst>
          </a:prstGeom>
          <a:noFill/>
          <a:ln w="19050" cap="flat" cmpd="sng">
            <a:solidFill>
              <a:srgbClr val="8C96A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7"/>
          <p:cNvSpPr/>
          <p:nvPr/>
        </p:nvSpPr>
        <p:spPr>
          <a:xfrm>
            <a:off x="3476453" y="2061688"/>
            <a:ext cx="387325" cy="387325"/>
          </a:xfrm>
          <a:prstGeom prst="roundRect">
            <a:avLst>
              <a:gd name="adj" fmla="val 10656"/>
            </a:avLst>
          </a:prstGeom>
          <a:noFill/>
          <a:ln w="19050" cap="flat" cmpd="sng">
            <a:solidFill>
              <a:srgbClr val="8C96A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7"/>
          <p:cNvSpPr/>
          <p:nvPr/>
        </p:nvSpPr>
        <p:spPr>
          <a:xfrm>
            <a:off x="4000287" y="2113090"/>
            <a:ext cx="628873" cy="30986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600"/>
              <a:buFont typeface="IBM Plex Sans"/>
              <a:buNone/>
            </a:pPr>
            <a:r>
              <a:rPr lang="en-US" sz="1600" b="1" i="0" u="none" strike="noStrike" cap="none">
                <a:solidFill>
                  <a:srgbClr val="4A5568"/>
                </a:solidFill>
                <a:latin typeface="IBM Plex Sans"/>
                <a:ea typeface="IBM Plex Sans"/>
                <a:cs typeface="IBM Plex Sans"/>
                <a:sym typeface="IBM Plex Sans"/>
              </a:rPr>
              <a:t>1 of 3</a:t>
            </a:r>
            <a:endParaRPr sz="1600" b="0" i="0" u="none" strike="noStrike" cap="none">
              <a:solidFill>
                <a:schemeClr val="dk1"/>
              </a:solidFill>
              <a:latin typeface="IBM Plex Sans"/>
              <a:ea typeface="IBM Plex Sans"/>
              <a:cs typeface="IBM Plex Sans"/>
              <a:sym typeface="IBM Plex Sans"/>
            </a:endParaRPr>
          </a:p>
        </p:txBody>
      </p:sp>
      <p:sp>
        <p:nvSpPr>
          <p:cNvPr id="182" name="Google Shape;182;p7"/>
          <p:cNvSpPr/>
          <p:nvPr/>
        </p:nvSpPr>
        <p:spPr>
          <a:xfrm>
            <a:off x="812750" y="2723917"/>
            <a:ext cx="1511274" cy="256484"/>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300"/>
              <a:buFont typeface="IBM Plex Sans"/>
              <a:buNone/>
            </a:pPr>
            <a:r>
              <a:rPr lang="en-US" sz="1300" b="1" i="0" u="none" strike="noStrike" cap="none">
                <a:solidFill>
                  <a:srgbClr val="1F5F99"/>
                </a:solidFill>
                <a:latin typeface="IBM Plex Sans"/>
                <a:ea typeface="IBM Plex Sans"/>
                <a:cs typeface="IBM Plex Sans"/>
                <a:sym typeface="IBM Plex Sans"/>
              </a:rPr>
              <a:t>Full agent</a:t>
            </a:r>
            <a:endParaRPr sz="1300" b="0" i="0" u="none" strike="noStrike" cap="none">
              <a:solidFill>
                <a:schemeClr val="dk1"/>
              </a:solidFill>
              <a:latin typeface="IBM Plex Sans"/>
              <a:ea typeface="IBM Plex Sans"/>
              <a:cs typeface="IBM Plex Sans"/>
              <a:sym typeface="IBM Plex Sans"/>
            </a:endParaRPr>
          </a:p>
        </p:txBody>
      </p:sp>
      <p:sp>
        <p:nvSpPr>
          <p:cNvPr id="183" name="Google Shape;183;p7"/>
          <p:cNvSpPr/>
          <p:nvPr/>
        </p:nvSpPr>
        <p:spPr>
          <a:xfrm>
            <a:off x="2400209" y="2636304"/>
            <a:ext cx="406375" cy="406375"/>
          </a:xfrm>
          <a:prstGeom prst="roundRect">
            <a:avLst>
              <a:gd name="adj" fmla="val 12501"/>
            </a:avLst>
          </a:prstGeom>
          <a:solidFill>
            <a:srgbClr val="1F5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7"/>
          <p:cNvSpPr/>
          <p:nvPr/>
        </p:nvSpPr>
        <p:spPr>
          <a:xfrm>
            <a:off x="2933568" y="2636304"/>
            <a:ext cx="406375" cy="406375"/>
          </a:xfrm>
          <a:prstGeom prst="roundRect">
            <a:avLst>
              <a:gd name="adj" fmla="val 12501"/>
            </a:avLst>
          </a:prstGeom>
          <a:solidFill>
            <a:srgbClr val="1F5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7"/>
          <p:cNvSpPr/>
          <p:nvPr/>
        </p:nvSpPr>
        <p:spPr>
          <a:xfrm>
            <a:off x="3466928" y="2636304"/>
            <a:ext cx="406375" cy="406375"/>
          </a:xfrm>
          <a:prstGeom prst="roundRect">
            <a:avLst>
              <a:gd name="adj" fmla="val 12501"/>
            </a:avLst>
          </a:prstGeom>
          <a:solidFill>
            <a:srgbClr val="1F5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7"/>
          <p:cNvSpPr/>
          <p:nvPr/>
        </p:nvSpPr>
        <p:spPr>
          <a:xfrm>
            <a:off x="4000287" y="2636304"/>
            <a:ext cx="406375" cy="406375"/>
          </a:xfrm>
          <a:prstGeom prst="roundRect">
            <a:avLst>
              <a:gd name="adj" fmla="val 12501"/>
            </a:avLst>
          </a:prstGeom>
          <a:solidFill>
            <a:srgbClr val="1F5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7"/>
          <p:cNvSpPr/>
          <p:nvPr/>
        </p:nvSpPr>
        <p:spPr>
          <a:xfrm>
            <a:off x="4533647" y="2697231"/>
            <a:ext cx="628873" cy="30986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600"/>
              <a:buFont typeface="IBM Plex Sans"/>
              <a:buNone/>
            </a:pPr>
            <a:r>
              <a:rPr lang="en-US" sz="1600" b="1" i="0" u="none" strike="noStrike" cap="none">
                <a:solidFill>
                  <a:srgbClr val="1F5F99"/>
                </a:solidFill>
                <a:latin typeface="IBM Plex Sans"/>
                <a:ea typeface="IBM Plex Sans"/>
                <a:cs typeface="IBM Plex Sans"/>
                <a:sym typeface="IBM Plex Sans"/>
              </a:rPr>
              <a:t>4 of 4</a:t>
            </a:r>
            <a:endParaRPr sz="1600" b="0" i="0" u="none" strike="noStrike" cap="none">
              <a:solidFill>
                <a:schemeClr val="dk1"/>
              </a:solidFill>
              <a:latin typeface="IBM Plex Sans"/>
              <a:ea typeface="IBM Plex Sans"/>
              <a:cs typeface="IBM Plex Sans"/>
              <a:sym typeface="IBM Plex Sans"/>
            </a:endParaRPr>
          </a:p>
        </p:txBody>
      </p:sp>
      <p:sp>
        <p:nvSpPr>
          <p:cNvPr id="188" name="Google Shape;188;p7"/>
          <p:cNvSpPr/>
          <p:nvPr/>
        </p:nvSpPr>
        <p:spPr>
          <a:xfrm>
            <a:off x="812750" y="3220445"/>
            <a:ext cx="4756790" cy="452063"/>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Filled = repaired: the organizers’ validator, run locally, reports succeeded and artifacts validated.</a:t>
            </a:r>
            <a:endParaRPr sz="1200" b="0" i="0" u="none" strike="noStrike" cap="none">
              <a:solidFill>
                <a:schemeClr val="dk1"/>
              </a:solidFill>
              <a:latin typeface="IBM Plex Sans"/>
              <a:ea typeface="IBM Plex Sans"/>
              <a:cs typeface="IBM Plex Sans"/>
              <a:sym typeface="IBM Plex Sans"/>
            </a:endParaRPr>
          </a:p>
        </p:txBody>
      </p:sp>
      <p:sp>
        <p:nvSpPr>
          <p:cNvPr id="189" name="Google Shape;189;p7"/>
          <p:cNvSpPr/>
          <p:nvPr/>
        </p:nvSpPr>
        <p:spPr>
          <a:xfrm>
            <a:off x="812750" y="3824874"/>
            <a:ext cx="4618243" cy="1356012"/>
          </a:xfrm>
          <a:prstGeom prst="roundRect">
            <a:avLst>
              <a:gd name="adj" fmla="val 5619"/>
            </a:avLst>
          </a:prstGeom>
          <a:solidFill>
            <a:srgbClr val="EDF1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7"/>
          <p:cNvSpPr/>
          <p:nvPr/>
        </p:nvSpPr>
        <p:spPr>
          <a:xfrm>
            <a:off x="990516" y="4002643"/>
            <a:ext cx="4390591" cy="487568"/>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72433"/>
              </a:buClr>
              <a:buSzPts val="1300"/>
              <a:buFont typeface="IBM Plex Sans"/>
              <a:buNone/>
            </a:pPr>
            <a:r>
              <a:rPr lang="en-US" sz="1300" b="1" i="0" u="none" strike="noStrike" cap="none">
                <a:solidFill>
                  <a:srgbClr val="172433"/>
                </a:solidFill>
                <a:latin typeface="IBM Plex Sans"/>
                <a:ea typeface="IBM Plex Sans"/>
                <a:cs typeface="IBM Plex Sans"/>
                <a:sym typeface="IBM Plex Sans"/>
              </a:rPr>
              <a:t>Baseline’s repair:</a:t>
            </a:r>
            <a:r>
              <a:rPr lang="en-US" sz="1300" b="0" i="0" u="none" strike="noStrike" cap="none">
                <a:solidFill>
                  <a:srgbClr val="172433"/>
                </a:solidFill>
                <a:latin typeface="IBM Plex Sans"/>
                <a:ea typeface="IBM Plex Sans"/>
                <a:cs typeface="IBM Plex Sans"/>
                <a:sym typeface="IBM Plex Sans"/>
              </a:rPr>
              <a:t> a sed command in debian/rules, flagged for human review</a:t>
            </a:r>
            <a:endParaRPr sz="1300" b="0" i="0" u="none" strike="noStrike" cap="none">
              <a:solidFill>
                <a:schemeClr val="dk1"/>
              </a:solidFill>
              <a:latin typeface="IBM Plex Sans"/>
              <a:ea typeface="IBM Plex Sans"/>
              <a:cs typeface="IBM Plex Sans"/>
              <a:sym typeface="IBM Plex Sans"/>
            </a:endParaRPr>
          </a:p>
        </p:txBody>
      </p:sp>
      <p:sp>
        <p:nvSpPr>
          <p:cNvPr id="191" name="Google Shape;191;p7"/>
          <p:cNvSpPr/>
          <p:nvPr/>
        </p:nvSpPr>
        <p:spPr>
          <a:xfrm>
            <a:off x="990516" y="4540954"/>
            <a:ext cx="4390591" cy="487568"/>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72433"/>
              </a:buClr>
              <a:buSzPts val="1300"/>
              <a:buFont typeface="IBM Plex Sans"/>
              <a:buNone/>
            </a:pPr>
            <a:r>
              <a:rPr lang="en-US" sz="1300" b="1" i="0" u="none" strike="noStrike" cap="none">
                <a:solidFill>
                  <a:srgbClr val="172433"/>
                </a:solidFill>
                <a:latin typeface="IBM Plex Sans"/>
                <a:ea typeface="IBM Plex Sans"/>
                <a:cs typeface="IBM Plex Sans"/>
                <a:sym typeface="IBM Plex Sans"/>
              </a:rPr>
              <a:t>Full agent’s repairs:</a:t>
            </a:r>
            <a:r>
              <a:rPr lang="en-US" sz="1300" b="0" i="0" u="none" strike="noStrike" cap="none">
                <a:solidFill>
                  <a:srgbClr val="172433"/>
                </a:solidFill>
                <a:latin typeface="IBM Plex Sans"/>
                <a:ea typeface="IBM Plex Sans"/>
                <a:cs typeface="IBM Plex Sans"/>
                <a:sym typeface="IBM Plex Sans"/>
              </a:rPr>
              <a:t> a direct edit to the source, which Debian records as a patch</a:t>
            </a:r>
            <a:endParaRPr sz="1300" b="0" i="0" u="none" strike="noStrike" cap="none">
              <a:solidFill>
                <a:schemeClr val="dk1"/>
              </a:solidFill>
              <a:latin typeface="IBM Plex Sans"/>
              <a:ea typeface="IBM Plex Sans"/>
              <a:cs typeface="IBM Plex Sans"/>
              <a:sym typeface="IBM Plex Sans"/>
            </a:endParaRPr>
          </a:p>
        </p:txBody>
      </p:sp>
      <p:sp>
        <p:nvSpPr>
          <p:cNvPr id="192" name="Google Shape;192;p7"/>
          <p:cNvSpPr/>
          <p:nvPr/>
        </p:nvSpPr>
        <p:spPr>
          <a:xfrm>
            <a:off x="5837368" y="1630570"/>
            <a:ext cx="5708111" cy="269225"/>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4304F"/>
              </a:buClr>
              <a:buSzPts val="1600"/>
              <a:buFont typeface="IBM Plex Sans"/>
              <a:buNone/>
            </a:pPr>
            <a:r>
              <a:rPr lang="en-US" sz="1600" b="1" i="0" u="none" strike="noStrike" cap="none">
                <a:solidFill>
                  <a:srgbClr val="14304F"/>
                </a:solidFill>
                <a:latin typeface="IBM Plex Sans"/>
                <a:ea typeface="IBM Plex Sans"/>
                <a:cs typeface="IBM Plex Sans"/>
                <a:sym typeface="IBM Plex Sans"/>
              </a:rPr>
              <a:t>Model tokens per run (input + output)</a:t>
            </a:r>
            <a:endParaRPr sz="1600" b="0" i="0" u="none" strike="noStrike" cap="none">
              <a:solidFill>
                <a:schemeClr val="dk1"/>
              </a:solidFill>
              <a:latin typeface="IBM Plex Sans"/>
              <a:ea typeface="IBM Plex Sans"/>
              <a:cs typeface="IBM Plex Sans"/>
              <a:sym typeface="IBM Plex Sans"/>
            </a:endParaRPr>
          </a:p>
        </p:txBody>
      </p:sp>
      <p:sp>
        <p:nvSpPr>
          <p:cNvPr id="193" name="Google Shape;193;p7"/>
          <p:cNvSpPr/>
          <p:nvPr/>
        </p:nvSpPr>
        <p:spPr>
          <a:xfrm>
            <a:off x="5837368" y="2045822"/>
            <a:ext cx="1765877" cy="215907"/>
          </a:xfrm>
          <a:prstGeom prst="rect">
            <a:avLst/>
          </a:prstGeom>
          <a:noFill/>
          <a:ln>
            <a:noFill/>
          </a:ln>
        </p:spPr>
        <p:txBody>
          <a:bodyPr spcFirstLastPara="1" wrap="square" lIns="0" tIns="0" rIns="0" bIns="0" anchor="t" anchorCtr="0">
            <a:normAutofit/>
          </a:bodyPr>
          <a:lstStyle/>
          <a:p>
            <a:pPr marL="0" marR="0" lvl="0" indent="0" algn="l" rtl="0">
              <a:lnSpc>
                <a:spcPct val="125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Baseline, one call</a:t>
            </a:r>
            <a:endParaRPr sz="1200" b="0" i="0" u="none" strike="noStrike" cap="none">
              <a:solidFill>
                <a:schemeClr val="dk1"/>
              </a:solidFill>
              <a:latin typeface="IBM Plex Sans"/>
              <a:ea typeface="IBM Plex Sans"/>
              <a:cs typeface="IBM Plex Sans"/>
              <a:sym typeface="IBM Plex Sans"/>
            </a:endParaRPr>
          </a:p>
        </p:txBody>
      </p:sp>
      <p:sp>
        <p:nvSpPr>
          <p:cNvPr id="194" name="Google Shape;194;p7"/>
          <p:cNvSpPr/>
          <p:nvPr/>
        </p:nvSpPr>
        <p:spPr>
          <a:xfrm>
            <a:off x="7653375" y="2001382"/>
            <a:ext cx="1301728" cy="279390"/>
          </a:xfrm>
          <a:prstGeom prst="rect">
            <a:avLst/>
          </a:prstGeom>
          <a:solidFill>
            <a:srgbClr val="8C96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7"/>
          <p:cNvSpPr/>
          <p:nvPr/>
        </p:nvSpPr>
        <p:spPr>
          <a:xfrm>
            <a:off x="9056667" y="2034409"/>
            <a:ext cx="486635"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b="1" i="0" u="none" strike="noStrike" cap="none">
                <a:solidFill>
                  <a:srgbClr val="4A5568"/>
                </a:solidFill>
                <a:latin typeface="IBM Plex Sans"/>
                <a:ea typeface="IBM Plex Sans"/>
                <a:cs typeface="IBM Plex Sans"/>
                <a:sym typeface="IBM Plex Sans"/>
              </a:rPr>
              <a:t>12.3k</a:t>
            </a:r>
            <a:endParaRPr sz="1200" b="0" i="0" u="none" strike="noStrike" cap="none">
              <a:solidFill>
                <a:schemeClr val="dk1"/>
              </a:solidFill>
              <a:latin typeface="IBM Plex Sans"/>
              <a:ea typeface="IBM Plex Sans"/>
              <a:cs typeface="IBM Plex Sans"/>
              <a:sym typeface="IBM Plex Sans"/>
            </a:endParaRPr>
          </a:p>
        </p:txBody>
      </p:sp>
      <p:sp>
        <p:nvSpPr>
          <p:cNvPr id="196" name="Google Shape;196;p7"/>
          <p:cNvSpPr/>
          <p:nvPr/>
        </p:nvSpPr>
        <p:spPr>
          <a:xfrm>
            <a:off x="5837368" y="2452198"/>
            <a:ext cx="1765877" cy="215907"/>
          </a:xfrm>
          <a:prstGeom prst="rect">
            <a:avLst/>
          </a:prstGeom>
          <a:noFill/>
          <a:ln>
            <a:noFill/>
          </a:ln>
        </p:spPr>
        <p:txBody>
          <a:bodyPr spcFirstLastPara="1" wrap="square" lIns="0" tIns="0" rIns="0" bIns="0" anchor="t" anchorCtr="0">
            <a:normAutofit/>
          </a:bodyPr>
          <a:lstStyle/>
          <a:p>
            <a:pPr marL="0" marR="0" lvl="0" indent="0" algn="l" rtl="0">
              <a:lnSpc>
                <a:spcPct val="125000"/>
              </a:lnSpc>
              <a:spcBef>
                <a:spcPts val="0"/>
              </a:spcBef>
              <a:spcAft>
                <a:spcPts val="0"/>
              </a:spcAft>
              <a:buClr>
                <a:srgbClr val="1F5F99"/>
              </a:buClr>
              <a:buSzPts val="1200"/>
              <a:buFont typeface="IBM Plex Sans"/>
              <a:buNone/>
            </a:pPr>
            <a:r>
              <a:rPr lang="en-US" sz="1200" b="0" i="0" u="none" strike="noStrike" cap="none">
                <a:solidFill>
                  <a:srgbClr val="1F5F99"/>
                </a:solidFill>
                <a:latin typeface="IBM Plex Sans"/>
                <a:ea typeface="IBM Plex Sans"/>
                <a:cs typeface="IBM Plex Sans"/>
                <a:sym typeface="IBM Plex Sans"/>
              </a:rPr>
              <a:t>Full agent, history on</a:t>
            </a:r>
            <a:endParaRPr sz="1200" b="0" i="0" u="none" strike="noStrike" cap="none">
              <a:solidFill>
                <a:schemeClr val="dk1"/>
              </a:solidFill>
              <a:latin typeface="IBM Plex Sans"/>
              <a:ea typeface="IBM Plex Sans"/>
              <a:cs typeface="IBM Plex Sans"/>
              <a:sym typeface="IBM Plex Sans"/>
            </a:endParaRPr>
          </a:p>
        </p:txBody>
      </p:sp>
      <p:sp>
        <p:nvSpPr>
          <p:cNvPr id="197" name="Google Shape;197;p7"/>
          <p:cNvSpPr/>
          <p:nvPr/>
        </p:nvSpPr>
        <p:spPr>
          <a:xfrm>
            <a:off x="7653375" y="2407757"/>
            <a:ext cx="1187424" cy="279390"/>
          </a:xfrm>
          <a:prstGeom prst="rect">
            <a:avLst/>
          </a:prstGeom>
          <a:solidFill>
            <a:srgbClr val="1F5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7"/>
          <p:cNvSpPr/>
          <p:nvPr/>
        </p:nvSpPr>
        <p:spPr>
          <a:xfrm>
            <a:off x="8942362" y="2440784"/>
            <a:ext cx="486635"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200"/>
              <a:buFont typeface="IBM Plex Sans"/>
              <a:buNone/>
            </a:pPr>
            <a:r>
              <a:rPr lang="en-US" sz="1200" b="1" i="0" u="none" strike="noStrike" cap="none">
                <a:solidFill>
                  <a:srgbClr val="1F5F99"/>
                </a:solidFill>
                <a:latin typeface="IBM Plex Sans"/>
                <a:ea typeface="IBM Plex Sans"/>
                <a:cs typeface="IBM Plex Sans"/>
                <a:sym typeface="IBM Plex Sans"/>
              </a:rPr>
              <a:t>11.2k</a:t>
            </a:r>
            <a:endParaRPr sz="1200" b="0" i="0" u="none" strike="noStrike" cap="none">
              <a:solidFill>
                <a:schemeClr val="dk1"/>
              </a:solidFill>
              <a:latin typeface="IBM Plex Sans"/>
              <a:ea typeface="IBM Plex Sans"/>
              <a:cs typeface="IBM Plex Sans"/>
              <a:sym typeface="IBM Plex Sans"/>
            </a:endParaRPr>
          </a:p>
        </p:txBody>
      </p:sp>
      <p:sp>
        <p:nvSpPr>
          <p:cNvPr id="199" name="Google Shape;199;p7"/>
          <p:cNvSpPr/>
          <p:nvPr/>
        </p:nvSpPr>
        <p:spPr>
          <a:xfrm>
            <a:off x="5837368" y="2814132"/>
            <a:ext cx="1765877" cy="406414"/>
          </a:xfrm>
          <a:prstGeom prst="rect">
            <a:avLst/>
          </a:prstGeom>
          <a:noFill/>
          <a:ln>
            <a:noFill/>
          </a:ln>
        </p:spPr>
        <p:txBody>
          <a:bodyPr spcFirstLastPara="1" wrap="square" lIns="0" tIns="0" rIns="0" bIns="0" anchor="t" anchorCtr="0">
            <a:normAutofit/>
          </a:bodyPr>
          <a:lstStyle/>
          <a:p>
            <a:pPr marL="0" marR="0" lvl="0" indent="0" algn="l" rtl="0">
              <a:lnSpc>
                <a:spcPct val="125000"/>
              </a:lnSpc>
              <a:spcBef>
                <a:spcPts val="0"/>
              </a:spcBef>
              <a:spcAft>
                <a:spcPts val="0"/>
              </a:spcAft>
              <a:buClr>
                <a:srgbClr val="1F5F99"/>
              </a:buClr>
              <a:buSzPts val="1200"/>
              <a:buFont typeface="IBM Plex Sans"/>
              <a:buNone/>
            </a:pPr>
            <a:r>
              <a:rPr lang="en-US" sz="1200" b="0" i="0" u="none" strike="noStrike" cap="none">
                <a:solidFill>
                  <a:srgbClr val="1F5F99"/>
                </a:solidFill>
                <a:latin typeface="IBM Plex Sans"/>
                <a:ea typeface="IBM Plex Sans"/>
                <a:cs typeface="IBM Plex Sans"/>
                <a:sym typeface="IBM Plex Sans"/>
              </a:rPr>
              <a:t>History off, before the reply fix</a:t>
            </a:r>
            <a:endParaRPr sz="1200" b="0" i="0" u="none" strike="noStrike" cap="none">
              <a:solidFill>
                <a:schemeClr val="dk1"/>
              </a:solidFill>
              <a:latin typeface="IBM Plex Sans"/>
              <a:ea typeface="IBM Plex Sans"/>
              <a:cs typeface="IBM Plex Sans"/>
              <a:sym typeface="IBM Plex Sans"/>
            </a:endParaRPr>
          </a:p>
        </p:txBody>
      </p:sp>
      <p:sp>
        <p:nvSpPr>
          <p:cNvPr id="200" name="Google Shape;200;p7"/>
          <p:cNvSpPr/>
          <p:nvPr/>
        </p:nvSpPr>
        <p:spPr>
          <a:xfrm>
            <a:off x="7653375" y="2864914"/>
            <a:ext cx="3098775" cy="279390"/>
          </a:xfrm>
          <a:prstGeom prst="rect">
            <a:avLst/>
          </a:prstGeom>
          <a:solidFill>
            <a:srgbClr val="9DB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7"/>
          <p:cNvSpPr/>
          <p:nvPr/>
        </p:nvSpPr>
        <p:spPr>
          <a:xfrm>
            <a:off x="10853713" y="2897941"/>
            <a:ext cx="486635"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200"/>
              <a:buFont typeface="IBM Plex Sans"/>
              <a:buNone/>
            </a:pPr>
            <a:r>
              <a:rPr lang="en-US" sz="1200" b="1" i="0" u="none" strike="noStrike" cap="none">
                <a:solidFill>
                  <a:srgbClr val="1F5F99"/>
                </a:solidFill>
                <a:latin typeface="IBM Plex Sans"/>
                <a:ea typeface="IBM Plex Sans"/>
                <a:cs typeface="IBM Plex Sans"/>
                <a:sym typeface="IBM Plex Sans"/>
              </a:rPr>
              <a:t>29.3k</a:t>
            </a:r>
            <a:endParaRPr sz="1200" b="0" i="0" u="none" strike="noStrike" cap="none">
              <a:solidFill>
                <a:schemeClr val="dk1"/>
              </a:solidFill>
              <a:latin typeface="IBM Plex Sans"/>
              <a:ea typeface="IBM Plex Sans"/>
              <a:cs typeface="IBM Plex Sans"/>
              <a:sym typeface="IBM Plex Sans"/>
            </a:endParaRPr>
          </a:p>
        </p:txBody>
      </p:sp>
      <p:sp>
        <p:nvSpPr>
          <p:cNvPr id="202" name="Google Shape;202;p7"/>
          <p:cNvSpPr/>
          <p:nvPr/>
        </p:nvSpPr>
        <p:spPr>
          <a:xfrm>
            <a:off x="5837368" y="3366570"/>
            <a:ext cx="1765877" cy="215907"/>
          </a:xfrm>
          <a:prstGeom prst="rect">
            <a:avLst/>
          </a:prstGeom>
          <a:noFill/>
          <a:ln>
            <a:noFill/>
          </a:ln>
        </p:spPr>
        <p:txBody>
          <a:bodyPr spcFirstLastPara="1" wrap="square" lIns="0" tIns="0" rIns="0" bIns="0" anchor="t" anchorCtr="0">
            <a:normAutofit/>
          </a:bodyPr>
          <a:lstStyle/>
          <a:p>
            <a:pPr marL="0" marR="0" lvl="0" indent="0" algn="l" rtl="0">
              <a:lnSpc>
                <a:spcPct val="125000"/>
              </a:lnSpc>
              <a:spcBef>
                <a:spcPts val="0"/>
              </a:spcBef>
              <a:spcAft>
                <a:spcPts val="0"/>
              </a:spcAft>
              <a:buClr>
                <a:srgbClr val="1F5F99"/>
              </a:buClr>
              <a:buSzPts val="1200"/>
              <a:buFont typeface="IBM Plex Sans"/>
              <a:buNone/>
            </a:pPr>
            <a:r>
              <a:rPr lang="en-US" sz="1200" b="0" i="0" u="none" strike="noStrike" cap="none">
                <a:solidFill>
                  <a:srgbClr val="1F5F99"/>
                </a:solidFill>
                <a:latin typeface="IBM Plex Sans"/>
                <a:ea typeface="IBM Plex Sans"/>
                <a:cs typeface="IBM Plex Sans"/>
                <a:sym typeface="IBM Plex Sans"/>
              </a:rPr>
              <a:t>History off</a:t>
            </a:r>
            <a:endParaRPr sz="1200" b="0" i="0" u="none" strike="noStrike" cap="none">
              <a:solidFill>
                <a:schemeClr val="dk1"/>
              </a:solidFill>
              <a:latin typeface="IBM Plex Sans"/>
              <a:ea typeface="IBM Plex Sans"/>
              <a:cs typeface="IBM Plex Sans"/>
              <a:sym typeface="IBM Plex Sans"/>
            </a:endParaRPr>
          </a:p>
        </p:txBody>
      </p:sp>
      <p:sp>
        <p:nvSpPr>
          <p:cNvPr id="203" name="Google Shape;203;p7"/>
          <p:cNvSpPr/>
          <p:nvPr/>
        </p:nvSpPr>
        <p:spPr>
          <a:xfrm>
            <a:off x="7653375" y="3322129"/>
            <a:ext cx="1123901" cy="279390"/>
          </a:xfrm>
          <a:prstGeom prst="rect">
            <a:avLst/>
          </a:prstGeom>
          <a:solidFill>
            <a:srgbClr val="1F5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7"/>
          <p:cNvSpPr/>
          <p:nvPr/>
        </p:nvSpPr>
        <p:spPr>
          <a:xfrm>
            <a:off x="8878839" y="3355160"/>
            <a:ext cx="486635"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200"/>
              <a:buFont typeface="IBM Plex Sans"/>
              <a:buNone/>
            </a:pPr>
            <a:r>
              <a:rPr lang="en-US" sz="1200" b="1" i="0" u="none" strike="noStrike" cap="none">
                <a:solidFill>
                  <a:srgbClr val="1F5F99"/>
                </a:solidFill>
                <a:latin typeface="IBM Plex Sans"/>
                <a:ea typeface="IBM Plex Sans"/>
                <a:cs typeface="IBM Plex Sans"/>
                <a:sym typeface="IBM Plex Sans"/>
              </a:rPr>
              <a:t>10.6k</a:t>
            </a:r>
            <a:endParaRPr sz="1200" b="0" i="0" u="none" strike="noStrike" cap="none">
              <a:solidFill>
                <a:schemeClr val="dk1"/>
              </a:solidFill>
              <a:latin typeface="IBM Plex Sans"/>
              <a:ea typeface="IBM Plex Sans"/>
              <a:cs typeface="IBM Plex Sans"/>
              <a:sym typeface="IBM Plex Sans"/>
            </a:endParaRPr>
          </a:p>
        </p:txBody>
      </p:sp>
      <p:sp>
        <p:nvSpPr>
          <p:cNvPr id="205" name="Google Shape;205;p7"/>
          <p:cNvSpPr/>
          <p:nvPr/>
        </p:nvSpPr>
        <p:spPr>
          <a:xfrm>
            <a:off x="5837368" y="3772945"/>
            <a:ext cx="1765877" cy="215907"/>
          </a:xfrm>
          <a:prstGeom prst="rect">
            <a:avLst/>
          </a:prstGeom>
          <a:noFill/>
          <a:ln>
            <a:noFill/>
          </a:ln>
        </p:spPr>
        <p:txBody>
          <a:bodyPr spcFirstLastPara="1" wrap="square" lIns="0" tIns="0" rIns="0" bIns="0" anchor="t" anchorCtr="0">
            <a:normAutofit/>
          </a:bodyPr>
          <a:lstStyle/>
          <a:p>
            <a:pPr marL="0" marR="0" lvl="0" indent="0" algn="l" rtl="0">
              <a:lnSpc>
                <a:spcPct val="125000"/>
              </a:lnSpc>
              <a:spcBef>
                <a:spcPts val="0"/>
              </a:spcBef>
              <a:spcAft>
                <a:spcPts val="0"/>
              </a:spcAft>
              <a:buClr>
                <a:srgbClr val="1F5F99"/>
              </a:buClr>
              <a:buSzPts val="1200"/>
              <a:buFont typeface="IBM Plex Sans"/>
              <a:buNone/>
            </a:pPr>
            <a:r>
              <a:rPr lang="en-US" sz="1200" b="0" i="0" u="none" strike="noStrike" cap="none">
                <a:solidFill>
                  <a:srgbClr val="1F5F99"/>
                </a:solidFill>
                <a:latin typeface="IBM Plex Sans"/>
                <a:ea typeface="IBM Plex Sans"/>
                <a:cs typeface="IBM Plex Sans"/>
                <a:sym typeface="IBM Plex Sans"/>
              </a:rPr>
              <a:t>Excerpt mode</a:t>
            </a:r>
            <a:endParaRPr sz="1200" b="0" i="0" u="none" strike="noStrike" cap="none">
              <a:solidFill>
                <a:schemeClr val="dk1"/>
              </a:solidFill>
              <a:latin typeface="IBM Plex Sans"/>
              <a:ea typeface="IBM Plex Sans"/>
              <a:cs typeface="IBM Plex Sans"/>
              <a:sym typeface="IBM Plex Sans"/>
            </a:endParaRPr>
          </a:p>
        </p:txBody>
      </p:sp>
      <p:sp>
        <p:nvSpPr>
          <p:cNvPr id="206" name="Google Shape;206;p7"/>
          <p:cNvSpPr/>
          <p:nvPr/>
        </p:nvSpPr>
        <p:spPr>
          <a:xfrm>
            <a:off x="7653375" y="3728504"/>
            <a:ext cx="1130242" cy="279390"/>
          </a:xfrm>
          <a:prstGeom prst="rect">
            <a:avLst/>
          </a:prstGeom>
          <a:solidFill>
            <a:srgbClr val="1F5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7"/>
          <p:cNvSpPr/>
          <p:nvPr/>
        </p:nvSpPr>
        <p:spPr>
          <a:xfrm>
            <a:off x="8885179" y="3761535"/>
            <a:ext cx="486635"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200"/>
              <a:buFont typeface="IBM Plex Sans"/>
              <a:buNone/>
            </a:pPr>
            <a:r>
              <a:rPr lang="en-US" sz="1200" b="1" i="0" u="none" strike="noStrike" cap="none">
                <a:solidFill>
                  <a:srgbClr val="1F5F99"/>
                </a:solidFill>
                <a:latin typeface="IBM Plex Sans"/>
                <a:ea typeface="IBM Plex Sans"/>
                <a:cs typeface="IBM Plex Sans"/>
                <a:sym typeface="IBM Plex Sans"/>
              </a:rPr>
              <a:t>10.7k</a:t>
            </a:r>
            <a:endParaRPr sz="1200" b="0" i="0" u="none" strike="noStrike" cap="none">
              <a:solidFill>
                <a:schemeClr val="dk1"/>
              </a:solidFill>
              <a:latin typeface="IBM Plex Sans"/>
              <a:ea typeface="IBM Plex Sans"/>
              <a:cs typeface="IBM Plex Sans"/>
              <a:sym typeface="IBM Plex Sans"/>
            </a:endParaRPr>
          </a:p>
        </p:txBody>
      </p:sp>
      <p:cxnSp>
        <p:nvCxnSpPr>
          <p:cNvPr id="208" name="Google Shape;208;p7"/>
          <p:cNvCxnSpPr/>
          <p:nvPr/>
        </p:nvCxnSpPr>
        <p:spPr>
          <a:xfrm>
            <a:off x="5837368" y="4141229"/>
            <a:ext cx="3174978" cy="0"/>
          </a:xfrm>
          <a:prstGeom prst="straightConnector1">
            <a:avLst/>
          </a:prstGeom>
          <a:noFill/>
          <a:ln w="12700" cap="flat" cmpd="sng">
            <a:solidFill>
              <a:srgbClr val="4A5568"/>
            </a:solidFill>
            <a:prstDash val="solid"/>
            <a:round/>
            <a:headEnd type="none" w="sm" len="sm"/>
            <a:tailEnd type="none" w="sm" len="sm"/>
          </a:ln>
        </p:spPr>
      </p:cxnSp>
      <p:sp>
        <p:nvSpPr>
          <p:cNvPr id="209" name="Google Shape;209;p7"/>
          <p:cNvSpPr/>
          <p:nvPr/>
        </p:nvSpPr>
        <p:spPr>
          <a:xfrm>
            <a:off x="5837368" y="4184514"/>
            <a:ext cx="142280"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0</a:t>
            </a:r>
            <a:endParaRPr sz="1200" b="0" i="0" u="none" strike="noStrike" cap="none">
              <a:solidFill>
                <a:schemeClr val="dk1"/>
              </a:solidFill>
              <a:latin typeface="IBM Plex Sans"/>
              <a:ea typeface="IBM Plex Sans"/>
              <a:cs typeface="IBM Plex Sans"/>
              <a:sym typeface="IBM Plex Sans"/>
            </a:endParaRPr>
          </a:p>
        </p:txBody>
      </p:sp>
      <p:sp>
        <p:nvSpPr>
          <p:cNvPr id="210" name="Google Shape;210;p7"/>
          <p:cNvSpPr/>
          <p:nvPr/>
        </p:nvSpPr>
        <p:spPr>
          <a:xfrm>
            <a:off x="6693472" y="4184514"/>
            <a:ext cx="315849"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10k</a:t>
            </a:r>
            <a:endParaRPr sz="1200" b="0" i="0" u="none" strike="noStrike" cap="none">
              <a:solidFill>
                <a:schemeClr val="dk1"/>
              </a:solidFill>
              <a:latin typeface="IBM Plex Sans"/>
              <a:ea typeface="IBM Plex Sans"/>
              <a:cs typeface="IBM Plex Sans"/>
              <a:sym typeface="IBM Plex Sans"/>
            </a:endParaRPr>
          </a:p>
        </p:txBody>
      </p:sp>
      <p:sp>
        <p:nvSpPr>
          <p:cNvPr id="211" name="Google Shape;211;p7"/>
          <p:cNvSpPr/>
          <p:nvPr/>
        </p:nvSpPr>
        <p:spPr>
          <a:xfrm>
            <a:off x="7721305" y="4184514"/>
            <a:ext cx="315849"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20k</a:t>
            </a:r>
            <a:endParaRPr sz="1200" b="0" i="0" u="none" strike="noStrike" cap="none">
              <a:solidFill>
                <a:schemeClr val="dk1"/>
              </a:solidFill>
              <a:latin typeface="IBM Plex Sans"/>
              <a:ea typeface="IBM Plex Sans"/>
              <a:cs typeface="IBM Plex Sans"/>
              <a:sym typeface="IBM Plex Sans"/>
            </a:endParaRPr>
          </a:p>
        </p:txBody>
      </p:sp>
      <p:sp>
        <p:nvSpPr>
          <p:cNvPr id="212" name="Google Shape;212;p7"/>
          <p:cNvSpPr/>
          <p:nvPr/>
        </p:nvSpPr>
        <p:spPr>
          <a:xfrm>
            <a:off x="8696496" y="4184514"/>
            <a:ext cx="31584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30k</a:t>
            </a:r>
            <a:endParaRPr sz="1200" b="0" i="0" u="none" strike="noStrike" cap="none">
              <a:solidFill>
                <a:schemeClr val="dk1"/>
              </a:solidFill>
              <a:latin typeface="IBM Plex Sans"/>
              <a:ea typeface="IBM Plex Sans"/>
              <a:cs typeface="IBM Plex Sans"/>
              <a:sym typeface="IBM Plex Sans"/>
            </a:endParaRPr>
          </a:p>
        </p:txBody>
      </p:sp>
      <p:sp>
        <p:nvSpPr>
          <p:cNvPr id="213" name="Google Shape;213;p7"/>
          <p:cNvSpPr/>
          <p:nvPr/>
        </p:nvSpPr>
        <p:spPr>
          <a:xfrm>
            <a:off x="5837368" y="4435887"/>
            <a:ext cx="3270227"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tokens per run</a:t>
            </a:r>
            <a:endParaRPr sz="1200" b="0" i="0" u="none" strike="noStrike" cap="none">
              <a:solidFill>
                <a:schemeClr val="dk1"/>
              </a:solidFill>
              <a:latin typeface="IBM Plex Sans"/>
              <a:ea typeface="IBM Plex Sans"/>
              <a:cs typeface="IBM Plex Sans"/>
              <a:sym typeface="IBM Plex Sans"/>
            </a:endParaRPr>
          </a:p>
        </p:txBody>
      </p:sp>
      <p:sp>
        <p:nvSpPr>
          <p:cNvPr id="214" name="Google Shape;214;p7"/>
          <p:cNvSpPr/>
          <p:nvPr/>
        </p:nvSpPr>
        <p:spPr>
          <a:xfrm>
            <a:off x="812750" y="5384074"/>
            <a:ext cx="10883467" cy="274357"/>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4530F"/>
              </a:buClr>
              <a:buSzPts val="1400"/>
              <a:buFont typeface="IBM Plex Sans"/>
              <a:buNone/>
            </a:pPr>
            <a:r>
              <a:rPr lang="en-US" b="1">
                <a:solidFill>
                  <a:srgbClr val="B4530F"/>
                </a:solidFill>
                <a:latin typeface="IBM Plex Sans"/>
                <a:ea typeface="IBM Plex Sans"/>
                <a:cs typeface="IBM Plex Sans"/>
                <a:sym typeface="IBM Plex Sans"/>
              </a:rPr>
              <a:t>One case, small samples, different configurations: evidence of a working pipeline, not general repair effectiveness.</a:t>
            </a:r>
            <a:endParaRPr sz="1400" b="0" i="0" u="none" strike="noStrike" cap="none">
              <a:solidFill>
                <a:schemeClr val="dk1"/>
              </a:solidFill>
              <a:latin typeface="IBM Plex Sans"/>
              <a:ea typeface="IBM Plex Sans"/>
              <a:cs typeface="IBM Plex Sans"/>
              <a:sym typeface="IBM Plex Sans"/>
            </a:endParaRPr>
          </a:p>
        </p:txBody>
      </p:sp>
      <p:sp>
        <p:nvSpPr>
          <p:cNvPr id="215" name="Google Shape;215;p7"/>
          <p:cNvSpPr/>
          <p:nvPr/>
        </p:nvSpPr>
        <p:spPr>
          <a:xfrm>
            <a:off x="812750" y="6238246"/>
            <a:ext cx="9810744"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Baseline runs October 3 (tokens logged for one run); full agent October 14</a:t>
            </a:r>
            <a:endParaRPr sz="1200" b="0" i="0" u="none" strike="noStrike" cap="none">
              <a:solidFill>
                <a:schemeClr val="dk1"/>
              </a:solidFill>
              <a:latin typeface="IBM Plex Sans"/>
              <a:ea typeface="IBM Plex Sans"/>
              <a:cs typeface="IBM Plex Sans"/>
              <a:sym typeface="IBM Plex Sans"/>
            </a:endParaRPr>
          </a:p>
        </p:txBody>
      </p:sp>
      <p:sp>
        <p:nvSpPr>
          <p:cNvPr id="216" name="Google Shape;216;p7"/>
          <p:cNvSpPr/>
          <p:nvPr/>
        </p:nvSpPr>
        <p:spPr>
          <a:xfrm>
            <a:off x="10820424" y="6238246"/>
            <a:ext cx="55879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6B7684"/>
              </a:buClr>
              <a:buSzPts val="1200"/>
              <a:buFont typeface="IBM Plex Sans"/>
              <a:buNone/>
            </a:pPr>
            <a:r>
              <a:rPr lang="en-US" sz="1200">
                <a:solidFill>
                  <a:srgbClr val="6B7684"/>
                </a:solidFill>
                <a:latin typeface="IBM Plex Sans"/>
                <a:ea typeface="IBM Plex Sans"/>
                <a:cs typeface="IBM Plex Sans"/>
                <a:sym typeface="IBM Plex Sans"/>
              </a:rPr>
              <a:t>9</a:t>
            </a:r>
            <a:endParaRPr sz="1200">
              <a:solidFill>
                <a:srgbClr val="6B7684"/>
              </a:solidFill>
              <a:latin typeface="IBM Plex Sans"/>
              <a:ea typeface="IBM Plex Sans"/>
              <a:cs typeface="IBM Plex Sans"/>
              <a:sym typeface="IBM Plex Sans"/>
            </a:endParaRPr>
          </a:p>
          <a:p>
            <a:pPr marL="0" marR="0" lvl="0" indent="0" algn="r" rtl="0">
              <a:lnSpc>
                <a:spcPct val="140000"/>
              </a:lnSpc>
              <a:spcBef>
                <a:spcPts val="0"/>
              </a:spcBef>
              <a:spcAft>
                <a:spcPts val="0"/>
              </a:spcAft>
              <a:buClr>
                <a:srgbClr val="6B7684"/>
              </a:buClr>
              <a:buSzPts val="1200"/>
              <a:buFont typeface="IBM Plex Sans"/>
              <a:buNone/>
            </a:pPr>
            <a:endParaRPr sz="1200">
              <a:solidFill>
                <a:srgbClr val="6B7684"/>
              </a:solidFill>
              <a:latin typeface="IBM Plex Sans"/>
              <a:ea typeface="IBM Plex Sans"/>
              <a:cs typeface="IBM Plex Sans"/>
              <a:sym typeface="IBM Plex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221"/>
        <p:cNvGrpSpPr/>
        <p:nvPr/>
      </p:nvGrpSpPr>
      <p:grpSpPr>
        <a:xfrm>
          <a:off x="0" y="0"/>
          <a:ext cx="0" cy="0"/>
          <a:chOff x="0" y="0"/>
          <a:chExt cx="0" cy="0"/>
        </a:xfrm>
      </p:grpSpPr>
      <p:sp>
        <p:nvSpPr>
          <p:cNvPr id="222" name="Google Shape;222;p8"/>
          <p:cNvSpPr txBox="1">
            <a:spLocks noGrp="1"/>
          </p:cNvSpPr>
          <p:nvPr>
            <p:ph type="title"/>
          </p:nvPr>
        </p:nvSpPr>
        <p:spPr>
          <a:xfrm>
            <a:off x="812750" y="609563"/>
            <a:ext cx="10883467" cy="832715"/>
          </a:xfrm>
          <a:prstGeom prst="rect">
            <a:avLst/>
          </a:prstGeom>
          <a:noFill/>
          <a:ln>
            <a:noFill/>
          </a:ln>
        </p:spPr>
        <p:txBody>
          <a:bodyPr spcFirstLastPara="1" wrap="square" lIns="0" tIns="0" rIns="0" bIns="0" anchor="t" anchorCtr="0">
            <a:normAutofit/>
          </a:bodyPr>
          <a:lstStyle/>
          <a:p>
            <a:pPr marL="0" lvl="0" indent="0" algn="l" rtl="0">
              <a:lnSpc>
                <a:spcPct val="115009"/>
              </a:lnSpc>
              <a:spcBef>
                <a:spcPts val="0"/>
              </a:spcBef>
              <a:spcAft>
                <a:spcPts val="0"/>
              </a:spcAft>
              <a:buClr>
                <a:srgbClr val="14304F"/>
              </a:buClr>
              <a:buSzPts val="2765"/>
              <a:buFont typeface="IBM Plex Sans"/>
              <a:buNone/>
            </a:pPr>
            <a:r>
              <a:rPr lang="en-US" sz="2765" b="1"/>
              <a:t>Harder</a:t>
            </a:r>
            <a:r>
              <a:rPr lang="en-US" sz="2765" b="1" i="0">
                <a:solidFill>
                  <a:srgbClr val="14304F"/>
                </a:solidFill>
                <a:latin typeface="IBM Plex Sans"/>
                <a:ea typeface="IBM Plex Sans"/>
                <a:cs typeface="IBM Plex Sans"/>
                <a:sym typeface="IBM Plex Sans"/>
              </a:rPr>
              <a:t> cases</a:t>
            </a:r>
            <a:r>
              <a:rPr lang="en-US" sz="2765" b="1"/>
              <a:t>:</a:t>
            </a:r>
            <a:r>
              <a:rPr lang="en-US" sz="2765" b="1" i="0">
                <a:solidFill>
                  <a:srgbClr val="14304F"/>
                </a:solidFill>
                <a:latin typeface="IBM Plex Sans"/>
                <a:ea typeface="IBM Plex Sans"/>
                <a:cs typeface="IBM Plex Sans"/>
                <a:sym typeface="IBM Plex Sans"/>
              </a:rPr>
              <a:t> neither agent has a repair yet: 0 of 4 for both</a:t>
            </a:r>
            <a:endParaRPr sz="2765"/>
          </a:p>
        </p:txBody>
      </p:sp>
      <p:sp>
        <p:nvSpPr>
          <p:cNvPr id="223" name="Google Shape;223;p8"/>
          <p:cNvSpPr/>
          <p:nvPr/>
        </p:nvSpPr>
        <p:spPr>
          <a:xfrm>
            <a:off x="812750" y="4640706"/>
            <a:ext cx="3101734" cy="1201252"/>
          </a:xfrm>
          <a:prstGeom prst="roundRect">
            <a:avLst>
              <a:gd name="adj" fmla="val 6343"/>
            </a:avLst>
          </a:prstGeom>
          <a:solidFill>
            <a:srgbClr val="EDF1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8"/>
          <p:cNvSpPr/>
          <p:nvPr/>
        </p:nvSpPr>
        <p:spPr>
          <a:xfrm>
            <a:off x="990516" y="4793050"/>
            <a:ext cx="2828587"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IBM Plex Sans"/>
              <a:buNone/>
            </a:pPr>
            <a:r>
              <a:rPr lang="en-US" sz="1200" b="1" i="0" u="none" strike="noStrike" cap="none">
                <a:solidFill>
                  <a:srgbClr val="4A5568"/>
                </a:solidFill>
                <a:latin typeface="IBM Plex Sans"/>
                <a:ea typeface="IBM Plex Sans"/>
                <a:cs typeface="IBM Plex Sans"/>
                <a:sym typeface="IBM Plex Sans"/>
              </a:rPr>
              <a:t>html-xml-utils: excluded</a:t>
            </a:r>
            <a:endParaRPr sz="1200" b="0" i="0" u="none" strike="noStrike" cap="none">
              <a:solidFill>
                <a:schemeClr val="dk1"/>
              </a:solidFill>
              <a:latin typeface="IBM Plex Sans"/>
              <a:ea typeface="IBM Plex Sans"/>
              <a:cs typeface="IBM Plex Sans"/>
              <a:sym typeface="IBM Plex Sans"/>
            </a:endParaRPr>
          </a:p>
        </p:txBody>
      </p:sp>
      <p:sp>
        <p:nvSpPr>
          <p:cNvPr id="225" name="Google Shape;225;p8"/>
          <p:cNvSpPr/>
          <p:nvPr/>
        </p:nvSpPr>
        <p:spPr>
          <a:xfrm>
            <a:off x="990516" y="5057164"/>
            <a:ext cx="2828587" cy="642571"/>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Builds unchanged in our local environment, so there is nothing to repair.</a:t>
            </a:r>
            <a:endParaRPr sz="1200" b="0" i="0" u="none" strike="noStrike" cap="none">
              <a:solidFill>
                <a:schemeClr val="dk1"/>
              </a:solidFill>
              <a:latin typeface="IBM Plex Sans"/>
              <a:ea typeface="IBM Plex Sans"/>
              <a:cs typeface="IBM Plex Sans"/>
              <a:sym typeface="IBM Plex Sans"/>
            </a:endParaRPr>
          </a:p>
        </p:txBody>
      </p:sp>
      <p:sp>
        <p:nvSpPr>
          <p:cNvPr id="226" name="Google Shape;226;p8"/>
          <p:cNvSpPr/>
          <p:nvPr/>
        </p:nvSpPr>
        <p:spPr>
          <a:xfrm>
            <a:off x="4127196" y="4650231"/>
            <a:ext cx="3113660" cy="1182202"/>
          </a:xfrm>
          <a:prstGeom prst="roundRect">
            <a:avLst>
              <a:gd name="adj" fmla="val 5640"/>
            </a:avLst>
          </a:prstGeom>
          <a:solidFill>
            <a:srgbClr val="FCFCFA"/>
          </a:solidFill>
          <a:ln w="19050" cap="flat" cmpd="sng">
            <a:solidFill>
              <a:srgbClr val="B4530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8"/>
          <p:cNvSpPr/>
          <p:nvPr/>
        </p:nvSpPr>
        <p:spPr>
          <a:xfrm>
            <a:off x="4310895" y="4808510"/>
            <a:ext cx="2828649" cy="234746"/>
          </a:xfrm>
          <a:prstGeom prst="rect">
            <a:avLst/>
          </a:prstGeom>
          <a:noFill/>
          <a:ln>
            <a:noFill/>
          </a:ln>
        </p:spPr>
        <p:txBody>
          <a:bodyPr spcFirstLastPara="1" wrap="square" lIns="0" tIns="0" rIns="0" bIns="0" anchor="t" anchorCtr="0">
            <a:normAutofit/>
          </a:bodyPr>
          <a:lstStyle/>
          <a:p>
            <a:pPr marL="0" marR="0" lvl="0" indent="0" algn="l" rtl="0">
              <a:lnSpc>
                <a:spcPct val="140050"/>
              </a:lnSpc>
              <a:spcBef>
                <a:spcPts val="0"/>
              </a:spcBef>
              <a:spcAft>
                <a:spcPts val="0"/>
              </a:spcAft>
              <a:buClr>
                <a:srgbClr val="B4530F"/>
              </a:buClr>
              <a:buSzPts val="1196"/>
              <a:buFont typeface="IBM Plex Sans"/>
              <a:buNone/>
            </a:pPr>
            <a:r>
              <a:rPr lang="en-US" sz="1196" b="1" i="0" u="none" strike="noStrike" cap="none">
                <a:solidFill>
                  <a:srgbClr val="B4530F"/>
                </a:solidFill>
                <a:latin typeface="IBM Plex Sans"/>
                <a:ea typeface="IBM Plex Sans"/>
                <a:cs typeface="IBM Plex Sans"/>
                <a:sym typeface="IBM Plex Sans"/>
              </a:rPr>
              <a:t>5 x86_64-target cases: </a:t>
            </a:r>
            <a:r>
              <a:rPr lang="en-US" sz="1196" b="1">
                <a:solidFill>
                  <a:srgbClr val="B4530F"/>
                </a:solidFill>
                <a:latin typeface="IBM Plex Sans"/>
                <a:ea typeface="IBM Plex Sans"/>
                <a:cs typeface="IBM Plex Sans"/>
                <a:sym typeface="IBM Plex Sans"/>
              </a:rPr>
              <a:t>setup blocked</a:t>
            </a:r>
            <a:endParaRPr sz="1196" b="0" i="0" u="none" strike="noStrike" cap="none">
              <a:solidFill>
                <a:schemeClr val="dk1"/>
              </a:solidFill>
              <a:latin typeface="IBM Plex Sans"/>
              <a:ea typeface="IBM Plex Sans"/>
              <a:cs typeface="IBM Plex Sans"/>
              <a:sym typeface="IBM Plex Sans"/>
            </a:endParaRPr>
          </a:p>
        </p:txBody>
      </p:sp>
      <p:sp>
        <p:nvSpPr>
          <p:cNvPr id="228" name="Google Shape;228;p8"/>
          <p:cNvSpPr/>
          <p:nvPr/>
        </p:nvSpPr>
        <p:spPr>
          <a:xfrm>
            <a:off x="4310895" y="5068636"/>
            <a:ext cx="2828649" cy="630917"/>
          </a:xfrm>
          <a:prstGeom prst="rect">
            <a:avLst/>
          </a:prstGeom>
          <a:noFill/>
          <a:ln>
            <a:noFill/>
          </a:ln>
        </p:spPr>
        <p:txBody>
          <a:bodyPr spcFirstLastPara="1" wrap="square" lIns="0" tIns="0" rIns="0" bIns="0" anchor="t" anchorCtr="0">
            <a:normAutofit/>
          </a:bodyPr>
          <a:lstStyle/>
          <a:p>
            <a:pPr marL="0" marR="0" lvl="0" indent="0" algn="l" rtl="0">
              <a:lnSpc>
                <a:spcPct val="135089"/>
              </a:lnSpc>
              <a:spcBef>
                <a:spcPts val="0"/>
              </a:spcBef>
              <a:spcAft>
                <a:spcPts val="0"/>
              </a:spcAft>
              <a:buClr>
                <a:srgbClr val="4A5568"/>
              </a:buClr>
              <a:buSzPts val="1177"/>
              <a:buFont typeface="IBM Plex Sans"/>
              <a:buNone/>
            </a:pPr>
            <a:r>
              <a:rPr lang="en-US" sz="1177">
                <a:solidFill>
                  <a:srgbClr val="4A5568"/>
                </a:solidFill>
                <a:latin typeface="IBM Plex Sans"/>
                <a:ea typeface="IBM Plex Sans"/>
                <a:cs typeface="IBM Plex Sans"/>
                <a:sym typeface="IBM Plex Sans"/>
              </a:rPr>
              <a:t>Both agents encountered environment failures under QEMU before package compilation. </a:t>
            </a:r>
            <a:endParaRPr sz="1177" b="0" i="0" u="none" strike="noStrike" cap="none">
              <a:solidFill>
                <a:schemeClr val="dk1"/>
              </a:solidFill>
              <a:latin typeface="IBM Plex Sans"/>
              <a:ea typeface="IBM Plex Sans"/>
              <a:cs typeface="IBM Plex Sans"/>
              <a:sym typeface="IBM Plex Sans"/>
            </a:endParaRPr>
          </a:p>
        </p:txBody>
      </p:sp>
      <p:sp>
        <p:nvSpPr>
          <p:cNvPr id="229" name="Google Shape;229;p8"/>
          <p:cNvSpPr/>
          <p:nvPr/>
        </p:nvSpPr>
        <p:spPr>
          <a:xfrm>
            <a:off x="7453568" y="4640706"/>
            <a:ext cx="3925654" cy="1201252"/>
          </a:xfrm>
          <a:prstGeom prst="roundRect">
            <a:avLst>
              <a:gd name="adj" fmla="val 6343"/>
            </a:avLst>
          </a:prstGeom>
          <a:solidFill>
            <a:srgbClr val="143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8"/>
          <p:cNvSpPr/>
          <p:nvPr/>
        </p:nvSpPr>
        <p:spPr>
          <a:xfrm>
            <a:off x="7631335" y="4793050"/>
            <a:ext cx="3677225"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2A65A"/>
              </a:buClr>
              <a:buSzPts val="1200"/>
              <a:buFont typeface="IBM Plex Sans"/>
              <a:buNone/>
            </a:pPr>
            <a:r>
              <a:rPr lang="en-US" sz="1200" b="1" i="0" u="none" strike="noStrike" cap="none">
                <a:solidFill>
                  <a:srgbClr val="F2A65A"/>
                </a:solidFill>
                <a:latin typeface="IBM Plex Sans"/>
                <a:ea typeface="IBM Plex Sans"/>
                <a:cs typeface="IBM Plex Sans"/>
                <a:sym typeface="IBM Plex Sans"/>
              </a:rPr>
              <a:t>What limits the agent now</a:t>
            </a:r>
            <a:endParaRPr sz="1200" b="0" i="0" u="none" strike="noStrike" cap="none">
              <a:solidFill>
                <a:schemeClr val="dk1"/>
              </a:solidFill>
              <a:latin typeface="IBM Plex Sans"/>
              <a:ea typeface="IBM Plex Sans"/>
              <a:cs typeface="IBM Plex Sans"/>
              <a:sym typeface="IBM Plex Sans"/>
            </a:endParaRPr>
          </a:p>
        </p:txBody>
      </p:sp>
      <p:sp>
        <p:nvSpPr>
          <p:cNvPr id="231" name="Google Shape;231;p8"/>
          <p:cNvSpPr/>
          <p:nvPr/>
        </p:nvSpPr>
        <p:spPr>
          <a:xfrm>
            <a:off x="7631335" y="5057164"/>
            <a:ext cx="3677225" cy="642571"/>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E8EDF2"/>
              </a:buClr>
              <a:buSzPts val="1200"/>
              <a:buFont typeface="IBM Plex Sans"/>
              <a:buNone/>
            </a:pPr>
            <a:r>
              <a:rPr lang="en-US" sz="1200">
                <a:solidFill>
                  <a:srgbClr val="E8EDF2"/>
                </a:solidFill>
                <a:latin typeface="IBM Plex Sans"/>
                <a:ea typeface="IBM Plex Sans"/>
                <a:cs typeface="IBM Plex Sans"/>
                <a:sym typeface="IBM Plex Sans"/>
              </a:rPr>
              <a:t>repeated diagnostics, rejected edits, and ineffective fixes persisted despite enlarged full-agent budgets.</a:t>
            </a:r>
            <a:endParaRPr sz="1200" b="0" i="0" u="none" strike="noStrike" cap="none">
              <a:solidFill>
                <a:schemeClr val="dk1"/>
              </a:solidFill>
              <a:latin typeface="IBM Plex Sans"/>
              <a:ea typeface="IBM Plex Sans"/>
              <a:cs typeface="IBM Plex Sans"/>
              <a:sym typeface="IBM Plex Sans"/>
            </a:endParaRPr>
          </a:p>
        </p:txBody>
      </p:sp>
      <p:sp>
        <p:nvSpPr>
          <p:cNvPr id="232" name="Google Shape;232;p8"/>
          <p:cNvSpPr/>
          <p:nvPr/>
        </p:nvSpPr>
        <p:spPr>
          <a:xfrm>
            <a:off x="812750" y="6238246"/>
            <a:ext cx="9810744"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Organizers’ development bundle, x86_64 → aarch64 cases, run on October 1</a:t>
            </a:r>
            <a:r>
              <a:rPr lang="en-US" sz="1200">
                <a:solidFill>
                  <a:srgbClr val="6B7684"/>
                </a:solidFill>
                <a:latin typeface="IBM Plex Sans"/>
                <a:ea typeface="IBM Plex Sans"/>
                <a:cs typeface="IBM Plex Sans"/>
                <a:sym typeface="IBM Plex Sans"/>
              </a:rPr>
              <a:t>9</a:t>
            </a:r>
            <a:endParaRPr sz="1200" b="0" i="0" u="none" strike="noStrike" cap="none">
              <a:solidFill>
                <a:schemeClr val="dk1"/>
              </a:solidFill>
              <a:latin typeface="IBM Plex Sans"/>
              <a:ea typeface="IBM Plex Sans"/>
              <a:cs typeface="IBM Plex Sans"/>
              <a:sym typeface="IBM Plex Sans"/>
            </a:endParaRPr>
          </a:p>
        </p:txBody>
      </p:sp>
      <p:sp>
        <p:nvSpPr>
          <p:cNvPr id="233" name="Google Shape;233;p8"/>
          <p:cNvSpPr/>
          <p:nvPr/>
        </p:nvSpPr>
        <p:spPr>
          <a:xfrm>
            <a:off x="10820424" y="6238246"/>
            <a:ext cx="55879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6B7684"/>
              </a:buClr>
              <a:buSzPts val="1200"/>
              <a:buFont typeface="IBM Plex Sans"/>
              <a:buNone/>
            </a:pPr>
            <a:r>
              <a:rPr lang="en-US" sz="1200">
                <a:solidFill>
                  <a:srgbClr val="6B7684"/>
                </a:solidFill>
                <a:latin typeface="IBM Plex Sans"/>
                <a:ea typeface="IBM Plex Sans"/>
                <a:cs typeface="IBM Plex Sans"/>
                <a:sym typeface="IBM Plex Sans"/>
              </a:rPr>
              <a:t>10</a:t>
            </a:r>
            <a:endParaRPr sz="1200" b="0" i="0" u="none" strike="noStrike" cap="none">
              <a:solidFill>
                <a:schemeClr val="dk1"/>
              </a:solidFill>
              <a:latin typeface="IBM Plex Sans"/>
              <a:ea typeface="IBM Plex Sans"/>
              <a:cs typeface="IBM Plex Sans"/>
              <a:sym typeface="IBM Plex Sans"/>
            </a:endParaRPr>
          </a:p>
        </p:txBody>
      </p:sp>
      <p:graphicFrame>
        <p:nvGraphicFramePr>
          <p:cNvPr id="234" name="Google Shape;234;p8"/>
          <p:cNvGraphicFramePr/>
          <p:nvPr/>
        </p:nvGraphicFramePr>
        <p:xfrm>
          <a:off x="828663" y="1598450"/>
          <a:ext cx="3000000" cy="3000000"/>
        </p:xfrm>
        <a:graphic>
          <a:graphicData uri="http://schemas.openxmlformats.org/drawingml/2006/table">
            <a:tbl>
              <a:tblPr>
                <a:noFill/>
                <a:tableStyleId>{ADB3D7E4-98E0-446D-BD89-4FCEEEE099C4}</a:tableStyleId>
              </a:tblPr>
              <a:tblGrid>
                <a:gridCol w="1762125">
                  <a:extLst>
                    <a:ext uri="{9D8B030D-6E8A-4147-A177-3AD203B41FA5}">
                      <a16:colId xmlns:a16="http://schemas.microsoft.com/office/drawing/2014/main" val="20000"/>
                    </a:ext>
                  </a:extLst>
                </a:gridCol>
                <a:gridCol w="2638425">
                  <a:extLst>
                    <a:ext uri="{9D8B030D-6E8A-4147-A177-3AD203B41FA5}">
                      <a16:colId xmlns:a16="http://schemas.microsoft.com/office/drawing/2014/main" val="20001"/>
                    </a:ext>
                  </a:extLst>
                </a:gridCol>
                <a:gridCol w="1990725">
                  <a:extLst>
                    <a:ext uri="{9D8B030D-6E8A-4147-A177-3AD203B41FA5}">
                      <a16:colId xmlns:a16="http://schemas.microsoft.com/office/drawing/2014/main" val="20002"/>
                    </a:ext>
                  </a:extLst>
                </a:gridCol>
                <a:gridCol w="2390775">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tblGrid>
              <a:tr h="485775">
                <a:tc>
                  <a:txBody>
                    <a:bodyPr/>
                    <a:lstStyle/>
                    <a:p>
                      <a:pPr marL="0" lvl="0" indent="0" algn="l" rtl="0">
                        <a:lnSpc>
                          <a:spcPct val="140000"/>
                        </a:lnSpc>
                        <a:spcBef>
                          <a:spcPts val="0"/>
                        </a:spcBef>
                        <a:spcAft>
                          <a:spcPts val="0"/>
                        </a:spcAft>
                        <a:buNone/>
                      </a:pPr>
                      <a:r>
                        <a:rPr lang="en-US" sz="1200" b="1">
                          <a:solidFill>
                            <a:srgbClr val="F3F5F7"/>
                          </a:solidFill>
                          <a:latin typeface="IBM Plex Sans"/>
                          <a:ea typeface="IBM Plex Sans"/>
                          <a:cs typeface="IBM Plex Sans"/>
                          <a:sym typeface="IBM Plex Sans"/>
                        </a:rPr>
                        <a:t>Case</a:t>
                      </a:r>
                      <a:endParaRPr sz="1200" b="1">
                        <a:solidFill>
                          <a:srgbClr val="F3F5F7"/>
                        </a:solidFill>
                        <a:latin typeface="IBM Plex Sans"/>
                        <a:ea typeface="IBM Plex Sans"/>
                        <a:cs typeface="IBM Plex Sans"/>
                        <a:sym typeface="IBM Plex Sans"/>
                      </a:endParaRPr>
                    </a:p>
                  </a:txBody>
                  <a:tcPr marL="101600" marR="101600" marT="76200" marB="76200">
                    <a:lnL w="12700" cap="flat" cmpd="sng">
                      <a:solidFill>
                        <a:srgbClr val="C4C5C3"/>
                      </a:solidFill>
                      <a:prstDash val="solid"/>
                      <a:round/>
                      <a:headEnd type="none" w="sm" len="sm"/>
                      <a:tailEnd type="none" w="sm" len="sm"/>
                    </a:lnL>
                    <a:lnR w="12700" cap="flat" cmpd="sng">
                      <a:solidFill>
                        <a:srgbClr val="142A42"/>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142A42"/>
                      </a:solidFill>
                      <a:prstDash val="solid"/>
                      <a:round/>
                      <a:headEnd type="none" w="sm" len="sm"/>
                      <a:tailEnd type="none" w="sm" len="sm"/>
                    </a:lnB>
                    <a:solidFill>
                      <a:srgbClr val="14304F"/>
                    </a:solidFill>
                  </a:tcPr>
                </a:tc>
                <a:tc>
                  <a:txBody>
                    <a:bodyPr/>
                    <a:lstStyle/>
                    <a:p>
                      <a:pPr marL="0" lvl="0" indent="0" algn="l" rtl="0">
                        <a:lnSpc>
                          <a:spcPct val="140000"/>
                        </a:lnSpc>
                        <a:spcBef>
                          <a:spcPts val="0"/>
                        </a:spcBef>
                        <a:spcAft>
                          <a:spcPts val="0"/>
                        </a:spcAft>
                        <a:buNone/>
                      </a:pPr>
                      <a:r>
                        <a:rPr lang="en-US" sz="1200" b="1">
                          <a:solidFill>
                            <a:srgbClr val="F3F5F7"/>
                          </a:solidFill>
                          <a:latin typeface="IBM Plex Sans"/>
                          <a:ea typeface="IBM Plex Sans"/>
                          <a:cs typeface="IBM Plex Sans"/>
                          <a:sym typeface="IBM Plex Sans"/>
                        </a:rPr>
                        <a:t>Observed failure</a:t>
                      </a:r>
                      <a:endParaRPr sz="1200" b="1">
                        <a:solidFill>
                          <a:srgbClr val="F3F5F7"/>
                        </a:solidFill>
                        <a:latin typeface="IBM Plex Sans"/>
                        <a:ea typeface="IBM Plex Sans"/>
                        <a:cs typeface="IBM Plex Sans"/>
                        <a:sym typeface="IBM Plex Sans"/>
                      </a:endParaRPr>
                    </a:p>
                  </a:txBody>
                  <a:tcPr marL="101600" marR="101600" marT="76200" marB="76200">
                    <a:lnL w="12700" cap="flat" cmpd="sng">
                      <a:solidFill>
                        <a:srgbClr val="142A42"/>
                      </a:solidFill>
                      <a:prstDash val="solid"/>
                      <a:round/>
                      <a:headEnd type="none" w="sm" len="sm"/>
                      <a:tailEnd type="none" w="sm" len="sm"/>
                    </a:lnL>
                    <a:lnR w="12700" cap="flat" cmpd="sng">
                      <a:solidFill>
                        <a:srgbClr val="142A42"/>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142A42"/>
                      </a:solidFill>
                      <a:prstDash val="solid"/>
                      <a:round/>
                      <a:headEnd type="none" w="sm" len="sm"/>
                      <a:tailEnd type="none" w="sm" len="sm"/>
                    </a:lnB>
                    <a:solidFill>
                      <a:srgbClr val="14304F"/>
                    </a:solidFill>
                  </a:tcPr>
                </a:tc>
                <a:tc>
                  <a:txBody>
                    <a:bodyPr/>
                    <a:lstStyle/>
                    <a:p>
                      <a:pPr marL="0" lvl="0" indent="0" algn="l" rtl="0">
                        <a:lnSpc>
                          <a:spcPct val="140000"/>
                        </a:lnSpc>
                        <a:spcBef>
                          <a:spcPts val="0"/>
                        </a:spcBef>
                        <a:spcAft>
                          <a:spcPts val="0"/>
                        </a:spcAft>
                        <a:buNone/>
                      </a:pPr>
                      <a:r>
                        <a:rPr lang="en-US" sz="1200" b="1">
                          <a:solidFill>
                            <a:srgbClr val="F3F5F7"/>
                          </a:solidFill>
                          <a:latin typeface="IBM Plex Sans"/>
                          <a:ea typeface="IBM Plex Sans"/>
                          <a:cs typeface="IBM Plex Sans"/>
                          <a:sym typeface="IBM Plex Sans"/>
                        </a:rPr>
                        <a:t>One-shot</a:t>
                      </a:r>
                      <a:endParaRPr sz="1200" b="1">
                        <a:solidFill>
                          <a:srgbClr val="F3F5F7"/>
                        </a:solidFill>
                        <a:latin typeface="IBM Plex Sans"/>
                        <a:ea typeface="IBM Plex Sans"/>
                        <a:cs typeface="IBM Plex Sans"/>
                        <a:sym typeface="IBM Plex Sans"/>
                      </a:endParaRPr>
                    </a:p>
                  </a:txBody>
                  <a:tcPr marL="101600" marR="101600" marT="76200" marB="76200">
                    <a:lnL w="12700" cap="flat" cmpd="sng">
                      <a:solidFill>
                        <a:srgbClr val="142A42"/>
                      </a:solidFill>
                      <a:prstDash val="solid"/>
                      <a:round/>
                      <a:headEnd type="none" w="sm" len="sm"/>
                      <a:tailEnd type="none" w="sm" len="sm"/>
                    </a:lnL>
                    <a:lnR w="12700" cap="flat" cmpd="sng">
                      <a:solidFill>
                        <a:srgbClr val="142A42"/>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142A42"/>
                      </a:solidFill>
                      <a:prstDash val="solid"/>
                      <a:round/>
                      <a:headEnd type="none" w="sm" len="sm"/>
                      <a:tailEnd type="none" w="sm" len="sm"/>
                    </a:lnB>
                    <a:solidFill>
                      <a:srgbClr val="14304F"/>
                    </a:solidFill>
                  </a:tcPr>
                </a:tc>
                <a:tc>
                  <a:txBody>
                    <a:bodyPr/>
                    <a:lstStyle/>
                    <a:p>
                      <a:pPr marL="0" lvl="0" indent="0" algn="l" rtl="0">
                        <a:lnSpc>
                          <a:spcPct val="140000"/>
                        </a:lnSpc>
                        <a:spcBef>
                          <a:spcPts val="0"/>
                        </a:spcBef>
                        <a:spcAft>
                          <a:spcPts val="0"/>
                        </a:spcAft>
                        <a:buNone/>
                      </a:pPr>
                      <a:r>
                        <a:rPr lang="en-US" sz="1200" b="1">
                          <a:solidFill>
                            <a:srgbClr val="F3F5F7"/>
                          </a:solidFill>
                          <a:latin typeface="IBM Plex Sans"/>
                          <a:ea typeface="IBM Plex Sans"/>
                          <a:cs typeface="IBM Plex Sans"/>
                          <a:sym typeface="IBM Plex Sans"/>
                        </a:rPr>
                        <a:t>Full agent</a:t>
                      </a:r>
                      <a:endParaRPr sz="1200" b="1">
                        <a:solidFill>
                          <a:srgbClr val="F3F5F7"/>
                        </a:solidFill>
                        <a:latin typeface="IBM Plex Sans"/>
                        <a:ea typeface="IBM Plex Sans"/>
                        <a:cs typeface="IBM Plex Sans"/>
                        <a:sym typeface="IBM Plex Sans"/>
                      </a:endParaRPr>
                    </a:p>
                  </a:txBody>
                  <a:tcPr marL="101600" marR="101600" marT="76200" marB="76200">
                    <a:lnL w="12700" cap="flat" cmpd="sng">
                      <a:solidFill>
                        <a:srgbClr val="142A42"/>
                      </a:solidFill>
                      <a:prstDash val="solid"/>
                      <a:round/>
                      <a:headEnd type="none" w="sm" len="sm"/>
                      <a:tailEnd type="none" w="sm" len="sm"/>
                    </a:lnL>
                    <a:lnR w="12700" cap="flat" cmpd="sng">
                      <a:solidFill>
                        <a:srgbClr val="142A42"/>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142A42"/>
                      </a:solidFill>
                      <a:prstDash val="solid"/>
                      <a:round/>
                      <a:headEnd type="none" w="sm" len="sm"/>
                      <a:tailEnd type="none" w="sm" len="sm"/>
                    </a:lnB>
                    <a:solidFill>
                      <a:srgbClr val="14304F"/>
                    </a:solidFill>
                  </a:tcPr>
                </a:tc>
                <a:tc>
                  <a:txBody>
                    <a:bodyPr/>
                    <a:lstStyle/>
                    <a:p>
                      <a:pPr marL="0" lvl="0" indent="0" algn="l" rtl="0">
                        <a:lnSpc>
                          <a:spcPct val="140000"/>
                        </a:lnSpc>
                        <a:spcBef>
                          <a:spcPts val="0"/>
                        </a:spcBef>
                        <a:spcAft>
                          <a:spcPts val="0"/>
                        </a:spcAft>
                        <a:buNone/>
                      </a:pPr>
                      <a:r>
                        <a:rPr lang="en-US" sz="1200" b="1">
                          <a:solidFill>
                            <a:srgbClr val="F3F5F7"/>
                          </a:solidFill>
                          <a:latin typeface="IBM Plex Sans"/>
                          <a:ea typeface="IBM Plex Sans"/>
                          <a:cs typeface="IBM Plex Sans"/>
                          <a:sym typeface="IBM Plex Sans"/>
                        </a:rPr>
                        <a:t>Loop stop</a:t>
                      </a:r>
                      <a:endParaRPr sz="1200" b="1">
                        <a:solidFill>
                          <a:srgbClr val="F3F5F7"/>
                        </a:solidFill>
                        <a:latin typeface="IBM Plex Sans"/>
                        <a:ea typeface="IBM Plex Sans"/>
                        <a:cs typeface="IBM Plex Sans"/>
                        <a:sym typeface="IBM Plex Sans"/>
                      </a:endParaRPr>
                    </a:p>
                  </a:txBody>
                  <a:tcPr marL="101600" marR="101600" marT="76200" marB="76200">
                    <a:lnL w="12700" cap="flat" cmpd="sng">
                      <a:solidFill>
                        <a:srgbClr val="142A42"/>
                      </a:solidFill>
                      <a:prstDash val="solid"/>
                      <a:round/>
                      <a:headEnd type="none" w="sm" len="sm"/>
                      <a:tailEnd type="none" w="sm" len="sm"/>
                    </a:lnL>
                    <a:lnR w="12700" cap="flat" cmpd="sng">
                      <a:solidFill>
                        <a:srgbClr val="142A42"/>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142A42"/>
                      </a:solidFill>
                      <a:prstDash val="solid"/>
                      <a:round/>
                      <a:headEnd type="none" w="sm" len="sm"/>
                      <a:tailEnd type="none" w="sm" len="sm"/>
                    </a:lnB>
                    <a:solidFill>
                      <a:srgbClr val="14304F"/>
                    </a:solidFill>
                  </a:tcPr>
                </a:tc>
                <a:extLst>
                  <a:ext uri="{0D108BD9-81ED-4DB2-BD59-A6C34878D82A}">
                    <a16:rowId xmlns:a16="http://schemas.microsoft.com/office/drawing/2014/main" val="10000"/>
                  </a:ext>
                </a:extLst>
              </a:tr>
              <a:tr h="581025">
                <a:tc>
                  <a:txBody>
                    <a:bodyPr/>
                    <a:lstStyle/>
                    <a:p>
                      <a:pPr marL="0" lvl="0" indent="0" algn="l" rtl="0">
                        <a:lnSpc>
                          <a:spcPct val="140000"/>
                        </a:lnSpc>
                        <a:spcBef>
                          <a:spcPts val="0"/>
                        </a:spcBef>
                        <a:spcAft>
                          <a:spcPts val="0"/>
                        </a:spcAft>
                        <a:buNone/>
                      </a:pPr>
                      <a:r>
                        <a:rPr lang="en-US" sz="1200">
                          <a:solidFill>
                            <a:srgbClr val="172433"/>
                          </a:solidFill>
                          <a:latin typeface="IBM Plex Sans"/>
                          <a:ea typeface="IBM Plex Sans"/>
                          <a:cs typeface="IBM Plex Sans"/>
                          <a:sym typeface="IBM Plex Sans"/>
                        </a:rPr>
                        <a:t>1. ectrans</a:t>
                      </a:r>
                      <a:endParaRPr sz="1200">
                        <a:solidFill>
                          <a:srgbClr val="172433"/>
                        </a:solidFill>
                        <a:latin typeface="IBM Plex Sans"/>
                        <a:ea typeface="IBM Plex Sans"/>
                        <a:cs typeface="IBM Plex Sans"/>
                        <a:sym typeface="IBM Plex Sans"/>
                      </a:endParaRPr>
                    </a:p>
                  </a:txBody>
                  <a:tcPr marL="101600" marR="101600" marT="76200" marB="76200">
                    <a:lnL w="12700" cap="flat" cmpd="sng">
                      <a:solidFill>
                        <a:srgbClr val="C4C5C3"/>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142A42"/>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lvl="0" indent="0" algn="l" rtl="0">
                        <a:lnSpc>
                          <a:spcPct val="140000"/>
                        </a:lnSpc>
                        <a:spcBef>
                          <a:spcPts val="0"/>
                        </a:spcBef>
                        <a:spcAft>
                          <a:spcPts val="0"/>
                        </a:spcAft>
                        <a:buNone/>
                      </a:pPr>
                      <a:r>
                        <a:rPr lang="en-US" sz="1200">
                          <a:solidFill>
                            <a:srgbClr val="172433"/>
                          </a:solidFill>
                          <a:latin typeface="IBM Plex Sans"/>
                          <a:ea typeface="IBM Plex Sans"/>
                          <a:cs typeface="IBM Plex Sans"/>
                          <a:sym typeface="IBM Plex Sans"/>
                        </a:rPr>
                        <a:t>CMake paths; missing Fortran module</a:t>
                      </a:r>
                      <a:endParaRPr sz="1200">
                        <a:solidFill>
                          <a:srgbClr val="172433"/>
                        </a:solidFill>
                        <a:latin typeface="IBM Plex Sans"/>
                        <a:ea typeface="IBM Plex Sans"/>
                        <a:cs typeface="IBM Plex Sans"/>
                        <a:sym typeface="IBM Plex Sans"/>
                      </a:endParaRPr>
                    </a:p>
                  </a:txBody>
                  <a:tcPr marL="101600" marR="101600" marT="76200" marB="762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142A42"/>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lvl="0" indent="0" algn="l" rtl="0">
                        <a:lnSpc>
                          <a:spcPct val="140000"/>
                        </a:lnSpc>
                        <a:spcBef>
                          <a:spcPts val="0"/>
                        </a:spcBef>
                        <a:spcAft>
                          <a:spcPts val="0"/>
                        </a:spcAft>
                        <a:buNone/>
                      </a:pPr>
                      <a:r>
                        <a:rPr lang="en-US" sz="1200">
                          <a:solidFill>
                            <a:srgbClr val="B4530F"/>
                          </a:solidFill>
                          <a:latin typeface="IBM Plex Sans"/>
                          <a:ea typeface="IBM Plex Sans"/>
                          <a:cs typeface="IBM Plex Sans"/>
                          <a:sym typeface="IBM Plex Sans"/>
                        </a:rPr>
                        <a:t>Failed build</a:t>
                      </a:r>
                      <a:endParaRPr sz="1200">
                        <a:solidFill>
                          <a:srgbClr val="B4530F"/>
                        </a:solidFill>
                        <a:latin typeface="IBM Plex Sans"/>
                        <a:ea typeface="IBM Plex Sans"/>
                        <a:cs typeface="IBM Plex Sans"/>
                        <a:sym typeface="IBM Plex Sans"/>
                      </a:endParaRPr>
                    </a:p>
                  </a:txBody>
                  <a:tcPr marL="101600" marR="101600" marT="76200" marB="762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142A42"/>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lvl="0" indent="0" algn="l" rtl="0">
                        <a:lnSpc>
                          <a:spcPct val="140000"/>
                        </a:lnSpc>
                        <a:spcBef>
                          <a:spcPts val="0"/>
                        </a:spcBef>
                        <a:spcAft>
                          <a:spcPts val="0"/>
                        </a:spcAft>
                        <a:buNone/>
                      </a:pPr>
                      <a:r>
                        <a:rPr lang="en-US" sz="1200">
                          <a:solidFill>
                            <a:srgbClr val="B4530F"/>
                          </a:solidFill>
                          <a:latin typeface="IBM Plex Sans"/>
                          <a:ea typeface="IBM Plex Sans"/>
                          <a:cs typeface="IBM Plex Sans"/>
                          <a:sym typeface="IBM Plex Sans"/>
                        </a:rPr>
                        <a:t>8 candidates; unrepaired</a:t>
                      </a:r>
                      <a:endParaRPr sz="1200">
                        <a:solidFill>
                          <a:srgbClr val="B4530F"/>
                        </a:solidFill>
                        <a:latin typeface="IBM Plex Sans"/>
                        <a:ea typeface="IBM Plex Sans"/>
                        <a:cs typeface="IBM Plex Sans"/>
                        <a:sym typeface="IBM Plex Sans"/>
                      </a:endParaRPr>
                    </a:p>
                  </a:txBody>
                  <a:tcPr marL="101600" marR="101600" marT="76200" marB="762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142A42"/>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lvl="0" indent="0" algn="l" rtl="0">
                        <a:lnSpc>
                          <a:spcPct val="140000"/>
                        </a:lnSpc>
                        <a:spcBef>
                          <a:spcPts val="0"/>
                        </a:spcBef>
                        <a:spcAft>
                          <a:spcPts val="0"/>
                        </a:spcAft>
                        <a:buNone/>
                      </a:pPr>
                      <a:r>
                        <a:rPr lang="en-US" sz="1200">
                          <a:solidFill>
                            <a:srgbClr val="172433"/>
                          </a:solidFill>
                          <a:latin typeface="IBM Plex Sans"/>
                          <a:ea typeface="IBM Plex Sans"/>
                          <a:cs typeface="IBM Plex Sans"/>
                          <a:sym typeface="IBM Plex Sans"/>
                        </a:rPr>
                        <a:t>Repeated diagnostic</a:t>
                      </a:r>
                      <a:endParaRPr sz="1200">
                        <a:solidFill>
                          <a:srgbClr val="172433"/>
                        </a:solidFill>
                        <a:latin typeface="IBM Plex Sans"/>
                        <a:ea typeface="IBM Plex Sans"/>
                        <a:cs typeface="IBM Plex Sans"/>
                        <a:sym typeface="IBM Plex Sans"/>
                      </a:endParaRPr>
                    </a:p>
                  </a:txBody>
                  <a:tcPr marL="101600" marR="101600" marT="76200" marB="762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142A42"/>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extLst>
                  <a:ext uri="{0D108BD9-81ED-4DB2-BD59-A6C34878D82A}">
                    <a16:rowId xmlns:a16="http://schemas.microsoft.com/office/drawing/2014/main" val="10001"/>
                  </a:ext>
                </a:extLst>
              </a:tr>
              <a:tr h="581025">
                <a:tc>
                  <a:txBody>
                    <a:bodyPr/>
                    <a:lstStyle/>
                    <a:p>
                      <a:pPr marL="0" lvl="0" indent="0" algn="l" rtl="0">
                        <a:lnSpc>
                          <a:spcPct val="140000"/>
                        </a:lnSpc>
                        <a:spcBef>
                          <a:spcPts val="0"/>
                        </a:spcBef>
                        <a:spcAft>
                          <a:spcPts val="0"/>
                        </a:spcAft>
                        <a:buNone/>
                      </a:pPr>
                      <a:r>
                        <a:rPr lang="en-US" sz="1200">
                          <a:solidFill>
                            <a:srgbClr val="172433"/>
                          </a:solidFill>
                          <a:latin typeface="IBM Plex Sans"/>
                          <a:ea typeface="IBM Plex Sans"/>
                          <a:cs typeface="IBM Plex Sans"/>
                          <a:sym typeface="IBM Plex Sans"/>
                        </a:rPr>
                        <a:t>2. libmceliece</a:t>
                      </a:r>
                      <a:endParaRPr sz="1200">
                        <a:solidFill>
                          <a:srgbClr val="172433"/>
                        </a:solidFill>
                        <a:latin typeface="IBM Plex Sans"/>
                        <a:ea typeface="IBM Plex Sans"/>
                        <a:cs typeface="IBM Plex Sans"/>
                        <a:sym typeface="IBM Plex Sans"/>
                      </a:endParaRPr>
                    </a:p>
                  </a:txBody>
                  <a:tcPr marL="101600" marR="101600" marT="76200" marB="762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lvl="0" indent="0" algn="l" rtl="0">
                        <a:lnSpc>
                          <a:spcPct val="140000"/>
                        </a:lnSpc>
                        <a:spcBef>
                          <a:spcPts val="0"/>
                        </a:spcBef>
                        <a:spcAft>
                          <a:spcPts val="0"/>
                        </a:spcAft>
                        <a:buNone/>
                      </a:pPr>
                      <a:r>
                        <a:rPr lang="en-US" sz="1200">
                          <a:solidFill>
                            <a:srgbClr val="172433"/>
                          </a:solidFill>
                          <a:latin typeface="IBM Plex Sans"/>
                          <a:ea typeface="IBM Plex Sans"/>
                          <a:cs typeface="IBM Plex Sans"/>
                          <a:sym typeface="IBM Plex Sans"/>
                        </a:rPr>
                        <a:t>BFD linker assertion</a:t>
                      </a:r>
                      <a:endParaRPr sz="1200">
                        <a:solidFill>
                          <a:srgbClr val="172433"/>
                        </a:solidFill>
                        <a:latin typeface="IBM Plex Sans"/>
                        <a:ea typeface="IBM Plex Sans"/>
                        <a:cs typeface="IBM Plex Sans"/>
                        <a:sym typeface="IBM Plex Sans"/>
                      </a:endParaRPr>
                    </a:p>
                  </a:txBody>
                  <a:tcPr marL="101600" marR="101600" marT="76200" marB="762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lvl="0" indent="0" algn="l" rtl="0">
                        <a:lnSpc>
                          <a:spcPct val="140000"/>
                        </a:lnSpc>
                        <a:spcBef>
                          <a:spcPts val="0"/>
                        </a:spcBef>
                        <a:spcAft>
                          <a:spcPts val="0"/>
                        </a:spcAft>
                        <a:buNone/>
                      </a:pPr>
                      <a:r>
                        <a:rPr lang="en-US" sz="1200">
                          <a:solidFill>
                            <a:srgbClr val="B4530F"/>
                          </a:solidFill>
                          <a:latin typeface="IBM Plex Sans"/>
                          <a:ea typeface="IBM Plex Sans"/>
                          <a:cs typeface="IBM Plex Sans"/>
                          <a:sym typeface="IBM Plex Sans"/>
                        </a:rPr>
                        <a:t>Failed build</a:t>
                      </a:r>
                      <a:endParaRPr sz="1200">
                        <a:solidFill>
                          <a:srgbClr val="B4530F"/>
                        </a:solidFill>
                        <a:latin typeface="IBM Plex Sans"/>
                        <a:ea typeface="IBM Plex Sans"/>
                        <a:cs typeface="IBM Plex Sans"/>
                        <a:sym typeface="IBM Plex Sans"/>
                      </a:endParaRPr>
                    </a:p>
                  </a:txBody>
                  <a:tcPr marL="101600" marR="101600" marT="76200" marB="762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lvl="0" indent="0" algn="l" rtl="0">
                        <a:lnSpc>
                          <a:spcPct val="140000"/>
                        </a:lnSpc>
                        <a:spcBef>
                          <a:spcPts val="0"/>
                        </a:spcBef>
                        <a:spcAft>
                          <a:spcPts val="0"/>
                        </a:spcAft>
                        <a:buNone/>
                      </a:pPr>
                      <a:r>
                        <a:rPr lang="en-US" sz="1200">
                          <a:solidFill>
                            <a:srgbClr val="B4530F"/>
                          </a:solidFill>
                          <a:latin typeface="IBM Plex Sans"/>
                          <a:ea typeface="IBM Plex Sans"/>
                          <a:cs typeface="IBM Plex Sans"/>
                          <a:sym typeface="IBM Plex Sans"/>
                        </a:rPr>
                        <a:t>PIC changes; unrepaired</a:t>
                      </a:r>
                      <a:endParaRPr sz="1200">
                        <a:solidFill>
                          <a:srgbClr val="B4530F"/>
                        </a:solidFill>
                        <a:latin typeface="IBM Plex Sans"/>
                        <a:ea typeface="IBM Plex Sans"/>
                        <a:cs typeface="IBM Plex Sans"/>
                        <a:sym typeface="IBM Plex Sans"/>
                      </a:endParaRPr>
                    </a:p>
                  </a:txBody>
                  <a:tcPr marL="101600" marR="101600" marT="76200" marB="762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lvl="0" indent="0" algn="l" rtl="0">
                        <a:lnSpc>
                          <a:spcPct val="140000"/>
                        </a:lnSpc>
                        <a:spcBef>
                          <a:spcPts val="0"/>
                        </a:spcBef>
                        <a:spcAft>
                          <a:spcPts val="0"/>
                        </a:spcAft>
                        <a:buNone/>
                      </a:pPr>
                      <a:r>
                        <a:rPr lang="en-US" sz="1200">
                          <a:solidFill>
                            <a:srgbClr val="172433"/>
                          </a:solidFill>
                          <a:latin typeface="IBM Plex Sans"/>
                          <a:ea typeface="IBM Plex Sans"/>
                          <a:cs typeface="IBM Plex Sans"/>
                          <a:sym typeface="IBM Plex Sans"/>
                        </a:rPr>
                        <a:t>Repeated diagnostic</a:t>
                      </a:r>
                      <a:endParaRPr sz="1200">
                        <a:solidFill>
                          <a:srgbClr val="172433"/>
                        </a:solidFill>
                        <a:latin typeface="IBM Plex Sans"/>
                        <a:ea typeface="IBM Plex Sans"/>
                        <a:cs typeface="IBM Plex Sans"/>
                        <a:sym typeface="IBM Plex Sans"/>
                      </a:endParaRPr>
                    </a:p>
                  </a:txBody>
                  <a:tcPr marL="101600" marR="101600" marT="76200" marB="762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extLst>
                  <a:ext uri="{0D108BD9-81ED-4DB2-BD59-A6C34878D82A}">
                    <a16:rowId xmlns:a16="http://schemas.microsoft.com/office/drawing/2014/main" val="10002"/>
                  </a:ext>
                </a:extLst>
              </a:tr>
              <a:tr h="581025">
                <a:tc>
                  <a:txBody>
                    <a:bodyPr/>
                    <a:lstStyle/>
                    <a:p>
                      <a:pPr marL="0" lvl="0" indent="0" algn="l" rtl="0">
                        <a:lnSpc>
                          <a:spcPct val="140000"/>
                        </a:lnSpc>
                        <a:spcBef>
                          <a:spcPts val="0"/>
                        </a:spcBef>
                        <a:spcAft>
                          <a:spcPts val="0"/>
                        </a:spcAft>
                        <a:buNone/>
                      </a:pPr>
                      <a:r>
                        <a:rPr lang="en-US" sz="1200">
                          <a:solidFill>
                            <a:srgbClr val="172433"/>
                          </a:solidFill>
                          <a:latin typeface="IBM Plex Sans"/>
                          <a:ea typeface="IBM Plex Sans"/>
                          <a:cs typeface="IBM Plex Sans"/>
                          <a:sym typeface="IBM Plex Sans"/>
                        </a:rPr>
                        <a:t>3. libunwind</a:t>
                      </a:r>
                      <a:endParaRPr sz="1200">
                        <a:solidFill>
                          <a:srgbClr val="172433"/>
                        </a:solidFill>
                        <a:latin typeface="IBM Plex Sans"/>
                        <a:ea typeface="IBM Plex Sans"/>
                        <a:cs typeface="IBM Plex Sans"/>
                        <a:sym typeface="IBM Plex Sans"/>
                      </a:endParaRPr>
                    </a:p>
                  </a:txBody>
                  <a:tcPr marL="101600" marR="101600" marT="76200" marB="76200">
                    <a:lnL w="12700" cap="flat" cmpd="sng">
                      <a:solidFill>
                        <a:srgbClr val="C4C5C3"/>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lvl="0" indent="0" algn="l" rtl="0">
                        <a:lnSpc>
                          <a:spcPct val="140000"/>
                        </a:lnSpc>
                        <a:spcBef>
                          <a:spcPts val="0"/>
                        </a:spcBef>
                        <a:spcAft>
                          <a:spcPts val="0"/>
                        </a:spcAft>
                        <a:buNone/>
                      </a:pPr>
                      <a:r>
                        <a:rPr lang="en-US" sz="1200">
                          <a:solidFill>
                            <a:srgbClr val="172433"/>
                          </a:solidFill>
                          <a:latin typeface="IBM Plex Sans"/>
                          <a:ea typeface="IBM Plex Sans"/>
                          <a:cs typeface="IBM Plex Sans"/>
                          <a:sym typeface="IBM Plex Sans"/>
                        </a:rPr>
                        <a:t>Hidden-symbol link failure</a:t>
                      </a:r>
                      <a:endParaRPr sz="1200">
                        <a:solidFill>
                          <a:srgbClr val="172433"/>
                        </a:solidFill>
                        <a:latin typeface="IBM Plex Sans"/>
                        <a:ea typeface="IBM Plex Sans"/>
                        <a:cs typeface="IBM Plex Sans"/>
                        <a:sym typeface="IBM Plex Sans"/>
                      </a:endParaRPr>
                    </a:p>
                  </a:txBody>
                  <a:tcPr marL="101600" marR="101600" marT="76200" marB="762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lvl="0" indent="0" algn="l" rtl="0">
                        <a:lnSpc>
                          <a:spcPct val="140000"/>
                        </a:lnSpc>
                        <a:spcBef>
                          <a:spcPts val="0"/>
                        </a:spcBef>
                        <a:spcAft>
                          <a:spcPts val="0"/>
                        </a:spcAft>
                        <a:buNone/>
                      </a:pPr>
                      <a:r>
                        <a:rPr lang="en-US" sz="1200">
                          <a:solidFill>
                            <a:srgbClr val="B4530F"/>
                          </a:solidFill>
                          <a:latin typeface="IBM Plex Sans"/>
                          <a:ea typeface="IBM Plex Sans"/>
                          <a:cs typeface="IBM Plex Sans"/>
                          <a:sym typeface="IBM Plex Sans"/>
                        </a:rPr>
                        <a:t>Edit path rejected</a:t>
                      </a:r>
                      <a:endParaRPr sz="1200">
                        <a:solidFill>
                          <a:srgbClr val="B4530F"/>
                        </a:solidFill>
                        <a:latin typeface="IBM Plex Sans"/>
                        <a:ea typeface="IBM Plex Sans"/>
                        <a:cs typeface="IBM Plex Sans"/>
                        <a:sym typeface="IBM Plex Sans"/>
                      </a:endParaRPr>
                    </a:p>
                  </a:txBody>
                  <a:tcPr marL="101600" marR="101600" marT="76200" marB="762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lvl="0" indent="0" algn="l" rtl="0">
                        <a:lnSpc>
                          <a:spcPct val="140000"/>
                        </a:lnSpc>
                        <a:spcBef>
                          <a:spcPts val="0"/>
                        </a:spcBef>
                        <a:spcAft>
                          <a:spcPts val="0"/>
                        </a:spcAft>
                        <a:buNone/>
                      </a:pPr>
                      <a:r>
                        <a:rPr lang="en-US" sz="1200">
                          <a:solidFill>
                            <a:srgbClr val="B4530F"/>
                          </a:solidFill>
                          <a:latin typeface="IBM Plex Sans"/>
                          <a:ea typeface="IBM Plex Sans"/>
                          <a:cs typeface="IBM Plex Sans"/>
                          <a:sym typeface="IBM Plex Sans"/>
                        </a:rPr>
                        <a:t>Link changes; unrepaired</a:t>
                      </a:r>
                      <a:endParaRPr sz="1200">
                        <a:solidFill>
                          <a:srgbClr val="B4530F"/>
                        </a:solidFill>
                        <a:latin typeface="IBM Plex Sans"/>
                        <a:ea typeface="IBM Plex Sans"/>
                        <a:cs typeface="IBM Plex Sans"/>
                        <a:sym typeface="IBM Plex Sans"/>
                      </a:endParaRPr>
                    </a:p>
                  </a:txBody>
                  <a:tcPr marL="101600" marR="101600" marT="76200" marB="762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lvl="0" indent="0" algn="l" rtl="0">
                        <a:lnSpc>
                          <a:spcPct val="140000"/>
                        </a:lnSpc>
                        <a:spcBef>
                          <a:spcPts val="0"/>
                        </a:spcBef>
                        <a:spcAft>
                          <a:spcPts val="0"/>
                        </a:spcAft>
                        <a:buNone/>
                      </a:pPr>
                      <a:r>
                        <a:rPr lang="en-US" sz="1200">
                          <a:solidFill>
                            <a:srgbClr val="172433"/>
                          </a:solidFill>
                          <a:latin typeface="IBM Plex Sans"/>
                          <a:ea typeface="IBM Plex Sans"/>
                          <a:cs typeface="IBM Plex Sans"/>
                          <a:sym typeface="IBM Plex Sans"/>
                        </a:rPr>
                        <a:t>Repeated diagnostic</a:t>
                      </a:r>
                      <a:endParaRPr sz="1200">
                        <a:solidFill>
                          <a:srgbClr val="172433"/>
                        </a:solidFill>
                        <a:latin typeface="IBM Plex Sans"/>
                        <a:ea typeface="IBM Plex Sans"/>
                        <a:cs typeface="IBM Plex Sans"/>
                        <a:sym typeface="IBM Plex Sans"/>
                      </a:endParaRPr>
                    </a:p>
                  </a:txBody>
                  <a:tcPr marL="101600" marR="101600" marT="76200" marB="762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extLst>
                  <a:ext uri="{0D108BD9-81ED-4DB2-BD59-A6C34878D82A}">
                    <a16:rowId xmlns:a16="http://schemas.microsoft.com/office/drawing/2014/main" val="10003"/>
                  </a:ext>
                </a:extLst>
              </a:tr>
              <a:tr h="581025">
                <a:tc>
                  <a:txBody>
                    <a:bodyPr/>
                    <a:lstStyle/>
                    <a:p>
                      <a:pPr marL="0" lvl="0" indent="0" algn="l" rtl="0">
                        <a:lnSpc>
                          <a:spcPct val="140000"/>
                        </a:lnSpc>
                        <a:spcBef>
                          <a:spcPts val="0"/>
                        </a:spcBef>
                        <a:spcAft>
                          <a:spcPts val="0"/>
                        </a:spcAft>
                        <a:buNone/>
                      </a:pPr>
                      <a:r>
                        <a:rPr lang="en-US" sz="1200">
                          <a:solidFill>
                            <a:srgbClr val="172433"/>
                          </a:solidFill>
                          <a:latin typeface="IBM Plex Sans"/>
                          <a:ea typeface="IBM Plex Sans"/>
                          <a:cs typeface="IBM Plex Sans"/>
                          <a:sym typeface="IBM Plex Sans"/>
                        </a:rPr>
                        <a:t>4. rust-subversion</a:t>
                      </a:r>
                      <a:endParaRPr sz="1200">
                        <a:solidFill>
                          <a:srgbClr val="172433"/>
                        </a:solidFill>
                        <a:latin typeface="IBM Plex Sans"/>
                        <a:ea typeface="IBM Plex Sans"/>
                        <a:cs typeface="IBM Plex Sans"/>
                        <a:sym typeface="IBM Plex Sans"/>
                      </a:endParaRPr>
                    </a:p>
                  </a:txBody>
                  <a:tcPr marL="101600" marR="101600" marT="76200" marB="762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lvl="0" indent="0" algn="l" rtl="0">
                        <a:lnSpc>
                          <a:spcPct val="140000"/>
                        </a:lnSpc>
                        <a:spcBef>
                          <a:spcPts val="0"/>
                        </a:spcBef>
                        <a:spcAft>
                          <a:spcPts val="0"/>
                        </a:spcAft>
                        <a:buNone/>
                      </a:pPr>
                      <a:r>
                        <a:rPr lang="en-US" sz="1200">
                          <a:solidFill>
                            <a:srgbClr val="172433"/>
                          </a:solidFill>
                          <a:latin typeface="IBM Plex Sans"/>
                          <a:ea typeface="IBM Plex Sans"/>
                          <a:cs typeface="IBM Plex Sans"/>
                          <a:sym typeface="IBM Plex Sans"/>
                        </a:rPr>
                        <a:t>C char pointer type mismatch</a:t>
                      </a:r>
                      <a:endParaRPr sz="1200">
                        <a:solidFill>
                          <a:srgbClr val="172433"/>
                        </a:solidFill>
                        <a:latin typeface="IBM Plex Sans"/>
                        <a:ea typeface="IBM Plex Sans"/>
                        <a:cs typeface="IBM Plex Sans"/>
                        <a:sym typeface="IBM Plex Sans"/>
                      </a:endParaRPr>
                    </a:p>
                  </a:txBody>
                  <a:tcPr marL="101600" marR="101600" marT="76200" marB="762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lvl="0" indent="0" algn="l" rtl="0">
                        <a:lnSpc>
                          <a:spcPct val="140000"/>
                        </a:lnSpc>
                        <a:spcBef>
                          <a:spcPts val="0"/>
                        </a:spcBef>
                        <a:spcAft>
                          <a:spcPts val="0"/>
                        </a:spcAft>
                        <a:buNone/>
                      </a:pPr>
                      <a:r>
                        <a:rPr lang="en-US" sz="1200">
                          <a:solidFill>
                            <a:srgbClr val="B4530F"/>
                          </a:solidFill>
                          <a:latin typeface="IBM Plex Sans"/>
                          <a:ea typeface="IBM Plex Sans"/>
                          <a:cs typeface="IBM Plex Sans"/>
                          <a:sym typeface="IBM Plex Sans"/>
                        </a:rPr>
                        <a:t>9 edits rejected</a:t>
                      </a:r>
                      <a:endParaRPr sz="1200">
                        <a:solidFill>
                          <a:srgbClr val="B4530F"/>
                        </a:solidFill>
                        <a:latin typeface="IBM Plex Sans"/>
                        <a:ea typeface="IBM Plex Sans"/>
                        <a:cs typeface="IBM Plex Sans"/>
                        <a:sym typeface="IBM Plex Sans"/>
                      </a:endParaRPr>
                    </a:p>
                  </a:txBody>
                  <a:tcPr marL="101600" marR="101600" marT="76200" marB="762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lvl="0" indent="0" algn="l" rtl="0">
                        <a:lnSpc>
                          <a:spcPct val="140000"/>
                        </a:lnSpc>
                        <a:spcBef>
                          <a:spcPts val="0"/>
                        </a:spcBef>
                        <a:spcAft>
                          <a:spcPts val="0"/>
                        </a:spcAft>
                        <a:buNone/>
                      </a:pPr>
                      <a:r>
                        <a:rPr lang="en-US" sz="1200">
                          <a:solidFill>
                            <a:srgbClr val="B4530F"/>
                          </a:solidFill>
                          <a:latin typeface="IBM Plex Sans"/>
                          <a:ea typeface="IBM Plex Sans"/>
                          <a:cs typeface="IBM Plex Sans"/>
                          <a:sym typeface="IBM Plex Sans"/>
                        </a:rPr>
                        <a:t>No valid batch applied</a:t>
                      </a:r>
                      <a:endParaRPr sz="1200">
                        <a:solidFill>
                          <a:srgbClr val="B4530F"/>
                        </a:solidFill>
                        <a:latin typeface="IBM Plex Sans"/>
                        <a:ea typeface="IBM Plex Sans"/>
                        <a:cs typeface="IBM Plex Sans"/>
                        <a:sym typeface="IBM Plex Sans"/>
                      </a:endParaRPr>
                    </a:p>
                  </a:txBody>
                  <a:tcPr marL="101600" marR="101600" marT="76200" marB="762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lvl="0" indent="0" algn="l" rtl="0">
                        <a:lnSpc>
                          <a:spcPct val="140000"/>
                        </a:lnSpc>
                        <a:spcBef>
                          <a:spcPts val="0"/>
                        </a:spcBef>
                        <a:spcAft>
                          <a:spcPts val="0"/>
                        </a:spcAft>
                        <a:buNone/>
                      </a:pPr>
                      <a:r>
                        <a:rPr lang="en-US" sz="1200">
                          <a:solidFill>
                            <a:srgbClr val="172433"/>
                          </a:solidFill>
                          <a:latin typeface="IBM Plex Sans"/>
                          <a:ea typeface="IBM Plex Sans"/>
                          <a:cs typeface="IBM Plex Sans"/>
                          <a:sym typeface="IBM Plex Sans"/>
                        </a:rPr>
                        <a:t>Correction budget</a:t>
                      </a:r>
                      <a:endParaRPr sz="1200">
                        <a:solidFill>
                          <a:srgbClr val="172433"/>
                        </a:solidFill>
                        <a:latin typeface="IBM Plex Sans"/>
                        <a:ea typeface="IBM Plex Sans"/>
                        <a:cs typeface="IBM Plex Sans"/>
                        <a:sym typeface="IBM Plex Sans"/>
                      </a:endParaRPr>
                    </a:p>
                  </a:txBody>
                  <a:tcPr marL="101600" marR="101600" marT="76200" marB="762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239"/>
        <p:cNvGrpSpPr/>
        <p:nvPr/>
      </p:nvGrpSpPr>
      <p:grpSpPr>
        <a:xfrm>
          <a:off x="0" y="0"/>
          <a:ext cx="0" cy="0"/>
          <a:chOff x="0" y="0"/>
          <a:chExt cx="0" cy="0"/>
        </a:xfrm>
      </p:grpSpPr>
      <p:sp>
        <p:nvSpPr>
          <p:cNvPr id="240" name="Google Shape;240;p10"/>
          <p:cNvSpPr txBox="1">
            <a:spLocks noGrp="1"/>
          </p:cNvSpPr>
          <p:nvPr>
            <p:ph type="title"/>
          </p:nvPr>
        </p:nvSpPr>
        <p:spPr>
          <a:xfrm>
            <a:off x="812750" y="609571"/>
            <a:ext cx="10883400" cy="60690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4304F"/>
              </a:buClr>
              <a:buSzPts val="2800"/>
              <a:buFont typeface="IBM Plex Sans"/>
              <a:buNone/>
            </a:pPr>
            <a:r>
              <a:rPr lang="en-US" sz="3000" b="1" i="0">
                <a:solidFill>
                  <a:srgbClr val="14304F"/>
                </a:solidFill>
                <a:latin typeface="IBM Plex Sans"/>
                <a:ea typeface="IBM Plex Sans"/>
                <a:cs typeface="IBM Plex Sans"/>
                <a:sym typeface="IBM Plex Sans"/>
              </a:rPr>
              <a:t>Milestone check:</a:t>
            </a:r>
            <a:endParaRPr sz="3000"/>
          </a:p>
        </p:txBody>
      </p:sp>
      <p:sp>
        <p:nvSpPr>
          <p:cNvPr id="241" name="Google Shape;241;p10"/>
          <p:cNvSpPr/>
          <p:nvPr/>
        </p:nvSpPr>
        <p:spPr>
          <a:xfrm>
            <a:off x="792813" y="1425293"/>
            <a:ext cx="10566600" cy="365700"/>
          </a:xfrm>
          <a:prstGeom prst="rect">
            <a:avLst/>
          </a:prstGeom>
          <a:solidFill>
            <a:srgbClr val="143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0"/>
          <p:cNvSpPr/>
          <p:nvPr/>
        </p:nvSpPr>
        <p:spPr>
          <a:xfrm>
            <a:off x="919797" y="1501437"/>
            <a:ext cx="3401100" cy="2388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3F5F7"/>
              </a:buClr>
              <a:buSzPts val="1200"/>
              <a:buFont typeface="IBM Plex Sans"/>
              <a:buNone/>
            </a:pPr>
            <a:r>
              <a:rPr lang="en-US" sz="1200" b="1" i="0" u="none" strike="noStrike" cap="none">
                <a:solidFill>
                  <a:srgbClr val="F3F5F7"/>
                </a:solidFill>
                <a:latin typeface="IBM Plex Sans"/>
                <a:ea typeface="IBM Plex Sans"/>
                <a:cs typeface="IBM Plex Sans"/>
                <a:sym typeface="IBM Plex Sans"/>
              </a:rPr>
              <a:t>Committed for Demo 2 in our proposal</a:t>
            </a:r>
            <a:endParaRPr sz="1200" b="0" i="0" u="none" strike="noStrike" cap="none">
              <a:solidFill>
                <a:schemeClr val="dk1"/>
              </a:solidFill>
              <a:latin typeface="IBM Plex Sans"/>
              <a:ea typeface="IBM Plex Sans"/>
              <a:cs typeface="IBM Plex Sans"/>
              <a:sym typeface="IBM Plex Sans"/>
            </a:endParaRPr>
          </a:p>
        </p:txBody>
      </p:sp>
      <p:sp>
        <p:nvSpPr>
          <p:cNvPr id="243" name="Google Shape;243;p10"/>
          <p:cNvSpPr/>
          <p:nvPr/>
        </p:nvSpPr>
        <p:spPr>
          <a:xfrm>
            <a:off x="4374105" y="1501437"/>
            <a:ext cx="1193700" cy="2388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3F5F7"/>
              </a:buClr>
              <a:buSzPts val="1200"/>
              <a:buFont typeface="IBM Plex Sans"/>
              <a:buNone/>
            </a:pPr>
            <a:r>
              <a:rPr lang="en-US" sz="1200" b="1" i="0" u="none" strike="noStrike" cap="none">
                <a:solidFill>
                  <a:srgbClr val="F3F5F7"/>
                </a:solidFill>
                <a:latin typeface="IBM Plex Sans"/>
                <a:ea typeface="IBM Plex Sans"/>
                <a:cs typeface="IBM Plex Sans"/>
                <a:sym typeface="IBM Plex Sans"/>
              </a:rPr>
              <a:t>Status</a:t>
            </a:r>
            <a:endParaRPr sz="1200" b="0" i="0" u="none" strike="noStrike" cap="none">
              <a:solidFill>
                <a:schemeClr val="dk1"/>
              </a:solidFill>
              <a:latin typeface="IBM Plex Sans"/>
              <a:ea typeface="IBM Plex Sans"/>
              <a:cs typeface="IBM Plex Sans"/>
              <a:sym typeface="IBM Plex Sans"/>
            </a:endParaRPr>
          </a:p>
        </p:txBody>
      </p:sp>
      <p:sp>
        <p:nvSpPr>
          <p:cNvPr id="244" name="Google Shape;244;p10"/>
          <p:cNvSpPr/>
          <p:nvPr/>
        </p:nvSpPr>
        <p:spPr>
          <a:xfrm>
            <a:off x="5669433" y="1501437"/>
            <a:ext cx="5729700" cy="2388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3F5F7"/>
              </a:buClr>
              <a:buSzPts val="1200"/>
              <a:buFont typeface="IBM Plex Sans"/>
              <a:buNone/>
            </a:pPr>
            <a:r>
              <a:rPr lang="en-US" sz="1200" b="1" i="0" u="none" strike="noStrike" cap="none">
                <a:solidFill>
                  <a:srgbClr val="F3F5F7"/>
                </a:solidFill>
                <a:latin typeface="IBM Plex Sans"/>
                <a:ea typeface="IBM Plex Sans"/>
                <a:cs typeface="IBM Plex Sans"/>
                <a:sym typeface="IBM Plex Sans"/>
              </a:rPr>
              <a:t>Evidence and gaps</a:t>
            </a:r>
            <a:endParaRPr sz="1200" b="0" i="0" u="none" strike="noStrike" cap="none">
              <a:solidFill>
                <a:schemeClr val="dk1"/>
              </a:solidFill>
              <a:latin typeface="IBM Plex Sans"/>
              <a:ea typeface="IBM Plex Sans"/>
              <a:cs typeface="IBM Plex Sans"/>
              <a:sym typeface="IBM Plex Sans"/>
            </a:endParaRPr>
          </a:p>
        </p:txBody>
      </p:sp>
      <p:sp>
        <p:nvSpPr>
          <p:cNvPr id="245" name="Google Shape;245;p10"/>
          <p:cNvSpPr/>
          <p:nvPr/>
        </p:nvSpPr>
        <p:spPr>
          <a:xfrm>
            <a:off x="792813" y="1790913"/>
            <a:ext cx="10566600" cy="606900"/>
          </a:xfrm>
          <a:prstGeom prst="rect">
            <a:avLst/>
          </a:prstGeom>
          <a:solidFill>
            <a:srgbClr val="FCFC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6" name="Google Shape;246;p10"/>
          <p:cNvCxnSpPr/>
          <p:nvPr/>
        </p:nvCxnSpPr>
        <p:spPr>
          <a:xfrm>
            <a:off x="792813" y="2394705"/>
            <a:ext cx="10566600" cy="0"/>
          </a:xfrm>
          <a:prstGeom prst="straightConnector1">
            <a:avLst/>
          </a:prstGeom>
          <a:noFill/>
          <a:ln w="9525" cap="flat" cmpd="sng">
            <a:solidFill>
              <a:srgbClr val="D5DBE2"/>
            </a:solidFill>
            <a:prstDash val="solid"/>
            <a:round/>
            <a:headEnd type="none" w="sm" len="sm"/>
            <a:tailEnd type="none" w="sm" len="sm"/>
          </a:ln>
        </p:spPr>
      </p:cxnSp>
      <p:sp>
        <p:nvSpPr>
          <p:cNvPr id="247" name="Google Shape;247;p10"/>
          <p:cNvSpPr/>
          <p:nvPr/>
        </p:nvSpPr>
        <p:spPr>
          <a:xfrm>
            <a:off x="919797" y="1886133"/>
            <a:ext cx="3401100" cy="438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172433"/>
              </a:buClr>
              <a:buSzPts val="1250"/>
              <a:buFont typeface="IBM Plex Sans"/>
              <a:buNone/>
            </a:pPr>
            <a:r>
              <a:rPr lang="en-US" sz="1250" b="0" i="0" u="none" strike="noStrike" cap="none">
                <a:solidFill>
                  <a:srgbClr val="172433"/>
                </a:solidFill>
                <a:latin typeface="IBM Plex Sans"/>
                <a:ea typeface="IBM Plex Sans"/>
                <a:cs typeface="IBM Plex Sans"/>
                <a:sym typeface="IBM Plex Sans"/>
              </a:rPr>
              <a:t>Runnable packaged agent with an exact command</a:t>
            </a:r>
            <a:r>
              <a:rPr lang="en-US" sz="1250">
                <a:solidFill>
                  <a:srgbClr val="172433"/>
                </a:solidFill>
                <a:latin typeface="IBM Plex Sans"/>
                <a:ea typeface="IBM Plex Sans"/>
                <a:cs typeface="IBM Plex Sans"/>
                <a:sym typeface="IBM Plex Sans"/>
              </a:rPr>
              <a:t>, end-to-end local repair prototype.</a:t>
            </a:r>
            <a:endParaRPr sz="1250" b="0" i="0" u="none" strike="noStrike" cap="none">
              <a:solidFill>
                <a:schemeClr val="dk1"/>
              </a:solidFill>
              <a:latin typeface="IBM Plex Sans"/>
              <a:ea typeface="IBM Plex Sans"/>
              <a:cs typeface="IBM Plex Sans"/>
              <a:sym typeface="IBM Plex Sans"/>
            </a:endParaRPr>
          </a:p>
        </p:txBody>
      </p:sp>
      <p:sp>
        <p:nvSpPr>
          <p:cNvPr id="248" name="Google Shape;248;p10"/>
          <p:cNvSpPr/>
          <p:nvPr/>
        </p:nvSpPr>
        <p:spPr>
          <a:xfrm>
            <a:off x="4374105" y="1960404"/>
            <a:ext cx="1142982" cy="264053"/>
          </a:xfrm>
          <a:custGeom>
            <a:avLst/>
            <a:gdLst/>
            <a:ahLst/>
            <a:cxnLst/>
            <a:rect l="l" t="t" r="r" b="b"/>
            <a:pathLst>
              <a:path w="1142982" h="264053" extrusionOk="0">
                <a:moveTo>
                  <a:pt x="127000" y="0"/>
                </a:moveTo>
                <a:lnTo>
                  <a:pt x="1015982" y="0"/>
                </a:lnTo>
                <a:cubicBezTo>
                  <a:pt x="1049664" y="0"/>
                  <a:pt x="1081967" y="13380"/>
                  <a:pt x="1105785" y="37197"/>
                </a:cubicBezTo>
                <a:cubicBezTo>
                  <a:pt x="1129602" y="61015"/>
                  <a:pt x="1142982" y="93318"/>
                  <a:pt x="1142982" y="127000"/>
                </a:cubicBezTo>
                <a:lnTo>
                  <a:pt x="1142982" y="137053"/>
                </a:lnTo>
                <a:cubicBezTo>
                  <a:pt x="1142982" y="207193"/>
                  <a:pt x="1086122" y="264053"/>
                  <a:pt x="1015982" y="264053"/>
                </a:cubicBezTo>
                <a:lnTo>
                  <a:pt x="127000" y="264053"/>
                </a:lnTo>
                <a:cubicBezTo>
                  <a:pt x="56860" y="264053"/>
                  <a:pt x="0" y="207193"/>
                  <a:pt x="0" y="137053"/>
                </a:cubicBezTo>
                <a:lnTo>
                  <a:pt x="0" y="127000"/>
                </a:lnTo>
                <a:cubicBezTo>
                  <a:pt x="0" y="56860"/>
                  <a:pt x="56860" y="0"/>
                  <a:pt x="127000" y="0"/>
                </a:cubicBezTo>
                <a:close/>
              </a:path>
            </a:pathLst>
          </a:custGeom>
          <a:solidFill>
            <a:srgbClr val="1F5F99"/>
          </a:solidFill>
          <a:ln>
            <a:noFill/>
          </a:ln>
        </p:spPr>
        <p:txBody>
          <a:bodyPr spcFirstLastPara="1" wrap="square" lIns="76200" tIns="25400" rIns="76200" bIns="0" anchor="t" anchorCtr="0">
            <a:normAutofit/>
          </a:bodyPr>
          <a:lstStyle/>
          <a:p>
            <a:pPr marL="0" marR="0" lvl="0" indent="0" algn="ctr" rtl="0">
              <a:lnSpc>
                <a:spcPct val="140000"/>
              </a:lnSpc>
              <a:spcBef>
                <a:spcPts val="0"/>
              </a:spcBef>
              <a:spcAft>
                <a:spcPts val="0"/>
              </a:spcAft>
              <a:buClr>
                <a:srgbClr val="FCFCFA"/>
              </a:buClr>
              <a:buSzPts val="1200"/>
              <a:buFont typeface="IBM Plex Sans"/>
              <a:buNone/>
            </a:pPr>
            <a:r>
              <a:rPr lang="en-US" sz="1200" b="1" i="0" u="none" strike="noStrike" cap="none">
                <a:solidFill>
                  <a:srgbClr val="FCFCFA"/>
                </a:solidFill>
                <a:latin typeface="IBM Plex Sans"/>
                <a:ea typeface="IBM Plex Sans"/>
                <a:cs typeface="IBM Plex Sans"/>
                <a:sym typeface="IBM Plex Sans"/>
              </a:rPr>
              <a:t>Met</a:t>
            </a:r>
            <a:endParaRPr sz="1200" b="0" i="0" u="none" strike="noStrike" cap="none">
              <a:solidFill>
                <a:schemeClr val="dk1"/>
              </a:solidFill>
              <a:latin typeface="IBM Plex Sans"/>
              <a:ea typeface="IBM Plex Sans"/>
              <a:cs typeface="IBM Plex Sans"/>
              <a:sym typeface="IBM Plex Sans"/>
            </a:endParaRPr>
          </a:p>
        </p:txBody>
      </p:sp>
      <p:sp>
        <p:nvSpPr>
          <p:cNvPr id="249" name="Google Shape;249;p10"/>
          <p:cNvSpPr/>
          <p:nvPr/>
        </p:nvSpPr>
        <p:spPr>
          <a:xfrm>
            <a:off x="5669433" y="1989271"/>
            <a:ext cx="5729700" cy="2316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4A5568"/>
              </a:buClr>
              <a:buSzPts val="1250"/>
              <a:buFont typeface="IBM Plex Sans"/>
              <a:buNone/>
            </a:pPr>
            <a:r>
              <a:rPr lang="en-US" sz="1250">
                <a:solidFill>
                  <a:srgbClr val="4A5568"/>
                </a:solidFill>
                <a:latin typeface="IBM Plex Sans"/>
                <a:ea typeface="IBM Plex Sans"/>
                <a:cs typeface="IBM Plex Sans"/>
                <a:sym typeface="IBM Plex Sans"/>
              </a:rPr>
              <a:t>Model-generated rcran edit passes final clean build and artifact validation.</a:t>
            </a:r>
            <a:endParaRPr sz="1250" b="0" i="0" u="none" strike="noStrike" cap="none">
              <a:solidFill>
                <a:schemeClr val="dk1"/>
              </a:solidFill>
              <a:latin typeface="IBM Plex Sans"/>
              <a:ea typeface="IBM Plex Sans"/>
              <a:cs typeface="IBM Plex Sans"/>
              <a:sym typeface="IBM Plex Sans"/>
            </a:endParaRPr>
          </a:p>
        </p:txBody>
      </p:sp>
      <p:sp>
        <p:nvSpPr>
          <p:cNvPr id="250" name="Google Shape;250;p10"/>
          <p:cNvSpPr/>
          <p:nvPr/>
        </p:nvSpPr>
        <p:spPr>
          <a:xfrm>
            <a:off x="792813" y="2397879"/>
            <a:ext cx="10566600" cy="606900"/>
          </a:xfrm>
          <a:prstGeom prst="rect">
            <a:avLst/>
          </a:prstGeom>
          <a:solidFill>
            <a:srgbClr val="F6F7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1" name="Google Shape;251;p10"/>
          <p:cNvCxnSpPr/>
          <p:nvPr/>
        </p:nvCxnSpPr>
        <p:spPr>
          <a:xfrm>
            <a:off x="792813" y="3001669"/>
            <a:ext cx="10566600" cy="0"/>
          </a:xfrm>
          <a:prstGeom prst="straightConnector1">
            <a:avLst/>
          </a:prstGeom>
          <a:noFill/>
          <a:ln w="9525" cap="flat" cmpd="sng">
            <a:solidFill>
              <a:srgbClr val="D5DBE2"/>
            </a:solidFill>
            <a:prstDash val="solid"/>
            <a:round/>
            <a:headEnd type="none" w="sm" len="sm"/>
            <a:tailEnd type="none" w="sm" len="sm"/>
          </a:ln>
        </p:spPr>
      </p:cxnSp>
      <p:sp>
        <p:nvSpPr>
          <p:cNvPr id="252" name="Google Shape;252;p10"/>
          <p:cNvSpPr/>
          <p:nvPr/>
        </p:nvSpPr>
        <p:spPr>
          <a:xfrm>
            <a:off x="919797" y="2493098"/>
            <a:ext cx="3401100" cy="438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172433"/>
              </a:buClr>
              <a:buSzPts val="1250"/>
              <a:buFont typeface="IBM Plex Sans"/>
              <a:buNone/>
            </a:pPr>
            <a:r>
              <a:rPr lang="en-US" sz="1250" b="0" i="0" u="none" strike="noStrike" cap="none">
                <a:solidFill>
                  <a:srgbClr val="172433"/>
                </a:solidFill>
                <a:latin typeface="IBM Plex Sans"/>
                <a:ea typeface="IBM Plex Sans"/>
                <a:cs typeface="IBM Plex Sans"/>
                <a:sym typeface="IBM Plex Sans"/>
              </a:rPr>
              <a:t>Trace on a real Debian case: diagnostic, model call, inspection, edit, validation</a:t>
            </a:r>
            <a:endParaRPr sz="1250" b="0" i="0" u="none" strike="noStrike" cap="none">
              <a:solidFill>
                <a:schemeClr val="dk1"/>
              </a:solidFill>
              <a:latin typeface="IBM Plex Sans"/>
              <a:ea typeface="IBM Plex Sans"/>
              <a:cs typeface="IBM Plex Sans"/>
              <a:sym typeface="IBM Plex Sans"/>
            </a:endParaRPr>
          </a:p>
        </p:txBody>
      </p:sp>
      <p:sp>
        <p:nvSpPr>
          <p:cNvPr id="253" name="Google Shape;253;p10"/>
          <p:cNvSpPr/>
          <p:nvPr/>
        </p:nvSpPr>
        <p:spPr>
          <a:xfrm>
            <a:off x="4383630" y="2580460"/>
            <a:ext cx="1123932" cy="237878"/>
          </a:xfrm>
          <a:custGeom>
            <a:avLst/>
            <a:gdLst/>
            <a:ahLst/>
            <a:cxnLst/>
            <a:rect l="l" t="t" r="r" b="b"/>
            <a:pathLst>
              <a:path w="1123932" h="237878" extrusionOk="0">
                <a:moveTo>
                  <a:pt x="117475" y="0"/>
                </a:moveTo>
                <a:lnTo>
                  <a:pt x="1006457" y="0"/>
                </a:lnTo>
                <a:cubicBezTo>
                  <a:pt x="1037613" y="0"/>
                  <a:pt x="1067494" y="12377"/>
                  <a:pt x="1089524" y="34408"/>
                </a:cubicBezTo>
                <a:cubicBezTo>
                  <a:pt x="1111555" y="56438"/>
                  <a:pt x="1123932" y="86319"/>
                  <a:pt x="1123932" y="117475"/>
                </a:cubicBezTo>
                <a:lnTo>
                  <a:pt x="1123932" y="120403"/>
                </a:lnTo>
                <a:cubicBezTo>
                  <a:pt x="1123932" y="185283"/>
                  <a:pt x="1071337" y="237878"/>
                  <a:pt x="1006457" y="237878"/>
                </a:cubicBezTo>
                <a:lnTo>
                  <a:pt x="117475" y="237878"/>
                </a:lnTo>
                <a:cubicBezTo>
                  <a:pt x="52595" y="237878"/>
                  <a:pt x="0" y="185283"/>
                  <a:pt x="0" y="120403"/>
                </a:cubicBezTo>
                <a:lnTo>
                  <a:pt x="0" y="117475"/>
                </a:lnTo>
                <a:cubicBezTo>
                  <a:pt x="0" y="52595"/>
                  <a:pt x="52595" y="0"/>
                  <a:pt x="117475" y="0"/>
                </a:cubicBezTo>
                <a:close/>
              </a:path>
            </a:pathLst>
          </a:custGeom>
          <a:solidFill>
            <a:srgbClr val="1F5F99"/>
          </a:solidFill>
          <a:ln>
            <a:noFill/>
          </a:ln>
        </p:spPr>
        <p:txBody>
          <a:bodyPr spcFirstLastPara="1" wrap="square" lIns="82125" tIns="12275" rIns="82125" bIns="0" anchor="t" anchorCtr="0">
            <a:normAutofit/>
          </a:bodyPr>
          <a:lstStyle/>
          <a:p>
            <a:pPr marL="0" marR="0" lvl="0" indent="0" algn="ctr" rtl="0">
              <a:lnSpc>
                <a:spcPct val="140000"/>
              </a:lnSpc>
              <a:spcBef>
                <a:spcPts val="0"/>
              </a:spcBef>
              <a:spcAft>
                <a:spcPts val="0"/>
              </a:spcAft>
              <a:buClr>
                <a:srgbClr val="FCFCFA"/>
              </a:buClr>
              <a:buSzPts val="1200"/>
              <a:buFont typeface="IBM Plex Sans"/>
              <a:buNone/>
            </a:pPr>
            <a:r>
              <a:rPr lang="en-US" sz="1200" b="1">
                <a:solidFill>
                  <a:srgbClr val="FCFCFA"/>
                </a:solidFill>
                <a:latin typeface="IBM Plex Sans"/>
                <a:ea typeface="IBM Plex Sans"/>
                <a:cs typeface="IBM Plex Sans"/>
                <a:sym typeface="IBM Plex Sans"/>
              </a:rPr>
              <a:t>Met</a:t>
            </a:r>
            <a:endParaRPr sz="1200" b="1">
              <a:solidFill>
                <a:srgbClr val="FCFCFA"/>
              </a:solidFill>
              <a:latin typeface="IBM Plex Sans"/>
              <a:ea typeface="IBM Plex Sans"/>
              <a:cs typeface="IBM Plex Sans"/>
              <a:sym typeface="IBM Plex Sans"/>
            </a:endParaRPr>
          </a:p>
        </p:txBody>
      </p:sp>
      <p:sp>
        <p:nvSpPr>
          <p:cNvPr id="254" name="Google Shape;254;p10"/>
          <p:cNvSpPr/>
          <p:nvPr/>
        </p:nvSpPr>
        <p:spPr>
          <a:xfrm>
            <a:off x="5669433" y="2493098"/>
            <a:ext cx="5729700" cy="438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4A5568"/>
              </a:buClr>
              <a:buSzPts val="1250"/>
              <a:buFont typeface="IBM Plex Sans"/>
              <a:buNone/>
            </a:pPr>
            <a:r>
              <a:rPr lang="en-US" sz="1250">
                <a:solidFill>
                  <a:srgbClr val="4A5568"/>
                </a:solidFill>
                <a:latin typeface="IBM Plex Sans"/>
                <a:ea typeface="IBM Plex Sans"/>
                <a:cs typeface="IBM Plex Sans"/>
                <a:sym typeface="IBM Plex Sans"/>
              </a:rPr>
              <a:t>Latest rcran record includes turns, edit, loop build and final verdict.</a:t>
            </a:r>
            <a:endParaRPr sz="1250" b="0" i="0" u="none" strike="noStrike" cap="none">
              <a:solidFill>
                <a:schemeClr val="dk1"/>
              </a:solidFill>
              <a:latin typeface="IBM Plex Sans"/>
              <a:ea typeface="IBM Plex Sans"/>
              <a:cs typeface="IBM Plex Sans"/>
              <a:sym typeface="IBM Plex Sans"/>
            </a:endParaRPr>
          </a:p>
        </p:txBody>
      </p:sp>
      <p:sp>
        <p:nvSpPr>
          <p:cNvPr id="255" name="Google Shape;255;p10"/>
          <p:cNvSpPr/>
          <p:nvPr/>
        </p:nvSpPr>
        <p:spPr>
          <a:xfrm>
            <a:off x="792813" y="3004843"/>
            <a:ext cx="10566600" cy="606900"/>
          </a:xfrm>
          <a:prstGeom prst="rect">
            <a:avLst/>
          </a:prstGeom>
          <a:solidFill>
            <a:srgbClr val="FCFC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6" name="Google Shape;256;p10"/>
          <p:cNvCxnSpPr/>
          <p:nvPr/>
        </p:nvCxnSpPr>
        <p:spPr>
          <a:xfrm>
            <a:off x="792813" y="3608634"/>
            <a:ext cx="10566600" cy="0"/>
          </a:xfrm>
          <a:prstGeom prst="straightConnector1">
            <a:avLst/>
          </a:prstGeom>
          <a:noFill/>
          <a:ln w="9525" cap="flat" cmpd="sng">
            <a:solidFill>
              <a:srgbClr val="D5DBE2"/>
            </a:solidFill>
            <a:prstDash val="solid"/>
            <a:round/>
            <a:headEnd type="none" w="sm" len="sm"/>
            <a:tailEnd type="none" w="sm" len="sm"/>
          </a:ln>
        </p:spPr>
      </p:cxnSp>
      <p:sp>
        <p:nvSpPr>
          <p:cNvPr id="257" name="Google Shape;257;p10"/>
          <p:cNvSpPr/>
          <p:nvPr/>
        </p:nvSpPr>
        <p:spPr>
          <a:xfrm>
            <a:off x="919797" y="3100068"/>
            <a:ext cx="3401100" cy="438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172433"/>
              </a:buClr>
              <a:buSzPts val="1250"/>
              <a:buFont typeface="IBM Plex Sans"/>
              <a:buNone/>
            </a:pPr>
            <a:r>
              <a:rPr lang="en-US" sz="1250">
                <a:solidFill>
                  <a:srgbClr val="172433"/>
                </a:solidFill>
                <a:latin typeface="IBM Plex Sans"/>
                <a:ea typeface="IBM Plex Sans"/>
                <a:cs typeface="IBM Plex Sans"/>
                <a:sym typeface="IBM Plex Sans"/>
              </a:rPr>
              <a:t>Frozen one-shot comparator</a:t>
            </a:r>
            <a:endParaRPr sz="1250" b="0" i="0" u="none" strike="noStrike" cap="none">
              <a:solidFill>
                <a:schemeClr val="dk1"/>
              </a:solidFill>
              <a:latin typeface="IBM Plex Sans"/>
              <a:ea typeface="IBM Plex Sans"/>
              <a:cs typeface="IBM Plex Sans"/>
              <a:sym typeface="IBM Plex Sans"/>
            </a:endParaRPr>
          </a:p>
        </p:txBody>
      </p:sp>
      <p:sp>
        <p:nvSpPr>
          <p:cNvPr id="258" name="Google Shape;258;p10"/>
          <p:cNvSpPr/>
          <p:nvPr/>
        </p:nvSpPr>
        <p:spPr>
          <a:xfrm>
            <a:off x="5669433" y="3100068"/>
            <a:ext cx="5729700" cy="438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4A5568"/>
              </a:buClr>
              <a:buSzPts val="1250"/>
              <a:buFont typeface="IBM Plex Sans"/>
              <a:buNone/>
            </a:pPr>
            <a:r>
              <a:rPr lang="en-US" sz="1250">
                <a:solidFill>
                  <a:srgbClr val="4A5568"/>
                </a:solidFill>
                <a:latin typeface="IBM Plex Sans"/>
                <a:ea typeface="IBM Plex Sans"/>
                <a:cs typeface="IBM Plex Sans"/>
                <a:sym typeface="IBM Plex Sans"/>
              </a:rPr>
              <a:t>One-shot v1 retained; evaluated separately from the iterative extension</a:t>
            </a:r>
            <a:endParaRPr sz="1250" b="0" i="0" u="none" strike="noStrike" cap="none">
              <a:solidFill>
                <a:schemeClr val="dk1"/>
              </a:solidFill>
              <a:latin typeface="IBM Plex Sans"/>
              <a:ea typeface="IBM Plex Sans"/>
              <a:cs typeface="IBM Plex Sans"/>
              <a:sym typeface="IBM Plex Sans"/>
            </a:endParaRPr>
          </a:p>
        </p:txBody>
      </p:sp>
      <p:sp>
        <p:nvSpPr>
          <p:cNvPr id="259" name="Google Shape;259;p10"/>
          <p:cNvSpPr/>
          <p:nvPr/>
        </p:nvSpPr>
        <p:spPr>
          <a:xfrm>
            <a:off x="792813" y="3611807"/>
            <a:ext cx="10566600" cy="606900"/>
          </a:xfrm>
          <a:prstGeom prst="rect">
            <a:avLst/>
          </a:prstGeom>
          <a:solidFill>
            <a:srgbClr val="F6F7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0" name="Google Shape;260;p10"/>
          <p:cNvCxnSpPr/>
          <p:nvPr/>
        </p:nvCxnSpPr>
        <p:spPr>
          <a:xfrm>
            <a:off x="792813" y="4215598"/>
            <a:ext cx="10566600" cy="0"/>
          </a:xfrm>
          <a:prstGeom prst="straightConnector1">
            <a:avLst/>
          </a:prstGeom>
          <a:noFill/>
          <a:ln w="9525" cap="flat" cmpd="sng">
            <a:solidFill>
              <a:srgbClr val="D5DBE2"/>
            </a:solidFill>
            <a:prstDash val="solid"/>
            <a:round/>
            <a:headEnd type="none" w="sm" len="sm"/>
            <a:tailEnd type="none" w="sm" len="sm"/>
          </a:ln>
        </p:spPr>
      </p:cxnSp>
      <p:sp>
        <p:nvSpPr>
          <p:cNvPr id="261" name="Google Shape;261;p10"/>
          <p:cNvSpPr/>
          <p:nvPr/>
        </p:nvSpPr>
        <p:spPr>
          <a:xfrm>
            <a:off x="919797" y="3810164"/>
            <a:ext cx="3454200" cy="2316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172433"/>
              </a:buClr>
              <a:buSzPts val="1250"/>
              <a:buFont typeface="IBM Plex Sans"/>
              <a:buNone/>
            </a:pPr>
            <a:r>
              <a:rPr lang="en-US" sz="1250" b="0" i="0" u="none" strike="noStrike" cap="none">
                <a:solidFill>
                  <a:srgbClr val="172433"/>
                </a:solidFill>
                <a:latin typeface="IBM Plex Sans"/>
                <a:ea typeface="IBM Plex Sans"/>
                <a:cs typeface="IBM Plex Sans"/>
                <a:sym typeface="IBM Plex Sans"/>
              </a:rPr>
              <a:t>Record ./bb ready honestly, including failures</a:t>
            </a:r>
            <a:endParaRPr sz="1250" b="0" i="0" u="none" strike="noStrike" cap="none">
              <a:solidFill>
                <a:schemeClr val="dk1"/>
              </a:solidFill>
              <a:latin typeface="IBM Plex Sans"/>
              <a:ea typeface="IBM Plex Sans"/>
              <a:cs typeface="IBM Plex Sans"/>
              <a:sym typeface="IBM Plex Sans"/>
            </a:endParaRPr>
          </a:p>
        </p:txBody>
      </p:sp>
      <p:sp>
        <p:nvSpPr>
          <p:cNvPr id="262" name="Google Shape;262;p10"/>
          <p:cNvSpPr/>
          <p:nvPr/>
        </p:nvSpPr>
        <p:spPr>
          <a:xfrm>
            <a:off x="4374105" y="3781304"/>
            <a:ext cx="1142982" cy="264053"/>
          </a:xfrm>
          <a:custGeom>
            <a:avLst/>
            <a:gdLst/>
            <a:ahLst/>
            <a:cxnLst/>
            <a:rect l="l" t="t" r="r" b="b"/>
            <a:pathLst>
              <a:path w="1142982" h="264053" extrusionOk="0">
                <a:moveTo>
                  <a:pt x="127000" y="0"/>
                </a:moveTo>
                <a:lnTo>
                  <a:pt x="1015982" y="0"/>
                </a:lnTo>
                <a:cubicBezTo>
                  <a:pt x="1049664" y="0"/>
                  <a:pt x="1081967" y="13380"/>
                  <a:pt x="1105785" y="37197"/>
                </a:cubicBezTo>
                <a:cubicBezTo>
                  <a:pt x="1129602" y="61015"/>
                  <a:pt x="1142982" y="93318"/>
                  <a:pt x="1142982" y="127000"/>
                </a:cubicBezTo>
                <a:lnTo>
                  <a:pt x="1142982" y="137053"/>
                </a:lnTo>
                <a:cubicBezTo>
                  <a:pt x="1142982" y="207193"/>
                  <a:pt x="1086122" y="264053"/>
                  <a:pt x="1015982" y="264053"/>
                </a:cubicBezTo>
                <a:lnTo>
                  <a:pt x="127000" y="264053"/>
                </a:lnTo>
                <a:cubicBezTo>
                  <a:pt x="56860" y="264053"/>
                  <a:pt x="0" y="207193"/>
                  <a:pt x="0" y="137053"/>
                </a:cubicBezTo>
                <a:lnTo>
                  <a:pt x="0" y="127000"/>
                </a:lnTo>
                <a:cubicBezTo>
                  <a:pt x="0" y="56860"/>
                  <a:pt x="56860" y="0"/>
                  <a:pt x="127000" y="0"/>
                </a:cubicBezTo>
                <a:close/>
              </a:path>
            </a:pathLst>
          </a:custGeom>
          <a:solidFill>
            <a:srgbClr val="5A6472"/>
          </a:solidFill>
          <a:ln>
            <a:noFill/>
          </a:ln>
        </p:spPr>
        <p:txBody>
          <a:bodyPr spcFirstLastPara="1" wrap="square" lIns="76200" tIns="25400" rIns="76200" bIns="0" anchor="t" anchorCtr="0">
            <a:normAutofit/>
          </a:bodyPr>
          <a:lstStyle/>
          <a:p>
            <a:pPr marL="0" marR="0" lvl="0" indent="0" algn="ctr" rtl="0">
              <a:lnSpc>
                <a:spcPct val="140000"/>
              </a:lnSpc>
              <a:spcBef>
                <a:spcPts val="0"/>
              </a:spcBef>
              <a:spcAft>
                <a:spcPts val="0"/>
              </a:spcAft>
              <a:buClr>
                <a:srgbClr val="FCFCFA"/>
              </a:buClr>
              <a:buSzPts val="1200"/>
              <a:buFont typeface="IBM Plex Sans"/>
              <a:buNone/>
            </a:pPr>
            <a:r>
              <a:rPr lang="en-US" sz="1200" b="1">
                <a:solidFill>
                  <a:srgbClr val="FCFCFA"/>
                </a:solidFill>
                <a:latin typeface="IBM Plex Sans"/>
                <a:ea typeface="IBM Plex Sans"/>
                <a:cs typeface="IBM Plex Sans"/>
                <a:sym typeface="IBM Plex Sans"/>
              </a:rPr>
              <a:t>Recorded</a:t>
            </a:r>
            <a:endParaRPr sz="1200" b="0" i="0" u="none" strike="noStrike" cap="none">
              <a:solidFill>
                <a:schemeClr val="dk1"/>
              </a:solidFill>
              <a:latin typeface="IBM Plex Sans"/>
              <a:ea typeface="IBM Plex Sans"/>
              <a:cs typeface="IBM Plex Sans"/>
              <a:sym typeface="IBM Plex Sans"/>
            </a:endParaRPr>
          </a:p>
        </p:txBody>
      </p:sp>
      <p:sp>
        <p:nvSpPr>
          <p:cNvPr id="263" name="Google Shape;263;p10"/>
          <p:cNvSpPr/>
          <p:nvPr/>
        </p:nvSpPr>
        <p:spPr>
          <a:xfrm>
            <a:off x="5669433" y="3707032"/>
            <a:ext cx="5729700" cy="438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4A5568"/>
              </a:buClr>
              <a:buSzPts val="1250"/>
              <a:buFont typeface="IBM Plex Sans"/>
              <a:buNone/>
            </a:pPr>
            <a:r>
              <a:rPr lang="en-US" sz="1250">
                <a:solidFill>
                  <a:srgbClr val="4A5568"/>
                </a:solidFill>
                <a:latin typeface="IBM Plex Sans"/>
                <a:ea typeface="IBM Plex Sans"/>
                <a:cs typeface="IBM Plex Sans"/>
                <a:sym typeface="IBM Plex Sans"/>
              </a:rPr>
              <a:t>Static submission validation passed. Local readiness failed with no model credentials available to agent. Hosted Smoke remains pending.</a:t>
            </a:r>
            <a:endParaRPr sz="1250" b="0" i="0" u="none" strike="noStrike" cap="none">
              <a:solidFill>
                <a:schemeClr val="dk1"/>
              </a:solidFill>
              <a:latin typeface="IBM Plex Sans"/>
              <a:ea typeface="IBM Plex Sans"/>
              <a:cs typeface="IBM Plex Sans"/>
              <a:sym typeface="IBM Plex Sans"/>
            </a:endParaRPr>
          </a:p>
        </p:txBody>
      </p:sp>
      <p:sp>
        <p:nvSpPr>
          <p:cNvPr id="264" name="Google Shape;264;p10"/>
          <p:cNvSpPr/>
          <p:nvPr/>
        </p:nvSpPr>
        <p:spPr>
          <a:xfrm>
            <a:off x="792813" y="4218772"/>
            <a:ext cx="10566600" cy="606900"/>
          </a:xfrm>
          <a:prstGeom prst="rect">
            <a:avLst/>
          </a:prstGeom>
          <a:solidFill>
            <a:srgbClr val="FCFC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5" name="Google Shape;265;p10"/>
          <p:cNvCxnSpPr/>
          <p:nvPr/>
        </p:nvCxnSpPr>
        <p:spPr>
          <a:xfrm>
            <a:off x="792813" y="4822563"/>
            <a:ext cx="10566600" cy="0"/>
          </a:xfrm>
          <a:prstGeom prst="straightConnector1">
            <a:avLst/>
          </a:prstGeom>
          <a:noFill/>
          <a:ln w="9525" cap="flat" cmpd="sng">
            <a:solidFill>
              <a:srgbClr val="D5DBE2"/>
            </a:solidFill>
            <a:prstDash val="solid"/>
            <a:round/>
            <a:headEnd type="none" w="sm" len="sm"/>
            <a:tailEnd type="none" w="sm" len="sm"/>
          </a:ln>
        </p:spPr>
      </p:cxnSp>
      <p:sp>
        <p:nvSpPr>
          <p:cNvPr id="266" name="Google Shape;266;p10"/>
          <p:cNvSpPr/>
          <p:nvPr/>
        </p:nvSpPr>
        <p:spPr>
          <a:xfrm>
            <a:off x="919797" y="4417129"/>
            <a:ext cx="3401100" cy="2316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172433"/>
              </a:buClr>
              <a:buSzPts val="1250"/>
              <a:buFont typeface="IBM Plex Sans"/>
              <a:buNone/>
            </a:pPr>
            <a:r>
              <a:rPr lang="en-US" sz="1250" b="0" i="0" u="none" strike="noStrike" cap="none">
                <a:solidFill>
                  <a:srgbClr val="172433"/>
                </a:solidFill>
                <a:latin typeface="IBM Plex Sans"/>
                <a:ea typeface="IBM Plex Sans"/>
                <a:cs typeface="IBM Plex Sans"/>
                <a:sym typeface="IBM Plex Sans"/>
              </a:rPr>
              <a:t>Freeze 10 public cases, about 5 per direction</a:t>
            </a:r>
            <a:endParaRPr sz="1250" b="0" i="0" u="none" strike="noStrike" cap="none">
              <a:solidFill>
                <a:schemeClr val="dk1"/>
              </a:solidFill>
              <a:latin typeface="IBM Plex Sans"/>
              <a:ea typeface="IBM Plex Sans"/>
              <a:cs typeface="IBM Plex Sans"/>
              <a:sym typeface="IBM Plex Sans"/>
            </a:endParaRPr>
          </a:p>
        </p:txBody>
      </p:sp>
      <p:sp>
        <p:nvSpPr>
          <p:cNvPr id="267" name="Google Shape;267;p10"/>
          <p:cNvSpPr/>
          <p:nvPr/>
        </p:nvSpPr>
        <p:spPr>
          <a:xfrm>
            <a:off x="4374105" y="4388269"/>
            <a:ext cx="1142982" cy="264053"/>
          </a:xfrm>
          <a:custGeom>
            <a:avLst/>
            <a:gdLst/>
            <a:ahLst/>
            <a:cxnLst/>
            <a:rect l="l" t="t" r="r" b="b"/>
            <a:pathLst>
              <a:path w="1142982" h="264053" extrusionOk="0">
                <a:moveTo>
                  <a:pt x="127000" y="0"/>
                </a:moveTo>
                <a:lnTo>
                  <a:pt x="1015982" y="0"/>
                </a:lnTo>
                <a:cubicBezTo>
                  <a:pt x="1049664" y="0"/>
                  <a:pt x="1081967" y="13380"/>
                  <a:pt x="1105785" y="37197"/>
                </a:cubicBezTo>
                <a:cubicBezTo>
                  <a:pt x="1129602" y="61015"/>
                  <a:pt x="1142982" y="93318"/>
                  <a:pt x="1142982" y="127000"/>
                </a:cubicBezTo>
                <a:lnTo>
                  <a:pt x="1142982" y="137053"/>
                </a:lnTo>
                <a:cubicBezTo>
                  <a:pt x="1142982" y="207193"/>
                  <a:pt x="1086122" y="264053"/>
                  <a:pt x="1015982" y="264053"/>
                </a:cubicBezTo>
                <a:lnTo>
                  <a:pt x="127000" y="264053"/>
                </a:lnTo>
                <a:cubicBezTo>
                  <a:pt x="56860" y="264053"/>
                  <a:pt x="0" y="207193"/>
                  <a:pt x="0" y="137053"/>
                </a:cubicBezTo>
                <a:lnTo>
                  <a:pt x="0" y="127000"/>
                </a:lnTo>
                <a:cubicBezTo>
                  <a:pt x="0" y="56860"/>
                  <a:pt x="56860" y="0"/>
                  <a:pt x="127000" y="0"/>
                </a:cubicBezTo>
                <a:close/>
              </a:path>
            </a:pathLst>
          </a:custGeom>
          <a:solidFill>
            <a:schemeClr val="accent1"/>
          </a:solidFill>
          <a:ln>
            <a:noFill/>
          </a:ln>
        </p:spPr>
        <p:txBody>
          <a:bodyPr spcFirstLastPara="1" wrap="square" lIns="76200" tIns="25400" rIns="76200" bIns="0" anchor="t" anchorCtr="0">
            <a:normAutofit/>
          </a:bodyPr>
          <a:lstStyle/>
          <a:p>
            <a:pPr marL="0" marR="0" lvl="0" indent="0" algn="ctr" rtl="0">
              <a:lnSpc>
                <a:spcPct val="140000"/>
              </a:lnSpc>
              <a:spcBef>
                <a:spcPts val="0"/>
              </a:spcBef>
              <a:spcAft>
                <a:spcPts val="0"/>
              </a:spcAft>
              <a:buClr>
                <a:srgbClr val="FCFCFA"/>
              </a:buClr>
              <a:buSzPts val="1200"/>
              <a:buFont typeface="IBM Plex Sans"/>
              <a:buNone/>
            </a:pPr>
            <a:r>
              <a:rPr lang="en-US" sz="1200" b="1">
                <a:solidFill>
                  <a:srgbClr val="FCFCFA"/>
                </a:solidFill>
                <a:latin typeface="IBM Plex Sans"/>
                <a:ea typeface="IBM Plex Sans"/>
                <a:cs typeface="IBM Plex Sans"/>
                <a:sym typeface="IBM Plex Sans"/>
              </a:rPr>
              <a:t>Met</a:t>
            </a:r>
            <a:endParaRPr sz="1200" b="0" i="0" u="none" strike="noStrike" cap="none">
              <a:solidFill>
                <a:schemeClr val="dk1"/>
              </a:solidFill>
              <a:latin typeface="IBM Plex Sans"/>
              <a:ea typeface="IBM Plex Sans"/>
              <a:cs typeface="IBM Plex Sans"/>
              <a:sym typeface="IBM Plex Sans"/>
            </a:endParaRPr>
          </a:p>
        </p:txBody>
      </p:sp>
      <p:sp>
        <p:nvSpPr>
          <p:cNvPr id="268" name="Google Shape;268;p10"/>
          <p:cNvSpPr/>
          <p:nvPr/>
        </p:nvSpPr>
        <p:spPr>
          <a:xfrm>
            <a:off x="5669433" y="4313997"/>
            <a:ext cx="5729700" cy="438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4A5568"/>
              </a:buClr>
              <a:buSzPts val="1250"/>
              <a:buFont typeface="IBM Plex Sans"/>
              <a:buNone/>
            </a:pPr>
            <a:r>
              <a:rPr lang="en-US" sz="1250" b="0" i="0" u="none" strike="noStrike" cap="none">
                <a:solidFill>
                  <a:srgbClr val="4A5568"/>
                </a:solidFill>
                <a:latin typeface="IBM Plex Sans"/>
                <a:ea typeface="IBM Plex Sans"/>
                <a:cs typeface="IBM Plex Sans"/>
                <a:sym typeface="IBM Plex Sans"/>
              </a:rPr>
              <a:t>Organizers’ development-v1 bundle,</a:t>
            </a:r>
            <a:r>
              <a:rPr lang="en-US" sz="1250">
                <a:solidFill>
                  <a:srgbClr val="4A5568"/>
                </a:solidFill>
                <a:latin typeface="IBM Plex Sans"/>
                <a:ea typeface="IBM Plex Sans"/>
                <a:cs typeface="IBM Plex Sans"/>
                <a:sym typeface="IBM Plex Sans"/>
              </a:rPr>
              <a:t> ten cases identified, five per migration direction</a:t>
            </a:r>
            <a:endParaRPr sz="1250" b="0" i="0" u="none" strike="noStrike" cap="none">
              <a:solidFill>
                <a:schemeClr val="dk1"/>
              </a:solidFill>
              <a:latin typeface="IBM Plex Sans"/>
              <a:ea typeface="IBM Plex Sans"/>
              <a:cs typeface="IBM Plex Sans"/>
              <a:sym typeface="IBM Plex Sans"/>
            </a:endParaRPr>
          </a:p>
        </p:txBody>
      </p:sp>
      <p:sp>
        <p:nvSpPr>
          <p:cNvPr id="269" name="Google Shape;269;p10"/>
          <p:cNvSpPr/>
          <p:nvPr/>
        </p:nvSpPr>
        <p:spPr>
          <a:xfrm>
            <a:off x="792813" y="4825743"/>
            <a:ext cx="10566600" cy="606900"/>
          </a:xfrm>
          <a:prstGeom prst="rect">
            <a:avLst/>
          </a:prstGeom>
          <a:solidFill>
            <a:srgbClr val="F6F7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0" name="Google Shape;270;p10"/>
          <p:cNvCxnSpPr/>
          <p:nvPr/>
        </p:nvCxnSpPr>
        <p:spPr>
          <a:xfrm>
            <a:off x="792813" y="5429534"/>
            <a:ext cx="10566600" cy="0"/>
          </a:xfrm>
          <a:prstGeom prst="straightConnector1">
            <a:avLst/>
          </a:prstGeom>
          <a:noFill/>
          <a:ln w="9525" cap="flat" cmpd="sng">
            <a:solidFill>
              <a:srgbClr val="D5DBE2"/>
            </a:solidFill>
            <a:prstDash val="solid"/>
            <a:round/>
            <a:headEnd type="none" w="sm" len="sm"/>
            <a:tailEnd type="none" w="sm" len="sm"/>
          </a:ln>
        </p:spPr>
      </p:cxnSp>
      <p:sp>
        <p:nvSpPr>
          <p:cNvPr id="271" name="Google Shape;271;p10"/>
          <p:cNvSpPr/>
          <p:nvPr/>
        </p:nvSpPr>
        <p:spPr>
          <a:xfrm>
            <a:off x="919797" y="4920962"/>
            <a:ext cx="3401100" cy="438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172433"/>
              </a:buClr>
              <a:buSzPts val="1250"/>
              <a:buFont typeface="IBM Plex Sans"/>
              <a:buNone/>
            </a:pPr>
            <a:r>
              <a:rPr lang="en-US" sz="1250" b="0" i="0" u="none" strike="noStrike" cap="none">
                <a:solidFill>
                  <a:srgbClr val="172433"/>
                </a:solidFill>
                <a:latin typeface="IBM Plex Sans"/>
                <a:ea typeface="IBM Plex Sans"/>
                <a:cs typeface="IBM Plex Sans"/>
                <a:sym typeface="IBM Plex Sans"/>
              </a:rPr>
              <a:t>Per case: verified status, time, tokens, attempts, tool calls</a:t>
            </a:r>
            <a:endParaRPr sz="1250" b="0" i="0" u="none" strike="noStrike" cap="none">
              <a:solidFill>
                <a:schemeClr val="dk1"/>
              </a:solidFill>
              <a:latin typeface="IBM Plex Sans"/>
              <a:ea typeface="IBM Plex Sans"/>
              <a:cs typeface="IBM Plex Sans"/>
              <a:sym typeface="IBM Plex Sans"/>
            </a:endParaRPr>
          </a:p>
        </p:txBody>
      </p:sp>
      <p:sp>
        <p:nvSpPr>
          <p:cNvPr id="272" name="Google Shape;272;p10"/>
          <p:cNvSpPr/>
          <p:nvPr/>
        </p:nvSpPr>
        <p:spPr>
          <a:xfrm>
            <a:off x="4374105" y="4995233"/>
            <a:ext cx="1142982" cy="264053"/>
          </a:xfrm>
          <a:custGeom>
            <a:avLst/>
            <a:gdLst/>
            <a:ahLst/>
            <a:cxnLst/>
            <a:rect l="l" t="t" r="r" b="b"/>
            <a:pathLst>
              <a:path w="1142982" h="264053" extrusionOk="0">
                <a:moveTo>
                  <a:pt x="127000" y="0"/>
                </a:moveTo>
                <a:lnTo>
                  <a:pt x="1015982" y="0"/>
                </a:lnTo>
                <a:cubicBezTo>
                  <a:pt x="1049664" y="0"/>
                  <a:pt x="1081967" y="13380"/>
                  <a:pt x="1105785" y="37197"/>
                </a:cubicBezTo>
                <a:cubicBezTo>
                  <a:pt x="1129602" y="61015"/>
                  <a:pt x="1142982" y="93318"/>
                  <a:pt x="1142982" y="127000"/>
                </a:cubicBezTo>
                <a:lnTo>
                  <a:pt x="1142982" y="137053"/>
                </a:lnTo>
                <a:cubicBezTo>
                  <a:pt x="1142982" y="207193"/>
                  <a:pt x="1086122" y="264053"/>
                  <a:pt x="1015982" y="264053"/>
                </a:cubicBezTo>
                <a:lnTo>
                  <a:pt x="127000" y="264053"/>
                </a:lnTo>
                <a:cubicBezTo>
                  <a:pt x="56860" y="264053"/>
                  <a:pt x="0" y="207193"/>
                  <a:pt x="0" y="137053"/>
                </a:cubicBezTo>
                <a:lnTo>
                  <a:pt x="0" y="127000"/>
                </a:lnTo>
                <a:cubicBezTo>
                  <a:pt x="0" y="56860"/>
                  <a:pt x="56860" y="0"/>
                  <a:pt x="127000" y="0"/>
                </a:cubicBezTo>
                <a:close/>
              </a:path>
            </a:pathLst>
          </a:custGeom>
          <a:solidFill>
            <a:schemeClr val="accent1"/>
          </a:solidFill>
          <a:ln>
            <a:noFill/>
          </a:ln>
        </p:spPr>
        <p:txBody>
          <a:bodyPr spcFirstLastPara="1" wrap="square" lIns="76200" tIns="25400" rIns="76200" bIns="0" anchor="t" anchorCtr="0">
            <a:normAutofit/>
          </a:bodyPr>
          <a:lstStyle/>
          <a:p>
            <a:pPr marL="0" marR="0" lvl="0" indent="0" algn="ctr" rtl="0">
              <a:lnSpc>
                <a:spcPct val="140000"/>
              </a:lnSpc>
              <a:spcBef>
                <a:spcPts val="0"/>
              </a:spcBef>
              <a:spcAft>
                <a:spcPts val="0"/>
              </a:spcAft>
              <a:buClr>
                <a:srgbClr val="FCFCFA"/>
              </a:buClr>
              <a:buSzPts val="1200"/>
              <a:buFont typeface="IBM Plex Sans"/>
              <a:buNone/>
            </a:pPr>
            <a:r>
              <a:rPr lang="en-US" sz="1200" b="1">
                <a:solidFill>
                  <a:srgbClr val="FCFCFA"/>
                </a:solidFill>
                <a:latin typeface="IBM Plex Sans"/>
                <a:ea typeface="IBM Plex Sans"/>
                <a:cs typeface="IBM Plex Sans"/>
                <a:sym typeface="IBM Plex Sans"/>
              </a:rPr>
              <a:t>Met*</a:t>
            </a:r>
            <a:endParaRPr sz="1200" b="0" i="0" u="none" strike="noStrike" cap="none">
              <a:solidFill>
                <a:schemeClr val="dk1"/>
              </a:solidFill>
              <a:latin typeface="IBM Plex Sans"/>
              <a:ea typeface="IBM Plex Sans"/>
              <a:cs typeface="IBM Plex Sans"/>
              <a:sym typeface="IBM Plex Sans"/>
            </a:endParaRPr>
          </a:p>
        </p:txBody>
      </p:sp>
      <p:sp>
        <p:nvSpPr>
          <p:cNvPr id="273" name="Google Shape;273;p10"/>
          <p:cNvSpPr/>
          <p:nvPr/>
        </p:nvSpPr>
        <p:spPr>
          <a:xfrm>
            <a:off x="5669433" y="4920962"/>
            <a:ext cx="5729700" cy="438000"/>
          </a:xfrm>
          <a:prstGeom prst="rect">
            <a:avLst/>
          </a:prstGeom>
          <a:noFill/>
          <a:ln>
            <a:noFill/>
          </a:ln>
        </p:spPr>
        <p:txBody>
          <a:bodyPr spcFirstLastPara="1" wrap="square" lIns="0" tIns="0" rIns="0" bIns="0" anchor="t" anchorCtr="0">
            <a:normAutofit/>
          </a:bodyPr>
          <a:lstStyle/>
          <a:p>
            <a:pPr marL="0" lvl="0" indent="0" algn="l" rtl="0">
              <a:lnSpc>
                <a:spcPct val="141818"/>
              </a:lnSpc>
              <a:spcBef>
                <a:spcPts val="0"/>
              </a:spcBef>
              <a:spcAft>
                <a:spcPts val="0"/>
              </a:spcAft>
              <a:buNone/>
            </a:pPr>
            <a:r>
              <a:rPr lang="en-US" sz="1100" b="1">
                <a:solidFill>
                  <a:srgbClr val="4A5568"/>
                </a:solidFill>
                <a:latin typeface="IBM Plex Sans"/>
                <a:ea typeface="IBM Plex Sans"/>
                <a:cs typeface="IBM Plex Sans"/>
                <a:sym typeface="IBM Plex Sans"/>
              </a:rPr>
              <a:t>22 records including rcran; outcomes, usage and time retained. *Five setup-blocked cases per arm.</a:t>
            </a:r>
            <a:endParaRPr sz="1100" b="1">
              <a:solidFill>
                <a:srgbClr val="4A5568"/>
              </a:solidFill>
              <a:latin typeface="IBM Plex Sans"/>
              <a:ea typeface="IBM Plex Sans"/>
              <a:cs typeface="IBM Plex Sans"/>
              <a:sym typeface="IBM Plex Sans"/>
            </a:endParaRPr>
          </a:p>
          <a:p>
            <a:pPr marL="0" marR="0" lvl="0" indent="0" algn="l" rtl="0">
              <a:lnSpc>
                <a:spcPct val="130000"/>
              </a:lnSpc>
              <a:spcBef>
                <a:spcPts val="0"/>
              </a:spcBef>
              <a:spcAft>
                <a:spcPts val="0"/>
              </a:spcAft>
              <a:buClr>
                <a:srgbClr val="4A5568"/>
              </a:buClr>
              <a:buSzPts val="1250"/>
              <a:buFont typeface="IBM Plex Sans"/>
              <a:buNone/>
            </a:pPr>
            <a:endParaRPr sz="1250" b="1">
              <a:solidFill>
                <a:srgbClr val="4A5568"/>
              </a:solidFill>
              <a:latin typeface="IBM Plex Sans"/>
              <a:ea typeface="IBM Plex Sans"/>
              <a:cs typeface="IBM Plex Sans"/>
              <a:sym typeface="IBM Plex Sans"/>
            </a:endParaRPr>
          </a:p>
        </p:txBody>
      </p:sp>
      <p:sp>
        <p:nvSpPr>
          <p:cNvPr id="274" name="Google Shape;274;p10"/>
          <p:cNvSpPr/>
          <p:nvPr/>
        </p:nvSpPr>
        <p:spPr>
          <a:xfrm>
            <a:off x="812750" y="6238249"/>
            <a:ext cx="9810744"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Milestones as committed in our Demo 1 design proposal</a:t>
            </a:r>
            <a:endParaRPr sz="1200" b="0" i="0" u="none" strike="noStrike" cap="none">
              <a:solidFill>
                <a:schemeClr val="dk1"/>
              </a:solidFill>
              <a:latin typeface="IBM Plex Sans"/>
              <a:ea typeface="IBM Plex Sans"/>
              <a:cs typeface="IBM Plex Sans"/>
              <a:sym typeface="IBM Plex Sans"/>
            </a:endParaRPr>
          </a:p>
        </p:txBody>
      </p:sp>
      <p:sp>
        <p:nvSpPr>
          <p:cNvPr id="275" name="Google Shape;275;p10"/>
          <p:cNvSpPr/>
          <p:nvPr/>
        </p:nvSpPr>
        <p:spPr>
          <a:xfrm>
            <a:off x="10820424" y="6238249"/>
            <a:ext cx="55879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6B7684"/>
              </a:buClr>
              <a:buSzPts val="1200"/>
              <a:buFont typeface="IBM Plex Sans"/>
              <a:buNone/>
            </a:pPr>
            <a:r>
              <a:rPr lang="en-US" sz="1200">
                <a:solidFill>
                  <a:srgbClr val="6B7684"/>
                </a:solidFill>
                <a:latin typeface="IBM Plex Sans"/>
                <a:ea typeface="IBM Plex Sans"/>
                <a:cs typeface="IBM Plex Sans"/>
                <a:sym typeface="IBM Plex Sans"/>
              </a:rPr>
              <a:t>12</a:t>
            </a:r>
            <a:endParaRPr sz="1200" b="0" i="0" u="none" strike="noStrike" cap="none">
              <a:solidFill>
                <a:schemeClr val="dk1"/>
              </a:solidFill>
              <a:latin typeface="IBM Plex Sans"/>
              <a:ea typeface="IBM Plex Sans"/>
              <a:cs typeface="IBM Plex Sans"/>
              <a:sym typeface="IBM Plex Sans"/>
            </a:endParaRPr>
          </a:p>
        </p:txBody>
      </p:sp>
      <p:sp>
        <p:nvSpPr>
          <p:cNvPr id="276" name="Google Shape;276;p10"/>
          <p:cNvSpPr/>
          <p:nvPr/>
        </p:nvSpPr>
        <p:spPr>
          <a:xfrm>
            <a:off x="4383630" y="3189385"/>
            <a:ext cx="1123932" cy="237878"/>
          </a:xfrm>
          <a:custGeom>
            <a:avLst/>
            <a:gdLst/>
            <a:ahLst/>
            <a:cxnLst/>
            <a:rect l="l" t="t" r="r" b="b"/>
            <a:pathLst>
              <a:path w="1123932" h="237878" extrusionOk="0">
                <a:moveTo>
                  <a:pt x="117475" y="0"/>
                </a:moveTo>
                <a:lnTo>
                  <a:pt x="1006457" y="0"/>
                </a:lnTo>
                <a:cubicBezTo>
                  <a:pt x="1037613" y="0"/>
                  <a:pt x="1067494" y="12377"/>
                  <a:pt x="1089524" y="34408"/>
                </a:cubicBezTo>
                <a:cubicBezTo>
                  <a:pt x="1111555" y="56438"/>
                  <a:pt x="1123932" y="86319"/>
                  <a:pt x="1123932" y="117475"/>
                </a:cubicBezTo>
                <a:lnTo>
                  <a:pt x="1123932" y="120403"/>
                </a:lnTo>
                <a:cubicBezTo>
                  <a:pt x="1123932" y="185283"/>
                  <a:pt x="1071337" y="237878"/>
                  <a:pt x="1006457" y="237878"/>
                </a:cubicBezTo>
                <a:lnTo>
                  <a:pt x="117475" y="237878"/>
                </a:lnTo>
                <a:cubicBezTo>
                  <a:pt x="52595" y="237878"/>
                  <a:pt x="0" y="185283"/>
                  <a:pt x="0" y="120403"/>
                </a:cubicBezTo>
                <a:lnTo>
                  <a:pt x="0" y="117475"/>
                </a:lnTo>
                <a:cubicBezTo>
                  <a:pt x="0" y="52595"/>
                  <a:pt x="52595" y="0"/>
                  <a:pt x="117475" y="0"/>
                </a:cubicBezTo>
                <a:close/>
              </a:path>
            </a:pathLst>
          </a:custGeom>
          <a:solidFill>
            <a:srgbClr val="1F5F99"/>
          </a:solidFill>
          <a:ln>
            <a:noFill/>
          </a:ln>
        </p:spPr>
        <p:txBody>
          <a:bodyPr spcFirstLastPara="1" wrap="square" lIns="82125" tIns="12275" rIns="82125" bIns="0" anchor="t" anchorCtr="0">
            <a:noAutofit/>
          </a:bodyPr>
          <a:lstStyle/>
          <a:p>
            <a:pPr marL="0" marR="0" lvl="0" indent="0" algn="ctr" rtl="0">
              <a:lnSpc>
                <a:spcPct val="140000"/>
              </a:lnSpc>
              <a:spcBef>
                <a:spcPts val="0"/>
              </a:spcBef>
              <a:spcAft>
                <a:spcPts val="0"/>
              </a:spcAft>
              <a:buClr>
                <a:srgbClr val="FCFCFA"/>
              </a:buClr>
              <a:buSzPts val="1200"/>
              <a:buFont typeface="IBM Plex Sans"/>
              <a:buNone/>
            </a:pPr>
            <a:r>
              <a:rPr lang="en-US" sz="1200" b="1">
                <a:solidFill>
                  <a:srgbClr val="FCFCFA"/>
                </a:solidFill>
                <a:latin typeface="IBM Plex Sans"/>
                <a:ea typeface="IBM Plex Sans"/>
                <a:cs typeface="IBM Plex Sans"/>
                <a:sym typeface="IBM Plex Sans"/>
              </a:rPr>
              <a:t>Met</a:t>
            </a:r>
            <a:endParaRPr sz="1200" b="1">
              <a:solidFill>
                <a:srgbClr val="FCFCFA"/>
              </a:solidFill>
              <a:latin typeface="IBM Plex Sans"/>
              <a:ea typeface="IBM Plex Sans"/>
              <a:cs typeface="IBM Plex Sans"/>
              <a:sym typeface="IBM Plex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281"/>
        <p:cNvGrpSpPr/>
        <p:nvPr/>
      </p:nvGrpSpPr>
      <p:grpSpPr>
        <a:xfrm>
          <a:off x="0" y="0"/>
          <a:ext cx="0" cy="0"/>
          <a:chOff x="0" y="0"/>
          <a:chExt cx="0" cy="0"/>
        </a:xfrm>
      </p:grpSpPr>
      <p:sp>
        <p:nvSpPr>
          <p:cNvPr id="282" name="Google Shape;282;p12"/>
          <p:cNvSpPr txBox="1">
            <a:spLocks noGrp="1"/>
          </p:cNvSpPr>
          <p:nvPr>
            <p:ph type="title"/>
          </p:nvPr>
        </p:nvSpPr>
        <p:spPr>
          <a:xfrm>
            <a:off x="812750" y="609563"/>
            <a:ext cx="10883467" cy="843222"/>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4304F"/>
              </a:buClr>
              <a:buSzPts val="2800"/>
              <a:buFont typeface="IBM Plex Sans"/>
              <a:buNone/>
            </a:pPr>
            <a:r>
              <a:rPr lang="en-US" sz="2800" b="1" i="0">
                <a:solidFill>
                  <a:srgbClr val="14304F"/>
                </a:solidFill>
                <a:latin typeface="IBM Plex Sans"/>
                <a:ea typeface="IBM Plex Sans"/>
                <a:cs typeface="IBM Plex Sans"/>
                <a:sym typeface="IBM Plex Sans"/>
              </a:rPr>
              <a:t>Next: better fixes and fewer tokens, before the competition version is frozen on November 13</a:t>
            </a:r>
            <a:endParaRPr sz="2800"/>
          </a:p>
        </p:txBody>
      </p:sp>
      <p:sp>
        <p:nvSpPr>
          <p:cNvPr id="283" name="Google Shape;283;p12"/>
          <p:cNvSpPr/>
          <p:nvPr/>
        </p:nvSpPr>
        <p:spPr>
          <a:xfrm>
            <a:off x="812750" y="1681349"/>
            <a:ext cx="4578900" cy="2872500"/>
          </a:xfrm>
          <a:prstGeom prst="rect">
            <a:avLst/>
          </a:prstGeom>
          <a:solidFill>
            <a:srgbClr val="FCFC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4" name="Google Shape;284;p12"/>
          <p:cNvCxnSpPr/>
          <p:nvPr/>
        </p:nvCxnSpPr>
        <p:spPr>
          <a:xfrm>
            <a:off x="812750" y="1700405"/>
            <a:ext cx="4578813" cy="0"/>
          </a:xfrm>
          <a:prstGeom prst="straightConnector1">
            <a:avLst/>
          </a:prstGeom>
          <a:noFill/>
          <a:ln w="38100" cap="flat" cmpd="sng">
            <a:solidFill>
              <a:srgbClr val="1F5F99"/>
            </a:solidFill>
            <a:prstDash val="solid"/>
            <a:round/>
            <a:headEnd type="none" w="sm" len="sm"/>
            <a:tailEnd type="none" w="sm" len="sm"/>
          </a:ln>
        </p:spPr>
      </p:cxnSp>
      <p:sp>
        <p:nvSpPr>
          <p:cNvPr id="285" name="Google Shape;285;p12"/>
          <p:cNvSpPr/>
          <p:nvPr/>
        </p:nvSpPr>
        <p:spPr>
          <a:xfrm>
            <a:off x="1015937" y="1868481"/>
            <a:ext cx="4297611" cy="274357"/>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F5F99"/>
              </a:buClr>
              <a:buSzPts val="1400"/>
              <a:buFont typeface="IBM Plex Sans"/>
              <a:buNone/>
            </a:pPr>
            <a:r>
              <a:rPr lang="en-US" sz="1400" b="1" i="0" u="none" strike="noStrike" cap="none">
                <a:solidFill>
                  <a:srgbClr val="1F5F99"/>
                </a:solidFill>
                <a:latin typeface="IBM Plex Sans"/>
                <a:ea typeface="IBM Plex Sans"/>
                <a:cs typeface="IBM Plex Sans"/>
                <a:sym typeface="IBM Plex Sans"/>
              </a:rPr>
              <a:t>Now to November 6</a:t>
            </a:r>
            <a:endParaRPr sz="1400" b="0" i="0" u="none" strike="noStrike" cap="none">
              <a:solidFill>
                <a:schemeClr val="dk1"/>
              </a:solidFill>
              <a:latin typeface="IBM Plex Sans"/>
              <a:ea typeface="IBM Plex Sans"/>
              <a:cs typeface="IBM Plex Sans"/>
              <a:sym typeface="IBM Plex Sans"/>
            </a:endParaRPr>
          </a:p>
        </p:txBody>
      </p:sp>
      <p:sp>
        <p:nvSpPr>
          <p:cNvPr id="286" name="Google Shape;286;p12"/>
          <p:cNvSpPr/>
          <p:nvPr/>
        </p:nvSpPr>
        <p:spPr>
          <a:xfrm>
            <a:off x="832100" y="2206350"/>
            <a:ext cx="4481400" cy="2201100"/>
          </a:xfrm>
          <a:prstGeom prst="rect">
            <a:avLst/>
          </a:prstGeom>
          <a:noFill/>
          <a:ln>
            <a:noFill/>
          </a:ln>
        </p:spPr>
        <p:txBody>
          <a:bodyPr spcFirstLastPara="1" wrap="square" lIns="0" tIns="0" rIns="0" bIns="0" anchor="t" anchorCtr="0">
            <a:normAutofit/>
          </a:bodyPr>
          <a:lstStyle/>
          <a:p>
            <a:pPr marL="457200" marR="0" lvl="0" indent="-304800" algn="l" rtl="0">
              <a:lnSpc>
                <a:spcPct val="135000"/>
              </a:lnSpc>
              <a:spcBef>
                <a:spcPts val="0"/>
              </a:spcBef>
              <a:spcAft>
                <a:spcPts val="0"/>
              </a:spcAft>
              <a:buClr>
                <a:srgbClr val="172433"/>
              </a:buClr>
              <a:buSzPts val="1200"/>
              <a:buFont typeface="IBM Plex Sans"/>
              <a:buAutoNum type="arabicPeriod"/>
            </a:pPr>
            <a:r>
              <a:rPr lang="en-US" sz="1200">
                <a:solidFill>
                  <a:srgbClr val="172433"/>
                </a:solidFill>
                <a:latin typeface="IBM Plex Sans"/>
                <a:ea typeface="IBM Plex Sans"/>
                <a:cs typeface="IBM Plex Sans"/>
                <a:sym typeface="IBM Plex Sans"/>
              </a:rPr>
              <a:t> </a:t>
            </a:r>
            <a:r>
              <a:rPr lang="en-US" sz="1200" b="0" i="0" u="none" strike="noStrike" cap="none">
                <a:solidFill>
                  <a:srgbClr val="172433"/>
                </a:solidFill>
                <a:latin typeface="IBM Plex Sans"/>
                <a:ea typeface="IBM Plex Sans"/>
                <a:cs typeface="IBM Plex Sans"/>
                <a:sym typeface="IBM Plex Sans"/>
              </a:rPr>
              <a:t>Freeze today’s agent as the Demo 2 reference</a:t>
            </a:r>
            <a:endParaRPr sz="1200" b="0" i="0" u="none" strike="noStrike" cap="none">
              <a:solidFill>
                <a:srgbClr val="172433"/>
              </a:solidFill>
              <a:latin typeface="IBM Plex Sans"/>
              <a:ea typeface="IBM Plex Sans"/>
              <a:cs typeface="IBM Plex Sans"/>
              <a:sym typeface="IBM Plex Sans"/>
            </a:endParaRPr>
          </a:p>
          <a:p>
            <a:pPr marL="457200" lvl="0" indent="-304800" algn="l" rtl="0">
              <a:lnSpc>
                <a:spcPct val="135000"/>
              </a:lnSpc>
              <a:spcBef>
                <a:spcPts val="0"/>
              </a:spcBef>
              <a:spcAft>
                <a:spcPts val="0"/>
              </a:spcAft>
              <a:buClr>
                <a:schemeClr val="accent6"/>
              </a:buClr>
              <a:buSzPts val="1200"/>
              <a:buFont typeface="IBM Plex Sans"/>
              <a:buAutoNum type="arabicPeriod"/>
            </a:pPr>
            <a:r>
              <a:rPr lang="en-US" sz="1200">
                <a:solidFill>
                  <a:schemeClr val="accent6"/>
                </a:solidFill>
                <a:latin typeface="IBM Plex Sans"/>
                <a:ea typeface="IBM Plex Sans"/>
                <a:cs typeface="IBM Plex Sans"/>
                <a:sym typeface="IBM Plex Sans"/>
              </a:rPr>
              <a:t>Resolve setup blockers for the five  x86_64-target cases under QEMU </a:t>
            </a:r>
            <a:endParaRPr sz="1200">
              <a:solidFill>
                <a:schemeClr val="accent6"/>
              </a:solidFill>
              <a:latin typeface="IBM Plex Sans"/>
              <a:ea typeface="IBM Plex Sans"/>
              <a:cs typeface="IBM Plex Sans"/>
              <a:sym typeface="IBM Plex Sans"/>
            </a:endParaRPr>
          </a:p>
          <a:p>
            <a:pPr marL="457200" lvl="0" indent="-304800" algn="l" rtl="0">
              <a:lnSpc>
                <a:spcPct val="135000"/>
              </a:lnSpc>
              <a:spcBef>
                <a:spcPts val="0"/>
              </a:spcBef>
              <a:spcAft>
                <a:spcPts val="0"/>
              </a:spcAft>
              <a:buClr>
                <a:schemeClr val="accent6"/>
              </a:buClr>
              <a:buSzPts val="1200"/>
              <a:buFont typeface="IBM Plex Sans"/>
              <a:buAutoNum type="arabicPeriod"/>
            </a:pPr>
            <a:r>
              <a:rPr lang="en-US" sz="1200">
                <a:solidFill>
                  <a:schemeClr val="accent6"/>
                </a:solidFill>
                <a:latin typeface="IBM Plex Sans"/>
                <a:ea typeface="IBM Plex Sans"/>
                <a:cs typeface="IBM Plex Sans"/>
                <a:sym typeface="IBM Plex Sans"/>
              </a:rPr>
              <a:t>Trim tokens: stop resending unchanged evidence</a:t>
            </a:r>
            <a:endParaRPr sz="1200">
              <a:solidFill>
                <a:schemeClr val="accent6"/>
              </a:solidFill>
              <a:latin typeface="IBM Plex Sans"/>
              <a:ea typeface="IBM Plex Sans"/>
              <a:cs typeface="IBM Plex Sans"/>
              <a:sym typeface="IBM Plex Sans"/>
            </a:endParaRPr>
          </a:p>
          <a:p>
            <a:pPr marL="457200" lvl="0" indent="-304800" algn="l" rtl="0">
              <a:lnSpc>
                <a:spcPct val="135000"/>
              </a:lnSpc>
              <a:spcBef>
                <a:spcPts val="0"/>
              </a:spcBef>
              <a:spcAft>
                <a:spcPts val="0"/>
              </a:spcAft>
              <a:buClr>
                <a:schemeClr val="accent6"/>
              </a:buClr>
              <a:buSzPts val="1200"/>
              <a:buFont typeface="IBM Plex Sans"/>
              <a:buAutoNum type="arabicPeriod"/>
            </a:pPr>
            <a:r>
              <a:rPr lang="en-US" sz="1200">
                <a:solidFill>
                  <a:schemeClr val="accent6"/>
                </a:solidFill>
                <a:latin typeface="IBM Plex Sans"/>
                <a:ea typeface="IBM Plex Sans"/>
                <a:cs typeface="IBM Plex Sans"/>
                <a:sym typeface="IBM Plex Sans"/>
              </a:rPr>
              <a:t>Baseline, Demo 2 agent, history on/off: 3 runs × 10 cases</a:t>
            </a:r>
            <a:endParaRPr sz="1200">
              <a:solidFill>
                <a:schemeClr val="dk1"/>
              </a:solidFill>
              <a:latin typeface="IBM Plex Sans"/>
              <a:ea typeface="IBM Plex Sans"/>
              <a:cs typeface="IBM Plex Sans"/>
              <a:sym typeface="IBM Plex Sans"/>
            </a:endParaRPr>
          </a:p>
          <a:p>
            <a:pPr marL="457200" lvl="0" indent="-304800" algn="l" rtl="0">
              <a:lnSpc>
                <a:spcPct val="135000"/>
              </a:lnSpc>
              <a:spcBef>
                <a:spcPts val="0"/>
              </a:spcBef>
              <a:spcAft>
                <a:spcPts val="0"/>
              </a:spcAft>
              <a:buClr>
                <a:schemeClr val="accent6"/>
              </a:buClr>
              <a:buSzPts val="1200"/>
              <a:buFont typeface="IBM Plex Sans"/>
              <a:buAutoNum type="arabicPeriod"/>
            </a:pPr>
            <a:r>
              <a:rPr lang="en-US" sz="1200">
                <a:solidFill>
                  <a:schemeClr val="accent6"/>
                </a:solidFill>
                <a:latin typeface="IBM Plex Sans"/>
                <a:ea typeface="IBM Plex Sans"/>
                <a:cs typeface="IBM Plex Sans"/>
                <a:sym typeface="IBM Plex Sans"/>
              </a:rPr>
              <a:t>Adapt to injected model settings; check/package and pass Hosted Smoke Test.</a:t>
            </a:r>
            <a:endParaRPr sz="1200">
              <a:solidFill>
                <a:schemeClr val="dk1"/>
              </a:solidFill>
              <a:latin typeface="IBM Plex Sans"/>
              <a:ea typeface="IBM Plex Sans"/>
              <a:cs typeface="IBM Plex Sans"/>
              <a:sym typeface="IBM Plex Sans"/>
            </a:endParaRPr>
          </a:p>
          <a:p>
            <a:pPr marL="457200" lvl="0" indent="-304800" algn="l" rtl="0">
              <a:lnSpc>
                <a:spcPct val="135000"/>
              </a:lnSpc>
              <a:spcBef>
                <a:spcPts val="0"/>
              </a:spcBef>
              <a:spcAft>
                <a:spcPts val="0"/>
              </a:spcAft>
              <a:buClr>
                <a:schemeClr val="accent6"/>
              </a:buClr>
              <a:buSzPts val="1200"/>
              <a:buFont typeface="IBM Plex Sans"/>
              <a:buAutoNum type="arabicPeriod"/>
            </a:pPr>
            <a:r>
              <a:rPr lang="en-US" sz="1200">
                <a:solidFill>
                  <a:schemeClr val="accent6"/>
                </a:solidFill>
                <a:latin typeface="IBM Plex Sans"/>
                <a:ea typeface="IBM Plex Sans"/>
                <a:cs typeface="IBM Plex Sans"/>
                <a:sym typeface="IBM Plex Sans"/>
              </a:rPr>
              <a:t>Spot-check our verdicts with official Development Validation</a:t>
            </a:r>
            <a:endParaRPr sz="1200">
              <a:solidFill>
                <a:srgbClr val="172433"/>
              </a:solidFill>
              <a:latin typeface="IBM Plex Sans"/>
              <a:ea typeface="IBM Plex Sans"/>
              <a:cs typeface="IBM Plex Sans"/>
              <a:sym typeface="IBM Plex Sans"/>
            </a:endParaRPr>
          </a:p>
        </p:txBody>
      </p:sp>
      <p:sp>
        <p:nvSpPr>
          <p:cNvPr id="287" name="Google Shape;287;p12"/>
          <p:cNvSpPr/>
          <p:nvPr/>
        </p:nvSpPr>
        <p:spPr>
          <a:xfrm>
            <a:off x="5594750" y="1681350"/>
            <a:ext cx="2790600" cy="2726100"/>
          </a:xfrm>
          <a:prstGeom prst="rect">
            <a:avLst/>
          </a:prstGeom>
          <a:solidFill>
            <a:srgbClr val="FCFC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8" name="Google Shape;288;p12"/>
          <p:cNvCxnSpPr/>
          <p:nvPr/>
        </p:nvCxnSpPr>
        <p:spPr>
          <a:xfrm>
            <a:off x="5594750" y="1700405"/>
            <a:ext cx="2790642" cy="0"/>
          </a:xfrm>
          <a:prstGeom prst="straightConnector1">
            <a:avLst/>
          </a:prstGeom>
          <a:noFill/>
          <a:ln w="38100" cap="flat" cmpd="sng">
            <a:solidFill>
              <a:srgbClr val="B4530F"/>
            </a:solidFill>
            <a:prstDash val="solid"/>
            <a:round/>
            <a:headEnd type="none" w="sm" len="sm"/>
            <a:tailEnd type="none" w="sm" len="sm"/>
          </a:ln>
        </p:spPr>
      </p:cxnSp>
      <p:sp>
        <p:nvSpPr>
          <p:cNvPr id="289" name="Google Shape;289;p12"/>
          <p:cNvSpPr/>
          <p:nvPr/>
        </p:nvSpPr>
        <p:spPr>
          <a:xfrm>
            <a:off x="5797938" y="1868481"/>
            <a:ext cx="2455796" cy="274357"/>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4530F"/>
              </a:buClr>
              <a:buSzPts val="1400"/>
              <a:buFont typeface="IBM Plex Sans"/>
              <a:buNone/>
            </a:pPr>
            <a:r>
              <a:rPr lang="en-US" sz="1400" b="1" i="0" u="none" strike="noStrike" cap="none">
                <a:solidFill>
                  <a:srgbClr val="B4530F"/>
                </a:solidFill>
                <a:latin typeface="IBM Plex Sans"/>
                <a:ea typeface="IBM Plex Sans"/>
                <a:cs typeface="IBM Plex Sans"/>
                <a:sym typeface="IBM Plex Sans"/>
              </a:rPr>
              <a:t>Nov 13 (UTC+8)</a:t>
            </a:r>
            <a:endParaRPr sz="1400" b="0" i="0" u="none" strike="noStrike" cap="none">
              <a:solidFill>
                <a:schemeClr val="dk1"/>
              </a:solidFill>
              <a:latin typeface="IBM Plex Sans"/>
              <a:ea typeface="IBM Plex Sans"/>
              <a:cs typeface="IBM Plex Sans"/>
              <a:sym typeface="IBM Plex Sans"/>
            </a:endParaRPr>
          </a:p>
        </p:txBody>
      </p:sp>
      <p:sp>
        <p:nvSpPr>
          <p:cNvPr id="290" name="Google Shape;290;p12"/>
          <p:cNvSpPr/>
          <p:nvPr/>
        </p:nvSpPr>
        <p:spPr>
          <a:xfrm>
            <a:off x="5797938" y="2206321"/>
            <a:ext cx="2455796" cy="436847"/>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172433"/>
              </a:buClr>
              <a:buSzPts val="1200"/>
              <a:buFont typeface="IBM Plex Sans"/>
              <a:buNone/>
            </a:pPr>
            <a:r>
              <a:rPr lang="en-US" sz="1200" b="0" i="0" u="none" strike="noStrike" cap="none">
                <a:solidFill>
                  <a:srgbClr val="172433"/>
                </a:solidFill>
                <a:latin typeface="IBM Plex Sans"/>
                <a:ea typeface="IBM Plex Sans"/>
                <a:cs typeface="IBM Plex Sans"/>
                <a:sym typeface="IBM Plex Sans"/>
              </a:rPr>
              <a:t>Select the qualified competition version, three days before Demo 3</a:t>
            </a:r>
            <a:endParaRPr sz="1200" b="0" i="0" u="none" strike="noStrike" cap="none">
              <a:solidFill>
                <a:schemeClr val="dk1"/>
              </a:solidFill>
              <a:latin typeface="IBM Plex Sans"/>
              <a:ea typeface="IBM Plex Sans"/>
              <a:cs typeface="IBM Plex Sans"/>
              <a:sym typeface="IBM Plex Sans"/>
            </a:endParaRPr>
          </a:p>
        </p:txBody>
      </p:sp>
      <p:sp>
        <p:nvSpPr>
          <p:cNvPr id="291" name="Google Shape;291;p12"/>
          <p:cNvSpPr/>
          <p:nvPr/>
        </p:nvSpPr>
        <p:spPr>
          <a:xfrm>
            <a:off x="8588575" y="1681350"/>
            <a:ext cx="2790600" cy="2726100"/>
          </a:xfrm>
          <a:prstGeom prst="rect">
            <a:avLst/>
          </a:prstGeom>
          <a:solidFill>
            <a:srgbClr val="FCFC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2" name="Google Shape;292;p12"/>
          <p:cNvCxnSpPr/>
          <p:nvPr/>
        </p:nvCxnSpPr>
        <p:spPr>
          <a:xfrm>
            <a:off x="8588580" y="1700405"/>
            <a:ext cx="2790642" cy="0"/>
          </a:xfrm>
          <a:prstGeom prst="straightConnector1">
            <a:avLst/>
          </a:prstGeom>
          <a:noFill/>
          <a:ln w="38100" cap="flat" cmpd="sng">
            <a:solidFill>
              <a:srgbClr val="14304F"/>
            </a:solidFill>
            <a:prstDash val="solid"/>
            <a:round/>
            <a:headEnd type="none" w="sm" len="sm"/>
            <a:tailEnd type="none" w="sm" len="sm"/>
          </a:ln>
        </p:spPr>
      </p:cxnSp>
      <p:sp>
        <p:nvSpPr>
          <p:cNvPr id="293" name="Google Shape;293;p12"/>
          <p:cNvSpPr/>
          <p:nvPr/>
        </p:nvSpPr>
        <p:spPr>
          <a:xfrm>
            <a:off x="8791768" y="1868481"/>
            <a:ext cx="2455796" cy="274357"/>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4304F"/>
              </a:buClr>
              <a:buSzPts val="1400"/>
              <a:buFont typeface="IBM Plex Sans"/>
              <a:buNone/>
            </a:pPr>
            <a:r>
              <a:rPr lang="en-US" sz="1400" b="1" i="0" u="none" strike="noStrike" cap="none">
                <a:solidFill>
                  <a:srgbClr val="14304F"/>
                </a:solidFill>
                <a:latin typeface="IBM Plex Sans"/>
                <a:ea typeface="IBM Plex Sans"/>
                <a:cs typeface="IBM Plex Sans"/>
                <a:sym typeface="IBM Plex Sans"/>
              </a:rPr>
              <a:t>Nov 16 · Demo 3</a:t>
            </a:r>
            <a:endParaRPr sz="1400" b="0" i="0" u="none" strike="noStrike" cap="none">
              <a:solidFill>
                <a:schemeClr val="dk1"/>
              </a:solidFill>
              <a:latin typeface="IBM Plex Sans"/>
              <a:ea typeface="IBM Plex Sans"/>
              <a:cs typeface="IBM Plex Sans"/>
              <a:sym typeface="IBM Plex Sans"/>
            </a:endParaRPr>
          </a:p>
        </p:txBody>
      </p:sp>
      <p:sp>
        <p:nvSpPr>
          <p:cNvPr id="294" name="Google Shape;294;p12"/>
          <p:cNvSpPr/>
          <p:nvPr/>
        </p:nvSpPr>
        <p:spPr>
          <a:xfrm>
            <a:off x="8791768" y="2206321"/>
            <a:ext cx="2455796" cy="848294"/>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172433"/>
              </a:buClr>
              <a:buSzPts val="1200"/>
              <a:buFont typeface="IBM Plex Sans"/>
              <a:buNone/>
            </a:pPr>
            <a:r>
              <a:rPr lang="en-US" sz="1200" b="0" i="0" u="none" strike="noStrike" cap="none">
                <a:solidFill>
                  <a:srgbClr val="172433"/>
                </a:solidFill>
                <a:latin typeface="IBM Plex Sans"/>
                <a:ea typeface="IBM Plex Sans"/>
                <a:cs typeface="IBM Plex Sans"/>
                <a:sym typeface="IBM Plex Sans"/>
              </a:rPr>
              <a:t>Target: +1 verified repair per 10 cases on average over the Demo 2 agent, or 20% fewer tokens with no repair lost</a:t>
            </a:r>
            <a:endParaRPr sz="1200" b="0" i="0" u="none" strike="noStrike" cap="none">
              <a:solidFill>
                <a:schemeClr val="dk1"/>
              </a:solidFill>
              <a:latin typeface="IBM Plex Sans"/>
              <a:ea typeface="IBM Plex Sans"/>
              <a:cs typeface="IBM Plex Sans"/>
              <a:sym typeface="IBM Plex Sans"/>
            </a:endParaRPr>
          </a:p>
        </p:txBody>
      </p:sp>
      <p:sp>
        <p:nvSpPr>
          <p:cNvPr id="295" name="Google Shape;295;p12"/>
          <p:cNvSpPr/>
          <p:nvPr/>
        </p:nvSpPr>
        <p:spPr>
          <a:xfrm>
            <a:off x="812763" y="4782303"/>
            <a:ext cx="3386700" cy="916800"/>
          </a:xfrm>
          <a:prstGeom prst="roundRect">
            <a:avLst>
              <a:gd name="adj" fmla="val 8312"/>
            </a:avLst>
          </a:prstGeom>
          <a:solidFill>
            <a:srgbClr val="EDF1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2"/>
          <p:cNvSpPr/>
          <p:nvPr/>
        </p:nvSpPr>
        <p:spPr>
          <a:xfrm>
            <a:off x="990528" y="4909290"/>
            <a:ext cx="3122100" cy="2388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4304F"/>
              </a:buClr>
              <a:buSzPts val="1200"/>
              <a:buFont typeface="IBM Plex Sans"/>
              <a:buNone/>
            </a:pPr>
            <a:r>
              <a:rPr lang="en-US" sz="1200" b="1" i="0" u="none" strike="noStrike" cap="none">
                <a:solidFill>
                  <a:srgbClr val="14304F"/>
                </a:solidFill>
                <a:latin typeface="IBM Plex Sans"/>
                <a:ea typeface="IBM Plex Sans"/>
                <a:cs typeface="IBM Plex Sans"/>
                <a:sym typeface="IBM Plex Sans"/>
              </a:rPr>
              <a:t>Risk: </a:t>
            </a:r>
            <a:r>
              <a:rPr lang="en-US" sz="1200" b="1">
                <a:solidFill>
                  <a:srgbClr val="14304F"/>
                </a:solidFill>
                <a:latin typeface="IBM Plex Sans"/>
                <a:ea typeface="IBM Plex Sans"/>
                <a:cs typeface="IBM Plex Sans"/>
                <a:sym typeface="IBM Plex Sans"/>
              </a:rPr>
              <a:t>Full evaluation budgets pending</a:t>
            </a:r>
            <a:endParaRPr sz="1200" b="0" i="0" u="none" strike="noStrike" cap="none">
              <a:solidFill>
                <a:schemeClr val="dk1"/>
              </a:solidFill>
              <a:latin typeface="IBM Plex Sans"/>
              <a:ea typeface="IBM Plex Sans"/>
              <a:cs typeface="IBM Plex Sans"/>
              <a:sym typeface="IBM Plex Sans"/>
            </a:endParaRPr>
          </a:p>
        </p:txBody>
      </p:sp>
      <p:sp>
        <p:nvSpPr>
          <p:cNvPr id="297" name="Google Shape;297;p12"/>
          <p:cNvSpPr/>
          <p:nvPr/>
        </p:nvSpPr>
        <p:spPr>
          <a:xfrm>
            <a:off x="990528" y="5160661"/>
            <a:ext cx="3122100" cy="436800"/>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4A5568"/>
              </a:buClr>
              <a:buSzPts val="1200"/>
              <a:buFont typeface="IBM Plex Sans"/>
              <a:buNone/>
            </a:pPr>
            <a:r>
              <a:rPr lang="en-US" sz="1200">
                <a:solidFill>
                  <a:srgbClr val="4A5568"/>
                </a:solidFill>
                <a:latin typeface="IBM Plex Sans"/>
                <a:ea typeface="IBM Plex Sans"/>
                <a:cs typeface="IBM Plex Sans"/>
                <a:sym typeface="IBM Plex Sans"/>
              </a:rPr>
              <a:t>Hosted Smoke limits are published, official evaluation limits remain to be announced</a:t>
            </a:r>
            <a:endParaRPr sz="1200" b="0" i="0" u="none" strike="noStrike" cap="none">
              <a:solidFill>
                <a:schemeClr val="dk1"/>
              </a:solidFill>
              <a:latin typeface="IBM Plex Sans"/>
              <a:ea typeface="IBM Plex Sans"/>
              <a:cs typeface="IBM Plex Sans"/>
              <a:sym typeface="IBM Plex Sans"/>
            </a:endParaRPr>
          </a:p>
        </p:txBody>
      </p:sp>
      <p:sp>
        <p:nvSpPr>
          <p:cNvPr id="298" name="Google Shape;298;p12"/>
          <p:cNvSpPr/>
          <p:nvPr/>
        </p:nvSpPr>
        <p:spPr>
          <a:xfrm>
            <a:off x="4402630" y="4782303"/>
            <a:ext cx="3386700" cy="916800"/>
          </a:xfrm>
          <a:prstGeom prst="roundRect">
            <a:avLst>
              <a:gd name="adj" fmla="val 8312"/>
            </a:avLst>
          </a:prstGeom>
          <a:solidFill>
            <a:srgbClr val="EDF1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2"/>
          <p:cNvSpPr/>
          <p:nvPr/>
        </p:nvSpPr>
        <p:spPr>
          <a:xfrm>
            <a:off x="4580396" y="4909290"/>
            <a:ext cx="3122100" cy="2388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4304F"/>
              </a:buClr>
              <a:buSzPts val="1200"/>
              <a:buFont typeface="IBM Plex Sans"/>
              <a:buNone/>
            </a:pPr>
            <a:r>
              <a:rPr lang="en-US" sz="1200" b="1">
                <a:solidFill>
                  <a:srgbClr val="14304F"/>
                </a:solidFill>
                <a:latin typeface="IBM Plex Sans"/>
                <a:ea typeface="IBM Plex Sans"/>
                <a:cs typeface="IBM Plex Sans"/>
                <a:sym typeface="IBM Plex Sans"/>
              </a:rPr>
              <a:t>Risk: Official builds cannot be requested during an agent run. </a:t>
            </a:r>
            <a:r>
              <a:rPr lang="en-US" sz="1200">
                <a:solidFill>
                  <a:srgbClr val="4A5568"/>
                </a:solidFill>
                <a:latin typeface="IBM Plex Sans"/>
                <a:ea typeface="IBM Plex Sans"/>
                <a:cs typeface="IBM Plex Sans"/>
                <a:sym typeface="IBM Plex Sans"/>
              </a:rPr>
              <a:t>Organizers control repair rounds</a:t>
            </a:r>
            <a:endParaRPr sz="1200">
              <a:solidFill>
                <a:srgbClr val="4A5568"/>
              </a:solidFill>
              <a:latin typeface="IBM Plex Sans"/>
              <a:ea typeface="IBM Plex Sans"/>
              <a:cs typeface="IBM Plex Sans"/>
              <a:sym typeface="IBM Plex Sans"/>
            </a:endParaRPr>
          </a:p>
        </p:txBody>
      </p:sp>
      <p:sp>
        <p:nvSpPr>
          <p:cNvPr id="300" name="Google Shape;300;p12"/>
          <p:cNvSpPr/>
          <p:nvPr/>
        </p:nvSpPr>
        <p:spPr>
          <a:xfrm>
            <a:off x="7992557" y="4782303"/>
            <a:ext cx="3386700" cy="916800"/>
          </a:xfrm>
          <a:prstGeom prst="roundRect">
            <a:avLst>
              <a:gd name="adj" fmla="val 8312"/>
            </a:avLst>
          </a:prstGeom>
          <a:solidFill>
            <a:srgbClr val="EDF1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2"/>
          <p:cNvSpPr/>
          <p:nvPr/>
        </p:nvSpPr>
        <p:spPr>
          <a:xfrm>
            <a:off x="8170323" y="4909290"/>
            <a:ext cx="3122100" cy="2388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4304F"/>
              </a:buClr>
              <a:buSzPts val="1200"/>
              <a:buFont typeface="IBM Plex Sans"/>
              <a:buNone/>
            </a:pPr>
            <a:r>
              <a:rPr lang="en-US" sz="1200" b="1" i="0" u="none" strike="noStrike" cap="none">
                <a:solidFill>
                  <a:srgbClr val="14304F"/>
                </a:solidFill>
                <a:latin typeface="IBM Plex Sans"/>
                <a:ea typeface="IBM Plex Sans"/>
                <a:cs typeface="IBM Plex Sans"/>
                <a:sym typeface="IBM Plex Sans"/>
              </a:rPr>
              <a:t>Risk: </a:t>
            </a:r>
            <a:r>
              <a:rPr lang="en-US" sz="1200" b="1">
                <a:solidFill>
                  <a:srgbClr val="14304F"/>
                </a:solidFill>
                <a:latin typeface="IBM Plex Sans"/>
                <a:ea typeface="IBM Plex Sans"/>
                <a:cs typeface="IBM Plex Sans"/>
                <a:sym typeface="IBM Plex Sans"/>
              </a:rPr>
              <a:t>Hosted model integration unverified</a:t>
            </a:r>
            <a:endParaRPr sz="1200" b="0" i="0" u="none" strike="noStrike" cap="none">
              <a:solidFill>
                <a:schemeClr val="dk1"/>
              </a:solidFill>
              <a:latin typeface="IBM Plex Sans"/>
              <a:ea typeface="IBM Plex Sans"/>
              <a:cs typeface="IBM Plex Sans"/>
              <a:sym typeface="IBM Plex Sans"/>
            </a:endParaRPr>
          </a:p>
        </p:txBody>
      </p:sp>
      <p:sp>
        <p:nvSpPr>
          <p:cNvPr id="302" name="Google Shape;302;p12"/>
          <p:cNvSpPr/>
          <p:nvPr/>
        </p:nvSpPr>
        <p:spPr>
          <a:xfrm>
            <a:off x="8170323" y="5160661"/>
            <a:ext cx="3122100" cy="436800"/>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4A5568"/>
              </a:buClr>
              <a:buSzPts val="1200"/>
              <a:buFont typeface="IBM Plex Sans"/>
              <a:buNone/>
            </a:pPr>
            <a:r>
              <a:rPr lang="en-US" sz="1200">
                <a:solidFill>
                  <a:srgbClr val="4A5568"/>
                </a:solidFill>
                <a:latin typeface="IBM Plex Sans"/>
                <a:ea typeface="IBM Plex Sans"/>
                <a:cs typeface="IBM Plex Sans"/>
                <a:sym typeface="IBM Plex Sans"/>
              </a:rPr>
              <a:t>Use the injected endpoint, model alias and token file, verify through Hosted Smoke</a:t>
            </a:r>
            <a:endParaRPr sz="1200" b="0" i="0" u="none" strike="noStrike" cap="none">
              <a:solidFill>
                <a:schemeClr val="dk1"/>
              </a:solidFill>
              <a:latin typeface="IBM Plex Sans"/>
              <a:ea typeface="IBM Plex Sans"/>
              <a:cs typeface="IBM Plex Sans"/>
              <a:sym typeface="IBM Plex Sans"/>
            </a:endParaRPr>
          </a:p>
        </p:txBody>
      </p:sp>
      <p:sp>
        <p:nvSpPr>
          <p:cNvPr id="303" name="Google Shape;303;p12"/>
          <p:cNvSpPr/>
          <p:nvPr/>
        </p:nvSpPr>
        <p:spPr>
          <a:xfrm>
            <a:off x="812750" y="6238249"/>
            <a:ext cx="9810744"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Targets from our Demo 1 design proposal; dates from the competition timeline</a:t>
            </a:r>
            <a:endParaRPr sz="1200" b="0" i="0" u="none" strike="noStrike" cap="none">
              <a:solidFill>
                <a:schemeClr val="dk1"/>
              </a:solidFill>
              <a:latin typeface="IBM Plex Sans"/>
              <a:ea typeface="IBM Plex Sans"/>
              <a:cs typeface="IBM Plex Sans"/>
              <a:sym typeface="IBM Plex Sans"/>
            </a:endParaRPr>
          </a:p>
        </p:txBody>
      </p:sp>
      <p:sp>
        <p:nvSpPr>
          <p:cNvPr id="304" name="Google Shape;304;p12"/>
          <p:cNvSpPr/>
          <p:nvPr/>
        </p:nvSpPr>
        <p:spPr>
          <a:xfrm>
            <a:off x="10820424" y="6238249"/>
            <a:ext cx="55879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6B7684"/>
              </a:buClr>
              <a:buSzPts val="1200"/>
              <a:buFont typeface="IBM Plex Sans"/>
              <a:buNone/>
            </a:pPr>
            <a:r>
              <a:rPr lang="en-US" sz="1200">
                <a:solidFill>
                  <a:srgbClr val="6B7684"/>
                </a:solidFill>
                <a:latin typeface="IBM Plex Sans"/>
                <a:ea typeface="IBM Plex Sans"/>
                <a:cs typeface="IBM Plex Sans"/>
                <a:sym typeface="IBM Plex Sans"/>
              </a:rPr>
              <a:t>14</a:t>
            </a:r>
            <a:endParaRPr sz="12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304F"/>
        </a:solidFill>
        <a:effectLst/>
      </p:bgPr>
    </p:bg>
    <p:spTree>
      <p:nvGrpSpPr>
        <p:cNvPr id="1" name="Shape 309"/>
        <p:cNvGrpSpPr/>
        <p:nvPr/>
      </p:nvGrpSpPr>
      <p:grpSpPr>
        <a:xfrm>
          <a:off x="0" y="0"/>
          <a:ext cx="0" cy="0"/>
          <a:chOff x="0" y="0"/>
          <a:chExt cx="0" cy="0"/>
        </a:xfrm>
      </p:grpSpPr>
      <p:sp>
        <p:nvSpPr>
          <p:cNvPr id="310" name="Google Shape;310;p13"/>
          <p:cNvSpPr txBox="1">
            <a:spLocks noGrp="1"/>
          </p:cNvSpPr>
          <p:nvPr>
            <p:ph type="title"/>
          </p:nvPr>
        </p:nvSpPr>
        <p:spPr>
          <a:xfrm>
            <a:off x="812750" y="812750"/>
            <a:ext cx="10883467" cy="492701"/>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F3F5F7"/>
              </a:buClr>
              <a:buSzPts val="3200"/>
              <a:buFont typeface="IBM Plex Sans"/>
              <a:buNone/>
            </a:pPr>
            <a:r>
              <a:rPr lang="en-US" sz="3200" b="1" i="0">
                <a:solidFill>
                  <a:srgbClr val="F3F5F7"/>
                </a:solidFill>
                <a:latin typeface="IBM Plex Sans"/>
                <a:ea typeface="IBM Plex Sans"/>
                <a:cs typeface="IBM Plex Sans"/>
                <a:sym typeface="IBM Plex Sans"/>
              </a:rPr>
              <a:t>Three things to take away</a:t>
            </a:r>
            <a:endParaRPr sz="3200"/>
          </a:p>
        </p:txBody>
      </p:sp>
      <p:sp>
        <p:nvSpPr>
          <p:cNvPr id="311" name="Google Shape;311;p13"/>
          <p:cNvSpPr/>
          <p:nvPr/>
        </p:nvSpPr>
        <p:spPr>
          <a:xfrm>
            <a:off x="812750" y="1437298"/>
            <a:ext cx="558900" cy="15165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rgbClr val="F2A65A"/>
              </a:buClr>
              <a:buSzPts val="3200"/>
              <a:buFont typeface="IBM Plex Sans"/>
              <a:buNone/>
            </a:pPr>
            <a:r>
              <a:rPr lang="en-US" sz="3200" b="1" i="0" u="none" strike="noStrike" cap="none">
                <a:solidFill>
                  <a:srgbClr val="F2A65A"/>
                </a:solidFill>
                <a:latin typeface="IBM Plex Sans"/>
                <a:ea typeface="IBM Plex Sans"/>
                <a:cs typeface="IBM Plex Sans"/>
                <a:sym typeface="IBM Plex Sans"/>
              </a:rPr>
              <a:t>1</a:t>
            </a:r>
            <a:endParaRPr sz="3200" b="0" i="0" u="none" strike="noStrike" cap="none">
              <a:solidFill>
                <a:schemeClr val="dk1"/>
              </a:solidFill>
              <a:latin typeface="IBM Plex Sans"/>
              <a:ea typeface="IBM Plex Sans"/>
              <a:cs typeface="IBM Plex Sans"/>
              <a:sym typeface="IBM Plex Sans"/>
            </a:endParaRPr>
          </a:p>
        </p:txBody>
      </p:sp>
      <p:sp>
        <p:nvSpPr>
          <p:cNvPr id="312" name="Google Shape;312;p13"/>
          <p:cNvSpPr/>
          <p:nvPr/>
        </p:nvSpPr>
        <p:spPr>
          <a:xfrm>
            <a:off x="1549310" y="1437302"/>
            <a:ext cx="10124700" cy="11151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F3F5F7"/>
              </a:buClr>
              <a:buSzPts val="2200"/>
              <a:buFont typeface="IBM Plex Sans"/>
              <a:buNone/>
            </a:pPr>
            <a:r>
              <a:rPr lang="en-US" sz="2200" b="1" i="0" u="none" strike="noStrike" cap="none">
                <a:solidFill>
                  <a:srgbClr val="F3F5F7"/>
                </a:solidFill>
                <a:latin typeface="IBM Plex Sans"/>
                <a:ea typeface="IBM Plex Sans"/>
                <a:cs typeface="IBM Plex Sans"/>
                <a:sym typeface="IBM Plex Sans"/>
              </a:rPr>
              <a:t>The</a:t>
            </a:r>
            <a:r>
              <a:rPr lang="en-US" sz="2200" b="1">
                <a:solidFill>
                  <a:srgbClr val="F3F5F7"/>
                </a:solidFill>
                <a:latin typeface="IBM Plex Sans"/>
                <a:ea typeface="IBM Plex Sans"/>
                <a:cs typeface="IBM Plex Sans"/>
                <a:sym typeface="IBM Plex Sans"/>
              </a:rPr>
              <a:t> </a:t>
            </a:r>
            <a:r>
              <a:rPr lang="en-US" sz="2200" b="1" i="0" u="none" strike="noStrike" cap="none">
                <a:solidFill>
                  <a:srgbClr val="F3F5F7"/>
                </a:solidFill>
                <a:latin typeface="IBM Plex Sans"/>
                <a:ea typeface="IBM Plex Sans"/>
                <a:cs typeface="IBM Plex Sans"/>
                <a:sym typeface="IBM Plex Sans"/>
              </a:rPr>
              <a:t>prototype works end to end.</a:t>
            </a:r>
            <a:r>
              <a:rPr lang="en-US" sz="2200" b="0" i="0" u="none" strike="noStrike" cap="none">
                <a:solidFill>
                  <a:srgbClr val="F3F5F7"/>
                </a:solidFill>
                <a:latin typeface="IBM Plex Sans"/>
                <a:ea typeface="IBM Plex Sans"/>
                <a:cs typeface="IBM Plex Sans"/>
                <a:sym typeface="IBM Plex Sans"/>
              </a:rPr>
              <a:t> </a:t>
            </a:r>
            <a:r>
              <a:rPr lang="en-US" sz="2200" b="0" i="0" u="none" strike="noStrike" cap="none">
                <a:solidFill>
                  <a:srgbClr val="B9C7D6"/>
                </a:solidFill>
                <a:latin typeface="IBM Plex Sans"/>
                <a:ea typeface="IBM Plex Sans"/>
                <a:cs typeface="IBM Plex Sans"/>
                <a:sym typeface="IBM Plex Sans"/>
              </a:rPr>
              <a:t>Evidence, investigation, edit, real build, repair passing the local validator: 4 of 4 runs on one easy case, against 1 of 3 for the baseline. The full agent repa</a:t>
            </a:r>
            <a:r>
              <a:rPr lang="en-US" sz="2200">
                <a:solidFill>
                  <a:srgbClr val="B9C7D6"/>
                </a:solidFill>
                <a:latin typeface="IBM Plex Sans"/>
                <a:ea typeface="IBM Plex Sans"/>
                <a:cs typeface="IBM Plex Sans"/>
                <a:sym typeface="IBM Plex Sans"/>
              </a:rPr>
              <a:t>ired rcran autonomously and produced the expected ARM64 package in final validation.</a:t>
            </a:r>
            <a:endParaRPr sz="2200" b="0" i="0" u="none" strike="noStrike" cap="none">
              <a:solidFill>
                <a:schemeClr val="dk1"/>
              </a:solidFill>
              <a:latin typeface="IBM Plex Sans"/>
              <a:ea typeface="IBM Plex Sans"/>
              <a:cs typeface="IBM Plex Sans"/>
              <a:sym typeface="IBM Plex Sans"/>
            </a:endParaRPr>
          </a:p>
        </p:txBody>
      </p:sp>
      <p:sp>
        <p:nvSpPr>
          <p:cNvPr id="313" name="Google Shape;313;p13"/>
          <p:cNvSpPr/>
          <p:nvPr/>
        </p:nvSpPr>
        <p:spPr>
          <a:xfrm>
            <a:off x="812750" y="3190777"/>
            <a:ext cx="558900" cy="895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rgbClr val="F2A65A"/>
              </a:buClr>
              <a:buSzPts val="3200"/>
              <a:buFont typeface="IBM Plex Sans"/>
              <a:buNone/>
            </a:pPr>
            <a:r>
              <a:rPr lang="en-US" sz="3200" b="1" i="0" u="none" strike="noStrike" cap="none">
                <a:solidFill>
                  <a:srgbClr val="F2A65A"/>
                </a:solidFill>
                <a:latin typeface="IBM Plex Sans"/>
                <a:ea typeface="IBM Plex Sans"/>
                <a:cs typeface="IBM Plex Sans"/>
                <a:sym typeface="IBM Plex Sans"/>
              </a:rPr>
              <a:t>2</a:t>
            </a:r>
            <a:endParaRPr sz="3200" b="0" i="0" u="none" strike="noStrike" cap="none">
              <a:solidFill>
                <a:schemeClr val="dk1"/>
              </a:solidFill>
              <a:latin typeface="IBM Plex Sans"/>
              <a:ea typeface="IBM Plex Sans"/>
              <a:cs typeface="IBM Plex Sans"/>
              <a:sym typeface="IBM Plex Sans"/>
            </a:endParaRPr>
          </a:p>
        </p:txBody>
      </p:sp>
      <p:sp>
        <p:nvSpPr>
          <p:cNvPr id="314" name="Google Shape;314;p13"/>
          <p:cNvSpPr/>
          <p:nvPr/>
        </p:nvSpPr>
        <p:spPr>
          <a:xfrm>
            <a:off x="1549297" y="3334810"/>
            <a:ext cx="10124823" cy="751803"/>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F3F5F7"/>
              </a:buClr>
              <a:buSzPts val="2200"/>
              <a:buFont typeface="IBM Plex Sans"/>
              <a:buNone/>
            </a:pPr>
            <a:r>
              <a:rPr lang="en-US" sz="2200" b="1">
                <a:solidFill>
                  <a:srgbClr val="F3F5F7"/>
                </a:solidFill>
                <a:latin typeface="IBM Plex Sans"/>
                <a:ea typeface="IBM Plex Sans"/>
                <a:cs typeface="IBM Plex Sans"/>
                <a:sym typeface="IBM Plex Sans"/>
              </a:rPr>
              <a:t>Evaluation coverage is complete.</a:t>
            </a:r>
            <a:r>
              <a:rPr lang="en-US" sz="2200">
                <a:solidFill>
                  <a:srgbClr val="B9C7D6"/>
                </a:solidFill>
                <a:latin typeface="IBM Plex Sans"/>
                <a:ea typeface="IBM Plex Sans"/>
                <a:cs typeface="IBM Plex Sans"/>
                <a:sym typeface="IBM Plex Sans"/>
              </a:rPr>
              <a:t> Both agents processed ten development cases plus rcran. Four development cases remain unrepaired; five reverse cases were setup-blocked and one built unchanged.</a:t>
            </a:r>
            <a:endParaRPr sz="2200">
              <a:solidFill>
                <a:srgbClr val="B9C7D6"/>
              </a:solidFill>
              <a:latin typeface="IBM Plex Sans"/>
              <a:ea typeface="IBM Plex Sans"/>
              <a:cs typeface="IBM Plex Sans"/>
              <a:sym typeface="IBM Plex Sans"/>
            </a:endParaRPr>
          </a:p>
          <a:p>
            <a:pPr marL="0" marR="0" lvl="0" indent="0" algn="l" rtl="0">
              <a:lnSpc>
                <a:spcPct val="130000"/>
              </a:lnSpc>
              <a:spcBef>
                <a:spcPts val="0"/>
              </a:spcBef>
              <a:spcAft>
                <a:spcPts val="0"/>
              </a:spcAft>
              <a:buClr>
                <a:srgbClr val="F3F5F7"/>
              </a:buClr>
              <a:buSzPts val="2200"/>
              <a:buFont typeface="IBM Plex Sans"/>
              <a:buNone/>
            </a:pPr>
            <a:endParaRPr sz="2200" b="1">
              <a:solidFill>
                <a:srgbClr val="F3F5F7"/>
              </a:solidFill>
              <a:latin typeface="IBM Plex Sans"/>
              <a:ea typeface="IBM Plex Sans"/>
              <a:cs typeface="IBM Plex Sans"/>
              <a:sym typeface="IBM Plex Sans"/>
            </a:endParaRPr>
          </a:p>
        </p:txBody>
      </p:sp>
      <p:sp>
        <p:nvSpPr>
          <p:cNvPr id="315" name="Google Shape;315;p13"/>
          <p:cNvSpPr/>
          <p:nvPr/>
        </p:nvSpPr>
        <p:spPr>
          <a:xfrm>
            <a:off x="812750" y="4786535"/>
            <a:ext cx="558900" cy="751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rgbClr val="F2A65A"/>
              </a:buClr>
              <a:buSzPts val="3200"/>
              <a:buFont typeface="IBM Plex Sans"/>
              <a:buNone/>
            </a:pPr>
            <a:r>
              <a:rPr lang="en-US" sz="3200" b="1" i="0" u="none" strike="noStrike" cap="none">
                <a:solidFill>
                  <a:srgbClr val="F2A65A"/>
                </a:solidFill>
                <a:latin typeface="IBM Plex Sans"/>
                <a:ea typeface="IBM Plex Sans"/>
                <a:cs typeface="IBM Plex Sans"/>
                <a:sym typeface="IBM Plex Sans"/>
              </a:rPr>
              <a:t>3</a:t>
            </a:r>
            <a:endParaRPr sz="3200" b="0" i="0" u="none" strike="noStrike" cap="none">
              <a:solidFill>
                <a:schemeClr val="dk1"/>
              </a:solidFill>
              <a:latin typeface="IBM Plex Sans"/>
              <a:ea typeface="IBM Plex Sans"/>
              <a:cs typeface="IBM Plex Sans"/>
              <a:sym typeface="IBM Plex Sans"/>
            </a:endParaRPr>
          </a:p>
        </p:txBody>
      </p:sp>
      <p:sp>
        <p:nvSpPr>
          <p:cNvPr id="316" name="Google Shape;316;p13"/>
          <p:cNvSpPr/>
          <p:nvPr/>
        </p:nvSpPr>
        <p:spPr>
          <a:xfrm>
            <a:off x="1549297" y="4786535"/>
            <a:ext cx="10124700" cy="7518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F3F5F7"/>
              </a:buClr>
              <a:buSzPts val="2200"/>
              <a:buFont typeface="IBM Plex Sans"/>
              <a:buNone/>
            </a:pPr>
            <a:r>
              <a:rPr lang="en-US" sz="2200" b="1">
                <a:solidFill>
                  <a:srgbClr val="F3F5F7"/>
                </a:solidFill>
                <a:latin typeface="IBM Plex Sans"/>
                <a:ea typeface="IBM Plex Sans"/>
                <a:cs typeface="IBM Plex Sans"/>
                <a:sym typeface="IBM Plex Sans"/>
              </a:rPr>
              <a:t>The next work is specific. </a:t>
            </a:r>
            <a:r>
              <a:rPr lang="en-US" sz="2200">
                <a:solidFill>
                  <a:srgbClr val="B9C7D6"/>
                </a:solidFill>
                <a:latin typeface="IBM Plex Sans"/>
                <a:ea typeface="IBM Plex Sans"/>
                <a:cs typeface="IBM Plex Sans"/>
                <a:sym typeface="IBM Plex Sans"/>
              </a:rPr>
              <a:t>Improve diagnosis and edit correction, repair the emulated environment, then measure history with controlled repeats.</a:t>
            </a:r>
            <a:endParaRPr sz="2200">
              <a:solidFill>
                <a:srgbClr val="B9C7D6"/>
              </a:solidFill>
              <a:latin typeface="IBM Plex Sans"/>
              <a:ea typeface="IBM Plex Sans"/>
              <a:cs typeface="IBM Plex Sans"/>
              <a:sym typeface="IBM Plex Sans"/>
            </a:endParaRPr>
          </a:p>
          <a:p>
            <a:pPr marL="0" marR="0" lvl="0" indent="0" algn="l" rtl="0">
              <a:lnSpc>
                <a:spcPct val="130000"/>
              </a:lnSpc>
              <a:spcBef>
                <a:spcPts val="0"/>
              </a:spcBef>
              <a:spcAft>
                <a:spcPts val="0"/>
              </a:spcAft>
              <a:buClr>
                <a:srgbClr val="F3F5F7"/>
              </a:buClr>
              <a:buSzPts val="2200"/>
              <a:buFont typeface="IBM Plex Sans"/>
              <a:buNone/>
            </a:pPr>
            <a:endParaRPr sz="2200">
              <a:solidFill>
                <a:srgbClr val="B9C7D6"/>
              </a:solidFill>
              <a:latin typeface="IBM Plex Sans"/>
              <a:ea typeface="IBM Plex Sans"/>
              <a:cs typeface="IBM Plex Sans"/>
              <a:sym typeface="IBM Plex Sans"/>
            </a:endParaRPr>
          </a:p>
        </p:txBody>
      </p:sp>
      <p:sp>
        <p:nvSpPr>
          <p:cNvPr id="317" name="Google Shape;317;p13"/>
          <p:cNvSpPr/>
          <p:nvPr/>
        </p:nvSpPr>
        <p:spPr>
          <a:xfrm>
            <a:off x="812750" y="6238249"/>
            <a:ext cx="9810744"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9C7D6"/>
              </a:buClr>
              <a:buSzPts val="1200"/>
              <a:buFont typeface="IBM Plex Sans"/>
              <a:buNone/>
            </a:pPr>
            <a:r>
              <a:rPr lang="en-US" sz="1200" b="0" i="0" u="none" strike="noStrike" cap="none">
                <a:solidFill>
                  <a:srgbClr val="B9C7D6"/>
                </a:solidFill>
                <a:latin typeface="IBM Plex Sans"/>
                <a:ea typeface="IBM Plex Sans"/>
                <a:cs typeface="IBM Plex Sans"/>
                <a:sym typeface="IBM Plex Sans"/>
              </a:rPr>
              <a:t>Questions welcome · github.com/ec528-fall26/build-bench</a:t>
            </a:r>
            <a:endParaRPr sz="1200" b="0" i="0" u="none" strike="noStrike" cap="none">
              <a:solidFill>
                <a:schemeClr val="dk1"/>
              </a:solidFill>
              <a:latin typeface="IBM Plex Sans"/>
              <a:ea typeface="IBM Plex Sans"/>
              <a:cs typeface="IBM Plex Sans"/>
              <a:sym typeface="IBM Plex Sans"/>
            </a:endParaRPr>
          </a:p>
        </p:txBody>
      </p:sp>
      <p:sp>
        <p:nvSpPr>
          <p:cNvPr id="318" name="Google Shape;318;p13"/>
          <p:cNvSpPr/>
          <p:nvPr/>
        </p:nvSpPr>
        <p:spPr>
          <a:xfrm>
            <a:off x="10820424" y="6238249"/>
            <a:ext cx="55879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B9C7D6"/>
              </a:buClr>
              <a:buSzPts val="1200"/>
              <a:buFont typeface="IBM Plex Sans"/>
              <a:buNone/>
            </a:pPr>
            <a:r>
              <a:rPr lang="en-US" sz="1200">
                <a:solidFill>
                  <a:srgbClr val="B9C7D6"/>
                </a:solidFill>
                <a:latin typeface="IBM Plex Sans"/>
                <a:ea typeface="IBM Plex Sans"/>
                <a:cs typeface="IBM Plex Sans"/>
                <a:sym typeface="IBM Plex Sans"/>
              </a:rPr>
              <a:t>15</a:t>
            </a:r>
            <a:endParaRPr sz="12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323"/>
        <p:cNvGrpSpPr/>
        <p:nvPr/>
      </p:nvGrpSpPr>
      <p:grpSpPr>
        <a:xfrm>
          <a:off x="0" y="0"/>
          <a:ext cx="0" cy="0"/>
          <a:chOff x="0" y="0"/>
          <a:chExt cx="0" cy="0"/>
        </a:xfrm>
      </p:grpSpPr>
      <p:sp>
        <p:nvSpPr>
          <p:cNvPr id="324" name="Google Shape;324;p11"/>
          <p:cNvSpPr txBox="1">
            <a:spLocks noGrp="1"/>
          </p:cNvSpPr>
          <p:nvPr>
            <p:ph type="title"/>
          </p:nvPr>
        </p:nvSpPr>
        <p:spPr>
          <a:xfrm>
            <a:off x="812750" y="609563"/>
            <a:ext cx="10883400" cy="84330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4304F"/>
              </a:buClr>
              <a:buSzPts val="2800"/>
              <a:buFont typeface="IBM Plex Sans"/>
              <a:buNone/>
            </a:pPr>
            <a:r>
              <a:rPr lang="en-US" b="1"/>
              <a:t>Modular implementation, tests and auditable evidence</a:t>
            </a:r>
            <a:endParaRPr sz="2800"/>
          </a:p>
        </p:txBody>
      </p:sp>
      <p:sp>
        <p:nvSpPr>
          <p:cNvPr id="325" name="Google Shape;325;p11"/>
          <p:cNvSpPr/>
          <p:nvPr/>
        </p:nvSpPr>
        <p:spPr>
          <a:xfrm>
            <a:off x="1215882" y="2773288"/>
            <a:ext cx="2508300" cy="1257000"/>
          </a:xfrm>
          <a:prstGeom prst="roundRect">
            <a:avLst>
              <a:gd name="adj" fmla="val 6062"/>
            </a:avLst>
          </a:prstGeom>
          <a:solidFill>
            <a:srgbClr val="EDF1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1"/>
          <p:cNvSpPr/>
          <p:nvPr/>
        </p:nvSpPr>
        <p:spPr>
          <a:xfrm>
            <a:off x="1393650" y="2925633"/>
            <a:ext cx="2217300" cy="528300"/>
          </a:xfrm>
          <a:prstGeom prst="rect">
            <a:avLst/>
          </a:prstGeom>
          <a:noFill/>
          <a:ln>
            <a:noFill/>
          </a:ln>
        </p:spPr>
        <p:txBody>
          <a:bodyPr spcFirstLastPara="1" wrap="square" lIns="0" tIns="0" rIns="0" bIns="0" anchor="t" anchorCtr="0">
            <a:normAutofit/>
          </a:bodyPr>
          <a:lstStyle/>
          <a:p>
            <a:pPr marL="0" marR="0" lvl="0" indent="0" algn="l" rtl="0">
              <a:lnSpc>
                <a:spcPct val="110000"/>
              </a:lnSpc>
              <a:spcBef>
                <a:spcPts val="0"/>
              </a:spcBef>
              <a:spcAft>
                <a:spcPts val="0"/>
              </a:spcAft>
              <a:buClr>
                <a:srgbClr val="1F5F99"/>
              </a:buClr>
              <a:buSzPts val="3600"/>
              <a:buFont typeface="IBM Plex Sans"/>
              <a:buNone/>
            </a:pPr>
            <a:r>
              <a:rPr lang="en-US" sz="3600" b="1">
                <a:solidFill>
                  <a:srgbClr val="1F5F99"/>
                </a:solidFill>
                <a:latin typeface="IBM Plex Sans"/>
                <a:ea typeface="IBM Plex Sans"/>
                <a:cs typeface="IBM Plex Sans"/>
                <a:sym typeface="IBM Plex Sans"/>
              </a:rPr>
              <a:t>79</a:t>
            </a:r>
            <a:endParaRPr sz="3600" b="0" i="0" u="none" strike="noStrike" cap="none">
              <a:solidFill>
                <a:schemeClr val="dk1"/>
              </a:solidFill>
              <a:latin typeface="IBM Plex Sans"/>
              <a:ea typeface="IBM Plex Sans"/>
              <a:cs typeface="IBM Plex Sans"/>
              <a:sym typeface="IBM Plex Sans"/>
            </a:endParaRPr>
          </a:p>
        </p:txBody>
      </p:sp>
      <p:sp>
        <p:nvSpPr>
          <p:cNvPr id="327" name="Google Shape;327;p11"/>
          <p:cNvSpPr/>
          <p:nvPr/>
        </p:nvSpPr>
        <p:spPr>
          <a:xfrm>
            <a:off x="1393650" y="3466610"/>
            <a:ext cx="2217300" cy="436800"/>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4A5568"/>
              </a:buClr>
              <a:buSzPts val="1200"/>
              <a:buFont typeface="IBM Plex Sans"/>
              <a:buNone/>
            </a:pPr>
            <a:r>
              <a:rPr lang="en-US" sz="1200">
                <a:solidFill>
                  <a:srgbClr val="4A5568"/>
                </a:solidFill>
                <a:latin typeface="IBM Plex Sans"/>
                <a:ea typeface="IBM Plex Sans"/>
                <a:cs typeface="IBM Plex Sans"/>
                <a:sym typeface="IBM Plex Sans"/>
              </a:rPr>
              <a:t>Harness tests passed at the recorded milestone</a:t>
            </a:r>
            <a:endParaRPr sz="1200" b="0" i="0" u="none" strike="noStrike" cap="none">
              <a:solidFill>
                <a:schemeClr val="dk1"/>
              </a:solidFill>
              <a:latin typeface="IBM Plex Sans"/>
              <a:ea typeface="IBM Plex Sans"/>
              <a:cs typeface="IBM Plex Sans"/>
              <a:sym typeface="IBM Plex Sans"/>
            </a:endParaRPr>
          </a:p>
        </p:txBody>
      </p:sp>
      <p:sp>
        <p:nvSpPr>
          <p:cNvPr id="328" name="Google Shape;328;p11"/>
          <p:cNvSpPr/>
          <p:nvPr/>
        </p:nvSpPr>
        <p:spPr>
          <a:xfrm>
            <a:off x="3901968" y="2773288"/>
            <a:ext cx="2508300" cy="1257000"/>
          </a:xfrm>
          <a:prstGeom prst="roundRect">
            <a:avLst>
              <a:gd name="adj" fmla="val 6062"/>
            </a:avLst>
          </a:prstGeom>
          <a:solidFill>
            <a:srgbClr val="EDF1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1"/>
          <p:cNvSpPr/>
          <p:nvPr/>
        </p:nvSpPr>
        <p:spPr>
          <a:xfrm>
            <a:off x="4079736" y="2925633"/>
            <a:ext cx="2217300" cy="528300"/>
          </a:xfrm>
          <a:prstGeom prst="rect">
            <a:avLst/>
          </a:prstGeom>
          <a:noFill/>
          <a:ln>
            <a:noFill/>
          </a:ln>
        </p:spPr>
        <p:txBody>
          <a:bodyPr spcFirstLastPara="1" wrap="square" lIns="0" tIns="0" rIns="0" bIns="0" anchor="t" anchorCtr="0">
            <a:normAutofit/>
          </a:bodyPr>
          <a:lstStyle/>
          <a:p>
            <a:pPr marL="0" marR="0" lvl="0" indent="0" algn="l" rtl="0">
              <a:lnSpc>
                <a:spcPct val="110000"/>
              </a:lnSpc>
              <a:spcBef>
                <a:spcPts val="0"/>
              </a:spcBef>
              <a:spcAft>
                <a:spcPts val="0"/>
              </a:spcAft>
              <a:buClr>
                <a:srgbClr val="1F5F99"/>
              </a:buClr>
              <a:buSzPts val="3600"/>
              <a:buFont typeface="IBM Plex Sans"/>
              <a:buNone/>
            </a:pPr>
            <a:r>
              <a:rPr lang="en-US" sz="3600" b="1" i="0" u="none" strike="noStrike" cap="none">
                <a:solidFill>
                  <a:srgbClr val="1F5F99"/>
                </a:solidFill>
                <a:latin typeface="IBM Plex Sans"/>
                <a:ea typeface="IBM Plex Sans"/>
                <a:cs typeface="IBM Plex Sans"/>
                <a:sym typeface="IBM Plex Sans"/>
              </a:rPr>
              <a:t>0</a:t>
            </a:r>
            <a:endParaRPr sz="3600" b="0" i="0" u="none" strike="noStrike" cap="none">
              <a:solidFill>
                <a:schemeClr val="dk1"/>
              </a:solidFill>
              <a:latin typeface="IBM Plex Sans"/>
              <a:ea typeface="IBM Plex Sans"/>
              <a:cs typeface="IBM Plex Sans"/>
              <a:sym typeface="IBM Plex Sans"/>
            </a:endParaRPr>
          </a:p>
        </p:txBody>
      </p:sp>
      <p:sp>
        <p:nvSpPr>
          <p:cNvPr id="330" name="Google Shape;330;p11"/>
          <p:cNvSpPr/>
          <p:nvPr/>
        </p:nvSpPr>
        <p:spPr>
          <a:xfrm>
            <a:off x="4079736" y="3466610"/>
            <a:ext cx="2217300" cy="436800"/>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third-party </a:t>
            </a:r>
            <a:r>
              <a:rPr lang="en-US" sz="1200">
                <a:solidFill>
                  <a:srgbClr val="4A5568"/>
                </a:solidFill>
                <a:latin typeface="IBM Plex Sans"/>
                <a:ea typeface="IBM Plex Sans"/>
                <a:cs typeface="IBM Plex Sans"/>
                <a:sym typeface="IBM Plex Sans"/>
              </a:rPr>
              <a:t>python dependencies in the agent</a:t>
            </a:r>
            <a:endParaRPr sz="1200" b="0" i="0" u="none" strike="noStrike" cap="none">
              <a:solidFill>
                <a:schemeClr val="dk1"/>
              </a:solidFill>
              <a:latin typeface="IBM Plex Sans"/>
              <a:ea typeface="IBM Plex Sans"/>
              <a:cs typeface="IBM Plex Sans"/>
              <a:sym typeface="IBM Plex Sans"/>
            </a:endParaRPr>
          </a:p>
        </p:txBody>
      </p:sp>
      <p:sp>
        <p:nvSpPr>
          <p:cNvPr id="331" name="Google Shape;331;p11"/>
          <p:cNvSpPr/>
          <p:nvPr/>
        </p:nvSpPr>
        <p:spPr>
          <a:xfrm>
            <a:off x="6588053" y="2773288"/>
            <a:ext cx="2508300" cy="1257000"/>
          </a:xfrm>
          <a:prstGeom prst="roundRect">
            <a:avLst>
              <a:gd name="adj" fmla="val 6062"/>
            </a:avLst>
          </a:prstGeom>
          <a:solidFill>
            <a:srgbClr val="EDF1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1"/>
          <p:cNvSpPr/>
          <p:nvPr/>
        </p:nvSpPr>
        <p:spPr>
          <a:xfrm>
            <a:off x="6765822" y="2925633"/>
            <a:ext cx="2217300" cy="528300"/>
          </a:xfrm>
          <a:prstGeom prst="rect">
            <a:avLst/>
          </a:prstGeom>
          <a:noFill/>
          <a:ln>
            <a:noFill/>
          </a:ln>
        </p:spPr>
        <p:txBody>
          <a:bodyPr spcFirstLastPara="1" wrap="square" lIns="0" tIns="0" rIns="0" bIns="0" anchor="t" anchorCtr="0">
            <a:normAutofit/>
          </a:bodyPr>
          <a:lstStyle/>
          <a:p>
            <a:pPr marL="0" marR="0" lvl="0" indent="0" algn="l" rtl="0">
              <a:lnSpc>
                <a:spcPct val="110000"/>
              </a:lnSpc>
              <a:spcBef>
                <a:spcPts val="0"/>
              </a:spcBef>
              <a:spcAft>
                <a:spcPts val="0"/>
              </a:spcAft>
              <a:buClr>
                <a:srgbClr val="1F5F99"/>
              </a:buClr>
              <a:buSzPts val="3600"/>
              <a:buFont typeface="IBM Plex Sans"/>
              <a:buNone/>
            </a:pPr>
            <a:r>
              <a:rPr lang="en-US" sz="3600" b="1" i="0" u="none" strike="noStrike" cap="none">
                <a:solidFill>
                  <a:srgbClr val="1F5F99"/>
                </a:solidFill>
                <a:latin typeface="IBM Plex Sans"/>
                <a:ea typeface="IBM Plex Sans"/>
                <a:cs typeface="IBM Plex Sans"/>
                <a:sym typeface="IBM Plex Sans"/>
              </a:rPr>
              <a:t>4</a:t>
            </a:r>
            <a:endParaRPr sz="3600" b="0" i="0" u="none" strike="noStrike" cap="none">
              <a:solidFill>
                <a:schemeClr val="dk1"/>
              </a:solidFill>
              <a:latin typeface="IBM Plex Sans"/>
              <a:ea typeface="IBM Plex Sans"/>
              <a:cs typeface="IBM Plex Sans"/>
              <a:sym typeface="IBM Plex Sans"/>
            </a:endParaRPr>
          </a:p>
        </p:txBody>
      </p:sp>
      <p:sp>
        <p:nvSpPr>
          <p:cNvPr id="333" name="Google Shape;333;p11"/>
          <p:cNvSpPr/>
          <p:nvPr/>
        </p:nvSpPr>
        <p:spPr>
          <a:xfrm>
            <a:off x="6765822" y="3466610"/>
            <a:ext cx="2217300" cy="436800"/>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switches turn evidence, tools, builds or history off</a:t>
            </a:r>
            <a:endParaRPr sz="1200" b="0" i="0" u="none" strike="noStrike" cap="none">
              <a:solidFill>
                <a:schemeClr val="dk1"/>
              </a:solidFill>
              <a:latin typeface="IBM Plex Sans"/>
              <a:ea typeface="IBM Plex Sans"/>
              <a:cs typeface="IBM Plex Sans"/>
              <a:sym typeface="IBM Plex Sans"/>
            </a:endParaRPr>
          </a:p>
        </p:txBody>
      </p:sp>
      <p:sp>
        <p:nvSpPr>
          <p:cNvPr id="334" name="Google Shape;334;p11"/>
          <p:cNvSpPr/>
          <p:nvPr/>
        </p:nvSpPr>
        <p:spPr>
          <a:xfrm>
            <a:off x="9274139" y="2773288"/>
            <a:ext cx="2508300" cy="1257000"/>
          </a:xfrm>
          <a:prstGeom prst="roundRect">
            <a:avLst>
              <a:gd name="adj" fmla="val 6062"/>
            </a:avLst>
          </a:prstGeom>
          <a:solidFill>
            <a:srgbClr val="EDF1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1"/>
          <p:cNvSpPr/>
          <p:nvPr/>
        </p:nvSpPr>
        <p:spPr>
          <a:xfrm>
            <a:off x="9451907" y="2925633"/>
            <a:ext cx="2217300" cy="528300"/>
          </a:xfrm>
          <a:prstGeom prst="rect">
            <a:avLst/>
          </a:prstGeom>
          <a:noFill/>
          <a:ln>
            <a:noFill/>
          </a:ln>
        </p:spPr>
        <p:txBody>
          <a:bodyPr spcFirstLastPara="1" wrap="square" lIns="0" tIns="0" rIns="0" bIns="0" anchor="t" anchorCtr="0">
            <a:normAutofit/>
          </a:bodyPr>
          <a:lstStyle/>
          <a:p>
            <a:pPr marL="0" marR="0" lvl="0" indent="0" algn="l" rtl="0">
              <a:lnSpc>
                <a:spcPct val="110000"/>
              </a:lnSpc>
              <a:spcBef>
                <a:spcPts val="0"/>
              </a:spcBef>
              <a:spcAft>
                <a:spcPts val="0"/>
              </a:spcAft>
              <a:buClr>
                <a:srgbClr val="1F5F99"/>
              </a:buClr>
              <a:buSzPts val="3600"/>
              <a:buFont typeface="IBM Plex Sans"/>
              <a:buNone/>
            </a:pPr>
            <a:r>
              <a:rPr lang="en-US" sz="3600" b="1" i="0" u="none" strike="noStrike" cap="none">
                <a:solidFill>
                  <a:srgbClr val="1F5F99"/>
                </a:solidFill>
                <a:latin typeface="IBM Plex Sans"/>
                <a:ea typeface="IBM Plex Sans"/>
                <a:cs typeface="IBM Plex Sans"/>
                <a:sym typeface="IBM Plex Sans"/>
              </a:rPr>
              <a:t>1</a:t>
            </a:r>
            <a:endParaRPr sz="3600" b="0" i="0" u="none" strike="noStrike" cap="none">
              <a:solidFill>
                <a:schemeClr val="dk1"/>
              </a:solidFill>
              <a:latin typeface="IBM Plex Sans"/>
              <a:ea typeface="IBM Plex Sans"/>
              <a:cs typeface="IBM Plex Sans"/>
              <a:sym typeface="IBM Plex Sans"/>
            </a:endParaRPr>
          </a:p>
        </p:txBody>
      </p:sp>
      <p:sp>
        <p:nvSpPr>
          <p:cNvPr id="336" name="Google Shape;336;p11"/>
          <p:cNvSpPr/>
          <p:nvPr/>
        </p:nvSpPr>
        <p:spPr>
          <a:xfrm>
            <a:off x="9451907" y="3466610"/>
            <a:ext cx="2217300" cy="436800"/>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4A5568"/>
              </a:buClr>
              <a:buSzPts val="1200"/>
              <a:buFont typeface="IBM Plex Sans"/>
              <a:buNone/>
            </a:pPr>
            <a:r>
              <a:rPr lang="en-US" sz="1200" b="0" i="0" u="none" strike="noStrike" cap="none">
                <a:solidFill>
                  <a:srgbClr val="4A5568"/>
                </a:solidFill>
                <a:latin typeface="IBM Plex Sans"/>
                <a:ea typeface="IBM Plex Sans"/>
                <a:cs typeface="IBM Plex Sans"/>
                <a:sym typeface="IBM Plex Sans"/>
              </a:rPr>
              <a:t>frozen baseline that automated checks keep unchanged</a:t>
            </a:r>
            <a:endParaRPr sz="1200" b="0" i="0" u="none" strike="noStrike" cap="none">
              <a:solidFill>
                <a:schemeClr val="dk1"/>
              </a:solidFill>
              <a:latin typeface="IBM Plex Sans"/>
              <a:ea typeface="IBM Plex Sans"/>
              <a:cs typeface="IBM Plex Sans"/>
              <a:sym typeface="IBM Plex Sans"/>
            </a:endParaRPr>
          </a:p>
        </p:txBody>
      </p:sp>
      <p:sp>
        <p:nvSpPr>
          <p:cNvPr id="337" name="Google Shape;337;p11"/>
          <p:cNvSpPr/>
          <p:nvPr/>
        </p:nvSpPr>
        <p:spPr>
          <a:xfrm>
            <a:off x="409563" y="4274856"/>
            <a:ext cx="3374100" cy="1661100"/>
          </a:xfrm>
          <a:prstGeom prst="roundRect">
            <a:avLst>
              <a:gd name="adj" fmla="val 4205"/>
            </a:avLst>
          </a:prstGeom>
          <a:solidFill>
            <a:srgbClr val="FCFCFA"/>
          </a:solidFill>
          <a:ln w="12700" cap="flat" cmpd="sng">
            <a:solidFill>
              <a:srgbClr val="D5DBE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1"/>
          <p:cNvSpPr/>
          <p:nvPr/>
        </p:nvSpPr>
        <p:spPr>
          <a:xfrm>
            <a:off x="617994" y="4483284"/>
            <a:ext cx="3045900" cy="26910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4304F"/>
              </a:buClr>
              <a:buSzPts val="1600"/>
              <a:buFont typeface="IBM Plex Sans"/>
              <a:buNone/>
            </a:pPr>
            <a:r>
              <a:rPr lang="en-US" sz="1600" b="1" i="0" u="none" strike="noStrike" cap="none">
                <a:solidFill>
                  <a:srgbClr val="14304F"/>
                </a:solidFill>
                <a:latin typeface="IBM Plex Sans"/>
                <a:ea typeface="IBM Plex Sans"/>
                <a:cs typeface="IBM Plex Sans"/>
                <a:sym typeface="IBM Plex Sans"/>
              </a:rPr>
              <a:t>Shared contracts first</a:t>
            </a:r>
            <a:endParaRPr sz="1600" b="0" i="0" u="none" strike="noStrike" cap="none">
              <a:solidFill>
                <a:schemeClr val="dk1"/>
              </a:solidFill>
              <a:latin typeface="IBM Plex Sans"/>
              <a:ea typeface="IBM Plex Sans"/>
              <a:cs typeface="IBM Plex Sans"/>
              <a:sym typeface="IBM Plex Sans"/>
            </a:endParaRPr>
          </a:p>
        </p:txBody>
      </p:sp>
      <p:sp>
        <p:nvSpPr>
          <p:cNvPr id="339" name="Google Shape;339;p11"/>
          <p:cNvSpPr/>
          <p:nvPr/>
        </p:nvSpPr>
        <p:spPr>
          <a:xfrm>
            <a:off x="617994" y="4803252"/>
            <a:ext cx="3045900" cy="9498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300"/>
              <a:buFont typeface="IBM Plex Sans"/>
              <a:buNone/>
            </a:pPr>
            <a:r>
              <a:rPr lang="en-US" sz="1300" b="0" i="0" u="none" strike="noStrike" cap="none">
                <a:solidFill>
                  <a:srgbClr val="4A5568"/>
                </a:solidFill>
                <a:latin typeface="IBM Plex Sans"/>
                <a:ea typeface="IBM Plex Sans"/>
                <a:cs typeface="IBM Plex Sans"/>
                <a:sym typeface="IBM Plex Sans"/>
              </a:rPr>
              <a:t>We agreed the data passed between parts on October 7, so each part was built and tested against stand-ins before the others existed.</a:t>
            </a:r>
            <a:endParaRPr sz="1300" b="0" i="0" u="none" strike="noStrike" cap="none">
              <a:solidFill>
                <a:schemeClr val="dk1"/>
              </a:solidFill>
              <a:latin typeface="IBM Plex Sans"/>
              <a:ea typeface="IBM Plex Sans"/>
              <a:cs typeface="IBM Plex Sans"/>
              <a:sym typeface="IBM Plex Sans"/>
            </a:endParaRPr>
          </a:p>
        </p:txBody>
      </p:sp>
      <p:sp>
        <p:nvSpPr>
          <p:cNvPr id="340" name="Google Shape;340;p11"/>
          <p:cNvSpPr/>
          <p:nvPr/>
        </p:nvSpPr>
        <p:spPr>
          <a:xfrm>
            <a:off x="3999430" y="4274856"/>
            <a:ext cx="3374100" cy="1661100"/>
          </a:xfrm>
          <a:prstGeom prst="roundRect">
            <a:avLst>
              <a:gd name="adj" fmla="val 4205"/>
            </a:avLst>
          </a:prstGeom>
          <a:solidFill>
            <a:srgbClr val="FCFCFA"/>
          </a:solidFill>
          <a:ln w="12700" cap="flat" cmpd="sng">
            <a:solidFill>
              <a:srgbClr val="D5DBE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1"/>
          <p:cNvSpPr/>
          <p:nvPr/>
        </p:nvSpPr>
        <p:spPr>
          <a:xfrm>
            <a:off x="4207861" y="4483284"/>
            <a:ext cx="3045900" cy="26910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4304F"/>
              </a:buClr>
              <a:buSzPts val="1600"/>
              <a:buFont typeface="IBM Plex Sans"/>
              <a:buNone/>
            </a:pPr>
            <a:r>
              <a:rPr lang="en-US" sz="1600" b="1">
                <a:solidFill>
                  <a:srgbClr val="14304F"/>
                </a:solidFill>
                <a:latin typeface="IBM Plex Sans"/>
                <a:ea typeface="IBM Plex Sans"/>
                <a:cs typeface="IBM Plex Sans"/>
                <a:sym typeface="IBM Plex Sans"/>
              </a:rPr>
              <a:t>Run evidence is retained</a:t>
            </a:r>
            <a:endParaRPr sz="1600" b="0" i="0" u="none" strike="noStrike" cap="none">
              <a:solidFill>
                <a:schemeClr val="dk1"/>
              </a:solidFill>
              <a:latin typeface="IBM Plex Sans"/>
              <a:ea typeface="IBM Plex Sans"/>
              <a:cs typeface="IBM Plex Sans"/>
              <a:sym typeface="IBM Plex Sans"/>
            </a:endParaRPr>
          </a:p>
        </p:txBody>
      </p:sp>
      <p:sp>
        <p:nvSpPr>
          <p:cNvPr id="342" name="Google Shape;342;p11"/>
          <p:cNvSpPr/>
          <p:nvPr/>
        </p:nvSpPr>
        <p:spPr>
          <a:xfrm>
            <a:off x="4207861" y="4803252"/>
            <a:ext cx="3045900" cy="7188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300"/>
              <a:buFont typeface="IBM Plex Sans"/>
              <a:buNone/>
            </a:pPr>
            <a:r>
              <a:rPr lang="en-US" sz="1300" b="0" i="0" u="none" strike="noStrike" cap="none">
                <a:solidFill>
                  <a:srgbClr val="4A5568"/>
                </a:solidFill>
                <a:latin typeface="IBM Plex Sans"/>
                <a:ea typeface="IBM Plex Sans"/>
                <a:cs typeface="IBM Plex Sans"/>
                <a:sym typeface="IBM Plex Sans"/>
              </a:rPr>
              <a:t>Each run records every hypothesis, edit, build result and token count, so we analyze failures instead of guessing.</a:t>
            </a:r>
            <a:endParaRPr sz="1300" b="0" i="0" u="none" strike="noStrike" cap="none">
              <a:solidFill>
                <a:schemeClr val="dk1"/>
              </a:solidFill>
              <a:latin typeface="IBM Plex Sans"/>
              <a:ea typeface="IBM Plex Sans"/>
              <a:cs typeface="IBM Plex Sans"/>
              <a:sym typeface="IBM Plex Sans"/>
            </a:endParaRPr>
          </a:p>
        </p:txBody>
      </p:sp>
      <p:sp>
        <p:nvSpPr>
          <p:cNvPr id="343" name="Google Shape;343;p11"/>
          <p:cNvSpPr/>
          <p:nvPr/>
        </p:nvSpPr>
        <p:spPr>
          <a:xfrm>
            <a:off x="7589357" y="4274856"/>
            <a:ext cx="3374100" cy="1661100"/>
          </a:xfrm>
          <a:prstGeom prst="roundRect">
            <a:avLst>
              <a:gd name="adj" fmla="val 4205"/>
            </a:avLst>
          </a:prstGeom>
          <a:solidFill>
            <a:srgbClr val="FCFCFA"/>
          </a:solidFill>
          <a:ln w="12700" cap="flat" cmpd="sng">
            <a:solidFill>
              <a:srgbClr val="D5DBE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1"/>
          <p:cNvSpPr/>
          <p:nvPr/>
        </p:nvSpPr>
        <p:spPr>
          <a:xfrm>
            <a:off x="7797788" y="4483284"/>
            <a:ext cx="3045900" cy="26910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4304F"/>
              </a:buClr>
              <a:buSzPts val="1600"/>
              <a:buFont typeface="IBM Plex Sans"/>
              <a:buNone/>
            </a:pPr>
            <a:r>
              <a:rPr lang="en-US" sz="1600" b="1">
                <a:solidFill>
                  <a:srgbClr val="14304F"/>
                </a:solidFill>
                <a:latin typeface="IBM Plex Sans"/>
                <a:ea typeface="IBM Plex Sans"/>
                <a:cs typeface="IBM Plex Sans"/>
                <a:sym typeface="IBM Plex Sans"/>
              </a:rPr>
              <a:t>Restricted agent tools</a:t>
            </a:r>
            <a:endParaRPr sz="1600" b="0" i="0" u="none" strike="noStrike" cap="none">
              <a:solidFill>
                <a:schemeClr val="dk1"/>
              </a:solidFill>
              <a:latin typeface="IBM Plex Sans"/>
              <a:ea typeface="IBM Plex Sans"/>
              <a:cs typeface="IBM Plex Sans"/>
              <a:sym typeface="IBM Plex Sans"/>
            </a:endParaRPr>
          </a:p>
        </p:txBody>
      </p:sp>
      <p:sp>
        <p:nvSpPr>
          <p:cNvPr id="345" name="Google Shape;345;p11"/>
          <p:cNvSpPr/>
          <p:nvPr/>
        </p:nvSpPr>
        <p:spPr>
          <a:xfrm>
            <a:off x="7797788" y="4803252"/>
            <a:ext cx="3045900" cy="7188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300"/>
              <a:buFont typeface="IBM Plex Sans"/>
              <a:buNone/>
            </a:pPr>
            <a:r>
              <a:rPr lang="en-US" sz="1300">
                <a:solidFill>
                  <a:srgbClr val="4A5568"/>
                </a:solidFill>
                <a:latin typeface="IBM Plex Sans"/>
                <a:ea typeface="IBM Plex Sans"/>
                <a:cs typeface="IBM Plex Sans"/>
                <a:sym typeface="IBM Plex Sans"/>
              </a:rPr>
              <a:t>File access and edits are constrained. The model has no general shell-execution tool; builds run through the harness</a:t>
            </a:r>
            <a:endParaRPr sz="1300" b="0" i="0" u="none" strike="noStrike" cap="none">
              <a:solidFill>
                <a:schemeClr val="dk1"/>
              </a:solidFill>
              <a:latin typeface="IBM Plex Sans"/>
              <a:ea typeface="IBM Plex Sans"/>
              <a:cs typeface="IBM Plex Sans"/>
              <a:sym typeface="IBM Plex Sans"/>
            </a:endParaRPr>
          </a:p>
        </p:txBody>
      </p:sp>
      <p:sp>
        <p:nvSpPr>
          <p:cNvPr id="346" name="Google Shape;346;p11"/>
          <p:cNvSpPr/>
          <p:nvPr/>
        </p:nvSpPr>
        <p:spPr>
          <a:xfrm>
            <a:off x="812750" y="6238249"/>
            <a:ext cx="9810744" cy="238732"/>
          </a:xfrm>
          <a:prstGeom prst="rect">
            <a:avLst/>
          </a:prstGeom>
          <a:noFill/>
          <a:ln>
            <a:noFill/>
          </a:ln>
        </p:spPr>
        <p:txBody>
          <a:bodyPr spcFirstLastPara="1" wrap="square" lIns="0" tIns="0" rIns="0" bIns="0" anchor="t" anchorCtr="0">
            <a:normAutofit/>
          </a:bodyPr>
          <a:lstStyle/>
          <a:p>
            <a:pPr marL="0" lvl="0" indent="0" algn="l" rtl="0">
              <a:lnSpc>
                <a:spcPct val="152727"/>
              </a:lnSpc>
              <a:spcBef>
                <a:spcPts val="0"/>
              </a:spcBef>
              <a:spcAft>
                <a:spcPts val="0"/>
              </a:spcAft>
              <a:buNone/>
            </a:pPr>
            <a:r>
              <a:rPr lang="en-US" sz="1100">
                <a:solidFill>
                  <a:srgbClr val="6B7684"/>
                </a:solidFill>
                <a:latin typeface="IBM Plex Sans"/>
                <a:ea typeface="IBM Plex Sans"/>
                <a:cs typeface="IBM Plex Sans"/>
                <a:sym typeface="IBM Plex Sans"/>
              </a:rPr>
              <a:t>Recorded milestone: 320 agent + 79 harness tests; current TA wrappers: 15 tests. Docker/system tools required.</a:t>
            </a:r>
            <a:endParaRPr sz="1100">
              <a:solidFill>
                <a:srgbClr val="6B7684"/>
              </a:solidFill>
              <a:latin typeface="IBM Plex Sans"/>
              <a:ea typeface="IBM Plex Sans"/>
              <a:cs typeface="IBM Plex Sans"/>
              <a:sym typeface="IBM Plex Sans"/>
            </a:endParaRPr>
          </a:p>
          <a:p>
            <a:pPr marL="0" marR="0" lvl="0" indent="0" algn="l" rtl="0">
              <a:lnSpc>
                <a:spcPct val="140000"/>
              </a:lnSpc>
              <a:spcBef>
                <a:spcPts val="0"/>
              </a:spcBef>
              <a:spcAft>
                <a:spcPts val="0"/>
              </a:spcAft>
              <a:buClr>
                <a:srgbClr val="6B7684"/>
              </a:buClr>
              <a:buSzPts val="1200"/>
              <a:buFont typeface="IBM Plex Sans"/>
              <a:buNone/>
            </a:pPr>
            <a:endParaRPr sz="1200">
              <a:solidFill>
                <a:srgbClr val="6B7684"/>
              </a:solidFill>
              <a:latin typeface="IBM Plex Sans"/>
              <a:ea typeface="IBM Plex Sans"/>
              <a:cs typeface="IBM Plex Sans"/>
              <a:sym typeface="IBM Plex Sans"/>
            </a:endParaRPr>
          </a:p>
        </p:txBody>
      </p:sp>
      <p:sp>
        <p:nvSpPr>
          <p:cNvPr id="347" name="Google Shape;347;p11"/>
          <p:cNvSpPr/>
          <p:nvPr/>
        </p:nvSpPr>
        <p:spPr>
          <a:xfrm>
            <a:off x="10820424" y="6238249"/>
            <a:ext cx="55879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6B7684"/>
              </a:buClr>
              <a:buSzPts val="1200"/>
              <a:buFont typeface="IBM Plex Sans"/>
              <a:buNone/>
            </a:pPr>
            <a:r>
              <a:rPr lang="en-US" sz="1200">
                <a:solidFill>
                  <a:srgbClr val="6B7684"/>
                </a:solidFill>
                <a:latin typeface="IBM Plex Sans"/>
                <a:ea typeface="IBM Plex Sans"/>
                <a:cs typeface="IBM Plex Sans"/>
                <a:sym typeface="IBM Plex Sans"/>
              </a:rPr>
              <a:t>13</a:t>
            </a:r>
            <a:endParaRPr sz="1200" b="0" i="0" u="none" strike="noStrike" cap="none">
              <a:solidFill>
                <a:schemeClr val="dk1"/>
              </a:solidFill>
              <a:latin typeface="IBM Plex Sans"/>
              <a:ea typeface="IBM Plex Sans"/>
              <a:cs typeface="IBM Plex Sans"/>
              <a:sym typeface="IBM Plex Sans"/>
            </a:endParaRPr>
          </a:p>
        </p:txBody>
      </p:sp>
      <p:pic>
        <p:nvPicPr>
          <p:cNvPr id="348" name="Google Shape;348;p11"/>
          <p:cNvPicPr preferRelativeResize="0"/>
          <p:nvPr/>
        </p:nvPicPr>
        <p:blipFill>
          <a:blip r:embed="rId3">
            <a:alphaModFix/>
          </a:blip>
          <a:stretch>
            <a:fillRect/>
          </a:stretch>
        </p:blipFill>
        <p:spPr>
          <a:xfrm>
            <a:off x="4521041" y="1097800"/>
            <a:ext cx="3063110" cy="1547025"/>
          </a:xfrm>
          <a:prstGeom prst="rect">
            <a:avLst/>
          </a:prstGeom>
          <a:noFill/>
          <a:ln>
            <a:noFill/>
          </a:ln>
        </p:spPr>
      </p:pic>
      <p:pic>
        <p:nvPicPr>
          <p:cNvPr id="349" name="Google Shape;349;p11"/>
          <p:cNvPicPr preferRelativeResize="0"/>
          <p:nvPr/>
        </p:nvPicPr>
        <p:blipFill>
          <a:blip r:embed="rId4">
            <a:alphaModFix/>
          </a:blip>
          <a:stretch>
            <a:fillRect/>
          </a:stretch>
        </p:blipFill>
        <p:spPr>
          <a:xfrm>
            <a:off x="4368950" y="1154899"/>
            <a:ext cx="2723688" cy="949800"/>
          </a:xfrm>
          <a:prstGeom prst="rect">
            <a:avLst/>
          </a:prstGeom>
          <a:noFill/>
          <a:ln>
            <a:noFill/>
          </a:ln>
        </p:spPr>
      </p:pic>
      <p:pic>
        <p:nvPicPr>
          <p:cNvPr id="350" name="Google Shape;350;p11"/>
          <p:cNvPicPr preferRelativeResize="0"/>
          <p:nvPr/>
        </p:nvPicPr>
        <p:blipFill>
          <a:blip r:embed="rId5">
            <a:alphaModFix/>
          </a:blip>
          <a:stretch>
            <a:fillRect/>
          </a:stretch>
        </p:blipFill>
        <p:spPr>
          <a:xfrm>
            <a:off x="4573050" y="1761638"/>
            <a:ext cx="3045900" cy="702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DF1F5"/>
        </a:solidFill>
        <a:effectLst/>
      </p:bgPr>
    </p:bg>
    <p:spTree>
      <p:nvGrpSpPr>
        <p:cNvPr id="1" name="Shape 355"/>
        <p:cNvGrpSpPr/>
        <p:nvPr/>
      </p:nvGrpSpPr>
      <p:grpSpPr>
        <a:xfrm>
          <a:off x="0" y="0"/>
          <a:ext cx="0" cy="0"/>
          <a:chOff x="0" y="0"/>
          <a:chExt cx="0" cy="0"/>
        </a:xfrm>
      </p:grpSpPr>
      <p:sp>
        <p:nvSpPr>
          <p:cNvPr id="356" name="Google Shape;356;p14"/>
          <p:cNvSpPr/>
          <p:nvPr/>
        </p:nvSpPr>
        <p:spPr>
          <a:xfrm>
            <a:off x="812750" y="609563"/>
            <a:ext cx="10883467"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4530F"/>
              </a:buClr>
              <a:buSzPts val="1200"/>
              <a:buFont typeface="IBM Plex Sans"/>
              <a:buNone/>
            </a:pPr>
            <a:r>
              <a:rPr lang="en-US" sz="1200" b="1" i="0" u="none" strike="noStrike" cap="none">
                <a:solidFill>
                  <a:srgbClr val="B4530F"/>
                </a:solidFill>
                <a:latin typeface="IBM Plex Sans"/>
                <a:ea typeface="IBM Plex Sans"/>
                <a:cs typeface="IBM Plex Sans"/>
                <a:sym typeface="IBM Plex Sans"/>
              </a:rPr>
              <a:t>APPENDIX A</a:t>
            </a:r>
            <a:endParaRPr sz="1200" b="0" i="0" u="none" strike="noStrike" cap="none">
              <a:solidFill>
                <a:schemeClr val="dk1"/>
              </a:solidFill>
              <a:latin typeface="IBM Plex Sans"/>
              <a:ea typeface="IBM Plex Sans"/>
              <a:cs typeface="IBM Plex Sans"/>
              <a:sym typeface="IBM Plex Sans"/>
            </a:endParaRPr>
          </a:p>
        </p:txBody>
      </p:sp>
      <p:sp>
        <p:nvSpPr>
          <p:cNvPr id="357" name="Google Shape;357;p14"/>
          <p:cNvSpPr txBox="1">
            <a:spLocks noGrp="1"/>
          </p:cNvSpPr>
          <p:nvPr>
            <p:ph type="title"/>
          </p:nvPr>
        </p:nvSpPr>
        <p:spPr>
          <a:xfrm>
            <a:off x="812750" y="899040"/>
            <a:ext cx="10883467" cy="843222"/>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4304F"/>
              </a:buClr>
              <a:buSzPts val="2800"/>
              <a:buFont typeface="IBM Plex Sans"/>
              <a:buNone/>
            </a:pPr>
            <a:r>
              <a:rPr lang="en-US" sz="2800" b="1" i="0">
                <a:solidFill>
                  <a:srgbClr val="14304F"/>
                </a:solidFill>
                <a:latin typeface="IBM Plex Sans"/>
                <a:ea typeface="IBM Plex Sans"/>
                <a:cs typeface="IBM Plex Sans"/>
                <a:sym typeface="IBM Plex Sans"/>
              </a:rPr>
              <a:t>Why the model answers in JSON text instead of native tool calling</a:t>
            </a:r>
            <a:endParaRPr sz="2800"/>
          </a:p>
        </p:txBody>
      </p:sp>
      <p:sp>
        <p:nvSpPr>
          <p:cNvPr id="358" name="Google Shape;358;p14"/>
          <p:cNvSpPr/>
          <p:nvPr/>
        </p:nvSpPr>
        <p:spPr>
          <a:xfrm>
            <a:off x="812750" y="2021613"/>
            <a:ext cx="4808846" cy="523315"/>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72433"/>
              </a:buClr>
              <a:buSzPts val="1400"/>
              <a:buFont typeface="IBM Plex Sans"/>
              <a:buNone/>
            </a:pPr>
            <a:r>
              <a:rPr lang="en-US" sz="1400" b="0" i="0" u="none" strike="noStrike" cap="none">
                <a:solidFill>
                  <a:srgbClr val="172433"/>
                </a:solidFill>
                <a:latin typeface="IBM Plex Sans"/>
                <a:ea typeface="IBM Plex Sans"/>
                <a:cs typeface="IBM Plex Sans"/>
                <a:sym typeface="IBM Plex Sans"/>
              </a:rPr>
              <a:t>“OpenAI-compatible” fixes the request format, not which features a server supports.</a:t>
            </a:r>
            <a:endParaRPr sz="1400" b="0" i="0" u="none" strike="noStrike" cap="none">
              <a:solidFill>
                <a:schemeClr val="dk1"/>
              </a:solidFill>
              <a:latin typeface="IBM Plex Sans"/>
              <a:ea typeface="IBM Plex Sans"/>
              <a:cs typeface="IBM Plex Sans"/>
              <a:sym typeface="IBM Plex Sans"/>
            </a:endParaRPr>
          </a:p>
        </p:txBody>
      </p:sp>
      <p:sp>
        <p:nvSpPr>
          <p:cNvPr id="359" name="Google Shape;359;p14"/>
          <p:cNvSpPr/>
          <p:nvPr/>
        </p:nvSpPr>
        <p:spPr>
          <a:xfrm>
            <a:off x="812750" y="2697293"/>
            <a:ext cx="4808846" cy="523315"/>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72433"/>
              </a:buClr>
              <a:buSzPts val="1400"/>
              <a:buFont typeface="IBM Plex Sans"/>
              <a:buNone/>
            </a:pPr>
            <a:r>
              <a:rPr lang="en-US" sz="1400" b="0" i="0" u="none" strike="noStrike" cap="none">
                <a:solidFill>
                  <a:srgbClr val="172433"/>
                </a:solidFill>
                <a:latin typeface="IBM Plex Sans"/>
                <a:ea typeface="IBM Plex Sans"/>
                <a:cs typeface="IBM Plex Sans"/>
                <a:sym typeface="IBM Plex Sans"/>
              </a:rPr>
              <a:t>Tool calling varies by server and model, and the competition’s endpoint and model are undisclosed.</a:t>
            </a:r>
            <a:endParaRPr sz="1400" b="0" i="0" u="none" strike="noStrike" cap="none">
              <a:solidFill>
                <a:schemeClr val="dk1"/>
              </a:solidFill>
              <a:latin typeface="IBM Plex Sans"/>
              <a:ea typeface="IBM Plex Sans"/>
              <a:cs typeface="IBM Plex Sans"/>
              <a:sym typeface="IBM Plex Sans"/>
            </a:endParaRPr>
          </a:p>
        </p:txBody>
      </p:sp>
      <p:sp>
        <p:nvSpPr>
          <p:cNvPr id="360" name="Google Shape;360;p14"/>
          <p:cNvSpPr/>
          <p:nvPr/>
        </p:nvSpPr>
        <p:spPr>
          <a:xfrm>
            <a:off x="812750" y="3372972"/>
            <a:ext cx="4808846" cy="523315"/>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72433"/>
              </a:buClr>
              <a:buSzPts val="1400"/>
              <a:buFont typeface="IBM Plex Sans"/>
              <a:buNone/>
            </a:pPr>
            <a:r>
              <a:rPr lang="en-US" sz="1400" b="0" i="0" u="none" strike="noStrike" cap="none">
                <a:solidFill>
                  <a:srgbClr val="172433"/>
                </a:solidFill>
                <a:latin typeface="IBM Plex Sans"/>
                <a:ea typeface="IBM Plex Sans"/>
                <a:cs typeface="IBM Plex Sans"/>
                <a:sym typeface="IBM Plex Sans"/>
              </a:rPr>
              <a:t>Plain text works everywhere, and the baseline uses the same format, so Demo 3 compares like with like.</a:t>
            </a:r>
            <a:endParaRPr sz="1400" b="0" i="0" u="none" strike="noStrike" cap="none">
              <a:solidFill>
                <a:schemeClr val="dk1"/>
              </a:solidFill>
              <a:latin typeface="IBM Plex Sans"/>
              <a:ea typeface="IBM Plex Sans"/>
              <a:cs typeface="IBM Plex Sans"/>
              <a:sym typeface="IBM Plex Sans"/>
            </a:endParaRPr>
          </a:p>
        </p:txBody>
      </p:sp>
      <p:sp>
        <p:nvSpPr>
          <p:cNvPr id="361" name="Google Shape;361;p14"/>
          <p:cNvSpPr/>
          <p:nvPr/>
        </p:nvSpPr>
        <p:spPr>
          <a:xfrm>
            <a:off x="812750" y="4048658"/>
            <a:ext cx="4808846" cy="523315"/>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72433"/>
              </a:buClr>
              <a:buSzPts val="1400"/>
              <a:buFont typeface="IBM Plex Sans"/>
              <a:buNone/>
            </a:pPr>
            <a:r>
              <a:rPr lang="en-US" sz="1400" b="0" i="0" u="none" strike="noStrike" cap="none">
                <a:solidFill>
                  <a:srgbClr val="172433"/>
                </a:solidFill>
                <a:latin typeface="IBM Plex Sans"/>
                <a:ea typeface="IBM Plex Sans"/>
                <a:cs typeface="IBM Plex Sans"/>
                <a:sym typeface="IBM Plex Sans"/>
              </a:rPr>
              <a:t>If the organizers confirm tool calling, only the reply parser changes.</a:t>
            </a:r>
            <a:endParaRPr sz="1400" b="0" i="0" u="none" strike="noStrike" cap="none">
              <a:solidFill>
                <a:schemeClr val="dk1"/>
              </a:solidFill>
              <a:latin typeface="IBM Plex Sans"/>
              <a:ea typeface="IBM Plex Sans"/>
              <a:cs typeface="IBM Plex Sans"/>
              <a:sym typeface="IBM Plex Sans"/>
            </a:endParaRPr>
          </a:p>
        </p:txBody>
      </p:sp>
      <p:sp>
        <p:nvSpPr>
          <p:cNvPr id="362" name="Google Shape;362;p14"/>
          <p:cNvSpPr/>
          <p:nvPr/>
        </p:nvSpPr>
        <p:spPr>
          <a:xfrm>
            <a:off x="5837126" y="2021613"/>
            <a:ext cx="5542097" cy="2524959"/>
          </a:xfrm>
          <a:prstGeom prst="roundRect">
            <a:avLst>
              <a:gd name="adj" fmla="val 4024"/>
            </a:avLst>
          </a:prstGeom>
          <a:solidFill>
            <a:srgbClr val="1724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4"/>
          <p:cNvSpPr/>
          <p:nvPr/>
        </p:nvSpPr>
        <p:spPr>
          <a:xfrm>
            <a:off x="6040313" y="2224801"/>
            <a:ext cx="5289793"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E8EDF2"/>
              </a:buClr>
              <a:buSzPts val="1200"/>
              <a:buFont typeface="JetBrains Mono"/>
              <a:buNone/>
            </a:pPr>
            <a:r>
              <a:rPr lang="en-US" sz="1200" b="0" i="0" u="none" strike="noStrike" cap="none">
                <a:solidFill>
                  <a:srgbClr val="E8EDF2"/>
                </a:solidFill>
                <a:latin typeface="JetBrains Mono"/>
                <a:ea typeface="JetBrains Mono"/>
                <a:cs typeface="JetBrains Mono"/>
                <a:sym typeface="JetBrains Mono"/>
              </a:rPr>
              <a:t>{"action": "edit",</a:t>
            </a:r>
            <a:endParaRPr sz="1200" b="0" i="0" u="none" strike="noStrike" cap="none">
              <a:solidFill>
                <a:schemeClr val="dk1"/>
              </a:solidFill>
              <a:latin typeface="IBM Plex Sans"/>
              <a:ea typeface="IBM Plex Sans"/>
              <a:cs typeface="IBM Plex Sans"/>
              <a:sym typeface="IBM Plex Sans"/>
            </a:endParaRPr>
          </a:p>
        </p:txBody>
      </p:sp>
      <p:sp>
        <p:nvSpPr>
          <p:cNvPr id="364" name="Google Shape;364;p14"/>
          <p:cNvSpPr/>
          <p:nvPr/>
        </p:nvSpPr>
        <p:spPr>
          <a:xfrm>
            <a:off x="6040313" y="2476171"/>
            <a:ext cx="5289793" cy="452063"/>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E8EDF2"/>
              </a:buClr>
              <a:buSzPts val="1200"/>
              <a:buFont typeface="JetBrains Mono"/>
              <a:buNone/>
            </a:pPr>
            <a:r>
              <a:rPr lang="en-US" sz="1200" b="0" i="0" u="none" strike="noStrike" cap="none">
                <a:solidFill>
                  <a:srgbClr val="E8EDF2"/>
                </a:solidFill>
                <a:latin typeface="JetBrains Mono"/>
                <a:ea typeface="JetBrains Mono"/>
                <a:cs typeface="JetBrains Mono"/>
                <a:sym typeface="JetBrains Mono"/>
              </a:rPr>
              <a:t>"hypothesis": "the config header enables HAVE_MM_PREFETCH on ARM",</a:t>
            </a:r>
            <a:endParaRPr sz="1200" b="0" i="0" u="none" strike="noStrike" cap="none">
              <a:solidFill>
                <a:schemeClr val="dk1"/>
              </a:solidFill>
              <a:latin typeface="IBM Plex Sans"/>
              <a:ea typeface="IBM Plex Sans"/>
              <a:cs typeface="IBM Plex Sans"/>
              <a:sym typeface="IBM Plex Sans"/>
            </a:endParaRPr>
          </a:p>
        </p:txBody>
      </p:sp>
      <p:sp>
        <p:nvSpPr>
          <p:cNvPr id="365" name="Google Shape;365;p14"/>
          <p:cNvSpPr/>
          <p:nvPr/>
        </p:nvSpPr>
        <p:spPr>
          <a:xfrm>
            <a:off x="6040313" y="2940875"/>
            <a:ext cx="5289793"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E8EDF2"/>
              </a:buClr>
              <a:buSzPts val="1200"/>
              <a:buFont typeface="JetBrains Mono"/>
              <a:buNone/>
            </a:pPr>
            <a:r>
              <a:rPr lang="en-US" sz="1200" b="0" i="0" u="none" strike="noStrike" cap="none">
                <a:solidFill>
                  <a:srgbClr val="E8EDF2"/>
                </a:solidFill>
                <a:latin typeface="JetBrains Mono"/>
                <a:ea typeface="JetBrains Mono"/>
                <a:cs typeface="JetBrains Mono"/>
                <a:sym typeface="JetBrains Mono"/>
              </a:rPr>
              <a:t>"evidence": ["input/src/crc32c/crc32c_config.h:15"],</a:t>
            </a:r>
            <a:endParaRPr sz="1200" b="0" i="0" u="none" strike="noStrike" cap="none">
              <a:solidFill>
                <a:schemeClr val="dk1"/>
              </a:solidFill>
              <a:latin typeface="IBM Plex Sans"/>
              <a:ea typeface="IBM Plex Sans"/>
              <a:cs typeface="IBM Plex Sans"/>
              <a:sym typeface="IBM Plex Sans"/>
            </a:endParaRPr>
          </a:p>
        </p:txBody>
      </p:sp>
      <p:sp>
        <p:nvSpPr>
          <p:cNvPr id="366" name="Google Shape;366;p14"/>
          <p:cNvSpPr/>
          <p:nvPr/>
        </p:nvSpPr>
        <p:spPr>
          <a:xfrm>
            <a:off x="6040313" y="3192252"/>
            <a:ext cx="5289793"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E8EDF2"/>
              </a:buClr>
              <a:buSzPts val="1200"/>
              <a:buFont typeface="JetBrains Mono"/>
              <a:buNone/>
            </a:pPr>
            <a:r>
              <a:rPr lang="en-US" sz="1200" b="0" i="0" u="none" strike="noStrike" cap="none">
                <a:solidFill>
                  <a:srgbClr val="E8EDF2"/>
                </a:solidFill>
                <a:latin typeface="JetBrains Mono"/>
                <a:ea typeface="JetBrains Mono"/>
                <a:cs typeface="JetBrains Mono"/>
                <a:sym typeface="JetBrains Mono"/>
              </a:rPr>
              <a:t>"edits": [{"path": …, "old_text": …, "new_text": …}]}</a:t>
            </a:r>
            <a:endParaRPr sz="1200" b="0" i="0" u="none" strike="noStrike" cap="none">
              <a:solidFill>
                <a:schemeClr val="dk1"/>
              </a:solidFill>
              <a:latin typeface="IBM Plex Sans"/>
              <a:ea typeface="IBM Plex Sans"/>
              <a:cs typeface="IBM Plex Sans"/>
              <a:sym typeface="IBM Plex Sans"/>
            </a:endParaRPr>
          </a:p>
        </p:txBody>
      </p:sp>
      <p:sp>
        <p:nvSpPr>
          <p:cNvPr id="367" name="Google Shape;367;p14"/>
          <p:cNvSpPr/>
          <p:nvPr/>
        </p:nvSpPr>
        <p:spPr>
          <a:xfrm>
            <a:off x="6040313" y="3916722"/>
            <a:ext cx="5289793" cy="452063"/>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9C7D6"/>
              </a:buClr>
              <a:buSzPts val="1200"/>
              <a:buFont typeface="IBM Plex Sans"/>
              <a:buNone/>
            </a:pPr>
            <a:r>
              <a:rPr lang="en-US" sz="1200" b="0" i="0" u="none" strike="noStrike" cap="none">
                <a:solidFill>
                  <a:srgbClr val="B9C7D6"/>
                </a:solidFill>
                <a:latin typeface="IBM Plex Sans"/>
                <a:ea typeface="IBM Plex Sans"/>
                <a:cs typeface="IBM Plex Sans"/>
                <a:sym typeface="IBM Plex Sans"/>
              </a:rPr>
              <a:t>The parser drops any reasoning block and takes the last JSON object with an “action” key: tool, edit or stop.</a:t>
            </a:r>
            <a:endParaRPr sz="1200" b="0" i="0" u="none" strike="noStrike" cap="none">
              <a:solidFill>
                <a:schemeClr val="dk1"/>
              </a:solidFill>
              <a:latin typeface="IBM Plex Sans"/>
              <a:ea typeface="IBM Plex Sans"/>
              <a:cs typeface="IBM Plex Sans"/>
              <a:sym typeface="IBM Plex Sans"/>
            </a:endParaRPr>
          </a:p>
        </p:txBody>
      </p:sp>
      <p:sp>
        <p:nvSpPr>
          <p:cNvPr id="368" name="Google Shape;368;p14"/>
          <p:cNvSpPr/>
          <p:nvPr/>
        </p:nvSpPr>
        <p:spPr>
          <a:xfrm>
            <a:off x="812750" y="6238249"/>
            <a:ext cx="9810744"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Team design decision, October 7</a:t>
            </a:r>
            <a:endParaRPr sz="1200" b="0" i="0" u="none" strike="noStrike" cap="none">
              <a:solidFill>
                <a:schemeClr val="dk1"/>
              </a:solidFill>
              <a:latin typeface="IBM Plex Sans"/>
              <a:ea typeface="IBM Plex Sans"/>
              <a:cs typeface="IBM Plex Sans"/>
              <a:sym typeface="IBM Plex Sans"/>
            </a:endParaRPr>
          </a:p>
        </p:txBody>
      </p:sp>
      <p:sp>
        <p:nvSpPr>
          <p:cNvPr id="369" name="Google Shape;369;p14"/>
          <p:cNvSpPr/>
          <p:nvPr/>
        </p:nvSpPr>
        <p:spPr>
          <a:xfrm>
            <a:off x="10820424" y="6238249"/>
            <a:ext cx="55879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A</a:t>
            </a:r>
            <a:endParaRPr sz="12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F1F5"/>
        </a:solidFill>
        <a:effectLst/>
      </p:bgPr>
    </p:bg>
    <p:spTree>
      <p:nvGrpSpPr>
        <p:cNvPr id="1" name="Shape 374"/>
        <p:cNvGrpSpPr/>
        <p:nvPr/>
      </p:nvGrpSpPr>
      <p:grpSpPr>
        <a:xfrm>
          <a:off x="0" y="0"/>
          <a:ext cx="0" cy="0"/>
          <a:chOff x="0" y="0"/>
          <a:chExt cx="0" cy="0"/>
        </a:xfrm>
      </p:grpSpPr>
      <p:sp>
        <p:nvSpPr>
          <p:cNvPr id="375" name="Google Shape;375;p15"/>
          <p:cNvSpPr/>
          <p:nvPr/>
        </p:nvSpPr>
        <p:spPr>
          <a:xfrm>
            <a:off x="812750" y="609563"/>
            <a:ext cx="10883467"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4530F"/>
              </a:buClr>
              <a:buSzPts val="1200"/>
              <a:buFont typeface="IBM Plex Sans"/>
              <a:buNone/>
            </a:pPr>
            <a:r>
              <a:rPr lang="en-US" sz="1200" b="1" i="0" u="none" strike="noStrike" cap="none">
                <a:solidFill>
                  <a:srgbClr val="B4530F"/>
                </a:solidFill>
                <a:latin typeface="IBM Plex Sans"/>
                <a:ea typeface="IBM Plex Sans"/>
                <a:cs typeface="IBM Plex Sans"/>
                <a:sym typeface="IBM Plex Sans"/>
              </a:rPr>
              <a:t>APPENDIX B</a:t>
            </a:r>
            <a:endParaRPr sz="1200" b="0" i="0" u="none" strike="noStrike" cap="none">
              <a:solidFill>
                <a:schemeClr val="dk1"/>
              </a:solidFill>
              <a:latin typeface="IBM Plex Sans"/>
              <a:ea typeface="IBM Plex Sans"/>
              <a:cs typeface="IBM Plex Sans"/>
              <a:sym typeface="IBM Plex Sans"/>
            </a:endParaRPr>
          </a:p>
        </p:txBody>
      </p:sp>
      <p:sp>
        <p:nvSpPr>
          <p:cNvPr id="376" name="Google Shape;376;p15"/>
          <p:cNvSpPr txBox="1">
            <a:spLocks noGrp="1"/>
          </p:cNvSpPr>
          <p:nvPr>
            <p:ph type="title"/>
          </p:nvPr>
        </p:nvSpPr>
        <p:spPr>
          <a:xfrm>
            <a:off x="812750" y="899040"/>
            <a:ext cx="10883467" cy="843222"/>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4304F"/>
              </a:buClr>
              <a:buSzPts val="2800"/>
              <a:buFont typeface="IBM Plex Sans"/>
              <a:buNone/>
            </a:pPr>
            <a:r>
              <a:rPr lang="en-US" sz="2800" b="1" i="0">
                <a:solidFill>
                  <a:srgbClr val="14304F"/>
                </a:solidFill>
                <a:latin typeface="IBM Plex Sans"/>
                <a:ea typeface="IBM Plex Sans"/>
                <a:cs typeface="IBM Plex Sans"/>
                <a:sym typeface="IBM Plex Sans"/>
              </a:rPr>
              <a:t>What the agent can rely on in our harness and in the competition</a:t>
            </a:r>
            <a:endParaRPr sz="2800"/>
          </a:p>
        </p:txBody>
      </p:sp>
      <p:graphicFrame>
        <p:nvGraphicFramePr>
          <p:cNvPr id="377" name="Google Shape;377;p15"/>
          <p:cNvGraphicFramePr/>
          <p:nvPr/>
        </p:nvGraphicFramePr>
        <p:xfrm>
          <a:off x="824343" y="2033206"/>
          <a:ext cx="3000000" cy="3000000"/>
        </p:xfrm>
        <a:graphic>
          <a:graphicData uri="http://schemas.openxmlformats.org/drawingml/2006/table">
            <a:tbl>
              <a:tblPr>
                <a:noFill/>
                <a:tableStyleId>{ADB3D7E4-98E0-446D-BD89-4FCEEEE099C4}</a:tableStyleId>
              </a:tblPr>
              <a:tblGrid>
                <a:gridCol w="2110975">
                  <a:extLst>
                    <a:ext uri="{9D8B030D-6E8A-4147-A177-3AD203B41FA5}">
                      <a16:colId xmlns:a16="http://schemas.microsoft.com/office/drawing/2014/main" val="20000"/>
                    </a:ext>
                  </a:extLst>
                </a:gridCol>
                <a:gridCol w="4221950">
                  <a:extLst>
                    <a:ext uri="{9D8B030D-6E8A-4147-A177-3AD203B41FA5}">
                      <a16:colId xmlns:a16="http://schemas.microsoft.com/office/drawing/2014/main" val="20001"/>
                    </a:ext>
                  </a:extLst>
                </a:gridCol>
                <a:gridCol w="4221950">
                  <a:extLst>
                    <a:ext uri="{9D8B030D-6E8A-4147-A177-3AD203B41FA5}">
                      <a16:colId xmlns:a16="http://schemas.microsoft.com/office/drawing/2014/main" val="20002"/>
                    </a:ext>
                  </a:extLst>
                </a:gridCol>
              </a:tblGrid>
              <a:tr h="420450">
                <a:tc>
                  <a:txBody>
                    <a:bodyPr/>
                    <a:lstStyle/>
                    <a:p>
                      <a:pPr marL="0" marR="0" lvl="0" indent="0" algn="l" rtl="0">
                        <a:lnSpc>
                          <a:spcPct val="140000"/>
                        </a:lnSpc>
                        <a:spcBef>
                          <a:spcPts val="0"/>
                        </a:spcBef>
                        <a:spcAft>
                          <a:spcPts val="0"/>
                        </a:spcAft>
                        <a:buClr>
                          <a:schemeClr val="dk1"/>
                        </a:buClr>
                        <a:buSzPts val="1300"/>
                        <a:buFont typeface="IBM Plex Sans"/>
                        <a:buNone/>
                      </a:pP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BDC0C3"/>
                      </a:solidFill>
                      <a:prstDash val="solid"/>
                      <a:round/>
                      <a:headEnd type="none" w="sm" len="sm"/>
                      <a:tailEnd type="none" w="sm" len="sm"/>
                    </a:lnL>
                    <a:lnR w="12700" cap="flat" cmpd="sng">
                      <a:solidFill>
                        <a:srgbClr val="142A42"/>
                      </a:solidFill>
                      <a:prstDash val="solid"/>
                      <a:round/>
                      <a:headEnd type="none" w="sm" len="sm"/>
                      <a:tailEnd type="none" w="sm" len="sm"/>
                    </a:lnR>
                    <a:lnT w="12700" cap="flat" cmpd="sng">
                      <a:solidFill>
                        <a:srgbClr val="BDC0C3"/>
                      </a:solidFill>
                      <a:prstDash val="solid"/>
                      <a:round/>
                      <a:headEnd type="none" w="sm" len="sm"/>
                      <a:tailEnd type="none" w="sm" len="sm"/>
                    </a:lnT>
                    <a:lnB w="12700" cap="flat" cmpd="sng">
                      <a:solidFill>
                        <a:srgbClr val="142A42"/>
                      </a:solidFill>
                      <a:prstDash val="solid"/>
                      <a:round/>
                      <a:headEnd type="none" w="sm" len="sm"/>
                      <a:tailEnd type="none" w="sm" len="sm"/>
                    </a:lnB>
                    <a:solidFill>
                      <a:srgbClr val="14304F"/>
                    </a:solidFill>
                  </a:tcPr>
                </a:tc>
                <a:tc>
                  <a:txBody>
                    <a:bodyPr/>
                    <a:lstStyle/>
                    <a:p>
                      <a:pPr marL="0" marR="0" lvl="0" indent="0" algn="l" rtl="0">
                        <a:lnSpc>
                          <a:spcPct val="140000"/>
                        </a:lnSpc>
                        <a:spcBef>
                          <a:spcPts val="0"/>
                        </a:spcBef>
                        <a:spcAft>
                          <a:spcPts val="0"/>
                        </a:spcAft>
                        <a:buClr>
                          <a:srgbClr val="F3F5F7"/>
                        </a:buClr>
                        <a:buSzPts val="1300"/>
                        <a:buFont typeface="IBM Plex Sans"/>
                        <a:buNone/>
                      </a:pPr>
                      <a:r>
                        <a:rPr lang="en-US" sz="1300" b="1" u="none" strike="noStrike" cap="none">
                          <a:solidFill>
                            <a:srgbClr val="F3F5F7"/>
                          </a:solidFill>
                          <a:latin typeface="IBM Plex Sans"/>
                          <a:ea typeface="IBM Plex Sans"/>
                          <a:cs typeface="IBM Plex Sans"/>
                          <a:sym typeface="IBM Plex Sans"/>
                        </a:rPr>
                        <a:t>Our research harness</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142A42"/>
                      </a:solidFill>
                      <a:prstDash val="solid"/>
                      <a:round/>
                      <a:headEnd type="none" w="sm" len="sm"/>
                      <a:tailEnd type="none" w="sm" len="sm"/>
                    </a:lnL>
                    <a:lnR w="12700" cap="flat" cmpd="sng">
                      <a:solidFill>
                        <a:srgbClr val="142A42"/>
                      </a:solidFill>
                      <a:prstDash val="solid"/>
                      <a:round/>
                      <a:headEnd type="none" w="sm" len="sm"/>
                      <a:tailEnd type="none" w="sm" len="sm"/>
                    </a:lnR>
                    <a:lnT w="12700" cap="flat" cmpd="sng">
                      <a:solidFill>
                        <a:srgbClr val="BDC0C3"/>
                      </a:solidFill>
                      <a:prstDash val="solid"/>
                      <a:round/>
                      <a:headEnd type="none" w="sm" len="sm"/>
                      <a:tailEnd type="none" w="sm" len="sm"/>
                    </a:lnT>
                    <a:lnB w="12700" cap="flat" cmpd="sng">
                      <a:solidFill>
                        <a:srgbClr val="142A42"/>
                      </a:solidFill>
                      <a:prstDash val="solid"/>
                      <a:round/>
                      <a:headEnd type="none" w="sm" len="sm"/>
                      <a:tailEnd type="none" w="sm" len="sm"/>
                    </a:lnB>
                    <a:solidFill>
                      <a:srgbClr val="14304F"/>
                    </a:solidFill>
                  </a:tcPr>
                </a:tc>
                <a:tc>
                  <a:txBody>
                    <a:bodyPr/>
                    <a:lstStyle/>
                    <a:p>
                      <a:pPr marL="0" marR="0" lvl="0" indent="0" algn="l" rtl="0">
                        <a:lnSpc>
                          <a:spcPct val="140000"/>
                        </a:lnSpc>
                        <a:spcBef>
                          <a:spcPts val="0"/>
                        </a:spcBef>
                        <a:spcAft>
                          <a:spcPts val="0"/>
                        </a:spcAft>
                        <a:buClr>
                          <a:srgbClr val="F3F5F7"/>
                        </a:buClr>
                        <a:buSzPts val="1300"/>
                        <a:buFont typeface="IBM Plex Sans"/>
                        <a:buNone/>
                      </a:pPr>
                      <a:r>
                        <a:rPr lang="en-US" sz="1300" b="1" u="none" strike="noStrike" cap="none">
                          <a:solidFill>
                            <a:srgbClr val="F3F5F7"/>
                          </a:solidFill>
                          <a:latin typeface="IBM Plex Sans"/>
                          <a:ea typeface="IBM Plex Sans"/>
                          <a:cs typeface="IBM Plex Sans"/>
                          <a:sym typeface="IBM Plex Sans"/>
                        </a:rPr>
                        <a:t>The competition</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142A42"/>
                      </a:solidFill>
                      <a:prstDash val="solid"/>
                      <a:round/>
                      <a:headEnd type="none" w="sm" len="sm"/>
                      <a:tailEnd type="none" w="sm" len="sm"/>
                    </a:lnL>
                    <a:lnR w="12700" cap="flat" cmpd="sng">
                      <a:solidFill>
                        <a:srgbClr val="142A42"/>
                      </a:solidFill>
                      <a:prstDash val="solid"/>
                      <a:round/>
                      <a:headEnd type="none" w="sm" len="sm"/>
                      <a:tailEnd type="none" w="sm" len="sm"/>
                    </a:lnR>
                    <a:lnT w="12700" cap="flat" cmpd="sng">
                      <a:solidFill>
                        <a:srgbClr val="BDC0C3"/>
                      </a:solidFill>
                      <a:prstDash val="solid"/>
                      <a:round/>
                      <a:headEnd type="none" w="sm" len="sm"/>
                      <a:tailEnd type="none" w="sm" len="sm"/>
                    </a:lnT>
                    <a:lnB w="12700" cap="flat" cmpd="sng">
                      <a:solidFill>
                        <a:srgbClr val="142A42"/>
                      </a:solidFill>
                      <a:prstDash val="solid"/>
                      <a:round/>
                      <a:headEnd type="none" w="sm" len="sm"/>
                      <a:tailEnd type="none" w="sm" len="sm"/>
                    </a:lnB>
                    <a:solidFill>
                      <a:srgbClr val="14304F"/>
                    </a:solidFill>
                  </a:tcPr>
                </a:tc>
                <a:extLst>
                  <a:ext uri="{0D108BD9-81ED-4DB2-BD59-A6C34878D82A}">
                    <a16:rowId xmlns:a16="http://schemas.microsoft.com/office/drawing/2014/main" val="10000"/>
                  </a:ext>
                </a:extLst>
              </a:tr>
              <a:tr h="651525">
                <a:tc>
                  <a:txBody>
                    <a:bodyPr/>
                    <a:lstStyle/>
                    <a:p>
                      <a:pPr marL="0" marR="0" lvl="0" indent="0" algn="l" rtl="0">
                        <a:lnSpc>
                          <a:spcPct val="140000"/>
                        </a:lnSpc>
                        <a:spcBef>
                          <a:spcPts val="0"/>
                        </a:spcBef>
                        <a:spcAft>
                          <a:spcPts val="0"/>
                        </a:spcAft>
                        <a:buClr>
                          <a:srgbClr val="172433"/>
                        </a:buClr>
                        <a:buSzPts val="1300"/>
                        <a:buFont typeface="IBM Plex Sans"/>
                        <a:buNone/>
                      </a:pPr>
                      <a:r>
                        <a:rPr lang="en-US" sz="1300" u="none" strike="noStrike" cap="none">
                          <a:solidFill>
                            <a:srgbClr val="172433"/>
                          </a:solidFill>
                          <a:latin typeface="IBM Plex Sans"/>
                          <a:ea typeface="IBM Plex Sans"/>
                          <a:cs typeface="IBM Plex Sans"/>
                          <a:sym typeface="IBM Plex Sans"/>
                        </a:rPr>
                        <a:t>Model</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BDC0C3"/>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142A42"/>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marR="0" lvl="0" indent="0" algn="l" rtl="0">
                        <a:lnSpc>
                          <a:spcPct val="140000"/>
                        </a:lnSpc>
                        <a:spcBef>
                          <a:spcPts val="0"/>
                        </a:spcBef>
                        <a:spcAft>
                          <a:spcPts val="0"/>
                        </a:spcAft>
                        <a:buClr>
                          <a:srgbClr val="172433"/>
                        </a:buClr>
                        <a:buSzPts val="1300"/>
                        <a:buFont typeface="IBM Plex Sans"/>
                        <a:buNone/>
                      </a:pPr>
                      <a:r>
                        <a:rPr lang="en-US" sz="1300" u="none" strike="noStrike" cap="none">
                          <a:solidFill>
                            <a:srgbClr val="172433"/>
                          </a:solidFill>
                          <a:latin typeface="IBM Plex Sans"/>
                          <a:ea typeface="IBM Plex Sans"/>
                          <a:cs typeface="IBM Plex Sans"/>
                          <a:sym typeface="IBM Plex Sans"/>
                        </a:rPr>
                        <a:t>gpt-oss-120b through Bedrock’s OpenAI-compatible API</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142A42"/>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marR="0" lvl="0" indent="0" algn="l" rtl="0">
                        <a:lnSpc>
                          <a:spcPct val="140000"/>
                        </a:lnSpc>
                        <a:spcBef>
                          <a:spcPts val="0"/>
                        </a:spcBef>
                        <a:spcAft>
                          <a:spcPts val="0"/>
                        </a:spcAft>
                        <a:buClr>
                          <a:srgbClr val="172433"/>
                        </a:buClr>
                        <a:buSzPts val="1300"/>
                        <a:buFont typeface="IBM Plex Sans"/>
                        <a:buNone/>
                      </a:pPr>
                      <a:r>
                        <a:rPr lang="en-US" sz="1300" u="none" strike="noStrike" cap="none">
                          <a:solidFill>
                            <a:srgbClr val="172433"/>
                          </a:solidFill>
                          <a:latin typeface="IBM Plex Sans"/>
                          <a:ea typeface="IBM Plex Sans"/>
                          <a:cs typeface="IBM Plex Sans"/>
                          <a:sym typeface="IBM Plex Sans"/>
                        </a:rPr>
                        <a:t>One organizer endpoint; model undisclosed</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142A42"/>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extLst>
                  <a:ext uri="{0D108BD9-81ED-4DB2-BD59-A6C34878D82A}">
                    <a16:rowId xmlns:a16="http://schemas.microsoft.com/office/drawing/2014/main" val="10001"/>
                  </a:ext>
                </a:extLst>
              </a:tr>
              <a:tr h="651525">
                <a:tc>
                  <a:txBody>
                    <a:bodyPr/>
                    <a:lstStyle/>
                    <a:p>
                      <a:pPr marL="0" marR="0" lvl="0" indent="0" algn="l" rtl="0">
                        <a:lnSpc>
                          <a:spcPct val="140000"/>
                        </a:lnSpc>
                        <a:spcBef>
                          <a:spcPts val="0"/>
                        </a:spcBef>
                        <a:spcAft>
                          <a:spcPts val="0"/>
                        </a:spcAft>
                        <a:buClr>
                          <a:srgbClr val="172433"/>
                        </a:buClr>
                        <a:buSzPts val="1300"/>
                        <a:buFont typeface="IBM Plex Sans"/>
                        <a:buNone/>
                      </a:pPr>
                      <a:r>
                        <a:rPr lang="en-US" sz="1300" u="none" strike="noStrike" cap="none">
                          <a:solidFill>
                            <a:srgbClr val="172433"/>
                          </a:solidFill>
                          <a:latin typeface="IBM Plex Sans"/>
                          <a:ea typeface="IBM Plex Sans"/>
                          <a:cs typeface="IBM Plex Sans"/>
                          <a:sym typeface="IBM Plex Sans"/>
                        </a:rPr>
                        <a:t>Build feedback</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BDC0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marR="0" lvl="0" indent="0" algn="l" rtl="0">
                        <a:lnSpc>
                          <a:spcPct val="140000"/>
                        </a:lnSpc>
                        <a:spcBef>
                          <a:spcPts val="0"/>
                        </a:spcBef>
                        <a:spcAft>
                          <a:spcPts val="0"/>
                        </a:spcAft>
                        <a:buClr>
                          <a:srgbClr val="172433"/>
                        </a:buClr>
                        <a:buSzPts val="1300"/>
                        <a:buFont typeface="IBM Plex Sans"/>
                        <a:buNone/>
                      </a:pPr>
                      <a:r>
                        <a:rPr lang="en-US" sz="1300" u="none" strike="noStrike" cap="none">
                          <a:solidFill>
                            <a:srgbClr val="172433"/>
                          </a:solidFill>
                          <a:latin typeface="IBM Plex Sans"/>
                          <a:ea typeface="IBM Plex Sans"/>
                          <a:cs typeface="IBM Plex Sans"/>
                          <a:sym typeface="IBM Plex Sans"/>
                        </a:rPr>
                        <a:t>A real validator build per attempt, about 95 s on rcran</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marR="0" lvl="0" indent="0" algn="l" rtl="0">
                        <a:lnSpc>
                          <a:spcPct val="140000"/>
                        </a:lnSpc>
                        <a:spcBef>
                          <a:spcPts val="0"/>
                        </a:spcBef>
                        <a:spcAft>
                          <a:spcPts val="0"/>
                        </a:spcAft>
                        <a:buClr>
                          <a:srgbClr val="B4530F"/>
                        </a:buClr>
                        <a:buSzPts val="1300"/>
                        <a:buFont typeface="IBM Plex Sans"/>
                        <a:buNone/>
                      </a:pPr>
                      <a:r>
                        <a:rPr lang="en-US" sz="1300" u="none" strike="noStrike" cap="none">
                          <a:solidFill>
                            <a:srgbClr val="B4530F"/>
                          </a:solidFill>
                          <a:latin typeface="IBM Plex Sans"/>
                          <a:ea typeface="IBM Plex Sans"/>
                          <a:cs typeface="IBM Plex Sans"/>
                          <a:sym typeface="IBM Plex Sans"/>
                        </a:rPr>
                        <a:t>Promised, protocol not published: the agent submits untested</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extLst>
                  <a:ext uri="{0D108BD9-81ED-4DB2-BD59-A6C34878D82A}">
                    <a16:rowId xmlns:a16="http://schemas.microsoft.com/office/drawing/2014/main" val="10002"/>
                  </a:ext>
                </a:extLst>
              </a:tr>
              <a:tr h="651525">
                <a:tc>
                  <a:txBody>
                    <a:bodyPr/>
                    <a:lstStyle/>
                    <a:p>
                      <a:pPr marL="0" marR="0" lvl="0" indent="0" algn="l" rtl="0">
                        <a:lnSpc>
                          <a:spcPct val="140000"/>
                        </a:lnSpc>
                        <a:spcBef>
                          <a:spcPts val="0"/>
                        </a:spcBef>
                        <a:spcAft>
                          <a:spcPts val="0"/>
                        </a:spcAft>
                        <a:buClr>
                          <a:srgbClr val="172433"/>
                        </a:buClr>
                        <a:buSzPts val="1300"/>
                        <a:buFont typeface="IBM Plex Sans"/>
                        <a:buNone/>
                      </a:pPr>
                      <a:r>
                        <a:rPr lang="en-US" sz="1300" u="none" strike="noStrike" cap="none">
                          <a:solidFill>
                            <a:srgbClr val="172433"/>
                          </a:solidFill>
                          <a:latin typeface="IBM Plex Sans"/>
                          <a:ea typeface="IBM Plex Sans"/>
                          <a:cs typeface="IBM Plex Sans"/>
                          <a:sym typeface="IBM Plex Sans"/>
                        </a:rPr>
                        <a:t>Budget per case</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BDC0C3"/>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marR="0" lvl="0" indent="0" algn="l" rtl="0">
                        <a:lnSpc>
                          <a:spcPct val="140000"/>
                        </a:lnSpc>
                        <a:spcBef>
                          <a:spcPts val="0"/>
                        </a:spcBef>
                        <a:spcAft>
                          <a:spcPts val="0"/>
                        </a:spcAft>
                        <a:buClr>
                          <a:srgbClr val="172433"/>
                        </a:buClr>
                        <a:buSzPts val="1300"/>
                        <a:buFont typeface="IBM Plex Sans"/>
                        <a:buNone/>
                      </a:pPr>
                      <a:r>
                        <a:rPr lang="en-US" sz="1300" u="none" strike="noStrike" cap="none">
                          <a:solidFill>
                            <a:srgbClr val="172433"/>
                          </a:solidFill>
                          <a:latin typeface="IBM Plex Sans"/>
                          <a:ea typeface="IBM Plex Sans"/>
                          <a:cs typeface="IBM Plex Sans"/>
                          <a:sym typeface="IBM Plex Sans"/>
                        </a:rPr>
                        <a:t>Research settings: 100k tokens, 5 attempts, 3 builds, 30 min</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marR="0" lvl="0" indent="0" algn="l" rtl="0">
                        <a:lnSpc>
                          <a:spcPct val="140000"/>
                        </a:lnSpc>
                        <a:spcBef>
                          <a:spcPts val="0"/>
                        </a:spcBef>
                        <a:spcAft>
                          <a:spcPts val="0"/>
                        </a:spcAft>
                        <a:buClr>
                          <a:srgbClr val="B4530F"/>
                        </a:buClr>
                        <a:buSzPts val="1300"/>
                        <a:buFont typeface="IBM Plex Sans"/>
                        <a:buNone/>
                      </a:pPr>
                      <a:r>
                        <a:rPr lang="en-US" sz="1300" u="none" strike="noStrike" cap="none">
                          <a:solidFill>
                            <a:srgbClr val="B4530F"/>
                          </a:solidFill>
                          <a:latin typeface="IBM Plex Sans"/>
                          <a:ea typeface="IBM Plex Sans"/>
                          <a:cs typeface="IBM Plex Sans"/>
                          <a:sym typeface="IBM Plex Sans"/>
                        </a:rPr>
                        <a:t>Organizers’ budget, not published yet</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extLst>
                  <a:ext uri="{0D108BD9-81ED-4DB2-BD59-A6C34878D82A}">
                    <a16:rowId xmlns:a16="http://schemas.microsoft.com/office/drawing/2014/main" val="10003"/>
                  </a:ext>
                </a:extLst>
              </a:tr>
              <a:tr h="420450">
                <a:tc>
                  <a:txBody>
                    <a:bodyPr/>
                    <a:lstStyle/>
                    <a:p>
                      <a:pPr marL="0" marR="0" lvl="0" indent="0" algn="l" rtl="0">
                        <a:lnSpc>
                          <a:spcPct val="140000"/>
                        </a:lnSpc>
                        <a:spcBef>
                          <a:spcPts val="0"/>
                        </a:spcBef>
                        <a:spcAft>
                          <a:spcPts val="0"/>
                        </a:spcAft>
                        <a:buClr>
                          <a:srgbClr val="172433"/>
                        </a:buClr>
                        <a:buSzPts val="1300"/>
                        <a:buFont typeface="IBM Plex Sans"/>
                        <a:buNone/>
                      </a:pPr>
                      <a:r>
                        <a:rPr lang="en-US" sz="1300" u="none" strike="noStrike" cap="none">
                          <a:solidFill>
                            <a:srgbClr val="172433"/>
                          </a:solidFill>
                          <a:latin typeface="IBM Plex Sans"/>
                          <a:ea typeface="IBM Plex Sans"/>
                          <a:cs typeface="IBM Plex Sans"/>
                          <a:sym typeface="IBM Plex Sans"/>
                        </a:rPr>
                        <a:t>Build logs</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BDC0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marR="0" lvl="0" indent="0" algn="l" rtl="0">
                        <a:lnSpc>
                          <a:spcPct val="140000"/>
                        </a:lnSpc>
                        <a:spcBef>
                          <a:spcPts val="0"/>
                        </a:spcBef>
                        <a:spcAft>
                          <a:spcPts val="0"/>
                        </a:spcAft>
                        <a:buClr>
                          <a:srgbClr val="172433"/>
                        </a:buClr>
                        <a:buSzPts val="1300"/>
                        <a:buFont typeface="IBM Plex Sans"/>
                        <a:buNone/>
                      </a:pPr>
                      <a:r>
                        <a:rPr lang="en-US" sz="1300" u="none" strike="noStrike" cap="none">
                          <a:solidFill>
                            <a:srgbClr val="172433"/>
                          </a:solidFill>
                          <a:latin typeface="IBM Plex Sans"/>
                          <a:ea typeface="IBM Plex Sans"/>
                          <a:cs typeface="IBM Plex Sans"/>
                          <a:sym typeface="IBM Plex Sans"/>
                        </a:rPr>
                        <a:t>Full logs, or excerpts only with --excerpt</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tc>
                  <a:txBody>
                    <a:bodyPr/>
                    <a:lstStyle/>
                    <a:p>
                      <a:pPr marL="0" marR="0" lvl="0" indent="0" algn="l" rtl="0">
                        <a:lnSpc>
                          <a:spcPct val="140000"/>
                        </a:lnSpc>
                        <a:spcBef>
                          <a:spcPts val="0"/>
                        </a:spcBef>
                        <a:spcAft>
                          <a:spcPts val="0"/>
                        </a:spcAft>
                        <a:buClr>
                          <a:srgbClr val="172433"/>
                        </a:buClr>
                        <a:buSzPts val="1300"/>
                        <a:buFont typeface="IBM Plex Sans"/>
                        <a:buNone/>
                      </a:pPr>
                      <a:r>
                        <a:rPr lang="en-US" sz="1300" u="none" strike="noStrike" cap="none">
                          <a:solidFill>
                            <a:srgbClr val="172433"/>
                          </a:solidFill>
                          <a:latin typeface="IBM Plex Sans"/>
                          <a:ea typeface="IBM Plex Sans"/>
                          <a:cs typeface="IBM Plex Sans"/>
                          <a:sym typeface="IBM Plex Sans"/>
                        </a:rPr>
                        <a:t>Diagnostic excerpts</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C4C5C3"/>
                      </a:solidFill>
                      <a:prstDash val="solid"/>
                      <a:round/>
                      <a:headEnd type="none" w="sm" len="sm"/>
                      <a:tailEnd type="none" w="sm" len="sm"/>
                    </a:lnL>
                    <a:lnR w="12700" cap="flat" cmpd="sng">
                      <a:solidFill>
                        <a:srgbClr val="C4C5C3"/>
                      </a:solidFill>
                      <a:prstDash val="solid"/>
                      <a:round/>
                      <a:headEnd type="none" w="sm" len="sm"/>
                      <a:tailEnd type="none" w="sm" len="sm"/>
                    </a:lnR>
                    <a:lnT w="12700" cap="flat" cmpd="sng">
                      <a:solidFill>
                        <a:srgbClr val="C9C9C7"/>
                      </a:solidFill>
                      <a:prstDash val="solid"/>
                      <a:round/>
                      <a:headEnd type="none" w="sm" len="sm"/>
                      <a:tailEnd type="none" w="sm" len="sm"/>
                    </a:lnT>
                    <a:lnB w="12700" cap="flat" cmpd="sng">
                      <a:solidFill>
                        <a:srgbClr val="C4C5C3"/>
                      </a:solidFill>
                      <a:prstDash val="solid"/>
                      <a:round/>
                      <a:headEnd type="none" w="sm" len="sm"/>
                      <a:tailEnd type="none" w="sm" len="sm"/>
                    </a:lnB>
                    <a:solidFill>
                      <a:srgbClr val="F6F7F4"/>
                    </a:solidFill>
                  </a:tcPr>
                </a:tc>
                <a:extLst>
                  <a:ext uri="{0D108BD9-81ED-4DB2-BD59-A6C34878D82A}">
                    <a16:rowId xmlns:a16="http://schemas.microsoft.com/office/drawing/2014/main" val="10004"/>
                  </a:ext>
                </a:extLst>
              </a:tr>
              <a:tr h="420450">
                <a:tc>
                  <a:txBody>
                    <a:bodyPr/>
                    <a:lstStyle/>
                    <a:p>
                      <a:pPr marL="0" marR="0" lvl="0" indent="0" algn="l" rtl="0">
                        <a:lnSpc>
                          <a:spcPct val="140000"/>
                        </a:lnSpc>
                        <a:spcBef>
                          <a:spcPts val="0"/>
                        </a:spcBef>
                        <a:spcAft>
                          <a:spcPts val="0"/>
                        </a:spcAft>
                        <a:buClr>
                          <a:srgbClr val="172433"/>
                        </a:buClr>
                        <a:buSzPts val="1300"/>
                        <a:buFont typeface="IBM Plex Sans"/>
                        <a:buNone/>
                      </a:pPr>
                      <a:r>
                        <a:rPr lang="en-US" sz="1300" u="none" strike="noStrike" cap="none">
                          <a:solidFill>
                            <a:srgbClr val="172433"/>
                          </a:solidFill>
                          <a:latin typeface="IBM Plex Sans"/>
                          <a:ea typeface="IBM Plex Sans"/>
                          <a:cs typeface="IBM Plex Sans"/>
                          <a:sym typeface="IBM Plex Sans"/>
                        </a:rPr>
                        <a:t>Verdict</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BDC0C3"/>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marR="0" lvl="0" indent="0" algn="l" rtl="0">
                        <a:lnSpc>
                          <a:spcPct val="140000"/>
                        </a:lnSpc>
                        <a:spcBef>
                          <a:spcPts val="0"/>
                        </a:spcBef>
                        <a:spcAft>
                          <a:spcPts val="0"/>
                        </a:spcAft>
                        <a:buClr>
                          <a:srgbClr val="172433"/>
                        </a:buClr>
                        <a:buSzPts val="1300"/>
                        <a:buFont typeface="IBM Plex Sans"/>
                        <a:buNone/>
                      </a:pPr>
                      <a:r>
                        <a:rPr lang="en-US" sz="1300" u="none" strike="noStrike" cap="none">
                          <a:solidFill>
                            <a:srgbClr val="172433"/>
                          </a:solidFill>
                          <a:latin typeface="IBM Plex Sans"/>
                          <a:ea typeface="IBM Plex Sans"/>
                          <a:cs typeface="IBM Plex Sans"/>
                          <a:sym typeface="IBM Plex Sans"/>
                        </a:rPr>
                        <a:t>The organizers’ validator, run locally</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tc>
                  <a:txBody>
                    <a:bodyPr/>
                    <a:lstStyle/>
                    <a:p>
                      <a:pPr marL="0" marR="0" lvl="0" indent="0" algn="l" rtl="0">
                        <a:lnSpc>
                          <a:spcPct val="140000"/>
                        </a:lnSpc>
                        <a:spcBef>
                          <a:spcPts val="0"/>
                        </a:spcBef>
                        <a:spcAft>
                          <a:spcPts val="0"/>
                        </a:spcAft>
                        <a:buClr>
                          <a:srgbClr val="172433"/>
                        </a:buClr>
                        <a:buSzPts val="1300"/>
                        <a:buFont typeface="IBM Plex Sans"/>
                        <a:buNone/>
                      </a:pPr>
                      <a:r>
                        <a:rPr lang="en-US" sz="1300" u="none" strike="noStrike" cap="none">
                          <a:solidFill>
                            <a:srgbClr val="172433"/>
                          </a:solidFill>
                          <a:latin typeface="IBM Plex Sans"/>
                          <a:ea typeface="IBM Plex Sans"/>
                          <a:cs typeface="IBM Plex Sans"/>
                          <a:sym typeface="IBM Plex Sans"/>
                        </a:rPr>
                        <a:t>The organizers’ clean build</a:t>
                      </a:r>
                      <a:endParaRPr sz="1300" u="none" strike="noStrike" cap="none">
                        <a:latin typeface="IBM Plex Sans"/>
                        <a:ea typeface="IBM Plex Sans"/>
                        <a:cs typeface="IBM Plex Sans"/>
                        <a:sym typeface="IBM Plex Sans"/>
                      </a:endParaRPr>
                    </a:p>
                  </a:txBody>
                  <a:tcPr marL="127000" marR="127000" marT="88900" marB="88900">
                    <a:lnL w="12700" cap="flat" cmpd="sng">
                      <a:solidFill>
                        <a:srgbClr val="C9C9C7"/>
                      </a:solidFill>
                      <a:prstDash val="solid"/>
                      <a:round/>
                      <a:headEnd type="none" w="sm" len="sm"/>
                      <a:tailEnd type="none" w="sm" len="sm"/>
                    </a:lnL>
                    <a:lnR w="12700" cap="flat" cmpd="sng">
                      <a:solidFill>
                        <a:srgbClr val="C9C9C7"/>
                      </a:solidFill>
                      <a:prstDash val="solid"/>
                      <a:round/>
                      <a:headEnd type="none" w="sm" len="sm"/>
                      <a:tailEnd type="none" w="sm" len="sm"/>
                    </a:lnR>
                    <a:lnT w="12700" cap="flat" cmpd="sng">
                      <a:solidFill>
                        <a:srgbClr val="C4C5C3"/>
                      </a:solidFill>
                      <a:prstDash val="solid"/>
                      <a:round/>
                      <a:headEnd type="none" w="sm" len="sm"/>
                      <a:tailEnd type="none" w="sm" len="sm"/>
                    </a:lnT>
                    <a:lnB w="12700" cap="flat" cmpd="sng">
                      <a:solidFill>
                        <a:srgbClr val="C9C9C7"/>
                      </a:solidFill>
                      <a:prstDash val="solid"/>
                      <a:round/>
                      <a:headEnd type="none" w="sm" len="sm"/>
                      <a:tailEnd type="none" w="sm" len="sm"/>
                    </a:lnB>
                    <a:solidFill>
                      <a:srgbClr val="FCFCFA"/>
                    </a:solidFill>
                  </a:tcPr>
                </a:tc>
                <a:extLst>
                  <a:ext uri="{0D108BD9-81ED-4DB2-BD59-A6C34878D82A}">
                    <a16:rowId xmlns:a16="http://schemas.microsoft.com/office/drawing/2014/main" val="10005"/>
                  </a:ext>
                </a:extLst>
              </a:tr>
            </a:tbl>
          </a:graphicData>
        </a:graphic>
      </p:graphicFrame>
      <p:sp>
        <p:nvSpPr>
          <p:cNvPr id="378" name="Google Shape;378;p15"/>
          <p:cNvSpPr/>
          <p:nvPr/>
        </p:nvSpPr>
        <p:spPr>
          <a:xfrm>
            <a:off x="812750" y="6238249"/>
            <a:ext cx="9810744" cy="238732"/>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Organizer guidance to the team; our research budget settings</a:t>
            </a:r>
            <a:endParaRPr sz="1200" b="0" i="0" u="none" strike="noStrike" cap="none">
              <a:solidFill>
                <a:schemeClr val="dk1"/>
              </a:solidFill>
              <a:latin typeface="IBM Plex Sans"/>
              <a:ea typeface="IBM Plex Sans"/>
              <a:cs typeface="IBM Plex Sans"/>
              <a:sym typeface="IBM Plex Sans"/>
            </a:endParaRPr>
          </a:p>
        </p:txBody>
      </p:sp>
      <p:sp>
        <p:nvSpPr>
          <p:cNvPr id="379" name="Google Shape;379;p15"/>
          <p:cNvSpPr/>
          <p:nvPr/>
        </p:nvSpPr>
        <p:spPr>
          <a:xfrm>
            <a:off x="10820424" y="6238249"/>
            <a:ext cx="558799" cy="238732"/>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6B7684"/>
              </a:buClr>
              <a:buSzPts val="1200"/>
              <a:buFont typeface="IBM Plex Sans"/>
              <a:buNone/>
            </a:pPr>
            <a:r>
              <a:rPr lang="en-US" sz="1200" b="0" i="0" u="none" strike="noStrike" cap="none">
                <a:solidFill>
                  <a:srgbClr val="6B7684"/>
                </a:solidFill>
                <a:latin typeface="IBM Plex Sans"/>
                <a:ea typeface="IBM Plex Sans"/>
                <a:cs typeface="IBM Plex Sans"/>
                <a:sym typeface="IBM Plex Sans"/>
              </a:rPr>
              <a:t>B</a:t>
            </a:r>
            <a:endParaRPr sz="12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theme/theme1.xml><?xml version="1.0" encoding="utf-8"?>
<a:theme xmlns:a="http://schemas.openxmlformats.org/drawingml/2006/main" name="Build-Bench Demo 2">
  <a:themeElements>
    <a:clrScheme name="Build-Bench Demo 2">
      <a:dk1>
        <a:srgbClr val="14304F"/>
      </a:dk1>
      <a:lt1>
        <a:srgbClr val="F6F7F4"/>
      </a:lt1>
      <a:dk2>
        <a:srgbClr val="4D6278"/>
      </a:dk2>
      <a:lt2>
        <a:srgbClr val="DFE3E4"/>
      </a:lt2>
      <a:accent1>
        <a:srgbClr val="1F5F99"/>
      </a:accent1>
      <a:accent2>
        <a:srgbClr val="B4530F"/>
      </a:accent2>
      <a:accent3>
        <a:srgbClr val="F2A65A"/>
      </a:accent3>
      <a:accent4>
        <a:srgbClr val="9DB8D3"/>
      </a:accent4>
      <a:accent5>
        <a:srgbClr val="4A5568"/>
      </a:accent5>
      <a:accent6>
        <a:srgbClr val="17243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uild-Bench Demo 2">
  <a:themeElements>
    <a:clrScheme name="Build-Bench Demo 2">
      <a:dk1>
        <a:srgbClr val="14304F"/>
      </a:dk1>
      <a:lt1>
        <a:srgbClr val="F6F7F4"/>
      </a:lt1>
      <a:dk2>
        <a:srgbClr val="4D6278"/>
      </a:dk2>
      <a:lt2>
        <a:srgbClr val="DFE3E4"/>
      </a:lt2>
      <a:accent1>
        <a:srgbClr val="1F5F99"/>
      </a:accent1>
      <a:accent2>
        <a:srgbClr val="B4530F"/>
      </a:accent2>
      <a:accent3>
        <a:srgbClr val="F2A65A"/>
      </a:accent3>
      <a:accent4>
        <a:srgbClr val="9DB8D3"/>
      </a:accent4>
      <a:accent5>
        <a:srgbClr val="4A5568"/>
      </a:accent5>
      <a:accent6>
        <a:srgbClr val="17243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4937</Words>
  <Application>Microsoft Macintosh PowerPoint</Application>
  <PresentationFormat>Widescreen</PresentationFormat>
  <Paragraphs>423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JetBrains Mono</vt:lpstr>
      <vt:lpstr>Arial</vt:lpstr>
      <vt:lpstr>IBM Plex Sans</vt:lpstr>
      <vt:lpstr>Build-Bench Demo 2</vt:lpstr>
      <vt:lpstr>Build-Bench Challenge</vt:lpstr>
      <vt:lpstr>A package that builds on x86 can fail on ARM. We repair it, and only the organizers’ clean build can say it worked</vt:lpstr>
      <vt:lpstr>Since Demo 1, we built and evaluated the local repair pipeline</vt:lpstr>
      <vt:lpstr>One-shot architecture</vt:lpstr>
      <vt:lpstr>Full-agent architecture</vt:lpstr>
      <vt:lpstr>One-shot failures shaped the full-agent design </vt:lpstr>
      <vt:lpstr>One recorded run: ARM64 repair and build in 44 seconds</vt:lpstr>
      <vt:lpstr>Early rcran experiments: 4/4 full-agent repairs and 1/3 one-shot repairs</vt:lpstr>
      <vt:lpstr>Harder cases: neither agent has a repair yet: 0 of 4 for both</vt:lpstr>
      <vt:lpstr>Milestone check:</vt:lpstr>
      <vt:lpstr>Next: better fixes and fewer tokens, before the competition version is frozen on November 13</vt:lpstr>
      <vt:lpstr>Three things to take away</vt:lpstr>
      <vt:lpstr>Modular implementation, tests and auditable evidence</vt:lpstr>
      <vt:lpstr>Why the model answers in JSON text instead of native tool calling</vt:lpstr>
      <vt:lpstr>What the agent can rely on in our harness and in the competition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Jacques, Juliette</cp:lastModifiedBy>
  <cp:revision>1</cp:revision>
  <dcterms:created xsi:type="dcterms:W3CDTF">2026-10-18T23:17:42Z</dcterms:created>
  <dcterms:modified xsi:type="dcterms:W3CDTF">2026-10-21T01:54:53Z</dcterms:modified>
</cp:coreProperties>
</file>