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11e34e34e844c4" /><Relationship Type="http://schemas.openxmlformats.org/officeDocument/2006/relationships/extended-properties" Target="/docProps/app.xml" Id="R5684c38c3129429c" /><Relationship Type="http://schemas.openxmlformats.org/officeDocument/2006/relationships/officeDocument" Target="/ppt/presentation.xml" Id="Rbf3a825bfcdc4dfa" /></Relationships>
</file>

<file path=ppt/presentation.xml><?xml version="1.0" encoding="utf-8"?>
<p:presentation xmlns:p="http://schemas.openxmlformats.org/presentationml/2006/main">
  <p:sldMasterIdLst>
    <p:sldMasterId xmlns:r="http://schemas.openxmlformats.org/officeDocument/2006/relationships" id="2147483648" r:id="R6326f3ec5a1b45ea"/>
  </p:sldMasterIdLst>
  <p:notesMasterIdLst>
    <p:notesMasterId xmlns:r="http://schemas.openxmlformats.org/officeDocument/2006/relationships" r:id="R50d062b34bfd453c"/>
  </p:notesMasterIdLst>
  <p:sldIdLst>
    <p:sldId xmlns:r="http://schemas.openxmlformats.org/officeDocument/2006/relationships" id="256" r:id="R7a86b0b378654334"/>
    <p:sldId xmlns:r="http://schemas.openxmlformats.org/officeDocument/2006/relationships" id="257" r:id="R24ab2def967343f4"/>
    <p:sldId xmlns:r="http://schemas.openxmlformats.org/officeDocument/2006/relationships" id="258" r:id="Rb648ba6e4f5749fe"/>
    <p:sldId xmlns:r="http://schemas.openxmlformats.org/officeDocument/2006/relationships" id="259" r:id="R2b8a49ea45e34271"/>
    <p:sldId xmlns:r="http://schemas.openxmlformats.org/officeDocument/2006/relationships" id="260" r:id="R92de3a8ac8654057"/>
    <p:sldId xmlns:r="http://schemas.openxmlformats.org/officeDocument/2006/relationships" id="261" r:id="R04df7f5a68d44bd7"/>
    <p:sldId xmlns:r="http://schemas.openxmlformats.org/officeDocument/2006/relationships" id="262" r:id="R5a8075affe5243ff"/>
    <p:sldId xmlns:r="http://schemas.openxmlformats.org/officeDocument/2006/relationships" id="263" r:id="Raa665de2dace45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5289619b4f4535" /><Relationship Type="http://schemas.openxmlformats.org/officeDocument/2006/relationships/slideMaster" Target="/ppt/slideMasters/slideMaster1.xml" Id="R6326f3ec5a1b45ea" /><Relationship Type="http://schemas.openxmlformats.org/officeDocument/2006/relationships/notesMaster" Target="/ppt/notesMasters/notesMaster1.xml" Id="R50d062b34bfd453c" /><Relationship Type="http://schemas.openxmlformats.org/officeDocument/2006/relationships/presProps" Target="/ppt/presProps.xml" Id="R393de1059f144386" /><Relationship Type="http://schemas.openxmlformats.org/officeDocument/2006/relationships/tableStyles" Target="/ppt/tableStyles.xml" Id="R36cbd4a86d5a4ceb" /><Relationship Type="http://schemas.openxmlformats.org/officeDocument/2006/relationships/slide" Target="/ppt/slides/slide1.xml" Id="R7a86b0b378654334" /><Relationship Type="http://schemas.openxmlformats.org/officeDocument/2006/relationships/slide" Target="/ppt/slides/slide2.xml" Id="R24ab2def967343f4" /><Relationship Type="http://schemas.openxmlformats.org/officeDocument/2006/relationships/slide" Target="/ppt/slides/slide3.xml" Id="Rb648ba6e4f5749fe" /><Relationship Type="http://schemas.openxmlformats.org/officeDocument/2006/relationships/slide" Target="/ppt/slides/slide4.xml" Id="R2b8a49ea45e34271" /><Relationship Type="http://schemas.openxmlformats.org/officeDocument/2006/relationships/slide" Target="/ppt/slides/slide5.xml" Id="R92de3a8ac8654057" /><Relationship Type="http://schemas.openxmlformats.org/officeDocument/2006/relationships/slide" Target="/ppt/slides/slide6.xml" Id="R04df7f5a68d44bd7" /><Relationship Type="http://schemas.openxmlformats.org/officeDocument/2006/relationships/slide" Target="/ppt/slides/slide7.xml" Id="R5a8075affe5243ff" /><Relationship Type="http://schemas.openxmlformats.org/officeDocument/2006/relationships/slide" Target="/ppt/slides/slide8.xml" Id="Raa665de2dace45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21e016fe784e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68923013534d0e" /><Relationship Type="http://schemas.openxmlformats.org/officeDocument/2006/relationships/notesMaster" Target="/ppt/notesMasters/notesMaster1.xml" Id="R05bede89241e48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44bd17242545cb" /><Relationship Type="http://schemas.openxmlformats.org/officeDocument/2006/relationships/notesMaster" Target="/ppt/notesMasters/notesMaster1.xml" Id="Ra8db1e3eab8244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c75ca20648448f" /><Relationship Type="http://schemas.openxmlformats.org/officeDocument/2006/relationships/notesMaster" Target="/ppt/notesMasters/notesMaster1.xml" Id="R93f54b5d546046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54a3fb1aee4ccb" /><Relationship Type="http://schemas.openxmlformats.org/officeDocument/2006/relationships/notesMaster" Target="/ppt/notesMasters/notesMaster1.xml" Id="R4054aba93ef949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edcf790bb8464c" /><Relationship Type="http://schemas.openxmlformats.org/officeDocument/2006/relationships/notesMaster" Target="/ppt/notesMasters/notesMaster1.xml" Id="R2cb8717837db45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a5f5eb61964fb5" /><Relationship Type="http://schemas.openxmlformats.org/officeDocument/2006/relationships/notesMaster" Target="/ppt/notesMasters/notesMaster1.xml" Id="Rdcf84bfb896246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01282e8a0a4d7f" /><Relationship Type="http://schemas.openxmlformats.org/officeDocument/2006/relationships/notesMaster" Target="/ppt/notesMasters/notesMaster1.xml" Id="R11dc341050ec49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7c3fdc1d774e66" /><Relationship Type="http://schemas.openxmlformats.org/officeDocument/2006/relationships/notesMaster" Target="/ppt/notesMasters/notesMaster1.xml" Id="Rf0219567c7444b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Project and objective (45 seconds)</a:t>
            </a:r>
          </a:p>
          <a:p xmlns:a="http://schemas.openxmlformats.org/drawingml/2006/main">
            <a:r>
              <a:t/>
            </a:r>
          </a:p>
          <a:p xmlns:a="http://schemas.openxmlformats.org/drawingml/2006/main">
            <a:r>
              <a:t>**Presenter: Owen Zhang**</a:t>
            </a:r>
          </a:p>
          <a:p xmlns:a="http://schemas.openxmlformats.org/drawingml/2006/main">
            <a:r>
              <a:t/>
            </a:r>
          </a:p>
          <a:p xmlns:a="http://schemas.openxmlformats.org/drawingml/2006/main">
            <a:r>
              <a:t>We are Owen Zhang and Joonseo Moon. We are designing an autonomous agent to repair software packages that fail after migration between hardware architectures. Our team is Anthony Capraru, Austin Li, Joonseo Moon, Juliette Jacques, and Owen Zhang, with mentor Minghua Ma at Microsoft. Today we will explain the problem, the proposed repair loop, how success is independently checked, and our semester milestones. This is a design proposal; our general LLM agent is scheduled for Demo 2.</a:t>
            </a:r>
          </a:p>
          <a:p xmlns:a="http://schemas.openxmlformats.org/drawingml/2006/main">
            <a:r>
              <a:t/>
            </a:r>
          </a:p>
          <a:p xmlns:a="http://schemas.openxmlformats.org/drawingml/2006/main">
            <a:r>
              <a:t>Sources: Team roster supplied by the team. Project title and mentor: repository README and Demo 1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Problem and motivation (65 seconds)</a:t>
            </a:r>
          </a:p>
          <a:p xmlns:a="http://schemas.openxmlformats.org/drawingml/2006/main">
            <a:r>
              <a:t/>
            </a:r>
          </a:p>
          <a:p xmlns:a="http://schemas.openxmlformats.org/drawingml/2006/main">
            <a:r>
              <a:t>**Presenter: Owen Zhang**</a:t>
            </a:r>
          </a:p>
          <a:p xmlns:a="http://schemas.openxmlformats.org/drawingml/2006/main">
            <a:r>
              <a:t/>
            </a:r>
          </a:p>
          <a:p xmlns:a="http://schemas.openxmlformats.org/drawingml/2006/main">
            <a:r>
              <a:t>A package that builds on one architecture can fail on another because architecture-specific source, dependencies, compiler behavior or packaging assumptions change. The maintainer must determine which failure is causal and where to make the repair. The visible compiler error is not always the root cause. Our objective is to automate that investigation while preserving an independent executable check of the outcome. We will measure verified repairs and resource usage. We are not yet claiming measured developer time savings. The downloaded cases come from real Debian source packages and historical build failures.</a:t>
            </a:r>
          </a:p>
          <a:p xmlns:a="http://schemas.openxmlformats.org/drawingml/2006/main">
            <a:r>
              <a:t/>
            </a:r>
          </a:p>
          <a:p xmlns:a="http://schemas.openxmlformats.org/drawingml/2006/main">
            <a:r>
              <a:t>Sources: Official challenge overview, https://matrix.cstcloud.cn/build-bench/ (checked 2026-09-21). docs/evidence/demo-1/dataset-summary.json.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Build-Bench verification model (75 seconds)</a:t>
            </a:r>
          </a:p>
          <a:p xmlns:a="http://schemas.openxmlformats.org/drawingml/2006/main">
            <a:r>
              <a:t/>
            </a:r>
          </a:p>
          <a:p xmlns:a="http://schemas.openxmlformats.org/drawingml/2006/main">
            <a:r>
              <a:t>**Presenter: Owen Zhang**</a:t>
            </a:r>
          </a:p>
          <a:p xmlns:a="http://schemas.openxmlformats.org/drawingml/2006/main">
            <a:r>
              <a:t/>
            </a:r>
          </a:p>
          <a:p xmlns:a="http://schemas.openxmlformats.org/drawingml/2006/main">
            <a:r>
              <a:t>Read the diagram from the upper left across the top row, then down and back across the bottom. Cases describe a package that worked on a source architecture and failed on a target architecture. We have the target-failure evidence; we have not independently reproduced source success for the development dataset. The agent edits its permitted working repository. The organizer then derives a canonical patch, applies it to a fresh case, and runs the target build with expected artifact verification. Completion status and a plausible patch are insufficient. The downloaded public release contains 100 cases in each x86_64/ARM64 direction. The broader competition includes RISC-V, but RISC-V is outside our available public-case evidence.</a:t>
            </a:r>
          </a:p>
          <a:p xmlns:a="http://schemas.openxmlformats.org/drawingml/2006/main">
            <a:r>
              <a:t/>
            </a:r>
          </a:p>
          <a:p xmlns:a="http://schemas.openxmlformats.org/drawingml/2006/main">
            <a:r>
              <a:t>Sources: Official challenge overview, https://matrix.cstcloud.cn/build-bench/. Supplied starter kit rc.2 README and AGENTS.md. Dataset evidence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Proposed system architecture (105 seconds)</a:t>
            </a:r>
          </a:p>
          <a:p xmlns:a="http://schemas.openxmlformats.org/drawingml/2006/main">
            <a:r>
              <a:t/>
            </a:r>
          </a:p>
          <a:p xmlns:a="http://schemas.openxmlformats.org/drawingml/2006/main">
            <a:r>
              <a:t>**Presenter: Owen Zhang**</a:t>
            </a:r>
          </a:p>
          <a:p xmlns:a="http://schemas.openxmlformats.org/drawingml/2006/main">
            <a:r>
              <a:t/>
            </a:r>
          </a:p>
          <a:p xmlns:a="http://schemas.openxmlformats.org/drawingml/2006/main">
            <a:r>
              <a:t>The Case Manager normalizes metadata and paths. The Evidence Manager selects log slices and relevant files. The LLM Planner records a hypothesis and chooses the next action. Controlled Tools inspect source and Debian packaging files using Python. The Repair Generator makes permitted edits. The Validation/Feedback Adapter requests in-loop build feedback when the supported interface allows it. Failure returns evidence to the loop. The final worktree always goes through the organizer's clean build and artifact checks before a repair can count as successful. History/Metrics records attempts and outcomes, while Budget Controls enforce stopping limits. All components are proposed. We separate the submitted agent from a Linux harness that provides model access and invokes the validator outside the sandbox. Hosted model and feedback interfaces remain unconfirmed. We plan to use AWS for course experiments, with x86_64 and ARM64 environments and pinned configurations. Those environments have not been provisioned or verified. Joonseo will explain how we control the repair loop and measure whether it improves.</a:t>
            </a:r>
          </a:p>
          <a:p xmlns:a="http://schemas.openxmlformats.org/drawingml/2006/main">
            <a:r>
              <a:t/>
            </a:r>
          </a:p>
          <a:p xmlns:a="http://schemas.openxmlformats.org/drawingml/2006/main">
            <a:r>
              <a:t>Sources: Proposed design in docs/design-proposal.md. Supplied starter kit rc.2 runtime interface and local runner inspection.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Iteration, context and resource controls (80 seconds)</a:t>
            </a:r>
          </a:p>
          <a:p xmlns:a="http://schemas.openxmlformats.org/drawingml/2006/main">
            <a:r>
              <a:t/>
            </a:r>
          </a:p>
          <a:p xmlns:a="http://schemas.openxmlformats.org/drawingml/2006/main">
            <a:r>
              <a:t>**Presenter: Joonseo Moon**</a:t>
            </a:r>
          </a:p>
          <a:p xmlns:a="http://schemas.openxmlformats.org/drawingml/2006/main">
            <a:r>
              <a:t/>
            </a:r>
          </a:p>
          <a:p xmlns:a="http://schemas.openxmlformats.org/drawingml/2006/main">
            <a:r>
              <a:t>Each attempt should test an explicit hypothesis, rather than simply asking for another patch. First identify a failing stage, then inspect the files or build configuration that could explain it. Preserve diagnostic locations so the model can request more context. The largest downloaded log is 2,370,517,311 bytes, about 2.37 decimal gigabytes, which makes unrestricted log ingestion impractical. A history of patch hashes and normalized failure signatures helps prevent repeating the same unsuccessful change. Initial research caps are five repair candidates, thirty minutes total wall time including tools and builds, and thirty thousand model tokens. We allow at most three in-loop builds where supported and stop after two identical failure/patch pairs. A later build stage is only a clue, not proof of progress. Caught exceptions still count as agent errors. These are our design defaults and may be reduced by official limits. Model usage that cannot be observed will remain unknown, not zero.</a:t>
            </a:r>
          </a:p>
          <a:p xmlns:a="http://schemas.openxmlformats.org/drawingml/2006/main">
            <a:r>
              <a:t/>
            </a:r>
          </a:p>
          <a:p xmlns:a="http://schemas.openxmlformats.org/drawingml/2006/main">
            <a:r>
              <a:t>Sources: docs/evidence/demo-1/dataset-summary.json, summary.largest_logs[0]. docs/design-proposal.md, proposed research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Evaluation plan (75 seconds)</a:t>
            </a:r>
          </a:p>
          <a:p xmlns:a="http://schemas.openxmlformats.org/drawingml/2006/main">
            <a:r>
              <a:t/>
            </a:r>
          </a:p>
          <a:p xmlns:a="http://schemas.openxmlformats.org/drawingml/2006/main">
            <a:r>
              <a:t>**Presenter: Joonseo Moon**</a:t>
            </a:r>
          </a:p>
          <a:p xmlns:a="http://schemas.openxmlformats.org/drawingml/2006/main">
            <a:r>
              <a:t/>
            </a:r>
          </a:p>
          <a:p xmlns:a="http://schemas.openxmlformats.org/drawingml/2006/main">
            <a:r>
              <a:t>The primary metric is the number of cases meeting clean-patch, target-build and artifact requirements divided by every case in a frozen set. We retain crashes, timeouts, invalid patches and unresolved cases in that denominator, and report infrastructure failures separately. Any runnable-case-only rate must be labeled with its own denominator. We will compare the organizer-linked baseline where it can be reproduced, pinning its version, model and configuration. If it is incompatible, we will document that and use an explicitly named one-shot comparator provisionally. Record total wall time, tokens, attempts and tool calls. Run each compared configuration three times on all ten development cases. Report every run and regression, not only repeats on cases that improved. We will group related package names between development and held-out cases to reduce tuning leakage. No public result can establish hidden-case performance.</a:t>
            </a:r>
          </a:p>
          <a:p xmlns:a="http://schemas.openxmlformats.org/drawingml/2006/main">
            <a:r>
              <a:t/>
            </a:r>
          </a:p>
          <a:p xmlns:a="http://schemas.openxmlformats.org/drawingml/2006/main">
            <a:r>
              <a:t>Sources: Official scoring: https://matrix.cstcloud.cn/build-bench/. Organizer-linked baseline: https://github.com/AIOps-Lab-NKU/BuildBench-Agent-Baseline (link verified on official overview; compatibility unverified). docs/design-proposal.md evaluation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Milestones and schedule (80 seconds)</a:t>
            </a:r>
          </a:p>
          <a:p xmlns:a="http://schemas.openxmlformats.org/drawingml/2006/main">
            <a:r>
              <a:t/>
            </a:r>
          </a:p>
          <a:p xmlns:a="http://schemas.openxmlformats.org/drawingml/2006/main">
            <a:r>
              <a:t>**Presenter: Joonseo Moon**</a:t>
            </a:r>
          </a:p>
          <a:p xmlns:a="http://schemas.openxmlformats.org/drawingml/2006/main">
            <a:r>
              <a:t/>
            </a:r>
          </a:p>
          <a:p xmlns:a="http://schemas.openxmlformats.org/drawingml/2006/main">
            <a:r>
              <a:t>For Demo 2, the prototype must invoke a model, inspect files, produce an allowed edit and completion record, and reach clean validation. We will evaluate ten fixed public cases, targeting five in each available direction, and establish a reproducible baseline. Demo 2 does not promise a particular success rate. For Demo 3, categorize failures and implement one substantive improvement. The target is one additional repair per ten cases on average, with positive net gains in at least two of three full runs. The alternative is twenty percent fewer aggregate model tokens while retaining every previously repaired case in the corresponding runs, with at least one verified repair overall. Keep the same model and budget ceilings and report all attempts. A configuration flag isolates the improvement for an ablation. The final target is forty cases balanced by direction, including thirty package-grouped held-out cases frozen before optimization. Preserve complete results and reproducibility instructions. These evaluation targets define our semester milestones. Resource caps will be calibrated before comparisons. The website lists a November thirteenth competition freeze, before Demo 3. If we enter, qualification and a frozen version must be ready earlier; December is only the course final reporting date.</a:t>
            </a:r>
          </a:p>
          <a:p xmlns:a="http://schemas.openxmlformats.org/drawingml/2006/main">
            <a:r>
              <a:t/>
            </a:r>
          </a:p>
          <a:p xmlns:a="http://schemas.openxmlformats.org/drawingml/2006/main">
            <a:r>
              <a:t>Sources: Dates: original docs/design-proposal.md course template. Progress rubric: https://ec528.github.io/ec528/fall26/grading/. Competition timeline checked 2026-09-21: https://matrix.cstcloud.cn/build-bench/.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Current status and next steps (55 seconds)</a:t>
            </a:r>
          </a:p>
          <a:p xmlns:a="http://schemas.openxmlformats.org/drawingml/2006/main">
            <a:r>
              <a:t/>
            </a:r>
          </a:p>
          <a:p xmlns:a="http://schemas.openxmlformats.org/drawingml/2006/main">
            <a:r>
              <a:t>**Presenter: Joonseo Moon**</a:t>
            </a:r>
          </a:p>
          <a:p xmlns:a="http://schemas.openxmlformats.org/drawingml/2006/main">
            <a:r>
              <a:t/>
            </a:r>
          </a:p>
          <a:p xmlns:a="http://schemas.openxmlformats.org/drawingml/2006/main">
            <a:r>
              <a:t>We have inspected the 200-case release across 188 packages and reproduced the organizer's hello example on Linux. Our LLM repair agent and public-case evaluation are scheduled for Demo 2. The first priority is a reproducible Debian case: provision the planned AWS environments, pin their configurations and reproduce the original failure. In parallel, confirm the supported model and feedback interfaces and implement the bounded repair loop. AWS provides the planned compute environment, but historical dependencies and hosted compatibility still need verification. This setup lets us evaluate the central question: can better evidence selection and repair history improve verified repairs or reduce model usage? Our hardest challenge is choosing useful evidence and revising diagnoses within a budget.</a:t>
            </a:r>
          </a:p>
          <a:p xmlns:a="http://schemas.openxmlformats.org/drawingml/2006/main">
            <a:r>
              <a:t/>
            </a:r>
          </a:p>
          <a:p xmlns:a="http://schemas.openxmlformats.org/drawingml/2006/main">
            <a:r>
              <a:t>Sources: docs/evidence/demo-1/dataset-summary.json and docs/evidence/demo-1/README.md. Development priorities: docs/design-proposal.md.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4993cd1e1343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2b9b10c53f418c" /><Relationship Type="http://schemas.openxmlformats.org/officeDocument/2006/relationships/slideLayout" Target="/ppt/slideLayouts/slideLayout1.xml" Id="Rc8de08fd734c46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de08fd734c46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95606b81ed84f63" /><Relationship Type="http://schemas.openxmlformats.org/officeDocument/2006/relationships/notesSlide" Target="/ppt/notesSlides/notesSlide1.xml" Id="Rb59951f0185b42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24881537a84dde" /><Relationship Type="http://schemas.openxmlformats.org/officeDocument/2006/relationships/notesSlide" Target="/ppt/notesSlides/notesSlide2.xml" Id="Rfec8116a2a7946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0d072678a244aa" /><Relationship Type="http://schemas.openxmlformats.org/officeDocument/2006/relationships/notesSlide" Target="/ppt/notesSlides/notesSlide3.xml" Id="Rf52c6d3015ba4d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9fc0019dc54f84" /><Relationship Type="http://schemas.openxmlformats.org/officeDocument/2006/relationships/notesSlide" Target="/ppt/notesSlides/notesSlide4.xml" Id="Rd9c6e31b57a041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1ded27dea14bfa" /><Relationship Type="http://schemas.openxmlformats.org/officeDocument/2006/relationships/notesSlide" Target="/ppt/notesSlides/notesSlide5.xml" Id="Re6828886760b47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b9b87c9356a4bb6" /><Relationship Type="http://schemas.openxmlformats.org/officeDocument/2006/relationships/notesSlide" Target="/ppt/notesSlides/notesSlide6.xml" Id="R0be5451b583144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1b7bf7892924139" /><Relationship Type="http://schemas.openxmlformats.org/officeDocument/2006/relationships/notesSlide" Target="/ppt/notesSlides/notesSlide7.xml" Id="R0af98e3c395d4d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9f9ee9ad9246e9" /><Relationship Type="http://schemas.openxmlformats.org/officeDocument/2006/relationships/notesSlide" Target="/ppt/notesSlides/notesSlide8.xml" Id="Ra3904d945a9b491e" /></Relationships>
</file>

<file path=ppt/slides/slide1.xml><?xml version="1.0" encoding="utf-8"?>
<p:sld xmlns:p="http://schemas.openxmlformats.org/presentationml/2006/main">
  <p:cSld>
    <p:bg>
      <p:bgPr>
        <a:solidFill xmlns:a="http://schemas.openxmlformats.org/drawingml/2006/main">
          <a:srgbClr val="122234"/>
        </a:solidFill>
      </p:bgPr>
    </p:bg>
    <p:spTree>
      <p:nvGrpSpPr>
        <p:cNvPr id="1" name=""/>
        <p:cNvGrpSpPr/>
        <p:nvPr/>
      </p:nvGrpSpPr>
      <p:grpSpPr>
        <a:xfrm xmlns:a="http://schemas.openxmlformats.org/drawingml/2006/main"/>
      </p:grpSpPr>
      <p:sp>
        <p:nvSpPr>
          <p:cNvPr id="9" name="shape-1">
            <a:extLst xmlns:a="http://schemas.openxmlformats.org/drawingml/2006/main">
              <a:ext uri="{FF2B5EF4-FFF2-40B4-BE49-F238E27FC236}">
                <a16:creationId xmlns:a16="http://schemas.microsoft.com/office/drawing/2014/main" id="{B3FC252C-F45A-4642-8C91-A1F8C9298391}"/>
              </a:ext>
            </a:extLst>
          </p:cNvPr>
          <p:cNvSpPr>
            <a:spLocks xmlns:a="http://schemas.openxmlformats.org/drawingml/2006/main" noGrp="1"/>
          </p:cNvSpPr>
          <p:nvPr/>
        </p:nvSpPr>
        <p:spPr>
          <a:xfrm xmlns:a="http://schemas.openxmlformats.org/drawingml/2006/main">
            <a:off x="609600" y="64389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C4CDD6"/>
                </a:solidFill>
                <a:latin typeface="Helvetica Neue"/>
                <a:ea typeface="Helvetica Neue"/>
                <a:cs typeface="Helvetica Neue"/>
              </a:defRPr>
            </a:pPr>
            <a:r>
              <a:rPr sz="1200" b="0">
                <a:solidFill>
                  <a:srgbClr val="C4CDD6"/>
                </a:solidFill>
                <a:latin typeface="Helvetica Neue"/>
                <a:ea typeface="Helvetica Neue"/>
                <a:cs typeface="Helvetica Neue"/>
              </a:rPr>
              <a:t>EC528  /  BUILD-BENCH  /  DEMO 1</a:t>
            </a:r>
          </a:p>
        </p:txBody>
      </p:sp>
      <p:sp>
        <p:nvSpPr>
          <p:cNvPr id="2" name="shape-2">
            <a:extLst xmlns:a="http://schemas.openxmlformats.org/drawingml/2006/main">
              <a:ext uri="{FF2B5EF4-FFF2-40B4-BE49-F238E27FC236}">
                <a16:creationId xmlns:a16="http://schemas.microsoft.com/office/drawing/2014/main" id="{414C4EA7-142F-40BB-8356-9827B400D1F3}"/>
              </a:ext>
            </a:extLst>
          </p:cNvPr>
          <p:cNvSpPr>
            <a:spLocks xmlns:a="http://schemas.openxmlformats.org/drawingml/2006/main" noGrp="1"/>
          </p:cNvSpPr>
          <p:nvPr/>
        </p:nvSpPr>
        <p:spPr>
          <a:xfrm xmlns:a="http://schemas.openxmlformats.org/drawingml/2006/main">
            <a:off x="11001375" y="63912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500" b="0">
                <a:solidFill>
                  <a:srgbClr val="C4CDD6"/>
                </a:solidFill>
                <a:latin typeface="Helvetica Neue"/>
                <a:ea typeface="Helvetica Neue"/>
                <a:cs typeface="Helvetica Neue"/>
              </a:defRPr>
            </a:pPr>
            <a:r>
              <a:rPr sz="1500" b="0">
                <a:solidFill>
                  <a:srgbClr val="C4CDD6"/>
                </a:solidFill>
                <a:latin typeface="Helvetica Neue"/>
                <a:ea typeface="Helvetica Neue"/>
                <a:cs typeface="Helvetica Neue"/>
              </a:rPr>
              <a:t>01</a:t>
            </a:r>
          </a:p>
        </p:txBody>
      </p:sp>
      <p:sp>
        <p:nvSpPr>
          <p:cNvPr id="3" name="shape-3">
            <a:extLst xmlns:a="http://schemas.openxmlformats.org/drawingml/2006/main">
              <a:ext uri="{FF2B5EF4-FFF2-40B4-BE49-F238E27FC236}">
                <a16:creationId xmlns:a16="http://schemas.microsoft.com/office/drawing/2014/main" id="{D88F4A75-2073-4176-AB7F-84DFB736E526}"/>
              </a:ext>
            </a:extLst>
          </p:cNvPr>
          <p:cNvSpPr>
            <a:spLocks xmlns:a="http://schemas.openxmlformats.org/drawingml/2006/main" noGrp="1"/>
          </p:cNvSpPr>
          <p:nvPr/>
        </p:nvSpPr>
        <p:spPr>
          <a:xfrm xmlns:a="http://schemas.openxmlformats.org/drawingml/2006/main">
            <a:off x="609600" y="5524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CDD8E2"/>
                </a:solidFill>
                <a:latin typeface="Helvetica Neue"/>
                <a:ea typeface="Helvetica Neue"/>
                <a:cs typeface="Helvetica Neue"/>
              </a:defRPr>
            </a:pPr>
            <a:r>
              <a:rPr sz="1650" b="1">
                <a:solidFill>
                  <a:srgbClr val="CDD8E2"/>
                </a:solidFill>
                <a:latin typeface="Helvetica Neue"/>
                <a:ea typeface="Helvetica Neue"/>
                <a:cs typeface="Helvetica Neue"/>
              </a:rPr>
              <a:t>BOSTON UNIVERSITY  /  EC528</a:t>
            </a:r>
          </a:p>
        </p:txBody>
      </p:sp>
      <p:sp>
        <p:nvSpPr>
          <p:cNvPr id="4" name="shape-4">
            <a:extLst xmlns:a="http://schemas.openxmlformats.org/drawingml/2006/main">
              <a:ext uri="{FF2B5EF4-FFF2-40B4-BE49-F238E27FC236}">
                <a16:creationId xmlns:a16="http://schemas.microsoft.com/office/drawing/2014/main" id="{6408C1EB-3231-475B-ACFC-0DFF40269E73}"/>
              </a:ext>
            </a:extLst>
          </p:cNvPr>
          <p:cNvSpPr>
            <a:spLocks xmlns:a="http://schemas.openxmlformats.org/drawingml/2006/main" noGrp="1"/>
          </p:cNvSpPr>
          <p:nvPr/>
        </p:nvSpPr>
        <p:spPr>
          <a:xfrm xmlns:a="http://schemas.openxmlformats.org/drawingml/2006/main">
            <a:off x="609600" y="1571625"/>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Build-Bench Challenge</a:t>
            </a:r>
          </a:p>
        </p:txBody>
      </p:sp>
      <p:sp>
        <p:nvSpPr>
          <p:cNvPr id="5" name="shape-5">
            <a:extLst xmlns:a="http://schemas.openxmlformats.org/drawingml/2006/main">
              <a:ext uri="{FF2B5EF4-FFF2-40B4-BE49-F238E27FC236}">
                <a16:creationId xmlns:a16="http://schemas.microsoft.com/office/drawing/2014/main" id="{51A1FCF7-430C-4FE4-9E88-018AAB8C4442}"/>
              </a:ext>
            </a:extLst>
          </p:cNvPr>
          <p:cNvSpPr>
            <a:spLocks xmlns:a="http://schemas.openxmlformats.org/drawingml/2006/main" noGrp="1"/>
          </p:cNvSpPr>
          <p:nvPr/>
        </p:nvSpPr>
        <p:spPr>
          <a:xfrm xmlns:a="http://schemas.openxmlformats.org/drawingml/2006/main">
            <a:off x="609600" y="261937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150" b="0">
                <a:solidFill>
                  <a:srgbClr val="FFFFFF"/>
                </a:solidFill>
                <a:latin typeface="Helvetica Neue"/>
                <a:ea typeface="Helvetica Neue"/>
                <a:cs typeface="Helvetica Neue"/>
              </a:defRPr>
            </a:pPr>
            <a:r>
              <a:rPr sz="3150" b="0">
                <a:solidFill>
                  <a:srgbClr val="FFFFFF"/>
                </a:solidFill>
                <a:latin typeface="Helvetica Neue"/>
                <a:ea typeface="Helvetica Neue"/>
                <a:cs typeface="Helvetica Neue"/>
              </a:rPr>
              <a:t>Autonomous LLM Agents for</a:t>
            </a:r>
          </a:p>
          <a:p xmlns:a="http://schemas.openxmlformats.org/drawingml/2006/main">
            <a:pPr algn="l">
              <a:buNone/>
              <a:defRPr sz="3150" b="0">
                <a:solidFill>
                  <a:srgbClr val="FFFFFF"/>
                </a:solidFill>
                <a:latin typeface="Helvetica Neue"/>
                <a:ea typeface="Helvetica Neue"/>
                <a:cs typeface="Helvetica Neue"/>
              </a:defRPr>
            </a:pPr>
            <a:r>
              <a:rPr sz="3150" b="0">
                <a:solidFill>
                  <a:srgbClr val="FFFFFF"/>
                </a:solidFill>
                <a:latin typeface="Helvetica Neue"/>
                <a:ea typeface="Helvetica Neue"/>
                <a:cs typeface="Helvetica Neue"/>
              </a:rPr>
              <a:t>Cross-Architecture Package Repair</a:t>
            </a:r>
          </a:p>
        </p:txBody>
      </p:sp>
      <p:sp>
        <p:nvSpPr>
          <p:cNvPr id="6" name="">
            <a:extLst xmlns:a="http://schemas.openxmlformats.org/drawingml/2006/main">
              <a:ext uri="{FF2B5EF4-FFF2-40B4-BE49-F238E27FC236}">
                <a16:creationId xmlns:a16="http://schemas.microsoft.com/office/drawing/2014/main" id="{D70C9F14-C64C-4DF6-A0AC-4CD0CBF56980}"/>
              </a:ext>
            </a:extLst>
          </p:cNvPr>
          <p:cNvSpPr>
            <a:spLocks xmlns:a="http://schemas.openxmlformats.org/drawingml/2006/main" noGrp="1"/>
          </p:cNvSpPr>
          <p:nvPr/>
        </p:nvSpPr>
        <p:spPr>
          <a:xfrm xmlns:a="http://schemas.openxmlformats.org/drawingml/2006/main">
            <a:off x="609600" y="4333875"/>
            <a:ext cx="10953750" cy="0"/>
          </a:xfrm>
          <a:prstGeom xmlns:a="http://schemas.openxmlformats.org/drawingml/2006/main" prst="line">
            <a:avLst/>
          </a:prstGeom>
          <a:noFill xmlns:a="http://schemas.openxmlformats.org/drawingml/2006/main"/>
          <a:ln xmlns:a="http://schemas.openxmlformats.org/drawingml/2006/main" w="14288">
            <a:solidFill>
              <a:srgbClr val="4A5969"/>
            </a:solidFill>
          </a:ln>
        </p:spPr>
      </p:sp>
      <p:sp>
        <p:nvSpPr>
          <p:cNvPr id="7" name="shape-6">
            <a:extLst xmlns:a="http://schemas.openxmlformats.org/drawingml/2006/main">
              <a:ext uri="{FF2B5EF4-FFF2-40B4-BE49-F238E27FC236}">
                <a16:creationId xmlns:a16="http://schemas.microsoft.com/office/drawing/2014/main" id="{D455EAEA-FDAB-43F6-9464-47BADF1E6291}"/>
              </a:ext>
            </a:extLst>
          </p:cNvPr>
          <p:cNvSpPr>
            <a:spLocks xmlns:a="http://schemas.openxmlformats.org/drawingml/2006/main" noGrp="1"/>
          </p:cNvSpPr>
          <p:nvPr/>
        </p:nvSpPr>
        <p:spPr>
          <a:xfrm xmlns:a="http://schemas.openxmlformats.org/drawingml/2006/main">
            <a:off x="609600" y="4572000"/>
            <a:ext cx="10668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E3EAF0"/>
                </a:solidFill>
                <a:latin typeface="Helvetica Neue"/>
                <a:ea typeface="Helvetica Neue"/>
                <a:cs typeface="Helvetica Neue"/>
              </a:defRPr>
            </a:pPr>
            <a:r>
              <a:rPr sz="1875" b="0">
                <a:solidFill>
                  <a:srgbClr val="E3EAF0"/>
                </a:solidFill>
                <a:latin typeface="Helvetica Neue"/>
                <a:ea typeface="Helvetica Neue"/>
                <a:cs typeface="Helvetica Neue"/>
              </a:rPr>
              <a:t>Presenters: Owen Zhang and Joonseo Moon</a:t>
            </a:r>
          </a:p>
          <a:p xmlns:a="http://schemas.openxmlformats.org/drawingml/2006/main">
            <a:pPr algn="l">
              <a:buNone/>
              <a:defRPr sz="1875" b="0">
                <a:solidFill>
                  <a:srgbClr val="E3EAF0"/>
                </a:solidFill>
                <a:latin typeface="Helvetica Neue"/>
                <a:ea typeface="Helvetica Neue"/>
                <a:cs typeface="Helvetica Neue"/>
              </a:defRPr>
            </a:pPr>
            <a:r>
              <a:rPr sz="1875" b="0">
                <a:solidFill>
                  <a:srgbClr val="E3EAF0"/>
                </a:solidFill>
                <a:latin typeface="Helvetica Neue"/>
                <a:ea typeface="Helvetica Neue"/>
                <a:cs typeface="Helvetica Neue"/>
              </a:rPr>
              <a:t>Team: Anthony Capraru, Austin Li, Joonseo Moon,</a:t>
            </a:r>
          </a:p>
          <a:p xmlns:a="http://schemas.openxmlformats.org/drawingml/2006/main">
            <a:pPr algn="l">
              <a:buNone/>
              <a:defRPr sz="1875" b="0">
                <a:solidFill>
                  <a:srgbClr val="E3EAF0"/>
                </a:solidFill>
                <a:latin typeface="Helvetica Neue"/>
                <a:ea typeface="Helvetica Neue"/>
                <a:cs typeface="Helvetica Neue"/>
              </a:defRPr>
            </a:pPr>
            <a:r>
              <a:rPr sz="1875" b="0">
                <a:solidFill>
                  <a:srgbClr val="E3EAF0"/>
                </a:solidFill>
                <a:latin typeface="Helvetica Neue"/>
                <a:ea typeface="Helvetica Neue"/>
                <a:cs typeface="Helvetica Neue"/>
              </a:rPr>
              <a:t>Juliette Jacques, Owen Zhang</a:t>
            </a:r>
          </a:p>
        </p:txBody>
      </p:sp>
      <p:sp>
        <p:nvSpPr>
          <p:cNvPr id="8" name="shape-7">
            <a:extLst xmlns:a="http://schemas.openxmlformats.org/drawingml/2006/main">
              <a:ext uri="{FF2B5EF4-FFF2-40B4-BE49-F238E27FC236}">
                <a16:creationId xmlns:a16="http://schemas.microsoft.com/office/drawing/2014/main" id="{25EC8FA3-7DAB-4613-9774-68C449C504B5}"/>
              </a:ext>
            </a:extLst>
          </p:cNvPr>
          <p:cNvSpPr>
            <a:spLocks xmlns:a="http://schemas.openxmlformats.org/drawingml/2006/main" noGrp="1"/>
          </p:cNvSpPr>
          <p:nvPr/>
        </p:nvSpPr>
        <p:spPr>
          <a:xfrm xmlns:a="http://schemas.openxmlformats.org/drawingml/2006/main">
            <a:off x="609600" y="5867400"/>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C4CDD6"/>
                </a:solidFill>
                <a:latin typeface="Helvetica Neue"/>
                <a:ea typeface="Helvetica Neue"/>
                <a:cs typeface="Helvetica Neue"/>
              </a:defRPr>
            </a:pPr>
            <a:r>
              <a:rPr sz="1875" b="0">
                <a:solidFill>
                  <a:srgbClr val="C4CDD6"/>
                </a:solidFill>
                <a:latin typeface="Helvetica Neue"/>
                <a:ea typeface="Helvetica Neue"/>
                <a:cs typeface="Helvetica Neue"/>
              </a:rPr>
              <a:t>Mentor: Minghua Ma, Microsoft</a:t>
            </a:r>
          </a:p>
        </p:txBody>
      </p:sp>
    </p:spTree>
    <p:extLst>
      <p:ext uri="{BB962C8B-B14F-4D97-AF65-F5344CB8AC3E}">
        <p14:creationId xmlns:p14="http://schemas.microsoft.com/office/powerpoint/2010/main" val="1133986750"/>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7" name="shape-8">
            <a:extLst xmlns:a="http://schemas.openxmlformats.org/drawingml/2006/main">
              <a:ext uri="{FF2B5EF4-FFF2-40B4-BE49-F238E27FC236}">
                <a16:creationId xmlns:a16="http://schemas.microsoft.com/office/drawing/2014/main" id="{88F19627-D38F-45B0-8B11-C7A56D518B08}"/>
              </a:ext>
            </a:extLst>
          </p:cNvPr>
          <p:cNvSpPr>
            <a:spLocks xmlns:a="http://schemas.openxmlformats.org/drawingml/2006/main" noGrp="1"/>
          </p:cNvSpPr>
          <p:nvPr/>
        </p:nvSpPr>
        <p:spPr>
          <a:xfrm xmlns:a="http://schemas.openxmlformats.org/drawingml/2006/main">
            <a:off x="609600" y="552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122234"/>
                </a:solidFill>
                <a:latin typeface="Helvetica Neue"/>
                <a:ea typeface="Helvetica Neue"/>
                <a:cs typeface="Helvetica Neue"/>
              </a:defRPr>
            </a:pPr>
            <a:r>
              <a:rPr sz="3300" b="1">
                <a:solidFill>
                  <a:srgbClr val="122234"/>
                </a:solidFill>
                <a:latin typeface="Helvetica Neue"/>
                <a:ea typeface="Helvetica Neue"/>
                <a:cs typeface="Helvetica Neue"/>
              </a:rPr>
              <a:t>A working package can fail after migration</a:t>
            </a:r>
          </a:p>
        </p:txBody>
      </p:sp>
      <p:sp>
        <p:nvSpPr>
          <p:cNvPr id="2" name="shape-9">
            <a:extLst xmlns:a="http://schemas.openxmlformats.org/drawingml/2006/main">
              <a:ext uri="{FF2B5EF4-FFF2-40B4-BE49-F238E27FC236}">
                <a16:creationId xmlns:a16="http://schemas.microsoft.com/office/drawing/2014/main" id="{67175314-4430-4429-B926-9AE06A09F48E}"/>
              </a:ext>
            </a:extLst>
          </p:cNvPr>
          <p:cNvSpPr>
            <a:spLocks xmlns:a="http://schemas.openxmlformats.org/drawingml/2006/main" noGrp="1"/>
          </p:cNvSpPr>
          <p:nvPr/>
        </p:nvSpPr>
        <p:spPr>
          <a:xfrm xmlns:a="http://schemas.openxmlformats.org/drawingml/2006/main">
            <a:off x="609600" y="64389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536374"/>
                </a:solidFill>
                <a:latin typeface="Helvetica Neue"/>
                <a:ea typeface="Helvetica Neue"/>
                <a:cs typeface="Helvetica Neue"/>
              </a:defRPr>
            </a:pPr>
            <a:r>
              <a:rPr sz="1200" b="0">
                <a:solidFill>
                  <a:srgbClr val="536374"/>
                </a:solidFill>
                <a:latin typeface="Helvetica Neue"/>
                <a:ea typeface="Helvetica Neue"/>
                <a:cs typeface="Helvetica Neue"/>
              </a:rPr>
              <a:t>EC528  /  BUILD-BENCH  /  DEMO 1</a:t>
            </a:r>
          </a:p>
        </p:txBody>
      </p:sp>
      <p:sp>
        <p:nvSpPr>
          <p:cNvPr id="3" name="shape-10">
            <a:extLst xmlns:a="http://schemas.openxmlformats.org/drawingml/2006/main">
              <a:ext uri="{FF2B5EF4-FFF2-40B4-BE49-F238E27FC236}">
                <a16:creationId xmlns:a16="http://schemas.microsoft.com/office/drawing/2014/main" id="{7DBFB13E-74B2-4115-A0DD-CE62E59F3A74}"/>
              </a:ext>
            </a:extLst>
          </p:cNvPr>
          <p:cNvSpPr>
            <a:spLocks xmlns:a="http://schemas.openxmlformats.org/drawingml/2006/main" noGrp="1"/>
          </p:cNvSpPr>
          <p:nvPr/>
        </p:nvSpPr>
        <p:spPr>
          <a:xfrm xmlns:a="http://schemas.openxmlformats.org/drawingml/2006/main">
            <a:off x="11001375" y="63912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500" b="0">
                <a:solidFill>
                  <a:srgbClr val="536374"/>
                </a:solidFill>
                <a:latin typeface="Helvetica Neue"/>
                <a:ea typeface="Helvetica Neue"/>
                <a:cs typeface="Helvetica Neue"/>
              </a:defRPr>
            </a:pPr>
            <a:r>
              <a:rPr sz="1500" b="0">
                <a:solidFill>
                  <a:srgbClr val="536374"/>
                </a:solidFill>
                <a:latin typeface="Helvetica Neue"/>
                <a:ea typeface="Helvetica Neue"/>
                <a:cs typeface="Helvetica Neue"/>
              </a:rPr>
              <a:t>02</a:t>
            </a:r>
          </a:p>
        </p:txBody>
      </p:sp>
      <p:sp>
        <p:nvSpPr>
          <p:cNvPr id="4" name="shape-11">
            <a:extLst xmlns:a="http://schemas.openxmlformats.org/drawingml/2006/main">
              <a:ext uri="{FF2B5EF4-FFF2-40B4-BE49-F238E27FC236}">
                <a16:creationId xmlns:a16="http://schemas.microsoft.com/office/drawing/2014/main" id="{EB53CB89-11C4-4178-90AE-B7723DD076BE}"/>
              </a:ext>
            </a:extLst>
          </p:cNvPr>
          <p:cNvSpPr>
            <a:spLocks xmlns:a="http://schemas.openxmlformats.org/drawingml/2006/main" noGrp="1"/>
          </p:cNvSpPr>
          <p:nvPr/>
        </p:nvSpPr>
        <p:spPr>
          <a:xfrm xmlns:a="http://schemas.openxmlformats.org/drawingml/2006/main">
            <a:off x="609600" y="12858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0">
                <a:solidFill>
                  <a:srgbClr val="536374"/>
                </a:solidFill>
                <a:latin typeface="Helvetica Neue"/>
                <a:ea typeface="Helvetica Neue"/>
                <a:cs typeface="Helvetica Neue"/>
              </a:defRPr>
            </a:pPr>
            <a:r>
              <a:rPr sz="2025" b="0">
                <a:solidFill>
                  <a:srgbClr val="536374"/>
                </a:solidFill>
                <a:latin typeface="Helvetica Neue"/>
                <a:ea typeface="Helvetica Neue"/>
                <a:cs typeface="Helvetica Neue"/>
              </a:rPr>
              <a:t>Cross-architecture repair connects source code, dependencies and packaging.</a:t>
            </a:r>
          </a:p>
        </p:txBody>
      </p:sp>
      <p:sp>
        <p:nvSpPr>
          <p:cNvPr id="5" name="shape-12">
            <a:extLst xmlns:a="http://schemas.openxmlformats.org/drawingml/2006/main">
              <a:ext uri="{FF2B5EF4-FFF2-40B4-BE49-F238E27FC236}">
                <a16:creationId xmlns:a16="http://schemas.microsoft.com/office/drawing/2014/main" id="{F0A98A5D-5068-40F3-BA48-47DC54DD1360}"/>
              </a:ext>
            </a:extLst>
          </p:cNvPr>
          <p:cNvSpPr>
            <a:spLocks xmlns:a="http://schemas.openxmlformats.org/drawingml/2006/main" noGrp="1"/>
          </p:cNvSpPr>
          <p:nvPr/>
        </p:nvSpPr>
        <p:spPr>
          <a:xfrm xmlns:a="http://schemas.openxmlformats.org/drawingml/2006/main">
            <a:off x="609600" y="2428875"/>
            <a:ext cx="3429000" cy="1095375"/>
          </a:xfrm>
          <a:prstGeom xmlns:a="http://schemas.openxmlformats.org/drawingml/2006/main" prst="rect">
            <a:avLst/>
          </a:prstGeom>
          <a:solidFill xmlns:a="http://schemas.openxmlformats.org/drawingml/2006/main">
            <a:srgbClr val="122234"/>
          </a:solidFill>
          <a:ln xmlns:a="http://schemas.openxmlformats.org/drawingml/2006/main" w="0">
            <a:noFill/>
          </a:ln>
        </p:spPr>
      </p:sp>
      <p:sp>
        <p:nvSpPr>
          <p:cNvPr id="6" name="shape-13">
            <a:extLst xmlns:a="http://schemas.openxmlformats.org/drawingml/2006/main">
              <a:ext uri="{FF2B5EF4-FFF2-40B4-BE49-F238E27FC236}">
                <a16:creationId xmlns:a16="http://schemas.microsoft.com/office/drawing/2014/main" id="{C6751B4F-B948-474E-B190-8BC9EC775ABB}"/>
              </a:ext>
            </a:extLst>
          </p:cNvPr>
          <p:cNvSpPr>
            <a:spLocks xmlns:a="http://schemas.openxmlformats.org/drawingml/2006/main" noGrp="1"/>
          </p:cNvSpPr>
          <p:nvPr/>
        </p:nvSpPr>
        <p:spPr>
          <a:xfrm xmlns:a="http://schemas.openxmlformats.org/drawingml/2006/main">
            <a:off x="762000" y="2571750"/>
            <a:ext cx="312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Builds on source</a:t>
            </a:r>
          </a:p>
        </p:txBody>
      </p:sp>
      <p:sp>
        <p:nvSpPr>
          <p:cNvPr id="7" name="shape-14">
            <a:extLst xmlns:a="http://schemas.openxmlformats.org/drawingml/2006/main">
              <a:ext uri="{FF2B5EF4-FFF2-40B4-BE49-F238E27FC236}">
                <a16:creationId xmlns:a16="http://schemas.microsoft.com/office/drawing/2014/main" id="{AE2E9019-AF40-4EC7-9235-8851D086F8A5}"/>
              </a:ext>
            </a:extLst>
          </p:cNvPr>
          <p:cNvSpPr>
            <a:spLocks xmlns:a="http://schemas.openxmlformats.org/drawingml/2006/main" noGrp="1"/>
          </p:cNvSpPr>
          <p:nvPr/>
        </p:nvSpPr>
        <p:spPr>
          <a:xfrm xmlns:a="http://schemas.openxmlformats.org/drawingml/2006/main">
            <a:off x="762000" y="2933700"/>
            <a:ext cx="3124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D4DFE8"/>
                </a:solidFill>
                <a:latin typeface="Helvetica Neue"/>
                <a:ea typeface="Helvetica Neue"/>
                <a:cs typeface="Helvetica Neue"/>
              </a:defRPr>
            </a:pPr>
            <a:r>
              <a:rPr sz="1725" b="0">
                <a:solidFill>
                  <a:srgbClr val="D4DFE8"/>
                </a:solidFill>
                <a:latin typeface="Helvetica Neue"/>
                <a:ea typeface="Helvetica Neue"/>
                <a:cs typeface="Helvetica Neue"/>
              </a:rPr>
              <a:t>Compiler and dependencies align</a:t>
            </a:r>
          </a:p>
        </p:txBody>
      </p:sp>
      <p:sp>
        <p:nvSpPr>
          <p:cNvPr id="8" name="shape-15">
            <a:extLst xmlns:a="http://schemas.openxmlformats.org/drawingml/2006/main">
              <a:ext uri="{FF2B5EF4-FFF2-40B4-BE49-F238E27FC236}">
                <a16:creationId xmlns:a16="http://schemas.microsoft.com/office/drawing/2014/main" id="{79C7A935-5CEE-4638-8D7F-8E5294951FFF}"/>
              </a:ext>
            </a:extLst>
          </p:cNvPr>
          <p:cNvSpPr>
            <a:spLocks xmlns:a="http://schemas.openxmlformats.org/drawingml/2006/main" noGrp="1"/>
          </p:cNvSpPr>
          <p:nvPr/>
        </p:nvSpPr>
        <p:spPr>
          <a:xfrm xmlns:a="http://schemas.openxmlformats.org/drawingml/2006/main">
            <a:off x="8096250" y="2428875"/>
            <a:ext cx="3476625" cy="1095375"/>
          </a:xfrm>
          <a:prstGeom xmlns:a="http://schemas.openxmlformats.org/drawingml/2006/main" prst="rect">
            <a:avLst/>
          </a:prstGeom>
          <a:solidFill xmlns:a="http://schemas.openxmlformats.org/drawingml/2006/main">
            <a:srgbClr val="E9EEF3"/>
          </a:solidFill>
          <a:ln xmlns:a="http://schemas.openxmlformats.org/drawingml/2006/main" w="0">
            <a:noFill/>
          </a:ln>
        </p:spPr>
      </p:sp>
      <p:sp>
        <p:nvSpPr>
          <p:cNvPr id="9" name="shape-16">
            <a:extLst xmlns:a="http://schemas.openxmlformats.org/drawingml/2006/main">
              <a:ext uri="{FF2B5EF4-FFF2-40B4-BE49-F238E27FC236}">
                <a16:creationId xmlns:a16="http://schemas.microsoft.com/office/drawing/2014/main" id="{3542245E-7DB3-4BC2-A0C3-145125DF2111}"/>
              </a:ext>
            </a:extLst>
          </p:cNvPr>
          <p:cNvSpPr>
            <a:spLocks xmlns:a="http://schemas.openxmlformats.org/drawingml/2006/main" noGrp="1"/>
          </p:cNvSpPr>
          <p:nvPr/>
        </p:nvSpPr>
        <p:spPr>
          <a:xfrm xmlns:a="http://schemas.openxmlformats.org/drawingml/2006/main">
            <a:off x="8248650" y="2571750"/>
            <a:ext cx="3171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22234"/>
                </a:solidFill>
                <a:latin typeface="Helvetica Neue"/>
                <a:ea typeface="Helvetica Neue"/>
                <a:cs typeface="Helvetica Neue"/>
              </a:defRPr>
            </a:pPr>
            <a:r>
              <a:rPr sz="1875" b="1">
                <a:solidFill>
                  <a:srgbClr val="122234"/>
                </a:solidFill>
                <a:latin typeface="Helvetica Neue"/>
                <a:ea typeface="Helvetica Neue"/>
                <a:cs typeface="Helvetica Neue"/>
              </a:rPr>
              <a:t>Fails on target</a:t>
            </a:r>
          </a:p>
        </p:txBody>
      </p:sp>
      <p:sp>
        <p:nvSpPr>
          <p:cNvPr id="10" name="shape-17">
            <a:extLst xmlns:a="http://schemas.openxmlformats.org/drawingml/2006/main">
              <a:ext uri="{FF2B5EF4-FFF2-40B4-BE49-F238E27FC236}">
                <a16:creationId xmlns:a16="http://schemas.microsoft.com/office/drawing/2014/main" id="{F9084C2A-7793-4355-AD5C-4C797FC447E3}"/>
              </a:ext>
            </a:extLst>
          </p:cNvPr>
          <p:cNvSpPr>
            <a:spLocks xmlns:a="http://schemas.openxmlformats.org/drawingml/2006/main" noGrp="1"/>
          </p:cNvSpPr>
          <p:nvPr/>
        </p:nvSpPr>
        <p:spPr>
          <a:xfrm xmlns:a="http://schemas.openxmlformats.org/drawingml/2006/main">
            <a:off x="8248650" y="2933700"/>
            <a:ext cx="31718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36374"/>
                </a:solidFill>
                <a:latin typeface="Helvetica Neue"/>
                <a:ea typeface="Helvetica Neue"/>
                <a:cs typeface="Helvetica Neue"/>
              </a:defRPr>
            </a:pPr>
            <a:r>
              <a:rPr sz="1725" b="0">
                <a:solidFill>
                  <a:srgbClr val="536374"/>
                </a:solidFill>
                <a:latin typeface="Helvetica Neue"/>
                <a:ea typeface="Helvetica Neue"/>
                <a:cs typeface="Helvetica Neue"/>
              </a:rPr>
              <a:t>Flags, assumptions or build logic differ</a:t>
            </a:r>
          </a:p>
        </p:txBody>
      </p:sp>
      <p:cxnSp>
        <p:nvCxnSpPr>
          <p:cNvPr id="71" name=""/>
          <p:cNvCxnSpPr>
            <a:stCxn xmlns:a="http://schemas.openxmlformats.org/drawingml/2006/main" id="5" idx="3"/>
            <a:endCxn xmlns:a="http://schemas.openxmlformats.org/drawingml/2006/main" id="8" idx="1"/>
          </p:cNvCxnSpPr>
          <p:nvPr/>
        </p:nvCxnSpPr>
        <p:spPr>
          <a:xfrm xmlns:a="http://schemas.openxmlformats.org/drawingml/2006/main">
            <a:off x="4038600" y="2976563"/>
            <a:ext cx="4057650" cy="0"/>
          </a:xfrm>
          <a:prstGeom xmlns:a="http://schemas.openxmlformats.org/drawingml/2006/main" prst="straightConnector1">
            <a:avLst/>
          </a:prstGeom>
          <a:ln xmlns:a="http://schemas.openxmlformats.org/drawingml/2006/main" w="19050">
            <a:solidFill>
              <a:srgbClr val="536374"/>
            </a:solidFill>
            <a:tailEnd type="triangle" w="med" len="med"/>
          </a:ln>
        </p:spPr>
      </p:cxnSp>
      <p:sp>
        <p:nvSpPr>
          <p:cNvPr id="12" name="shape-18">
            <a:extLst xmlns:a="http://schemas.openxmlformats.org/drawingml/2006/main">
              <a:ext uri="{FF2B5EF4-FFF2-40B4-BE49-F238E27FC236}">
                <a16:creationId xmlns:a16="http://schemas.microsoft.com/office/drawing/2014/main" id="{C2319F40-86B9-45C9-8A63-C9D6B3BB6EE0}"/>
              </a:ext>
            </a:extLst>
          </p:cNvPr>
          <p:cNvSpPr>
            <a:spLocks xmlns:a="http://schemas.openxmlformats.org/drawingml/2006/main" noGrp="1"/>
          </p:cNvSpPr>
          <p:nvPr/>
        </p:nvSpPr>
        <p:spPr>
          <a:xfrm xmlns:a="http://schemas.openxmlformats.org/drawingml/2006/main">
            <a:off x="4648200" y="2600325"/>
            <a:ext cx="2809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100" b="1">
                <a:solidFill>
                  <a:srgbClr val="B83138"/>
                </a:solidFill>
                <a:latin typeface="Helvetica Neue"/>
                <a:ea typeface="Helvetica Neue"/>
                <a:cs typeface="Helvetica Neue"/>
              </a:defRPr>
            </a:pPr>
            <a:r>
              <a:rPr sz="2100" b="1">
                <a:solidFill>
                  <a:srgbClr val="B83138"/>
                </a:solidFill>
                <a:latin typeface="Helvetica Neue"/>
                <a:ea typeface="Helvetica Neue"/>
                <a:cs typeface="Helvetica Neue"/>
              </a:rPr>
              <a:t>Migration</a:t>
            </a:r>
          </a:p>
        </p:txBody>
      </p:sp>
      <p:sp>
        <p:nvSpPr>
          <p:cNvPr id="13" name="shape-19">
            <a:extLst xmlns:a="http://schemas.openxmlformats.org/drawingml/2006/main">
              <a:ext uri="{FF2B5EF4-FFF2-40B4-BE49-F238E27FC236}">
                <a16:creationId xmlns:a16="http://schemas.microsoft.com/office/drawing/2014/main" id="{8E3ADBD5-60B7-4626-87E8-FE79EA9FC4E6}"/>
              </a:ext>
            </a:extLst>
          </p:cNvPr>
          <p:cNvSpPr>
            <a:spLocks xmlns:a="http://schemas.openxmlformats.org/drawingml/2006/main" noGrp="1"/>
          </p:cNvSpPr>
          <p:nvPr/>
        </p:nvSpPr>
        <p:spPr>
          <a:xfrm xmlns:a="http://schemas.openxmlformats.org/drawingml/2006/main">
            <a:off x="609600" y="42862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122234"/>
                </a:solidFill>
                <a:latin typeface="Helvetica Neue"/>
                <a:ea typeface="Helvetica Neue"/>
                <a:cs typeface="Helvetica Neue"/>
              </a:defRPr>
            </a:pPr>
            <a:r>
              <a:rPr sz="2100" b="1">
                <a:solidFill>
                  <a:srgbClr val="122234"/>
                </a:solidFill>
                <a:latin typeface="Helvetica Neue"/>
                <a:ea typeface="Helvetica Neue"/>
                <a:cs typeface="Helvetica Neue"/>
              </a:rPr>
              <a:t>Maintainer effort</a:t>
            </a:r>
          </a:p>
        </p:txBody>
      </p:sp>
      <p:sp>
        <p:nvSpPr>
          <p:cNvPr id="14" name="shape-20">
            <a:extLst xmlns:a="http://schemas.openxmlformats.org/drawingml/2006/main">
              <a:ext uri="{FF2B5EF4-FFF2-40B4-BE49-F238E27FC236}">
                <a16:creationId xmlns:a16="http://schemas.microsoft.com/office/drawing/2014/main" id="{24AE26FB-A0C8-4D6B-838E-9682E5ED8494}"/>
              </a:ext>
            </a:extLst>
          </p:cNvPr>
          <p:cNvSpPr>
            <a:spLocks xmlns:a="http://schemas.openxmlformats.org/drawingml/2006/main" noGrp="1"/>
          </p:cNvSpPr>
          <p:nvPr/>
        </p:nvSpPr>
        <p:spPr>
          <a:xfrm xmlns:a="http://schemas.openxmlformats.org/drawingml/2006/main">
            <a:off x="609600" y="478155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0">
                <a:solidFill>
                  <a:srgbClr val="122234"/>
                </a:solidFill>
                <a:latin typeface="Helvetica Neue"/>
                <a:ea typeface="Helvetica Neue"/>
                <a:cs typeface="Helvetica Neue"/>
              </a:defRPr>
            </a:pPr>
            <a:r>
              <a:rPr sz="2100" b="0">
                <a:solidFill>
                  <a:srgbClr val="122234"/>
                </a:solidFill>
                <a:latin typeface="Helvetica Neue"/>
                <a:ea typeface="Helvetica Neue"/>
                <a:cs typeface="Helvetica Neue"/>
              </a:rPr>
              <a:t>Trace the failure across unfamiliar</a:t>
            </a:r>
          </a:p>
          <a:p xmlns:a="http://schemas.openxmlformats.org/drawingml/2006/main">
            <a:pPr algn="l">
              <a:buNone/>
              <a:defRPr sz="2100" b="0">
                <a:solidFill>
                  <a:srgbClr val="122234"/>
                </a:solidFill>
                <a:latin typeface="Helvetica Neue"/>
                <a:ea typeface="Helvetica Neue"/>
                <a:cs typeface="Helvetica Neue"/>
              </a:defRPr>
            </a:pPr>
            <a:r>
              <a:rPr sz="2100" b="0">
                <a:solidFill>
                  <a:srgbClr val="122234"/>
                </a:solidFill>
                <a:latin typeface="Helvetica Neue"/>
                <a:ea typeface="Helvetica Neue"/>
                <a:cs typeface="Helvetica Neue"/>
              </a:rPr>
              <a:t>logs, source and build files.</a:t>
            </a:r>
          </a:p>
        </p:txBody>
      </p:sp>
      <p:sp>
        <p:nvSpPr>
          <p:cNvPr id="15" name="shape-21">
            <a:extLst xmlns:a="http://schemas.openxmlformats.org/drawingml/2006/main">
              <a:ext uri="{FF2B5EF4-FFF2-40B4-BE49-F238E27FC236}">
                <a16:creationId xmlns:a16="http://schemas.microsoft.com/office/drawing/2014/main" id="{05CCB84E-D066-433A-AF2B-70B304C18DA0}"/>
              </a:ext>
            </a:extLst>
          </p:cNvPr>
          <p:cNvSpPr>
            <a:spLocks xmlns:a="http://schemas.openxmlformats.org/drawingml/2006/main" noGrp="1"/>
          </p:cNvSpPr>
          <p:nvPr/>
        </p:nvSpPr>
        <p:spPr>
          <a:xfrm xmlns:a="http://schemas.openxmlformats.org/drawingml/2006/main">
            <a:off x="6429375" y="428625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122234"/>
                </a:solidFill>
                <a:latin typeface="Helvetica Neue"/>
                <a:ea typeface="Helvetica Neue"/>
                <a:cs typeface="Helvetica Neue"/>
              </a:defRPr>
            </a:pPr>
            <a:r>
              <a:rPr sz="2100" b="1">
                <a:solidFill>
                  <a:srgbClr val="122234"/>
                </a:solidFill>
                <a:latin typeface="Helvetica Neue"/>
                <a:ea typeface="Helvetica Neue"/>
                <a:cs typeface="Helvetica Neue"/>
              </a:rPr>
              <a:t>Our objective</a:t>
            </a:r>
          </a:p>
        </p:txBody>
      </p:sp>
      <p:sp>
        <p:nvSpPr>
          <p:cNvPr id="16" name="shape-22">
            <a:extLst xmlns:a="http://schemas.openxmlformats.org/drawingml/2006/main">
              <a:ext uri="{FF2B5EF4-FFF2-40B4-BE49-F238E27FC236}">
                <a16:creationId xmlns:a16="http://schemas.microsoft.com/office/drawing/2014/main" id="{378E7339-84C9-4938-9111-4BE8D3829391}"/>
              </a:ext>
            </a:extLst>
          </p:cNvPr>
          <p:cNvSpPr>
            <a:spLocks xmlns:a="http://schemas.openxmlformats.org/drawingml/2006/main" noGrp="1"/>
          </p:cNvSpPr>
          <p:nvPr/>
        </p:nvSpPr>
        <p:spPr>
          <a:xfrm xmlns:a="http://schemas.openxmlformats.org/drawingml/2006/main">
            <a:off x="6429375" y="4781550"/>
            <a:ext cx="5143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0">
                <a:solidFill>
                  <a:srgbClr val="122234"/>
                </a:solidFill>
                <a:latin typeface="Helvetica Neue"/>
                <a:ea typeface="Helvetica Neue"/>
                <a:cs typeface="Helvetica Neue"/>
              </a:defRPr>
            </a:pPr>
            <a:r>
              <a:rPr sz="2100" b="0">
                <a:solidFill>
                  <a:srgbClr val="122234"/>
                </a:solidFill>
                <a:latin typeface="Helvetica Neue"/>
                <a:ea typeface="Helvetica Neue"/>
                <a:cs typeface="Helvetica Neue"/>
              </a:rPr>
              <a:t>Automate diagnosis and repair.</a:t>
            </a:r>
          </a:p>
          <a:p xmlns:a="http://schemas.openxmlformats.org/drawingml/2006/main">
            <a:pPr algn="l">
              <a:buNone/>
              <a:defRPr sz="2100" b="0">
                <a:solidFill>
                  <a:srgbClr val="122234"/>
                </a:solidFill>
                <a:latin typeface="Helvetica Neue"/>
                <a:ea typeface="Helvetica Neue"/>
                <a:cs typeface="Helvetica Neue"/>
              </a:defRPr>
            </a:pPr>
            <a:r>
              <a:rPr sz="2100" b="0">
                <a:solidFill>
                  <a:srgbClr val="122234"/>
                </a:solidFill>
                <a:latin typeface="Helvetica Neue"/>
                <a:ea typeface="Helvetica Neue"/>
                <a:cs typeface="Helvetica Neue"/>
              </a:rPr>
              <a:t>Confirm the result in a clean build.</a:t>
            </a:r>
          </a:p>
        </p:txBody>
      </p:sp>
    </p:spTree>
    <p:extLst>
      <p:ext uri="{BB962C8B-B14F-4D97-AF65-F5344CB8AC3E}">
        <p14:creationId xmlns:p14="http://schemas.microsoft.com/office/powerpoint/2010/main" val="1809114061"/>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9" name="shape-23">
            <a:extLst xmlns:a="http://schemas.openxmlformats.org/drawingml/2006/main">
              <a:ext uri="{FF2B5EF4-FFF2-40B4-BE49-F238E27FC236}">
                <a16:creationId xmlns:a16="http://schemas.microsoft.com/office/drawing/2014/main" id="{5CD169F1-9E5E-4924-AB40-B65EEF97A3C2}"/>
              </a:ext>
            </a:extLst>
          </p:cNvPr>
          <p:cNvSpPr>
            <a:spLocks xmlns:a="http://schemas.openxmlformats.org/drawingml/2006/main" noGrp="1"/>
          </p:cNvSpPr>
          <p:nvPr/>
        </p:nvSpPr>
        <p:spPr>
          <a:xfrm xmlns:a="http://schemas.openxmlformats.org/drawingml/2006/main">
            <a:off x="609600" y="552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122234"/>
                </a:solidFill>
                <a:latin typeface="Helvetica Neue"/>
                <a:ea typeface="Helvetica Neue"/>
                <a:cs typeface="Helvetica Neue"/>
              </a:defRPr>
            </a:pPr>
            <a:r>
              <a:rPr sz="3300" b="1">
                <a:solidFill>
                  <a:srgbClr val="122234"/>
                </a:solidFill>
                <a:latin typeface="Helvetica Neue"/>
                <a:ea typeface="Helvetica Neue"/>
                <a:cs typeface="Helvetica Neue"/>
              </a:rPr>
              <a:t>A clean target build determines success</a:t>
            </a:r>
          </a:p>
        </p:txBody>
      </p:sp>
      <p:sp>
        <p:nvSpPr>
          <p:cNvPr id="2" name="shape-24">
            <a:extLst xmlns:a="http://schemas.openxmlformats.org/drawingml/2006/main">
              <a:ext uri="{FF2B5EF4-FFF2-40B4-BE49-F238E27FC236}">
                <a16:creationId xmlns:a16="http://schemas.microsoft.com/office/drawing/2014/main" id="{26412FC2-A217-4668-B92B-56D36E2DCD07}"/>
              </a:ext>
            </a:extLst>
          </p:cNvPr>
          <p:cNvSpPr>
            <a:spLocks xmlns:a="http://schemas.openxmlformats.org/drawingml/2006/main" noGrp="1"/>
          </p:cNvSpPr>
          <p:nvPr/>
        </p:nvSpPr>
        <p:spPr>
          <a:xfrm xmlns:a="http://schemas.openxmlformats.org/drawingml/2006/main">
            <a:off x="609600" y="64389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536374"/>
                </a:solidFill>
                <a:latin typeface="Helvetica Neue"/>
                <a:ea typeface="Helvetica Neue"/>
                <a:cs typeface="Helvetica Neue"/>
              </a:defRPr>
            </a:pPr>
            <a:r>
              <a:rPr sz="1200" b="0">
                <a:solidFill>
                  <a:srgbClr val="536374"/>
                </a:solidFill>
                <a:latin typeface="Helvetica Neue"/>
                <a:ea typeface="Helvetica Neue"/>
                <a:cs typeface="Helvetica Neue"/>
              </a:rPr>
              <a:t>EC528  /  BUILD-BENCH  /  DEMO 1</a:t>
            </a:r>
          </a:p>
        </p:txBody>
      </p:sp>
      <p:sp>
        <p:nvSpPr>
          <p:cNvPr id="3" name="shape-25">
            <a:extLst xmlns:a="http://schemas.openxmlformats.org/drawingml/2006/main">
              <a:ext uri="{FF2B5EF4-FFF2-40B4-BE49-F238E27FC236}">
                <a16:creationId xmlns:a16="http://schemas.microsoft.com/office/drawing/2014/main" id="{500A2DFE-4B83-4507-9AF4-9E6A22BA1DE7}"/>
              </a:ext>
            </a:extLst>
          </p:cNvPr>
          <p:cNvSpPr>
            <a:spLocks xmlns:a="http://schemas.openxmlformats.org/drawingml/2006/main" noGrp="1"/>
          </p:cNvSpPr>
          <p:nvPr/>
        </p:nvSpPr>
        <p:spPr>
          <a:xfrm xmlns:a="http://schemas.openxmlformats.org/drawingml/2006/main">
            <a:off x="11001375" y="63912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500" b="0">
                <a:solidFill>
                  <a:srgbClr val="536374"/>
                </a:solidFill>
                <a:latin typeface="Helvetica Neue"/>
                <a:ea typeface="Helvetica Neue"/>
                <a:cs typeface="Helvetica Neue"/>
              </a:defRPr>
            </a:pPr>
            <a:r>
              <a:rPr sz="1500" b="0">
                <a:solidFill>
                  <a:srgbClr val="536374"/>
                </a:solidFill>
                <a:latin typeface="Helvetica Neue"/>
                <a:ea typeface="Helvetica Neue"/>
                <a:cs typeface="Helvetica Neue"/>
              </a:rPr>
              <a:t>03</a:t>
            </a:r>
          </a:p>
        </p:txBody>
      </p:sp>
      <p:sp>
        <p:nvSpPr>
          <p:cNvPr id="4" name="shape-26">
            <a:extLst xmlns:a="http://schemas.openxmlformats.org/drawingml/2006/main">
              <a:ext uri="{FF2B5EF4-FFF2-40B4-BE49-F238E27FC236}">
                <a16:creationId xmlns:a16="http://schemas.microsoft.com/office/drawing/2014/main" id="{74915CCF-6DC5-4909-8F67-26E5295D5102}"/>
              </a:ext>
            </a:extLst>
          </p:cNvPr>
          <p:cNvSpPr>
            <a:spLocks xmlns:a="http://schemas.openxmlformats.org/drawingml/2006/main" noGrp="1"/>
          </p:cNvSpPr>
          <p:nvPr/>
        </p:nvSpPr>
        <p:spPr>
          <a:xfrm xmlns:a="http://schemas.openxmlformats.org/drawingml/2006/main">
            <a:off x="609600" y="12954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0">
                <a:solidFill>
                  <a:srgbClr val="536374"/>
                </a:solidFill>
                <a:latin typeface="Helvetica Neue"/>
                <a:ea typeface="Helvetica Neue"/>
                <a:cs typeface="Helvetica Neue"/>
              </a:defRPr>
            </a:pPr>
            <a:r>
              <a:rPr sz="2025" b="0">
                <a:solidFill>
                  <a:srgbClr val="536374"/>
                </a:solidFill>
                <a:latin typeface="Helvetica Neue"/>
                <a:ea typeface="Helvetica Neue"/>
                <a:cs typeface="Helvetica Neue"/>
              </a:rPr>
              <a:t>The organizer derives the patch and checks the resulting package artifacts.</a:t>
            </a:r>
          </a:p>
        </p:txBody>
      </p:sp>
      <p:sp>
        <p:nvSpPr>
          <p:cNvPr id="5" name="shape-27">
            <a:extLst xmlns:a="http://schemas.openxmlformats.org/drawingml/2006/main">
              <a:ext uri="{FF2B5EF4-FFF2-40B4-BE49-F238E27FC236}">
                <a16:creationId xmlns:a16="http://schemas.microsoft.com/office/drawing/2014/main" id="{126F511D-472C-4C06-A68D-D81DE9207DFA}"/>
              </a:ext>
            </a:extLst>
          </p:cNvPr>
          <p:cNvSpPr>
            <a:spLocks xmlns:a="http://schemas.openxmlformats.org/drawingml/2006/main" noGrp="1"/>
          </p:cNvSpPr>
          <p:nvPr/>
        </p:nvSpPr>
        <p:spPr>
          <a:xfrm xmlns:a="http://schemas.openxmlformats.org/drawingml/2006/main">
            <a:off x="609600" y="2124075"/>
            <a:ext cx="3257550" cy="1162050"/>
          </a:xfrm>
          <a:prstGeom xmlns:a="http://schemas.openxmlformats.org/drawingml/2006/main" prst="rect">
            <a:avLst/>
          </a:prstGeom>
          <a:solidFill xmlns:a="http://schemas.openxmlformats.org/drawingml/2006/main">
            <a:srgbClr val="E9EEF3"/>
          </a:solidFill>
          <a:ln xmlns:a="http://schemas.openxmlformats.org/drawingml/2006/main" w="0">
            <a:noFill/>
          </a:ln>
        </p:spPr>
      </p:sp>
      <p:sp>
        <p:nvSpPr>
          <p:cNvPr id="6" name="shape-28">
            <a:extLst xmlns:a="http://schemas.openxmlformats.org/drawingml/2006/main">
              <a:ext uri="{FF2B5EF4-FFF2-40B4-BE49-F238E27FC236}">
                <a16:creationId xmlns:a16="http://schemas.microsoft.com/office/drawing/2014/main" id="{9A662F30-253A-4DE8-A40C-F9BA427D027A}"/>
              </a:ext>
            </a:extLst>
          </p:cNvPr>
          <p:cNvSpPr>
            <a:spLocks xmlns:a="http://schemas.openxmlformats.org/drawingml/2006/main" noGrp="1"/>
          </p:cNvSpPr>
          <p:nvPr/>
        </p:nvSpPr>
        <p:spPr>
          <a:xfrm xmlns:a="http://schemas.openxmlformats.org/drawingml/2006/main">
            <a:off x="762000" y="22669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22234"/>
                </a:solidFill>
                <a:latin typeface="Helvetica Neue"/>
                <a:ea typeface="Helvetica Neue"/>
                <a:cs typeface="Helvetica Neue"/>
              </a:defRPr>
            </a:pPr>
            <a:r>
              <a:rPr sz="1875" b="1">
                <a:solidFill>
                  <a:srgbClr val="122234"/>
                </a:solidFill>
                <a:latin typeface="Helvetica Neue"/>
                <a:ea typeface="Helvetica Neue"/>
                <a:cs typeface="Helvetica Neue"/>
              </a:rPr>
              <a:t>Source package</a:t>
            </a:r>
          </a:p>
        </p:txBody>
      </p:sp>
      <p:sp>
        <p:nvSpPr>
          <p:cNvPr id="7" name="shape-29">
            <a:extLst xmlns:a="http://schemas.openxmlformats.org/drawingml/2006/main">
              <a:ext uri="{FF2B5EF4-FFF2-40B4-BE49-F238E27FC236}">
                <a16:creationId xmlns:a16="http://schemas.microsoft.com/office/drawing/2014/main" id="{0D0D47E3-CF84-4D69-A5EB-2D05D4BB0ACD}"/>
              </a:ext>
            </a:extLst>
          </p:cNvPr>
          <p:cNvSpPr>
            <a:spLocks xmlns:a="http://schemas.openxmlformats.org/drawingml/2006/main" noGrp="1"/>
          </p:cNvSpPr>
          <p:nvPr/>
        </p:nvSpPr>
        <p:spPr>
          <a:xfrm xmlns:a="http://schemas.openxmlformats.org/drawingml/2006/main">
            <a:off x="762000" y="262890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36374"/>
                </a:solidFill>
                <a:latin typeface="Helvetica Neue"/>
                <a:ea typeface="Helvetica Neue"/>
                <a:cs typeface="Helvetica Neue"/>
              </a:defRPr>
            </a:pPr>
            <a:r>
              <a:rPr sz="1725" b="0">
                <a:solidFill>
                  <a:srgbClr val="536374"/>
                </a:solidFill>
                <a:latin typeface="Helvetica Neue"/>
                <a:ea typeface="Helvetica Neue"/>
                <a:cs typeface="Helvetica Neue"/>
              </a:rPr>
              <a:t>Source-build success is case context</a:t>
            </a:r>
          </a:p>
        </p:txBody>
      </p:sp>
      <p:sp>
        <p:nvSpPr>
          <p:cNvPr id="8" name="shape-30">
            <a:extLst xmlns:a="http://schemas.openxmlformats.org/drawingml/2006/main">
              <a:ext uri="{FF2B5EF4-FFF2-40B4-BE49-F238E27FC236}">
                <a16:creationId xmlns:a16="http://schemas.microsoft.com/office/drawing/2014/main" id="{8D3C6045-A39A-4E81-940C-B054DBE40747}"/>
              </a:ext>
            </a:extLst>
          </p:cNvPr>
          <p:cNvSpPr>
            <a:spLocks xmlns:a="http://schemas.openxmlformats.org/drawingml/2006/main" noGrp="1"/>
          </p:cNvSpPr>
          <p:nvPr/>
        </p:nvSpPr>
        <p:spPr>
          <a:xfrm xmlns:a="http://schemas.openxmlformats.org/drawingml/2006/main">
            <a:off x="4467225" y="2124075"/>
            <a:ext cx="3257550" cy="1162050"/>
          </a:xfrm>
          <a:prstGeom xmlns:a="http://schemas.openxmlformats.org/drawingml/2006/main" prst="rect">
            <a:avLst/>
          </a:prstGeom>
          <a:solidFill xmlns:a="http://schemas.openxmlformats.org/drawingml/2006/main">
            <a:srgbClr val="E9EEF3"/>
          </a:solidFill>
          <a:ln xmlns:a="http://schemas.openxmlformats.org/drawingml/2006/main" w="0">
            <a:noFill/>
          </a:ln>
        </p:spPr>
      </p:sp>
      <p:sp>
        <p:nvSpPr>
          <p:cNvPr id="9" name="shape-31">
            <a:extLst xmlns:a="http://schemas.openxmlformats.org/drawingml/2006/main">
              <a:ext uri="{FF2B5EF4-FFF2-40B4-BE49-F238E27FC236}">
                <a16:creationId xmlns:a16="http://schemas.microsoft.com/office/drawing/2014/main" id="{D8DE481A-837A-42F1-B663-8A052F97402E}"/>
              </a:ext>
            </a:extLst>
          </p:cNvPr>
          <p:cNvSpPr>
            <a:spLocks xmlns:a="http://schemas.openxmlformats.org/drawingml/2006/main" noGrp="1"/>
          </p:cNvSpPr>
          <p:nvPr/>
        </p:nvSpPr>
        <p:spPr>
          <a:xfrm xmlns:a="http://schemas.openxmlformats.org/drawingml/2006/main">
            <a:off x="4619625" y="22669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22234"/>
                </a:solidFill>
                <a:latin typeface="Helvetica Neue"/>
                <a:ea typeface="Helvetica Neue"/>
                <a:cs typeface="Helvetica Neue"/>
              </a:defRPr>
            </a:pPr>
            <a:r>
              <a:rPr sz="1875" b="1">
                <a:solidFill>
                  <a:srgbClr val="122234"/>
                </a:solidFill>
                <a:latin typeface="Helvetica Neue"/>
                <a:ea typeface="Helvetica Neue"/>
                <a:cs typeface="Helvetica Neue"/>
              </a:rPr>
              <a:t>Target build fails</a:t>
            </a:r>
          </a:p>
        </p:txBody>
      </p:sp>
      <p:sp>
        <p:nvSpPr>
          <p:cNvPr id="10" name="shape-32">
            <a:extLst xmlns:a="http://schemas.openxmlformats.org/drawingml/2006/main">
              <a:ext uri="{FF2B5EF4-FFF2-40B4-BE49-F238E27FC236}">
                <a16:creationId xmlns:a16="http://schemas.microsoft.com/office/drawing/2014/main" id="{E19CF246-1740-4D5D-AAE4-6409E0D7476B}"/>
              </a:ext>
            </a:extLst>
          </p:cNvPr>
          <p:cNvSpPr>
            <a:spLocks xmlns:a="http://schemas.openxmlformats.org/drawingml/2006/main" noGrp="1"/>
          </p:cNvSpPr>
          <p:nvPr/>
        </p:nvSpPr>
        <p:spPr>
          <a:xfrm xmlns:a="http://schemas.openxmlformats.org/drawingml/2006/main">
            <a:off x="4619625" y="262890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36374"/>
                </a:solidFill>
                <a:latin typeface="Helvetica Neue"/>
                <a:ea typeface="Helvetica Neue"/>
                <a:cs typeface="Helvetica Neue"/>
              </a:defRPr>
            </a:pPr>
            <a:r>
              <a:rPr sz="1725" b="0">
                <a:solidFill>
                  <a:srgbClr val="536374"/>
                </a:solidFill>
                <a:latin typeface="Helvetica Neue"/>
                <a:ea typeface="Helvetica Neue"/>
                <a:cs typeface="Helvetica Neue"/>
              </a:rPr>
              <a:t>Initial log and architecture metadata</a:t>
            </a:r>
          </a:p>
        </p:txBody>
      </p:sp>
      <p:sp>
        <p:nvSpPr>
          <p:cNvPr id="11" name="shape-33">
            <a:extLst xmlns:a="http://schemas.openxmlformats.org/drawingml/2006/main">
              <a:ext uri="{FF2B5EF4-FFF2-40B4-BE49-F238E27FC236}">
                <a16:creationId xmlns:a16="http://schemas.microsoft.com/office/drawing/2014/main" id="{77EEB376-58B7-429F-92B8-B079CF4B4617}"/>
              </a:ext>
            </a:extLst>
          </p:cNvPr>
          <p:cNvSpPr>
            <a:spLocks xmlns:a="http://schemas.openxmlformats.org/drawingml/2006/main" noGrp="1"/>
          </p:cNvSpPr>
          <p:nvPr/>
        </p:nvSpPr>
        <p:spPr>
          <a:xfrm xmlns:a="http://schemas.openxmlformats.org/drawingml/2006/main">
            <a:off x="8324850" y="2124075"/>
            <a:ext cx="3257550" cy="1162050"/>
          </a:xfrm>
          <a:prstGeom xmlns:a="http://schemas.openxmlformats.org/drawingml/2006/main" prst="rect">
            <a:avLst/>
          </a:prstGeom>
          <a:solidFill xmlns:a="http://schemas.openxmlformats.org/drawingml/2006/main">
            <a:srgbClr val="122234"/>
          </a:solidFill>
          <a:ln xmlns:a="http://schemas.openxmlformats.org/drawingml/2006/main" w="0">
            <a:noFill/>
          </a:ln>
        </p:spPr>
      </p:sp>
      <p:sp>
        <p:nvSpPr>
          <p:cNvPr id="12" name="shape-34">
            <a:extLst xmlns:a="http://schemas.openxmlformats.org/drawingml/2006/main">
              <a:ext uri="{FF2B5EF4-FFF2-40B4-BE49-F238E27FC236}">
                <a16:creationId xmlns:a16="http://schemas.microsoft.com/office/drawing/2014/main" id="{E41E8AD7-D767-4F2C-8D66-55BB88F77709}"/>
              </a:ext>
            </a:extLst>
          </p:cNvPr>
          <p:cNvSpPr>
            <a:spLocks xmlns:a="http://schemas.openxmlformats.org/drawingml/2006/main" noGrp="1"/>
          </p:cNvSpPr>
          <p:nvPr/>
        </p:nvSpPr>
        <p:spPr>
          <a:xfrm xmlns:a="http://schemas.openxmlformats.org/drawingml/2006/main">
            <a:off x="8477250" y="22669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Repair agent</a:t>
            </a:r>
          </a:p>
        </p:txBody>
      </p:sp>
      <p:sp>
        <p:nvSpPr>
          <p:cNvPr id="13" name="shape-35">
            <a:extLst xmlns:a="http://schemas.openxmlformats.org/drawingml/2006/main">
              <a:ext uri="{FF2B5EF4-FFF2-40B4-BE49-F238E27FC236}">
                <a16:creationId xmlns:a16="http://schemas.microsoft.com/office/drawing/2014/main" id="{2C43C5B3-AEDF-419A-989E-F35CBEEDB1DE}"/>
              </a:ext>
            </a:extLst>
          </p:cNvPr>
          <p:cNvSpPr>
            <a:spLocks xmlns:a="http://schemas.openxmlformats.org/drawingml/2006/main" noGrp="1"/>
          </p:cNvSpPr>
          <p:nvPr/>
        </p:nvSpPr>
        <p:spPr>
          <a:xfrm xmlns:a="http://schemas.openxmlformats.org/drawingml/2006/main">
            <a:off x="8477250" y="262890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D4DFE8"/>
                </a:solidFill>
                <a:latin typeface="Helvetica Neue"/>
                <a:ea typeface="Helvetica Neue"/>
                <a:cs typeface="Helvetica Neue"/>
              </a:defRPr>
            </a:pPr>
            <a:r>
              <a:rPr sz="1725" b="0">
                <a:solidFill>
                  <a:srgbClr val="D4DFE8"/>
                </a:solidFill>
                <a:latin typeface="Helvetica Neue"/>
                <a:ea typeface="Helvetica Neue"/>
                <a:cs typeface="Helvetica Neue"/>
              </a:rPr>
              <a:t>Inspect files and modify the worktree</a:t>
            </a:r>
          </a:p>
        </p:txBody>
      </p:sp>
      <p:sp>
        <p:nvSpPr>
          <p:cNvPr id="14" name="shape-36">
            <a:extLst xmlns:a="http://schemas.openxmlformats.org/drawingml/2006/main">
              <a:ext uri="{FF2B5EF4-FFF2-40B4-BE49-F238E27FC236}">
                <a16:creationId xmlns:a16="http://schemas.microsoft.com/office/drawing/2014/main" id="{C80E0F66-29A1-4764-B6B5-A0E3E45E350F}"/>
              </a:ext>
            </a:extLst>
          </p:cNvPr>
          <p:cNvSpPr>
            <a:spLocks xmlns:a="http://schemas.openxmlformats.org/drawingml/2006/main" noGrp="1"/>
          </p:cNvSpPr>
          <p:nvPr/>
        </p:nvSpPr>
        <p:spPr>
          <a:xfrm xmlns:a="http://schemas.openxmlformats.org/drawingml/2006/main">
            <a:off x="8324850" y="3905250"/>
            <a:ext cx="3257550" cy="1162050"/>
          </a:xfrm>
          <a:prstGeom xmlns:a="http://schemas.openxmlformats.org/drawingml/2006/main" prst="rect">
            <a:avLst/>
          </a:prstGeom>
          <a:solidFill xmlns:a="http://schemas.openxmlformats.org/drawingml/2006/main">
            <a:srgbClr val="E9EEF3"/>
          </a:solidFill>
          <a:ln xmlns:a="http://schemas.openxmlformats.org/drawingml/2006/main" w="0">
            <a:noFill/>
          </a:ln>
        </p:spPr>
      </p:sp>
      <p:sp>
        <p:nvSpPr>
          <p:cNvPr id="15" name="shape-37">
            <a:extLst xmlns:a="http://schemas.openxmlformats.org/drawingml/2006/main">
              <a:ext uri="{FF2B5EF4-FFF2-40B4-BE49-F238E27FC236}">
                <a16:creationId xmlns:a16="http://schemas.microsoft.com/office/drawing/2014/main" id="{1A890B9D-E389-4596-8BFB-C1587396F7BA}"/>
              </a:ext>
            </a:extLst>
          </p:cNvPr>
          <p:cNvSpPr>
            <a:spLocks xmlns:a="http://schemas.openxmlformats.org/drawingml/2006/main" noGrp="1"/>
          </p:cNvSpPr>
          <p:nvPr/>
        </p:nvSpPr>
        <p:spPr>
          <a:xfrm xmlns:a="http://schemas.openxmlformats.org/drawingml/2006/main">
            <a:off x="8477250" y="4048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22234"/>
                </a:solidFill>
                <a:latin typeface="Helvetica Neue"/>
                <a:ea typeface="Helvetica Neue"/>
                <a:cs typeface="Helvetica Neue"/>
              </a:defRPr>
            </a:pPr>
            <a:r>
              <a:rPr sz="1875" b="1">
                <a:solidFill>
                  <a:srgbClr val="122234"/>
                </a:solidFill>
                <a:latin typeface="Helvetica Neue"/>
                <a:ea typeface="Helvetica Neue"/>
                <a:cs typeface="Helvetica Neue"/>
              </a:rPr>
              <a:t>Canonical patch</a:t>
            </a:r>
          </a:p>
        </p:txBody>
      </p:sp>
      <p:sp>
        <p:nvSpPr>
          <p:cNvPr id="16" name="shape-38">
            <a:extLst xmlns:a="http://schemas.openxmlformats.org/drawingml/2006/main">
              <a:ext uri="{FF2B5EF4-FFF2-40B4-BE49-F238E27FC236}">
                <a16:creationId xmlns:a16="http://schemas.microsoft.com/office/drawing/2014/main" id="{A8251242-A342-4906-8611-85B78C104838}"/>
              </a:ext>
            </a:extLst>
          </p:cNvPr>
          <p:cNvSpPr>
            <a:spLocks xmlns:a="http://schemas.openxmlformats.org/drawingml/2006/main" noGrp="1"/>
          </p:cNvSpPr>
          <p:nvPr/>
        </p:nvSpPr>
        <p:spPr>
          <a:xfrm xmlns:a="http://schemas.openxmlformats.org/drawingml/2006/main">
            <a:off x="8477250" y="44100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36374"/>
                </a:solidFill>
                <a:latin typeface="Helvetica Neue"/>
                <a:ea typeface="Helvetica Neue"/>
                <a:cs typeface="Helvetica Neue"/>
              </a:defRPr>
            </a:pPr>
            <a:r>
              <a:rPr sz="1725" b="0">
                <a:solidFill>
                  <a:srgbClr val="536374"/>
                </a:solidFill>
                <a:latin typeface="Helvetica Neue"/>
                <a:ea typeface="Helvetica Neue"/>
                <a:cs typeface="Helvetica Neue"/>
              </a:rPr>
              <a:t>Organizer derives permitted edits</a:t>
            </a:r>
          </a:p>
        </p:txBody>
      </p:sp>
      <p:sp>
        <p:nvSpPr>
          <p:cNvPr id="17" name="shape-39">
            <a:extLst xmlns:a="http://schemas.openxmlformats.org/drawingml/2006/main">
              <a:ext uri="{FF2B5EF4-FFF2-40B4-BE49-F238E27FC236}">
                <a16:creationId xmlns:a16="http://schemas.microsoft.com/office/drawing/2014/main" id="{6BA77911-3168-4921-AAC8-147D5DF19811}"/>
              </a:ext>
            </a:extLst>
          </p:cNvPr>
          <p:cNvSpPr>
            <a:spLocks xmlns:a="http://schemas.openxmlformats.org/drawingml/2006/main" noGrp="1"/>
          </p:cNvSpPr>
          <p:nvPr/>
        </p:nvSpPr>
        <p:spPr>
          <a:xfrm xmlns:a="http://schemas.openxmlformats.org/drawingml/2006/main">
            <a:off x="4467225" y="3905250"/>
            <a:ext cx="3257550" cy="1162050"/>
          </a:xfrm>
          <a:prstGeom xmlns:a="http://schemas.openxmlformats.org/drawingml/2006/main" prst="rect">
            <a:avLst/>
          </a:prstGeom>
          <a:solidFill xmlns:a="http://schemas.openxmlformats.org/drawingml/2006/main">
            <a:srgbClr val="E9EEF3"/>
          </a:solidFill>
          <a:ln xmlns:a="http://schemas.openxmlformats.org/drawingml/2006/main" w="0">
            <a:noFill/>
          </a:ln>
        </p:spPr>
      </p:sp>
      <p:sp>
        <p:nvSpPr>
          <p:cNvPr id="18" name="shape-40">
            <a:extLst xmlns:a="http://schemas.openxmlformats.org/drawingml/2006/main">
              <a:ext uri="{FF2B5EF4-FFF2-40B4-BE49-F238E27FC236}">
                <a16:creationId xmlns:a16="http://schemas.microsoft.com/office/drawing/2014/main" id="{F9B4DA54-996A-4A7A-A17D-518F4C02BA16}"/>
              </a:ext>
            </a:extLst>
          </p:cNvPr>
          <p:cNvSpPr>
            <a:spLocks xmlns:a="http://schemas.openxmlformats.org/drawingml/2006/main" noGrp="1"/>
          </p:cNvSpPr>
          <p:nvPr/>
        </p:nvSpPr>
        <p:spPr>
          <a:xfrm xmlns:a="http://schemas.openxmlformats.org/drawingml/2006/main">
            <a:off x="4619625" y="4048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22234"/>
                </a:solidFill>
                <a:latin typeface="Helvetica Neue"/>
                <a:ea typeface="Helvetica Neue"/>
                <a:cs typeface="Helvetica Neue"/>
              </a:defRPr>
            </a:pPr>
            <a:r>
              <a:rPr sz="1875" b="1">
                <a:solidFill>
                  <a:srgbClr val="122234"/>
                </a:solidFill>
                <a:latin typeface="Helvetica Neue"/>
                <a:ea typeface="Helvetica Neue"/>
                <a:cs typeface="Helvetica Neue"/>
              </a:rPr>
              <a:t>Fresh target build</a:t>
            </a:r>
          </a:p>
        </p:txBody>
      </p:sp>
      <p:sp>
        <p:nvSpPr>
          <p:cNvPr id="19" name="shape-41">
            <a:extLst xmlns:a="http://schemas.openxmlformats.org/drawingml/2006/main">
              <a:ext uri="{FF2B5EF4-FFF2-40B4-BE49-F238E27FC236}">
                <a16:creationId xmlns:a16="http://schemas.microsoft.com/office/drawing/2014/main" id="{C68B3E74-883A-4DBE-85B3-4E28A870E839}"/>
              </a:ext>
            </a:extLst>
          </p:cNvPr>
          <p:cNvSpPr>
            <a:spLocks xmlns:a="http://schemas.openxmlformats.org/drawingml/2006/main" noGrp="1"/>
          </p:cNvSpPr>
          <p:nvPr/>
        </p:nvSpPr>
        <p:spPr>
          <a:xfrm xmlns:a="http://schemas.openxmlformats.org/drawingml/2006/main">
            <a:off x="4619625" y="44100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36374"/>
                </a:solidFill>
                <a:latin typeface="Helvetica Neue"/>
                <a:ea typeface="Helvetica Neue"/>
                <a:cs typeface="Helvetica Neue"/>
              </a:defRPr>
            </a:pPr>
            <a:r>
              <a:rPr sz="1725" b="0">
                <a:solidFill>
                  <a:srgbClr val="536374"/>
                </a:solidFill>
                <a:latin typeface="Helvetica Neue"/>
                <a:ea typeface="Helvetica Neue"/>
                <a:cs typeface="Helvetica Neue"/>
              </a:rPr>
              <a:t>Apply patch to a clean case</a:t>
            </a:r>
          </a:p>
        </p:txBody>
      </p:sp>
      <p:sp>
        <p:nvSpPr>
          <p:cNvPr id="20" name="shape-42">
            <a:extLst xmlns:a="http://schemas.openxmlformats.org/drawingml/2006/main">
              <a:ext uri="{FF2B5EF4-FFF2-40B4-BE49-F238E27FC236}">
                <a16:creationId xmlns:a16="http://schemas.microsoft.com/office/drawing/2014/main" id="{4CD4F128-3F82-45B5-80D5-221C7B224A31}"/>
              </a:ext>
            </a:extLst>
          </p:cNvPr>
          <p:cNvSpPr>
            <a:spLocks xmlns:a="http://schemas.openxmlformats.org/drawingml/2006/main" noGrp="1"/>
          </p:cNvSpPr>
          <p:nvPr/>
        </p:nvSpPr>
        <p:spPr>
          <a:xfrm xmlns:a="http://schemas.openxmlformats.org/drawingml/2006/main">
            <a:off x="609600" y="3905250"/>
            <a:ext cx="3257550" cy="1162050"/>
          </a:xfrm>
          <a:prstGeom xmlns:a="http://schemas.openxmlformats.org/drawingml/2006/main" prst="rect">
            <a:avLst/>
          </a:prstGeom>
          <a:solidFill xmlns:a="http://schemas.openxmlformats.org/drawingml/2006/main">
            <a:srgbClr val="122234"/>
          </a:solidFill>
          <a:ln xmlns:a="http://schemas.openxmlformats.org/drawingml/2006/main" w="0">
            <a:noFill/>
          </a:ln>
        </p:spPr>
      </p:sp>
      <p:sp>
        <p:nvSpPr>
          <p:cNvPr id="21" name="shape-43">
            <a:extLst xmlns:a="http://schemas.openxmlformats.org/drawingml/2006/main">
              <a:ext uri="{FF2B5EF4-FFF2-40B4-BE49-F238E27FC236}">
                <a16:creationId xmlns:a16="http://schemas.microsoft.com/office/drawing/2014/main" id="{53CB8E46-01D8-496D-BEDC-610D2BB7C659}"/>
              </a:ext>
            </a:extLst>
          </p:cNvPr>
          <p:cNvSpPr>
            <a:spLocks xmlns:a="http://schemas.openxmlformats.org/drawingml/2006/main" noGrp="1"/>
          </p:cNvSpPr>
          <p:nvPr/>
        </p:nvSpPr>
        <p:spPr>
          <a:xfrm xmlns:a="http://schemas.openxmlformats.org/drawingml/2006/main">
            <a:off x="762000" y="4048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Verified artifacts</a:t>
            </a:r>
          </a:p>
        </p:txBody>
      </p:sp>
      <p:sp>
        <p:nvSpPr>
          <p:cNvPr id="22" name="shape-44">
            <a:extLst xmlns:a="http://schemas.openxmlformats.org/drawingml/2006/main">
              <a:ext uri="{FF2B5EF4-FFF2-40B4-BE49-F238E27FC236}">
                <a16:creationId xmlns:a16="http://schemas.microsoft.com/office/drawing/2014/main" id="{11E5D9BD-75EB-4B0A-BB89-CACA70FB9D9A}"/>
              </a:ext>
            </a:extLst>
          </p:cNvPr>
          <p:cNvSpPr>
            <a:spLocks xmlns:a="http://schemas.openxmlformats.org/drawingml/2006/main" noGrp="1"/>
          </p:cNvSpPr>
          <p:nvPr/>
        </p:nvSpPr>
        <p:spPr>
          <a:xfrm xmlns:a="http://schemas.openxmlformats.org/drawingml/2006/main">
            <a:off x="762000" y="44100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D4DFE8"/>
                </a:solidFill>
                <a:latin typeface="Helvetica Neue"/>
                <a:ea typeface="Helvetica Neue"/>
                <a:cs typeface="Helvetica Neue"/>
              </a:defRPr>
            </a:pPr>
            <a:r>
              <a:rPr sz="1725" b="0">
                <a:solidFill>
                  <a:srgbClr val="D4DFE8"/>
                </a:solidFill>
                <a:latin typeface="Helvetica Neue"/>
                <a:ea typeface="Helvetica Neue"/>
                <a:cs typeface="Helvetica Neue"/>
              </a:rPr>
              <a:t>Build + required artifacts must pass</a:t>
            </a:r>
          </a:p>
        </p:txBody>
      </p:sp>
      <p:cxnSp>
        <p:nvCxnSpPr>
          <p:cNvPr id="159" name=""/>
          <p:cNvCxnSpPr>
            <a:stCxn xmlns:a="http://schemas.openxmlformats.org/drawingml/2006/main" id="5" idx="3"/>
            <a:endCxn xmlns:a="http://schemas.openxmlformats.org/drawingml/2006/main" id="8" idx="1"/>
          </p:cNvCxnSpPr>
          <p:nvPr/>
        </p:nvCxnSpPr>
        <p:spPr>
          <a:xfrm xmlns:a="http://schemas.openxmlformats.org/drawingml/2006/main">
            <a:off x="3867150" y="2705100"/>
            <a:ext cx="600075" cy="0"/>
          </a:xfrm>
          <a:prstGeom xmlns:a="http://schemas.openxmlformats.org/drawingml/2006/main" prst="straightConnector1">
            <a:avLst/>
          </a:prstGeom>
          <a:ln xmlns:a="http://schemas.openxmlformats.org/drawingml/2006/main" w="19050">
            <a:solidFill>
              <a:srgbClr val="536374"/>
            </a:solidFill>
            <a:tailEnd type="triangle" w="med" len="med"/>
          </a:ln>
        </p:spPr>
      </p:cxnSp>
      <p:cxnSp>
        <p:nvCxnSpPr>
          <p:cNvPr id="160" name=""/>
          <p:cNvCxnSpPr>
            <a:stCxn xmlns:a="http://schemas.openxmlformats.org/drawingml/2006/main" id="8" idx="3"/>
            <a:endCxn xmlns:a="http://schemas.openxmlformats.org/drawingml/2006/main" id="11" idx="1"/>
          </p:cNvCxnSpPr>
          <p:nvPr/>
        </p:nvCxnSpPr>
        <p:spPr>
          <a:xfrm xmlns:a="http://schemas.openxmlformats.org/drawingml/2006/main">
            <a:off x="7724775" y="2705100"/>
            <a:ext cx="600075" cy="0"/>
          </a:xfrm>
          <a:prstGeom xmlns:a="http://schemas.openxmlformats.org/drawingml/2006/main" prst="straightConnector1">
            <a:avLst/>
          </a:prstGeom>
          <a:ln xmlns:a="http://schemas.openxmlformats.org/drawingml/2006/main" w="19050">
            <a:solidFill>
              <a:srgbClr val="536374"/>
            </a:solidFill>
            <a:tailEnd type="triangle" w="med" len="med"/>
          </a:ln>
        </p:spPr>
      </p:cxnSp>
      <p:cxnSp>
        <p:nvCxnSpPr>
          <p:cNvPr id="161" name=""/>
          <p:cNvCxnSpPr>
            <a:stCxn xmlns:a="http://schemas.openxmlformats.org/drawingml/2006/main" id="11" idx="2"/>
            <a:endCxn xmlns:a="http://schemas.openxmlformats.org/drawingml/2006/main" id="14" idx="0"/>
          </p:cNvCxnSpPr>
          <p:nvPr/>
        </p:nvCxnSpPr>
        <p:spPr>
          <a:xfrm xmlns:a="http://schemas.openxmlformats.org/drawingml/2006/main">
            <a:off x="9953625" y="3286125"/>
            <a:ext cx="0" cy="619125"/>
          </a:xfrm>
          <a:prstGeom xmlns:a="http://schemas.openxmlformats.org/drawingml/2006/main" prst="straightConnector1">
            <a:avLst/>
          </a:prstGeom>
          <a:ln xmlns:a="http://schemas.openxmlformats.org/drawingml/2006/main" w="19050">
            <a:solidFill>
              <a:srgbClr val="536374"/>
            </a:solidFill>
            <a:tailEnd type="triangle" w="med" len="med"/>
          </a:ln>
        </p:spPr>
      </p:cxnSp>
      <p:cxnSp>
        <p:nvCxnSpPr>
          <p:cNvPr id="162" name=""/>
          <p:cNvCxnSpPr>
            <a:stCxn xmlns:a="http://schemas.openxmlformats.org/drawingml/2006/main" id="17" idx="3"/>
            <a:endCxn xmlns:a="http://schemas.openxmlformats.org/drawingml/2006/main" id="14" idx="1"/>
          </p:cNvCxnSpPr>
          <p:nvPr/>
        </p:nvCxnSpPr>
        <p:spPr>
          <a:xfrm xmlns:a="http://schemas.openxmlformats.org/drawingml/2006/main">
            <a:off x="7724775" y="4486275"/>
            <a:ext cx="600075" cy="0"/>
          </a:xfrm>
          <a:prstGeom xmlns:a="http://schemas.openxmlformats.org/drawingml/2006/main" prst="straightConnector1">
            <a:avLst/>
          </a:prstGeom>
          <a:ln xmlns:a="http://schemas.openxmlformats.org/drawingml/2006/main" w="19050">
            <a:solidFill>
              <a:srgbClr val="536374"/>
            </a:solidFill>
            <a:headEnd type="triangle" w="med" len="med"/>
          </a:ln>
        </p:spPr>
      </p:cxnSp>
      <p:cxnSp>
        <p:nvCxnSpPr>
          <p:cNvPr id="163" name=""/>
          <p:cNvCxnSpPr>
            <a:stCxn xmlns:a="http://schemas.openxmlformats.org/drawingml/2006/main" id="20" idx="3"/>
            <a:endCxn xmlns:a="http://schemas.openxmlformats.org/drawingml/2006/main" id="17" idx="1"/>
          </p:cNvCxnSpPr>
          <p:nvPr/>
        </p:nvCxnSpPr>
        <p:spPr>
          <a:xfrm xmlns:a="http://schemas.openxmlformats.org/drawingml/2006/main">
            <a:off x="3867150" y="4486275"/>
            <a:ext cx="600075" cy="0"/>
          </a:xfrm>
          <a:prstGeom xmlns:a="http://schemas.openxmlformats.org/drawingml/2006/main" prst="straightConnector1">
            <a:avLst/>
          </a:prstGeom>
          <a:ln xmlns:a="http://schemas.openxmlformats.org/drawingml/2006/main" w="19050">
            <a:solidFill>
              <a:srgbClr val="536374"/>
            </a:solidFill>
            <a:headEnd type="triangle" w="med" len="med"/>
          </a:ln>
        </p:spPr>
      </p:cxnSp>
      <p:sp>
        <p:nvSpPr>
          <p:cNvPr id="28" name="shape-45">
            <a:extLst xmlns:a="http://schemas.openxmlformats.org/drawingml/2006/main">
              <a:ext uri="{FF2B5EF4-FFF2-40B4-BE49-F238E27FC236}">
                <a16:creationId xmlns:a16="http://schemas.microsoft.com/office/drawing/2014/main" id="{DA357701-AD80-4957-8893-D1440F7F8ABE}"/>
              </a:ext>
            </a:extLst>
          </p:cNvPr>
          <p:cNvSpPr>
            <a:spLocks xmlns:a="http://schemas.openxmlformats.org/drawingml/2006/main" noGrp="1"/>
          </p:cNvSpPr>
          <p:nvPr/>
        </p:nvSpPr>
        <p:spPr>
          <a:xfrm xmlns:a="http://schemas.openxmlformats.org/drawingml/2006/main">
            <a:off x="609600" y="55626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B83138"/>
                </a:solidFill>
                <a:latin typeface="Helvetica Neue"/>
                <a:ea typeface="Helvetica Neue"/>
                <a:cs typeface="Helvetica Neue"/>
              </a:defRPr>
            </a:pPr>
            <a:r>
              <a:rPr sz="1875" b="1">
                <a:solidFill>
                  <a:srgbClr val="B83138"/>
                </a:solidFill>
                <a:latin typeface="Helvetica Neue"/>
                <a:ea typeface="Helvetica Neue"/>
                <a:cs typeface="Helvetica Neue"/>
              </a:rPr>
              <a:t>Public: x86_64 and ARM64, both directions. Competition: also RISC-V</a:t>
            </a:r>
          </a:p>
        </p:txBody>
      </p:sp>
    </p:spTree>
    <p:extLst>
      <p:ext uri="{BB962C8B-B14F-4D97-AF65-F5344CB8AC3E}">
        <p14:creationId xmlns:p14="http://schemas.microsoft.com/office/powerpoint/2010/main" val="1580746732"/>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37" name="shape-46">
            <a:extLst xmlns:a="http://schemas.openxmlformats.org/drawingml/2006/main">
              <a:ext uri="{FF2B5EF4-FFF2-40B4-BE49-F238E27FC236}">
                <a16:creationId xmlns:a16="http://schemas.microsoft.com/office/drawing/2014/main" id="{9B685819-8D74-418C-A66C-380504F81804}"/>
              </a:ext>
            </a:extLst>
          </p:cNvPr>
          <p:cNvSpPr>
            <a:spLocks xmlns:a="http://schemas.openxmlformats.org/drawingml/2006/main" noGrp="1"/>
          </p:cNvSpPr>
          <p:nvPr/>
        </p:nvSpPr>
        <p:spPr>
          <a:xfrm xmlns:a="http://schemas.openxmlformats.org/drawingml/2006/main">
            <a:off x="609600" y="552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122234"/>
                </a:solidFill>
                <a:latin typeface="Helvetica Neue"/>
                <a:ea typeface="Helvetica Neue"/>
                <a:cs typeface="Helvetica Neue"/>
              </a:defRPr>
            </a:pPr>
            <a:r>
              <a:rPr sz="3300" b="1">
                <a:solidFill>
                  <a:srgbClr val="122234"/>
                </a:solidFill>
                <a:latin typeface="Helvetica Neue"/>
                <a:ea typeface="Helvetica Neue"/>
                <a:cs typeface="Helvetica Neue"/>
              </a:rPr>
              <a:t>Proposed repair agent architecture</a:t>
            </a:r>
          </a:p>
        </p:txBody>
      </p:sp>
      <p:sp>
        <p:nvSpPr>
          <p:cNvPr id="2" name="shape-47">
            <a:extLst xmlns:a="http://schemas.openxmlformats.org/drawingml/2006/main">
              <a:ext uri="{FF2B5EF4-FFF2-40B4-BE49-F238E27FC236}">
                <a16:creationId xmlns:a16="http://schemas.microsoft.com/office/drawing/2014/main" id="{29749EF6-38B4-4FC1-9338-99F848766E14}"/>
              </a:ext>
            </a:extLst>
          </p:cNvPr>
          <p:cNvSpPr>
            <a:spLocks xmlns:a="http://schemas.openxmlformats.org/drawingml/2006/main" noGrp="1"/>
          </p:cNvSpPr>
          <p:nvPr/>
        </p:nvSpPr>
        <p:spPr>
          <a:xfrm xmlns:a="http://schemas.openxmlformats.org/drawingml/2006/main">
            <a:off x="609600" y="64389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536374"/>
                </a:solidFill>
                <a:latin typeface="Helvetica Neue"/>
                <a:ea typeface="Helvetica Neue"/>
                <a:cs typeface="Helvetica Neue"/>
              </a:defRPr>
            </a:pPr>
            <a:r>
              <a:rPr sz="1200" b="0">
                <a:solidFill>
                  <a:srgbClr val="536374"/>
                </a:solidFill>
                <a:latin typeface="Helvetica Neue"/>
                <a:ea typeface="Helvetica Neue"/>
                <a:cs typeface="Helvetica Neue"/>
              </a:rPr>
              <a:t>EC528  /  BUILD-BENCH  /  DEMO 1</a:t>
            </a:r>
          </a:p>
        </p:txBody>
      </p:sp>
      <p:sp>
        <p:nvSpPr>
          <p:cNvPr id="3" name="shape-48">
            <a:extLst xmlns:a="http://schemas.openxmlformats.org/drawingml/2006/main">
              <a:ext uri="{FF2B5EF4-FFF2-40B4-BE49-F238E27FC236}">
                <a16:creationId xmlns:a16="http://schemas.microsoft.com/office/drawing/2014/main" id="{8333392B-859E-4102-8318-A2DFDEB5E0D2}"/>
              </a:ext>
            </a:extLst>
          </p:cNvPr>
          <p:cNvSpPr>
            <a:spLocks xmlns:a="http://schemas.openxmlformats.org/drawingml/2006/main" noGrp="1"/>
          </p:cNvSpPr>
          <p:nvPr/>
        </p:nvSpPr>
        <p:spPr>
          <a:xfrm xmlns:a="http://schemas.openxmlformats.org/drawingml/2006/main">
            <a:off x="11001375" y="63912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500" b="0">
                <a:solidFill>
                  <a:srgbClr val="536374"/>
                </a:solidFill>
                <a:latin typeface="Helvetica Neue"/>
                <a:ea typeface="Helvetica Neue"/>
                <a:cs typeface="Helvetica Neue"/>
              </a:defRPr>
            </a:pPr>
            <a:r>
              <a:rPr sz="1500" b="0">
                <a:solidFill>
                  <a:srgbClr val="536374"/>
                </a:solidFill>
                <a:latin typeface="Helvetica Neue"/>
                <a:ea typeface="Helvetica Neue"/>
                <a:cs typeface="Helvetica Neue"/>
              </a:rPr>
              <a:t>04</a:t>
            </a:r>
          </a:p>
        </p:txBody>
      </p:sp>
      <p:sp>
        <p:nvSpPr>
          <p:cNvPr id="4" name="shape-49">
            <a:extLst xmlns:a="http://schemas.openxmlformats.org/drawingml/2006/main">
              <a:ext uri="{FF2B5EF4-FFF2-40B4-BE49-F238E27FC236}">
                <a16:creationId xmlns:a16="http://schemas.microsoft.com/office/drawing/2014/main" id="{3DF804E8-6EA3-407D-A8E3-8795359EE5BD}"/>
              </a:ext>
            </a:extLst>
          </p:cNvPr>
          <p:cNvSpPr>
            <a:spLocks xmlns:a="http://schemas.openxmlformats.org/drawingml/2006/main" noGrp="1"/>
          </p:cNvSpPr>
          <p:nvPr/>
        </p:nvSpPr>
        <p:spPr>
          <a:xfrm xmlns:a="http://schemas.openxmlformats.org/drawingml/2006/main">
            <a:off x="609600" y="12858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536374"/>
                </a:solidFill>
                <a:latin typeface="Helvetica Neue"/>
                <a:ea typeface="Helvetica Neue"/>
                <a:cs typeface="Helvetica Neue"/>
              </a:defRPr>
            </a:pPr>
            <a:r>
              <a:rPr sz="1875" b="0">
                <a:solidFill>
                  <a:srgbClr val="536374"/>
                </a:solidFill>
                <a:latin typeface="Helvetica Neue"/>
                <a:ea typeface="Helvetica Neue"/>
                <a:cs typeface="Helvetica Neue"/>
              </a:rPr>
              <a:t>In-loop feedback depends on the interface. Final clean-build validation is required.</a:t>
            </a:r>
          </a:p>
        </p:txBody>
      </p:sp>
      <p:sp>
        <p:nvSpPr>
          <p:cNvPr id="5" name="shape-50">
            <a:extLst xmlns:a="http://schemas.openxmlformats.org/drawingml/2006/main">
              <a:ext uri="{FF2B5EF4-FFF2-40B4-BE49-F238E27FC236}">
                <a16:creationId xmlns:a16="http://schemas.microsoft.com/office/drawing/2014/main" id="{08BEBBA4-11E5-4800-A976-275E156E83C0}"/>
              </a:ext>
            </a:extLst>
          </p:cNvPr>
          <p:cNvSpPr>
            <a:spLocks xmlns:a="http://schemas.openxmlformats.org/drawingml/2006/main" noGrp="1"/>
          </p:cNvSpPr>
          <p:nvPr/>
        </p:nvSpPr>
        <p:spPr>
          <a:xfrm xmlns:a="http://schemas.openxmlformats.org/drawingml/2006/main">
            <a:off x="609600" y="2095500"/>
            <a:ext cx="2190750" cy="1143000"/>
          </a:xfrm>
          <a:prstGeom xmlns:a="http://schemas.openxmlformats.org/drawingml/2006/main" prst="rect">
            <a:avLst/>
          </a:prstGeom>
          <a:solidFill xmlns:a="http://schemas.openxmlformats.org/drawingml/2006/main">
            <a:srgbClr val="E9EEF3"/>
          </a:solidFill>
          <a:ln xmlns:a="http://schemas.openxmlformats.org/drawingml/2006/main" w="0">
            <a:noFill/>
          </a:ln>
        </p:spPr>
      </p:sp>
      <p:sp>
        <p:nvSpPr>
          <p:cNvPr id="6" name="shape-51">
            <a:extLst xmlns:a="http://schemas.openxmlformats.org/drawingml/2006/main">
              <a:ext uri="{FF2B5EF4-FFF2-40B4-BE49-F238E27FC236}">
                <a16:creationId xmlns:a16="http://schemas.microsoft.com/office/drawing/2014/main" id="{7CEB9096-573C-427A-B963-B8EC45EE4BA7}"/>
              </a:ext>
            </a:extLst>
          </p:cNvPr>
          <p:cNvSpPr>
            <a:spLocks xmlns:a="http://schemas.openxmlformats.org/drawingml/2006/main" noGrp="1"/>
          </p:cNvSpPr>
          <p:nvPr/>
        </p:nvSpPr>
        <p:spPr>
          <a:xfrm xmlns:a="http://schemas.openxmlformats.org/drawingml/2006/main">
            <a:off x="762000" y="2238375"/>
            <a:ext cx="1885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122234"/>
                </a:solidFill>
                <a:latin typeface="Helvetica Neue"/>
                <a:ea typeface="Helvetica Neue"/>
                <a:cs typeface="Helvetica Neue"/>
              </a:defRPr>
            </a:pPr>
            <a:r>
              <a:rPr sz="1725" b="1">
                <a:solidFill>
                  <a:srgbClr val="122234"/>
                </a:solidFill>
                <a:latin typeface="Helvetica Neue"/>
                <a:ea typeface="Helvetica Neue"/>
                <a:cs typeface="Helvetica Neue"/>
              </a:rPr>
              <a:t>Case Manager</a:t>
            </a:r>
          </a:p>
        </p:txBody>
      </p:sp>
      <p:sp>
        <p:nvSpPr>
          <p:cNvPr id="7" name="shape-52">
            <a:extLst xmlns:a="http://schemas.openxmlformats.org/drawingml/2006/main">
              <a:ext uri="{FF2B5EF4-FFF2-40B4-BE49-F238E27FC236}">
                <a16:creationId xmlns:a16="http://schemas.microsoft.com/office/drawing/2014/main" id="{D0693D19-1F36-4BF5-A677-B450EDFD24C3}"/>
              </a:ext>
            </a:extLst>
          </p:cNvPr>
          <p:cNvSpPr>
            <a:spLocks xmlns:a="http://schemas.openxmlformats.org/drawingml/2006/main" noGrp="1"/>
          </p:cNvSpPr>
          <p:nvPr/>
        </p:nvSpPr>
        <p:spPr>
          <a:xfrm xmlns:a="http://schemas.openxmlformats.org/drawingml/2006/main">
            <a:off x="762000" y="2600325"/>
            <a:ext cx="1885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36374"/>
                </a:solidFill>
                <a:latin typeface="Helvetica Neue"/>
                <a:ea typeface="Helvetica Neue"/>
                <a:cs typeface="Helvetica Neue"/>
              </a:defRPr>
            </a:pPr>
            <a:r>
              <a:rPr sz="1725" b="0">
                <a:solidFill>
                  <a:srgbClr val="536374"/>
                </a:solidFill>
                <a:latin typeface="Helvetica Neue"/>
                <a:ea typeface="Helvetica Neue"/>
                <a:cs typeface="Helvetica Neue"/>
              </a:rPr>
              <a:t>Metadata + initial failure</a:t>
            </a:r>
          </a:p>
        </p:txBody>
      </p:sp>
      <p:sp>
        <p:nvSpPr>
          <p:cNvPr id="8" name="shape-53">
            <a:extLst xmlns:a="http://schemas.openxmlformats.org/drawingml/2006/main">
              <a:ext uri="{FF2B5EF4-FFF2-40B4-BE49-F238E27FC236}">
                <a16:creationId xmlns:a16="http://schemas.microsoft.com/office/drawing/2014/main" id="{B2382A02-5790-4F28-BF47-39AC5A7ED9C7}"/>
              </a:ext>
            </a:extLst>
          </p:cNvPr>
          <p:cNvSpPr>
            <a:spLocks xmlns:a="http://schemas.openxmlformats.org/drawingml/2006/main" noGrp="1"/>
          </p:cNvSpPr>
          <p:nvPr/>
        </p:nvSpPr>
        <p:spPr>
          <a:xfrm xmlns:a="http://schemas.openxmlformats.org/drawingml/2006/main">
            <a:off x="3524250" y="2095500"/>
            <a:ext cx="2190750" cy="1143000"/>
          </a:xfrm>
          <a:prstGeom xmlns:a="http://schemas.openxmlformats.org/drawingml/2006/main" prst="rect">
            <a:avLst/>
          </a:prstGeom>
          <a:solidFill xmlns:a="http://schemas.openxmlformats.org/drawingml/2006/main">
            <a:srgbClr val="E9EEF3"/>
          </a:solidFill>
          <a:ln xmlns:a="http://schemas.openxmlformats.org/drawingml/2006/main" w="0">
            <a:noFill/>
          </a:ln>
        </p:spPr>
      </p:sp>
      <p:sp>
        <p:nvSpPr>
          <p:cNvPr id="9" name="shape-54">
            <a:extLst xmlns:a="http://schemas.openxmlformats.org/drawingml/2006/main">
              <a:ext uri="{FF2B5EF4-FFF2-40B4-BE49-F238E27FC236}">
                <a16:creationId xmlns:a16="http://schemas.microsoft.com/office/drawing/2014/main" id="{C62D4A1B-A625-4EA5-B95A-76B12C08632A}"/>
              </a:ext>
            </a:extLst>
          </p:cNvPr>
          <p:cNvSpPr>
            <a:spLocks xmlns:a="http://schemas.openxmlformats.org/drawingml/2006/main" noGrp="1"/>
          </p:cNvSpPr>
          <p:nvPr/>
        </p:nvSpPr>
        <p:spPr>
          <a:xfrm xmlns:a="http://schemas.openxmlformats.org/drawingml/2006/main">
            <a:off x="3676650" y="2238375"/>
            <a:ext cx="1885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122234"/>
                </a:solidFill>
                <a:latin typeface="Helvetica Neue"/>
                <a:ea typeface="Helvetica Neue"/>
                <a:cs typeface="Helvetica Neue"/>
              </a:defRPr>
            </a:pPr>
            <a:r>
              <a:rPr sz="1725" b="1">
                <a:solidFill>
                  <a:srgbClr val="122234"/>
                </a:solidFill>
                <a:latin typeface="Helvetica Neue"/>
                <a:ea typeface="Helvetica Neue"/>
                <a:cs typeface="Helvetica Neue"/>
              </a:rPr>
              <a:t>Evidence Manager</a:t>
            </a:r>
          </a:p>
        </p:txBody>
      </p:sp>
      <p:sp>
        <p:nvSpPr>
          <p:cNvPr id="10" name="shape-55">
            <a:extLst xmlns:a="http://schemas.openxmlformats.org/drawingml/2006/main">
              <a:ext uri="{FF2B5EF4-FFF2-40B4-BE49-F238E27FC236}">
                <a16:creationId xmlns:a16="http://schemas.microsoft.com/office/drawing/2014/main" id="{00433FA7-F0CF-4E34-81A6-3D1AE8EAD713}"/>
              </a:ext>
            </a:extLst>
          </p:cNvPr>
          <p:cNvSpPr>
            <a:spLocks xmlns:a="http://schemas.openxmlformats.org/drawingml/2006/main" noGrp="1"/>
          </p:cNvSpPr>
          <p:nvPr/>
        </p:nvSpPr>
        <p:spPr>
          <a:xfrm xmlns:a="http://schemas.openxmlformats.org/drawingml/2006/main">
            <a:off x="3676650" y="2905125"/>
            <a:ext cx="1885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36374"/>
                </a:solidFill>
                <a:latin typeface="Helvetica Neue"/>
                <a:ea typeface="Helvetica Neue"/>
                <a:cs typeface="Helvetica Neue"/>
              </a:defRPr>
            </a:pPr>
            <a:r>
              <a:rPr sz="1725" b="0">
                <a:solidFill>
                  <a:srgbClr val="536374"/>
                </a:solidFill>
                <a:latin typeface="Helvetica Neue"/>
                <a:ea typeface="Helvetica Neue"/>
                <a:cs typeface="Helvetica Neue"/>
              </a:rPr>
              <a:t>Logs + files</a:t>
            </a:r>
          </a:p>
        </p:txBody>
      </p:sp>
      <p:sp>
        <p:nvSpPr>
          <p:cNvPr id="11" name="shape-56">
            <a:extLst xmlns:a="http://schemas.openxmlformats.org/drawingml/2006/main">
              <a:ext uri="{FF2B5EF4-FFF2-40B4-BE49-F238E27FC236}">
                <a16:creationId xmlns:a16="http://schemas.microsoft.com/office/drawing/2014/main" id="{34433B3E-EF1F-47DB-AD89-3A8248A55862}"/>
              </a:ext>
            </a:extLst>
          </p:cNvPr>
          <p:cNvSpPr>
            <a:spLocks xmlns:a="http://schemas.openxmlformats.org/drawingml/2006/main" noGrp="1"/>
          </p:cNvSpPr>
          <p:nvPr/>
        </p:nvSpPr>
        <p:spPr>
          <a:xfrm xmlns:a="http://schemas.openxmlformats.org/drawingml/2006/main">
            <a:off x="6438900" y="2095500"/>
            <a:ext cx="2190750" cy="1143000"/>
          </a:xfrm>
          <a:prstGeom xmlns:a="http://schemas.openxmlformats.org/drawingml/2006/main" prst="rect">
            <a:avLst/>
          </a:prstGeom>
          <a:solidFill xmlns:a="http://schemas.openxmlformats.org/drawingml/2006/main">
            <a:srgbClr val="E9EEF3"/>
          </a:solidFill>
          <a:ln xmlns:a="http://schemas.openxmlformats.org/drawingml/2006/main" w="0">
            <a:noFill/>
          </a:ln>
        </p:spPr>
      </p:sp>
      <p:sp>
        <p:nvSpPr>
          <p:cNvPr id="12" name="shape-57">
            <a:extLst xmlns:a="http://schemas.openxmlformats.org/drawingml/2006/main">
              <a:ext uri="{FF2B5EF4-FFF2-40B4-BE49-F238E27FC236}">
                <a16:creationId xmlns:a16="http://schemas.microsoft.com/office/drawing/2014/main" id="{1C39EBCC-8888-455D-8BD8-043392DA791E}"/>
              </a:ext>
            </a:extLst>
          </p:cNvPr>
          <p:cNvSpPr>
            <a:spLocks xmlns:a="http://schemas.openxmlformats.org/drawingml/2006/main" noGrp="1"/>
          </p:cNvSpPr>
          <p:nvPr/>
        </p:nvSpPr>
        <p:spPr>
          <a:xfrm xmlns:a="http://schemas.openxmlformats.org/drawingml/2006/main">
            <a:off x="6591300" y="2238375"/>
            <a:ext cx="1885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122234"/>
                </a:solidFill>
                <a:latin typeface="Helvetica Neue"/>
                <a:ea typeface="Helvetica Neue"/>
                <a:cs typeface="Helvetica Neue"/>
              </a:defRPr>
            </a:pPr>
            <a:r>
              <a:rPr sz="1725" b="1">
                <a:solidFill>
                  <a:srgbClr val="122234"/>
                </a:solidFill>
                <a:latin typeface="Helvetica Neue"/>
                <a:ea typeface="Helvetica Neue"/>
                <a:cs typeface="Helvetica Neue"/>
              </a:rPr>
              <a:t>LLM Planner</a:t>
            </a:r>
          </a:p>
        </p:txBody>
      </p:sp>
      <p:sp>
        <p:nvSpPr>
          <p:cNvPr id="13" name="shape-58">
            <a:extLst xmlns:a="http://schemas.openxmlformats.org/drawingml/2006/main">
              <a:ext uri="{FF2B5EF4-FFF2-40B4-BE49-F238E27FC236}">
                <a16:creationId xmlns:a16="http://schemas.microsoft.com/office/drawing/2014/main" id="{FA868BFF-76B7-4125-99B6-A6F428EA062F}"/>
              </a:ext>
            </a:extLst>
          </p:cNvPr>
          <p:cNvSpPr>
            <a:spLocks xmlns:a="http://schemas.openxmlformats.org/drawingml/2006/main" noGrp="1"/>
          </p:cNvSpPr>
          <p:nvPr/>
        </p:nvSpPr>
        <p:spPr>
          <a:xfrm xmlns:a="http://schemas.openxmlformats.org/drawingml/2006/main">
            <a:off x="6591300" y="2600325"/>
            <a:ext cx="1885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36374"/>
                </a:solidFill>
                <a:latin typeface="Helvetica Neue"/>
                <a:ea typeface="Helvetica Neue"/>
                <a:cs typeface="Helvetica Neue"/>
              </a:defRPr>
            </a:pPr>
            <a:r>
              <a:rPr sz="1725" b="0">
                <a:solidFill>
                  <a:srgbClr val="536374"/>
                </a:solidFill>
                <a:latin typeface="Helvetica Neue"/>
                <a:ea typeface="Helvetica Neue"/>
                <a:cs typeface="Helvetica Neue"/>
              </a:rPr>
              <a:t>Hypothesis + next action</a:t>
            </a:r>
          </a:p>
        </p:txBody>
      </p:sp>
      <p:sp>
        <p:nvSpPr>
          <p:cNvPr id="14" name="shape-59">
            <a:extLst xmlns:a="http://schemas.openxmlformats.org/drawingml/2006/main">
              <a:ext uri="{FF2B5EF4-FFF2-40B4-BE49-F238E27FC236}">
                <a16:creationId xmlns:a16="http://schemas.microsoft.com/office/drawing/2014/main" id="{8CEED14B-A567-4F12-8569-0ADAF07A2665}"/>
              </a:ext>
            </a:extLst>
          </p:cNvPr>
          <p:cNvSpPr>
            <a:spLocks xmlns:a="http://schemas.openxmlformats.org/drawingml/2006/main" noGrp="1"/>
          </p:cNvSpPr>
          <p:nvPr/>
        </p:nvSpPr>
        <p:spPr>
          <a:xfrm xmlns:a="http://schemas.openxmlformats.org/drawingml/2006/main">
            <a:off x="9353550" y="2095500"/>
            <a:ext cx="2190750" cy="1143000"/>
          </a:xfrm>
          <a:prstGeom xmlns:a="http://schemas.openxmlformats.org/drawingml/2006/main" prst="rect">
            <a:avLst/>
          </a:prstGeom>
          <a:solidFill xmlns:a="http://schemas.openxmlformats.org/drawingml/2006/main">
            <a:srgbClr val="E9EEF3"/>
          </a:solidFill>
          <a:ln xmlns:a="http://schemas.openxmlformats.org/drawingml/2006/main" w="0">
            <a:noFill/>
          </a:ln>
        </p:spPr>
      </p:sp>
      <p:sp>
        <p:nvSpPr>
          <p:cNvPr id="15" name="shape-60">
            <a:extLst xmlns:a="http://schemas.openxmlformats.org/drawingml/2006/main">
              <a:ext uri="{FF2B5EF4-FFF2-40B4-BE49-F238E27FC236}">
                <a16:creationId xmlns:a16="http://schemas.microsoft.com/office/drawing/2014/main" id="{AFC76A94-D98C-485D-BDEA-8B5ED01044D2}"/>
              </a:ext>
            </a:extLst>
          </p:cNvPr>
          <p:cNvSpPr>
            <a:spLocks xmlns:a="http://schemas.openxmlformats.org/drawingml/2006/main" noGrp="1"/>
          </p:cNvSpPr>
          <p:nvPr/>
        </p:nvSpPr>
        <p:spPr>
          <a:xfrm xmlns:a="http://schemas.openxmlformats.org/drawingml/2006/main">
            <a:off x="9505950" y="2238375"/>
            <a:ext cx="1885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122234"/>
                </a:solidFill>
                <a:latin typeface="Helvetica Neue"/>
                <a:ea typeface="Helvetica Neue"/>
                <a:cs typeface="Helvetica Neue"/>
              </a:defRPr>
            </a:pPr>
            <a:r>
              <a:rPr sz="1725" b="1">
                <a:solidFill>
                  <a:srgbClr val="122234"/>
                </a:solidFill>
                <a:latin typeface="Helvetica Neue"/>
                <a:ea typeface="Helvetica Neue"/>
                <a:cs typeface="Helvetica Neue"/>
              </a:rPr>
              <a:t>Controlled Tools</a:t>
            </a:r>
          </a:p>
        </p:txBody>
      </p:sp>
      <p:sp>
        <p:nvSpPr>
          <p:cNvPr id="16" name="shape-61">
            <a:extLst xmlns:a="http://schemas.openxmlformats.org/drawingml/2006/main">
              <a:ext uri="{FF2B5EF4-FFF2-40B4-BE49-F238E27FC236}">
                <a16:creationId xmlns:a16="http://schemas.microsoft.com/office/drawing/2014/main" id="{CA974336-2B15-4240-B782-C75399D8F562}"/>
              </a:ext>
            </a:extLst>
          </p:cNvPr>
          <p:cNvSpPr>
            <a:spLocks xmlns:a="http://schemas.openxmlformats.org/drawingml/2006/main" noGrp="1"/>
          </p:cNvSpPr>
          <p:nvPr/>
        </p:nvSpPr>
        <p:spPr>
          <a:xfrm xmlns:a="http://schemas.openxmlformats.org/drawingml/2006/main">
            <a:off x="9505950" y="2600325"/>
            <a:ext cx="1885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36374"/>
                </a:solidFill>
                <a:latin typeface="Helvetica Neue"/>
                <a:ea typeface="Helvetica Neue"/>
                <a:cs typeface="Helvetica Neue"/>
              </a:defRPr>
            </a:pPr>
            <a:r>
              <a:rPr sz="1725" b="0">
                <a:solidFill>
                  <a:srgbClr val="536374"/>
                </a:solidFill>
                <a:latin typeface="Helvetica Neue"/>
                <a:ea typeface="Helvetica Neue"/>
                <a:cs typeface="Helvetica Neue"/>
              </a:rPr>
              <a:t>Search, inspect, diagnose</a:t>
            </a:r>
          </a:p>
        </p:txBody>
      </p:sp>
      <p:sp>
        <p:nvSpPr>
          <p:cNvPr id="17" name="shape-62">
            <a:extLst xmlns:a="http://schemas.openxmlformats.org/drawingml/2006/main">
              <a:ext uri="{FF2B5EF4-FFF2-40B4-BE49-F238E27FC236}">
                <a16:creationId xmlns:a16="http://schemas.microsoft.com/office/drawing/2014/main" id="{6ACD1774-5336-47D0-9225-14DE99ADD5A2}"/>
              </a:ext>
            </a:extLst>
          </p:cNvPr>
          <p:cNvSpPr>
            <a:spLocks xmlns:a="http://schemas.openxmlformats.org/drawingml/2006/main" noGrp="1"/>
          </p:cNvSpPr>
          <p:nvPr/>
        </p:nvSpPr>
        <p:spPr>
          <a:xfrm xmlns:a="http://schemas.openxmlformats.org/drawingml/2006/main">
            <a:off x="9353550" y="4191000"/>
            <a:ext cx="2190750" cy="1143000"/>
          </a:xfrm>
          <a:prstGeom xmlns:a="http://schemas.openxmlformats.org/drawingml/2006/main" prst="rect">
            <a:avLst/>
          </a:prstGeom>
          <a:solidFill xmlns:a="http://schemas.openxmlformats.org/drawingml/2006/main">
            <a:srgbClr val="E9EEF3"/>
          </a:solidFill>
          <a:ln xmlns:a="http://schemas.openxmlformats.org/drawingml/2006/main" w="0">
            <a:noFill/>
          </a:ln>
        </p:spPr>
      </p:sp>
      <p:sp>
        <p:nvSpPr>
          <p:cNvPr id="18" name="shape-63">
            <a:extLst xmlns:a="http://schemas.openxmlformats.org/drawingml/2006/main">
              <a:ext uri="{FF2B5EF4-FFF2-40B4-BE49-F238E27FC236}">
                <a16:creationId xmlns:a16="http://schemas.microsoft.com/office/drawing/2014/main" id="{0395EBA0-3538-41CE-92C1-D9700752526C}"/>
              </a:ext>
            </a:extLst>
          </p:cNvPr>
          <p:cNvSpPr>
            <a:spLocks xmlns:a="http://schemas.openxmlformats.org/drawingml/2006/main" noGrp="1"/>
          </p:cNvSpPr>
          <p:nvPr/>
        </p:nvSpPr>
        <p:spPr>
          <a:xfrm xmlns:a="http://schemas.openxmlformats.org/drawingml/2006/main">
            <a:off x="9505950" y="4333875"/>
            <a:ext cx="1885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122234"/>
                </a:solidFill>
                <a:latin typeface="Helvetica Neue"/>
                <a:ea typeface="Helvetica Neue"/>
                <a:cs typeface="Helvetica Neue"/>
              </a:defRPr>
            </a:pPr>
            <a:r>
              <a:rPr sz="1725" b="1">
                <a:solidFill>
                  <a:srgbClr val="122234"/>
                </a:solidFill>
                <a:latin typeface="Helvetica Neue"/>
                <a:ea typeface="Helvetica Neue"/>
                <a:cs typeface="Helvetica Neue"/>
              </a:rPr>
              <a:t>Repair Generator</a:t>
            </a:r>
          </a:p>
        </p:txBody>
      </p:sp>
      <p:sp>
        <p:nvSpPr>
          <p:cNvPr id="19" name="shape-64">
            <a:extLst xmlns:a="http://schemas.openxmlformats.org/drawingml/2006/main">
              <a:ext uri="{FF2B5EF4-FFF2-40B4-BE49-F238E27FC236}">
                <a16:creationId xmlns:a16="http://schemas.microsoft.com/office/drawing/2014/main" id="{4F8AD536-10FA-48B0-8860-5AAB0FB74D26}"/>
              </a:ext>
            </a:extLst>
          </p:cNvPr>
          <p:cNvSpPr>
            <a:spLocks xmlns:a="http://schemas.openxmlformats.org/drawingml/2006/main" noGrp="1"/>
          </p:cNvSpPr>
          <p:nvPr/>
        </p:nvSpPr>
        <p:spPr>
          <a:xfrm xmlns:a="http://schemas.openxmlformats.org/drawingml/2006/main">
            <a:off x="9505950" y="4695825"/>
            <a:ext cx="1885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36374"/>
                </a:solidFill>
                <a:latin typeface="Helvetica Neue"/>
                <a:ea typeface="Helvetica Neue"/>
                <a:cs typeface="Helvetica Neue"/>
              </a:defRPr>
            </a:pPr>
            <a:r>
              <a:rPr sz="1725" b="0">
                <a:solidFill>
                  <a:srgbClr val="536374"/>
                </a:solidFill>
                <a:latin typeface="Helvetica Neue"/>
                <a:ea typeface="Helvetica Neue"/>
                <a:cs typeface="Helvetica Neue"/>
              </a:rPr>
              <a:t>Candidate worktree edits</a:t>
            </a:r>
          </a:p>
        </p:txBody>
      </p:sp>
      <p:sp>
        <p:nvSpPr>
          <p:cNvPr id="20" name="shape-65">
            <a:extLst xmlns:a="http://schemas.openxmlformats.org/drawingml/2006/main">
              <a:ext uri="{FF2B5EF4-FFF2-40B4-BE49-F238E27FC236}">
                <a16:creationId xmlns:a16="http://schemas.microsoft.com/office/drawing/2014/main" id="{9847DDB4-8089-4887-B790-8BFA9F0A822F}"/>
              </a:ext>
            </a:extLst>
          </p:cNvPr>
          <p:cNvSpPr>
            <a:spLocks xmlns:a="http://schemas.openxmlformats.org/drawingml/2006/main" noGrp="1"/>
          </p:cNvSpPr>
          <p:nvPr/>
        </p:nvSpPr>
        <p:spPr>
          <a:xfrm xmlns:a="http://schemas.openxmlformats.org/drawingml/2006/main">
            <a:off x="6438900" y="4191000"/>
            <a:ext cx="2190750" cy="1143000"/>
          </a:xfrm>
          <a:prstGeom xmlns:a="http://schemas.openxmlformats.org/drawingml/2006/main" prst="rect">
            <a:avLst/>
          </a:prstGeom>
          <a:solidFill xmlns:a="http://schemas.openxmlformats.org/drawingml/2006/main">
            <a:srgbClr val="122234"/>
          </a:solidFill>
          <a:ln xmlns:a="http://schemas.openxmlformats.org/drawingml/2006/main" w="0">
            <a:noFill/>
          </a:ln>
        </p:spPr>
      </p:sp>
      <p:sp>
        <p:nvSpPr>
          <p:cNvPr id="21" name="shape-66">
            <a:extLst xmlns:a="http://schemas.openxmlformats.org/drawingml/2006/main">
              <a:ext uri="{FF2B5EF4-FFF2-40B4-BE49-F238E27FC236}">
                <a16:creationId xmlns:a16="http://schemas.microsoft.com/office/drawing/2014/main" id="{263F4290-830C-4E62-A81F-05FE8658BB52}"/>
              </a:ext>
            </a:extLst>
          </p:cNvPr>
          <p:cNvSpPr>
            <a:spLocks xmlns:a="http://schemas.openxmlformats.org/drawingml/2006/main" noGrp="1"/>
          </p:cNvSpPr>
          <p:nvPr/>
        </p:nvSpPr>
        <p:spPr>
          <a:xfrm xmlns:a="http://schemas.openxmlformats.org/drawingml/2006/main">
            <a:off x="6591300" y="4295775"/>
            <a:ext cx="1885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Validation/Feedback</a:t>
            </a:r>
          </a:p>
          <a:p xmlns:a="http://schemas.openxmlformats.org/drawingml/2006/main">
            <a:pPr algn="l">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Adapter</a:t>
            </a:r>
          </a:p>
        </p:txBody>
      </p:sp>
      <p:sp>
        <p:nvSpPr>
          <p:cNvPr id="22" name="shape-67">
            <a:extLst xmlns:a="http://schemas.openxmlformats.org/drawingml/2006/main">
              <a:ext uri="{FF2B5EF4-FFF2-40B4-BE49-F238E27FC236}">
                <a16:creationId xmlns:a16="http://schemas.microsoft.com/office/drawing/2014/main" id="{34656EA5-CC8C-4D1A-BB5E-1A9269A35A9C}"/>
              </a:ext>
            </a:extLst>
          </p:cNvPr>
          <p:cNvSpPr>
            <a:spLocks xmlns:a="http://schemas.openxmlformats.org/drawingml/2006/main" noGrp="1"/>
          </p:cNvSpPr>
          <p:nvPr/>
        </p:nvSpPr>
        <p:spPr>
          <a:xfrm xmlns:a="http://schemas.openxmlformats.org/drawingml/2006/main">
            <a:off x="6591300" y="4943475"/>
            <a:ext cx="188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D4DFE8"/>
                </a:solidFill>
                <a:latin typeface="Helvetica Neue"/>
                <a:ea typeface="Helvetica Neue"/>
                <a:cs typeface="Helvetica Neue"/>
              </a:defRPr>
            </a:pPr>
            <a:r>
              <a:rPr sz="1725" b="0">
                <a:solidFill>
                  <a:srgbClr val="D4DFE8"/>
                </a:solidFill>
                <a:latin typeface="Helvetica Neue"/>
                <a:ea typeface="Helvetica Neue"/>
                <a:cs typeface="Helvetica Neue"/>
              </a:rPr>
              <a:t/>
            </a:r>
          </a:p>
        </p:txBody>
      </p:sp>
      <p:sp>
        <p:nvSpPr>
          <p:cNvPr id="23" name="shape-68">
            <a:extLst xmlns:a="http://schemas.openxmlformats.org/drawingml/2006/main">
              <a:ext uri="{FF2B5EF4-FFF2-40B4-BE49-F238E27FC236}">
                <a16:creationId xmlns:a16="http://schemas.microsoft.com/office/drawing/2014/main" id="{5C4407D2-B436-4003-8124-206B5BFA8B88}"/>
              </a:ext>
            </a:extLst>
          </p:cNvPr>
          <p:cNvSpPr>
            <a:spLocks xmlns:a="http://schemas.openxmlformats.org/drawingml/2006/main" noGrp="1"/>
          </p:cNvSpPr>
          <p:nvPr/>
        </p:nvSpPr>
        <p:spPr>
          <a:xfrm xmlns:a="http://schemas.openxmlformats.org/drawingml/2006/main">
            <a:off x="3524250" y="4191000"/>
            <a:ext cx="2190750" cy="1143000"/>
          </a:xfrm>
          <a:prstGeom xmlns:a="http://schemas.openxmlformats.org/drawingml/2006/main" prst="rect">
            <a:avLst/>
          </a:prstGeom>
          <a:solidFill xmlns:a="http://schemas.openxmlformats.org/drawingml/2006/main">
            <a:srgbClr val="E9EEF3"/>
          </a:solidFill>
          <a:ln xmlns:a="http://schemas.openxmlformats.org/drawingml/2006/main" w="0">
            <a:noFill/>
          </a:ln>
        </p:spPr>
      </p:sp>
      <p:sp>
        <p:nvSpPr>
          <p:cNvPr id="24" name="shape-69">
            <a:extLst xmlns:a="http://schemas.openxmlformats.org/drawingml/2006/main">
              <a:ext uri="{FF2B5EF4-FFF2-40B4-BE49-F238E27FC236}">
                <a16:creationId xmlns:a16="http://schemas.microsoft.com/office/drawing/2014/main" id="{8BA24280-3AEA-4628-B386-344EBEDD4DA1}"/>
              </a:ext>
            </a:extLst>
          </p:cNvPr>
          <p:cNvSpPr>
            <a:spLocks xmlns:a="http://schemas.openxmlformats.org/drawingml/2006/main" noGrp="1"/>
          </p:cNvSpPr>
          <p:nvPr/>
        </p:nvSpPr>
        <p:spPr>
          <a:xfrm xmlns:a="http://schemas.openxmlformats.org/drawingml/2006/main">
            <a:off x="3676650" y="4333875"/>
            <a:ext cx="1885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122234"/>
                </a:solidFill>
                <a:latin typeface="Helvetica Neue"/>
                <a:ea typeface="Helvetica Neue"/>
                <a:cs typeface="Helvetica Neue"/>
              </a:defRPr>
            </a:pPr>
            <a:r>
              <a:rPr sz="1725" b="1">
                <a:solidFill>
                  <a:srgbClr val="122234"/>
                </a:solidFill>
                <a:latin typeface="Helvetica Neue"/>
                <a:ea typeface="Helvetica Neue"/>
                <a:cs typeface="Helvetica Neue"/>
              </a:rPr>
              <a:t>Final Worktree</a:t>
            </a:r>
          </a:p>
        </p:txBody>
      </p:sp>
      <p:sp>
        <p:nvSpPr>
          <p:cNvPr id="25" name="shape-70">
            <a:extLst xmlns:a="http://schemas.openxmlformats.org/drawingml/2006/main">
              <a:ext uri="{FF2B5EF4-FFF2-40B4-BE49-F238E27FC236}">
                <a16:creationId xmlns:a16="http://schemas.microsoft.com/office/drawing/2014/main" id="{C3376FB5-0B8E-461A-8E31-6504F4AE5BCD}"/>
              </a:ext>
            </a:extLst>
          </p:cNvPr>
          <p:cNvSpPr>
            <a:spLocks xmlns:a="http://schemas.openxmlformats.org/drawingml/2006/main" noGrp="1"/>
          </p:cNvSpPr>
          <p:nvPr/>
        </p:nvSpPr>
        <p:spPr>
          <a:xfrm xmlns:a="http://schemas.openxmlformats.org/drawingml/2006/main">
            <a:off x="3676650" y="4695825"/>
            <a:ext cx="1885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36374"/>
                </a:solidFill>
                <a:latin typeface="Helvetica Neue"/>
                <a:ea typeface="Helvetica Neue"/>
                <a:cs typeface="Helvetica Neue"/>
              </a:defRPr>
            </a:pPr>
            <a:r>
              <a:rPr sz="1725" b="0">
                <a:solidFill>
                  <a:srgbClr val="536374"/>
                </a:solidFill>
                <a:latin typeface="Helvetica Neue"/>
                <a:ea typeface="Helvetica Neue"/>
                <a:cs typeface="Helvetica Neue"/>
              </a:rPr>
              <a:t>Clean validation required</a:t>
            </a:r>
          </a:p>
        </p:txBody>
      </p:sp>
      <p:cxnSp>
        <p:nvCxnSpPr>
          <p:cNvPr id="190" name=""/>
          <p:cNvCxnSpPr>
            <a:stCxn xmlns:a="http://schemas.openxmlformats.org/drawingml/2006/main" id="5" idx="3"/>
            <a:endCxn xmlns:a="http://schemas.openxmlformats.org/drawingml/2006/main" id="8" idx="1"/>
          </p:cNvCxnSpPr>
          <p:nvPr/>
        </p:nvCxnSpPr>
        <p:spPr>
          <a:xfrm xmlns:a="http://schemas.openxmlformats.org/drawingml/2006/main">
            <a:off x="2800350" y="2667000"/>
            <a:ext cx="723900" cy="0"/>
          </a:xfrm>
          <a:prstGeom xmlns:a="http://schemas.openxmlformats.org/drawingml/2006/main" prst="straightConnector1">
            <a:avLst/>
          </a:prstGeom>
          <a:ln xmlns:a="http://schemas.openxmlformats.org/drawingml/2006/main" w="19050">
            <a:solidFill>
              <a:srgbClr val="536374"/>
            </a:solidFill>
            <a:tailEnd type="triangle" w="med" len="med"/>
          </a:ln>
        </p:spPr>
      </p:cxnSp>
      <p:cxnSp>
        <p:nvCxnSpPr>
          <p:cNvPr id="191" name=""/>
          <p:cNvCxnSpPr>
            <a:stCxn xmlns:a="http://schemas.openxmlformats.org/drawingml/2006/main" id="8" idx="3"/>
            <a:endCxn xmlns:a="http://schemas.openxmlformats.org/drawingml/2006/main" id="11" idx="1"/>
          </p:cNvCxnSpPr>
          <p:nvPr/>
        </p:nvCxnSpPr>
        <p:spPr>
          <a:xfrm xmlns:a="http://schemas.openxmlformats.org/drawingml/2006/main">
            <a:off x="5715000" y="2667000"/>
            <a:ext cx="723900" cy="0"/>
          </a:xfrm>
          <a:prstGeom xmlns:a="http://schemas.openxmlformats.org/drawingml/2006/main" prst="straightConnector1">
            <a:avLst/>
          </a:prstGeom>
          <a:ln xmlns:a="http://schemas.openxmlformats.org/drawingml/2006/main" w="19050">
            <a:solidFill>
              <a:srgbClr val="536374"/>
            </a:solidFill>
            <a:tailEnd type="triangle" w="med" len="med"/>
          </a:ln>
        </p:spPr>
      </p:cxnSp>
      <p:cxnSp>
        <p:nvCxnSpPr>
          <p:cNvPr id="192" name=""/>
          <p:cNvCxnSpPr>
            <a:stCxn xmlns:a="http://schemas.openxmlformats.org/drawingml/2006/main" id="11" idx="3"/>
            <a:endCxn xmlns:a="http://schemas.openxmlformats.org/drawingml/2006/main" id="14" idx="1"/>
          </p:cNvCxnSpPr>
          <p:nvPr/>
        </p:nvCxnSpPr>
        <p:spPr>
          <a:xfrm xmlns:a="http://schemas.openxmlformats.org/drawingml/2006/main">
            <a:off x="8629650" y="2667000"/>
            <a:ext cx="723900" cy="0"/>
          </a:xfrm>
          <a:prstGeom xmlns:a="http://schemas.openxmlformats.org/drawingml/2006/main" prst="straightConnector1">
            <a:avLst/>
          </a:prstGeom>
          <a:ln xmlns:a="http://schemas.openxmlformats.org/drawingml/2006/main" w="19050">
            <a:solidFill>
              <a:srgbClr val="536374"/>
            </a:solidFill>
            <a:tailEnd type="triangle" w="med" len="med"/>
          </a:ln>
        </p:spPr>
      </p:cxnSp>
      <p:cxnSp>
        <p:nvCxnSpPr>
          <p:cNvPr id="193" name=""/>
          <p:cNvCxnSpPr>
            <a:stCxn xmlns:a="http://schemas.openxmlformats.org/drawingml/2006/main" id="14" idx="2"/>
            <a:endCxn xmlns:a="http://schemas.openxmlformats.org/drawingml/2006/main" id="17" idx="0"/>
          </p:cNvCxnSpPr>
          <p:nvPr/>
        </p:nvCxnSpPr>
        <p:spPr>
          <a:xfrm xmlns:a="http://schemas.openxmlformats.org/drawingml/2006/main">
            <a:off x="10448925" y="3238500"/>
            <a:ext cx="0" cy="952500"/>
          </a:xfrm>
          <a:prstGeom xmlns:a="http://schemas.openxmlformats.org/drawingml/2006/main" prst="straightConnector1">
            <a:avLst/>
          </a:prstGeom>
          <a:ln xmlns:a="http://schemas.openxmlformats.org/drawingml/2006/main" w="19050">
            <a:solidFill>
              <a:srgbClr val="536374"/>
            </a:solidFill>
            <a:tailEnd type="triangle" w="med" len="med"/>
          </a:ln>
        </p:spPr>
      </p:cxnSp>
      <p:cxnSp>
        <p:nvCxnSpPr>
          <p:cNvPr id="194" name=""/>
          <p:cNvCxnSpPr>
            <a:stCxn xmlns:a="http://schemas.openxmlformats.org/drawingml/2006/main" id="20" idx="3"/>
            <a:endCxn xmlns:a="http://schemas.openxmlformats.org/drawingml/2006/main" id="17" idx="1"/>
          </p:cNvCxnSpPr>
          <p:nvPr/>
        </p:nvCxnSpPr>
        <p:spPr>
          <a:xfrm xmlns:a="http://schemas.openxmlformats.org/drawingml/2006/main">
            <a:off x="8629650" y="4762500"/>
            <a:ext cx="723900" cy="0"/>
          </a:xfrm>
          <a:prstGeom xmlns:a="http://schemas.openxmlformats.org/drawingml/2006/main" prst="straightConnector1">
            <a:avLst/>
          </a:prstGeom>
          <a:ln xmlns:a="http://schemas.openxmlformats.org/drawingml/2006/main" w="19050">
            <a:solidFill>
              <a:srgbClr val="536374"/>
            </a:solidFill>
            <a:headEnd type="triangle" w="med" len="med"/>
          </a:ln>
        </p:spPr>
      </p:cxnSp>
      <p:cxnSp>
        <p:nvCxnSpPr>
          <p:cNvPr id="195" name=""/>
          <p:cNvCxnSpPr>
            <a:stCxn xmlns:a="http://schemas.openxmlformats.org/drawingml/2006/main" id="23" idx="3"/>
            <a:endCxn xmlns:a="http://schemas.openxmlformats.org/drawingml/2006/main" id="20" idx="1"/>
          </p:cNvCxnSpPr>
          <p:nvPr/>
        </p:nvCxnSpPr>
        <p:spPr>
          <a:xfrm xmlns:a="http://schemas.openxmlformats.org/drawingml/2006/main">
            <a:off x="5715000" y="4762500"/>
            <a:ext cx="723900" cy="0"/>
          </a:xfrm>
          <a:prstGeom xmlns:a="http://schemas.openxmlformats.org/drawingml/2006/main" prst="straightConnector1">
            <a:avLst/>
          </a:prstGeom>
          <a:ln xmlns:a="http://schemas.openxmlformats.org/drawingml/2006/main" w="19050">
            <a:solidFill>
              <a:srgbClr val="19715B"/>
            </a:solidFill>
            <a:headEnd type="triangle" w="med" len="med"/>
          </a:ln>
        </p:spPr>
      </p:cxnSp>
      <p:cxnSp>
        <p:nvCxnSpPr>
          <p:cNvPr id="196" name=""/>
          <p:cNvCxnSpPr>
            <a:stCxn xmlns:a="http://schemas.openxmlformats.org/drawingml/2006/main" id="8" idx="2"/>
            <a:endCxn xmlns:a="http://schemas.openxmlformats.org/drawingml/2006/main" id="20" idx="0"/>
          </p:cNvCxnSpPr>
          <p:nvPr/>
        </p:nvCxnSpPr>
        <p:spPr>
          <a:xfrm xmlns:a="http://schemas.openxmlformats.org/drawingml/2006/main">
            <a:off x="4619625" y="3238500"/>
            <a:ext cx="2914650" cy="952500"/>
          </a:xfrm>
          <a:prstGeom xmlns:a="http://schemas.openxmlformats.org/drawingml/2006/main" prst="bentConnector4">
            <a:avLst>
              <a:gd name="adj1" fmla="val 0"/>
              <a:gd name="adj2" fmla="val 76000"/>
            </a:avLst>
          </a:prstGeom>
          <a:ln xmlns:a="http://schemas.openxmlformats.org/drawingml/2006/main" w="19050">
            <a:solidFill>
              <a:srgbClr val="B83138"/>
            </a:solidFill>
            <a:headEnd type="triangle" w="med" len="med"/>
          </a:ln>
        </p:spPr>
      </p:cxnSp>
      <p:sp>
        <p:nvSpPr>
          <p:cNvPr id="33" name="shape-71">
            <a:extLst xmlns:a="http://schemas.openxmlformats.org/drawingml/2006/main">
              <a:ext uri="{FF2B5EF4-FFF2-40B4-BE49-F238E27FC236}">
                <a16:creationId xmlns:a16="http://schemas.microsoft.com/office/drawing/2014/main" id="{8E7EA764-1A60-4151-BD4F-90BFACABE788}"/>
              </a:ext>
            </a:extLst>
          </p:cNvPr>
          <p:cNvSpPr>
            <a:spLocks xmlns:a="http://schemas.openxmlformats.org/drawingml/2006/main" noGrp="1"/>
          </p:cNvSpPr>
          <p:nvPr/>
        </p:nvSpPr>
        <p:spPr>
          <a:xfrm xmlns:a="http://schemas.openxmlformats.org/drawingml/2006/main">
            <a:off x="4914900" y="33337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B83138"/>
                </a:solidFill>
                <a:latin typeface="Helvetica Neue"/>
                <a:ea typeface="Helvetica Neue"/>
                <a:cs typeface="Helvetica Neue"/>
              </a:defRPr>
            </a:pPr>
            <a:r>
              <a:rPr sz="1800" b="1">
                <a:solidFill>
                  <a:srgbClr val="B83138"/>
                </a:solidFill>
                <a:latin typeface="Helvetica Neue"/>
                <a:ea typeface="Helvetica Neue"/>
                <a:cs typeface="Helvetica Neue"/>
              </a:rPr>
              <a:t>Retry with new evidence</a:t>
            </a:r>
          </a:p>
        </p:txBody>
      </p:sp>
      <p:sp>
        <p:nvSpPr>
          <p:cNvPr id="34" name="shape-72">
            <a:extLst xmlns:a="http://schemas.openxmlformats.org/drawingml/2006/main">
              <a:ext uri="{FF2B5EF4-FFF2-40B4-BE49-F238E27FC236}">
                <a16:creationId xmlns:a16="http://schemas.microsoft.com/office/drawing/2014/main" id="{093CE1AC-E612-4479-A7BE-7E39B5DAFAB3}"/>
              </a:ext>
            </a:extLst>
          </p:cNvPr>
          <p:cNvSpPr>
            <a:spLocks xmlns:a="http://schemas.openxmlformats.org/drawingml/2006/main" noGrp="1"/>
          </p:cNvSpPr>
          <p:nvPr/>
        </p:nvSpPr>
        <p:spPr>
          <a:xfrm xmlns:a="http://schemas.openxmlformats.org/drawingml/2006/main">
            <a:off x="5762625" y="43910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19715B"/>
                </a:solidFill>
                <a:latin typeface="Helvetica Neue"/>
                <a:ea typeface="Helvetica Neue"/>
                <a:cs typeface="Helvetica Neue"/>
              </a:defRPr>
            </a:pPr>
            <a:r>
              <a:rPr sz="1650" b="1">
                <a:solidFill>
                  <a:srgbClr val="19715B"/>
                </a:solidFill>
                <a:latin typeface="Helvetica Neue"/>
                <a:ea typeface="Helvetica Neue"/>
                <a:cs typeface="Helvetica Neue"/>
              </a:rPr>
              <a:t>Stop</a:t>
            </a:r>
          </a:p>
        </p:txBody>
      </p:sp>
      <p:sp>
        <p:nvSpPr>
          <p:cNvPr id="35" name="">
            <a:extLst xmlns:a="http://schemas.openxmlformats.org/drawingml/2006/main">
              <a:ext uri="{FF2B5EF4-FFF2-40B4-BE49-F238E27FC236}">
                <a16:creationId xmlns:a16="http://schemas.microsoft.com/office/drawing/2014/main" id="{57115B5A-EEC1-44F0-AA4D-4D2738605238}"/>
              </a:ext>
            </a:extLst>
          </p:cNvPr>
          <p:cNvSpPr>
            <a:spLocks xmlns:a="http://schemas.openxmlformats.org/drawingml/2006/main" noGrp="1"/>
          </p:cNvSpPr>
          <p:nvPr/>
        </p:nvSpPr>
        <p:spPr>
          <a:xfrm xmlns:a="http://schemas.openxmlformats.org/drawingml/2006/main">
            <a:off x="609600" y="5715000"/>
            <a:ext cx="10934700" cy="0"/>
          </a:xfrm>
          <a:prstGeom xmlns:a="http://schemas.openxmlformats.org/drawingml/2006/main" prst="line">
            <a:avLst/>
          </a:prstGeom>
          <a:noFill xmlns:a="http://schemas.openxmlformats.org/drawingml/2006/main"/>
          <a:ln xmlns:a="http://schemas.openxmlformats.org/drawingml/2006/main" w="14288">
            <a:solidFill>
              <a:srgbClr val="CFD6DD"/>
            </a:solidFill>
          </a:ln>
        </p:spPr>
      </p:sp>
      <p:sp>
        <p:nvSpPr>
          <p:cNvPr id="36" name="shape-73">
            <a:extLst xmlns:a="http://schemas.openxmlformats.org/drawingml/2006/main">
              <a:ext uri="{FF2B5EF4-FFF2-40B4-BE49-F238E27FC236}">
                <a16:creationId xmlns:a16="http://schemas.microsoft.com/office/drawing/2014/main" id="{BF407511-8D21-450A-9436-A18CB2948785}"/>
              </a:ext>
            </a:extLst>
          </p:cNvPr>
          <p:cNvSpPr>
            <a:spLocks xmlns:a="http://schemas.openxmlformats.org/drawingml/2006/main" noGrp="1"/>
          </p:cNvSpPr>
          <p:nvPr/>
        </p:nvSpPr>
        <p:spPr>
          <a:xfrm xmlns:a="http://schemas.openxmlformats.org/drawingml/2006/main">
            <a:off x="609600" y="59055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22234"/>
                </a:solidFill>
                <a:latin typeface="Helvetica Neue"/>
                <a:ea typeface="Helvetica Neue"/>
                <a:cs typeface="Helvetica Neue"/>
              </a:defRPr>
            </a:pPr>
            <a:r>
              <a:rPr sz="1875" b="1">
                <a:solidFill>
                  <a:srgbClr val="122234"/>
                </a:solidFill>
                <a:latin typeface="Helvetica Neue"/>
                <a:ea typeface="Helvetica Neue"/>
                <a:cs typeface="Helvetica Neue"/>
              </a:rPr>
              <a:t>History/Metrics records outcomes. Budget Controls enforce resource limits.</a:t>
            </a:r>
          </a:p>
        </p:txBody>
      </p:sp>
    </p:spTree>
    <p:extLst>
      <p:ext uri="{BB962C8B-B14F-4D97-AF65-F5344CB8AC3E}">
        <p14:creationId xmlns:p14="http://schemas.microsoft.com/office/powerpoint/2010/main" val="1385216718"/>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6" name="shape-74">
            <a:extLst xmlns:a="http://schemas.openxmlformats.org/drawingml/2006/main">
              <a:ext uri="{FF2B5EF4-FFF2-40B4-BE49-F238E27FC236}">
                <a16:creationId xmlns:a16="http://schemas.microsoft.com/office/drawing/2014/main" id="{8FF9C300-9ED0-41E3-BDE5-00E602AD5665}"/>
              </a:ext>
            </a:extLst>
          </p:cNvPr>
          <p:cNvSpPr>
            <a:spLocks xmlns:a="http://schemas.openxmlformats.org/drawingml/2006/main" noGrp="1"/>
          </p:cNvSpPr>
          <p:nvPr/>
        </p:nvSpPr>
        <p:spPr>
          <a:xfrm xmlns:a="http://schemas.openxmlformats.org/drawingml/2006/main">
            <a:off x="609600" y="552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122234"/>
                </a:solidFill>
                <a:latin typeface="Helvetica Neue"/>
                <a:ea typeface="Helvetica Neue"/>
                <a:cs typeface="Helvetica Neue"/>
              </a:defRPr>
            </a:pPr>
            <a:r>
              <a:rPr sz="3300" b="1">
                <a:solidFill>
                  <a:srgbClr val="122234"/>
                </a:solidFill>
                <a:latin typeface="Helvetica Neue"/>
                <a:ea typeface="Helvetica Neue"/>
                <a:cs typeface="Helvetica Neue"/>
              </a:rPr>
              <a:t>Each attempt tests a specific hypothesis</a:t>
            </a:r>
          </a:p>
        </p:txBody>
      </p:sp>
      <p:sp>
        <p:nvSpPr>
          <p:cNvPr id="2" name="shape-75">
            <a:extLst xmlns:a="http://schemas.openxmlformats.org/drawingml/2006/main">
              <a:ext uri="{FF2B5EF4-FFF2-40B4-BE49-F238E27FC236}">
                <a16:creationId xmlns:a16="http://schemas.microsoft.com/office/drawing/2014/main" id="{8BC51C5D-2A12-438F-812A-EDE5C70B4CEF}"/>
              </a:ext>
            </a:extLst>
          </p:cNvPr>
          <p:cNvSpPr>
            <a:spLocks xmlns:a="http://schemas.openxmlformats.org/drawingml/2006/main" noGrp="1"/>
          </p:cNvSpPr>
          <p:nvPr/>
        </p:nvSpPr>
        <p:spPr>
          <a:xfrm xmlns:a="http://schemas.openxmlformats.org/drawingml/2006/main">
            <a:off x="609600" y="64389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536374"/>
                </a:solidFill>
                <a:latin typeface="Helvetica Neue"/>
                <a:ea typeface="Helvetica Neue"/>
                <a:cs typeface="Helvetica Neue"/>
              </a:defRPr>
            </a:pPr>
            <a:r>
              <a:rPr sz="1200" b="0">
                <a:solidFill>
                  <a:srgbClr val="536374"/>
                </a:solidFill>
                <a:latin typeface="Helvetica Neue"/>
                <a:ea typeface="Helvetica Neue"/>
                <a:cs typeface="Helvetica Neue"/>
              </a:rPr>
              <a:t>EC528  /  BUILD-BENCH  /  DEMO 1</a:t>
            </a:r>
          </a:p>
        </p:txBody>
      </p:sp>
      <p:sp>
        <p:nvSpPr>
          <p:cNvPr id="3" name="shape-76">
            <a:extLst xmlns:a="http://schemas.openxmlformats.org/drawingml/2006/main">
              <a:ext uri="{FF2B5EF4-FFF2-40B4-BE49-F238E27FC236}">
                <a16:creationId xmlns:a16="http://schemas.microsoft.com/office/drawing/2014/main" id="{5F1499AB-CEBD-4C8F-91F3-5902D3C086E2}"/>
              </a:ext>
            </a:extLst>
          </p:cNvPr>
          <p:cNvSpPr>
            <a:spLocks xmlns:a="http://schemas.openxmlformats.org/drawingml/2006/main" noGrp="1"/>
          </p:cNvSpPr>
          <p:nvPr/>
        </p:nvSpPr>
        <p:spPr>
          <a:xfrm xmlns:a="http://schemas.openxmlformats.org/drawingml/2006/main">
            <a:off x="11001375" y="63912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500" b="0">
                <a:solidFill>
                  <a:srgbClr val="536374"/>
                </a:solidFill>
                <a:latin typeface="Helvetica Neue"/>
                <a:ea typeface="Helvetica Neue"/>
                <a:cs typeface="Helvetica Neue"/>
              </a:defRPr>
            </a:pPr>
            <a:r>
              <a:rPr sz="1500" b="0">
                <a:solidFill>
                  <a:srgbClr val="536374"/>
                </a:solidFill>
                <a:latin typeface="Helvetica Neue"/>
                <a:ea typeface="Helvetica Neue"/>
                <a:cs typeface="Helvetica Neue"/>
              </a:rPr>
              <a:t>05</a:t>
            </a:r>
          </a:p>
        </p:txBody>
      </p:sp>
      <p:sp>
        <p:nvSpPr>
          <p:cNvPr id="4" name="shape-77">
            <a:extLst xmlns:a="http://schemas.openxmlformats.org/drawingml/2006/main">
              <a:ext uri="{FF2B5EF4-FFF2-40B4-BE49-F238E27FC236}">
                <a16:creationId xmlns:a16="http://schemas.microsoft.com/office/drawing/2014/main" id="{9C737102-FA00-41BB-B7E9-DC86F18203B5}"/>
              </a:ext>
            </a:extLst>
          </p:cNvPr>
          <p:cNvSpPr>
            <a:spLocks xmlns:a="http://schemas.openxmlformats.org/drawingml/2006/main" noGrp="1"/>
          </p:cNvSpPr>
          <p:nvPr/>
        </p:nvSpPr>
        <p:spPr>
          <a:xfrm xmlns:a="http://schemas.openxmlformats.org/drawingml/2006/main">
            <a:off x="609600" y="171450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B83138"/>
                </a:solidFill>
                <a:latin typeface="Helvetica Neue"/>
                <a:ea typeface="Helvetica Neue"/>
                <a:cs typeface="Helvetica Neue"/>
              </a:defRPr>
            </a:pPr>
            <a:r>
              <a:rPr sz="2250" b="1">
                <a:solidFill>
                  <a:srgbClr val="B83138"/>
                </a:solidFill>
                <a:latin typeface="Helvetica Neue"/>
                <a:ea typeface="Helvetica Neue"/>
                <a:cs typeface="Helvetica Neue"/>
              </a:rPr>
              <a:t>01</a:t>
            </a:r>
          </a:p>
        </p:txBody>
      </p:sp>
      <p:sp>
        <p:nvSpPr>
          <p:cNvPr id="5" name="shape-78">
            <a:extLst xmlns:a="http://schemas.openxmlformats.org/drawingml/2006/main">
              <a:ext uri="{FF2B5EF4-FFF2-40B4-BE49-F238E27FC236}">
                <a16:creationId xmlns:a16="http://schemas.microsoft.com/office/drawing/2014/main" id="{3C9546A2-B67F-4A9B-A7A2-72EC21CBA335}"/>
              </a:ext>
            </a:extLst>
          </p:cNvPr>
          <p:cNvSpPr>
            <a:spLocks xmlns:a="http://schemas.openxmlformats.org/drawingml/2006/main" noGrp="1"/>
          </p:cNvSpPr>
          <p:nvPr/>
        </p:nvSpPr>
        <p:spPr>
          <a:xfrm xmlns:a="http://schemas.openxmlformats.org/drawingml/2006/main">
            <a:off x="1466850" y="1714500"/>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122234"/>
                </a:solidFill>
                <a:latin typeface="Helvetica Neue"/>
                <a:ea typeface="Helvetica Neue"/>
                <a:cs typeface="Helvetica Neue"/>
              </a:defRPr>
            </a:pPr>
            <a:r>
              <a:rPr sz="2250" b="1">
                <a:solidFill>
                  <a:srgbClr val="122234"/>
                </a:solidFill>
                <a:latin typeface="Helvetica Neue"/>
                <a:ea typeface="Helvetica Neue"/>
                <a:cs typeface="Helvetica Neue"/>
              </a:rPr>
              <a:t>Observe</a:t>
            </a:r>
          </a:p>
        </p:txBody>
      </p:sp>
      <p:sp>
        <p:nvSpPr>
          <p:cNvPr id="6" name="">
            <a:extLst xmlns:a="http://schemas.openxmlformats.org/drawingml/2006/main">
              <a:ext uri="{FF2B5EF4-FFF2-40B4-BE49-F238E27FC236}">
                <a16:creationId xmlns:a16="http://schemas.microsoft.com/office/drawing/2014/main" id="{ABAD1898-28F1-4A38-A1D6-341E5428878D}"/>
              </a:ext>
            </a:extLst>
          </p:cNvPr>
          <p:cNvSpPr>
            <a:spLocks xmlns:a="http://schemas.openxmlformats.org/drawingml/2006/main" noGrp="1"/>
          </p:cNvSpPr>
          <p:nvPr/>
        </p:nvSpPr>
        <p:spPr>
          <a:xfrm xmlns:a="http://schemas.openxmlformats.org/drawingml/2006/main">
            <a:off x="781050" y="2124075"/>
            <a:ext cx="0" cy="257175"/>
          </a:xfrm>
          <a:prstGeom xmlns:a="http://schemas.openxmlformats.org/drawingml/2006/main" prst="line">
            <a:avLst/>
          </a:prstGeom>
          <a:noFill xmlns:a="http://schemas.openxmlformats.org/drawingml/2006/main"/>
          <a:ln xmlns:a="http://schemas.openxmlformats.org/drawingml/2006/main" w="19050">
            <a:solidFill>
              <a:srgbClr val="CFD6DD"/>
            </a:solidFill>
          </a:ln>
        </p:spPr>
      </p:sp>
      <p:sp>
        <p:nvSpPr>
          <p:cNvPr id="7" name="shape-79">
            <a:extLst xmlns:a="http://schemas.openxmlformats.org/drawingml/2006/main">
              <a:ext uri="{FF2B5EF4-FFF2-40B4-BE49-F238E27FC236}">
                <a16:creationId xmlns:a16="http://schemas.microsoft.com/office/drawing/2014/main" id="{0F7C1EE9-E370-4E7C-B16E-4AD7A288EB7E}"/>
              </a:ext>
            </a:extLst>
          </p:cNvPr>
          <p:cNvSpPr>
            <a:spLocks xmlns:a="http://schemas.openxmlformats.org/drawingml/2006/main" noGrp="1"/>
          </p:cNvSpPr>
          <p:nvPr/>
        </p:nvSpPr>
        <p:spPr>
          <a:xfrm xmlns:a="http://schemas.openxmlformats.org/drawingml/2006/main">
            <a:off x="609600" y="249555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B83138"/>
                </a:solidFill>
                <a:latin typeface="Helvetica Neue"/>
                <a:ea typeface="Helvetica Neue"/>
                <a:cs typeface="Helvetica Neue"/>
              </a:defRPr>
            </a:pPr>
            <a:r>
              <a:rPr sz="2250" b="1">
                <a:solidFill>
                  <a:srgbClr val="B83138"/>
                </a:solidFill>
                <a:latin typeface="Helvetica Neue"/>
                <a:ea typeface="Helvetica Neue"/>
                <a:cs typeface="Helvetica Neue"/>
              </a:rPr>
              <a:t>02</a:t>
            </a:r>
          </a:p>
        </p:txBody>
      </p:sp>
      <p:sp>
        <p:nvSpPr>
          <p:cNvPr id="8" name="shape-80">
            <a:extLst xmlns:a="http://schemas.openxmlformats.org/drawingml/2006/main">
              <a:ext uri="{FF2B5EF4-FFF2-40B4-BE49-F238E27FC236}">
                <a16:creationId xmlns:a16="http://schemas.microsoft.com/office/drawing/2014/main" id="{1CE3E9EB-755E-4AC3-ACE8-FCEE0A23451E}"/>
              </a:ext>
            </a:extLst>
          </p:cNvPr>
          <p:cNvSpPr>
            <a:spLocks xmlns:a="http://schemas.openxmlformats.org/drawingml/2006/main" noGrp="1"/>
          </p:cNvSpPr>
          <p:nvPr/>
        </p:nvSpPr>
        <p:spPr>
          <a:xfrm xmlns:a="http://schemas.openxmlformats.org/drawingml/2006/main">
            <a:off x="1466850" y="2495550"/>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122234"/>
                </a:solidFill>
                <a:latin typeface="Helvetica Neue"/>
                <a:ea typeface="Helvetica Neue"/>
                <a:cs typeface="Helvetica Neue"/>
              </a:defRPr>
            </a:pPr>
            <a:r>
              <a:rPr sz="2250" b="1">
                <a:solidFill>
                  <a:srgbClr val="122234"/>
                </a:solidFill>
                <a:latin typeface="Helvetica Neue"/>
                <a:ea typeface="Helvetica Neue"/>
                <a:cs typeface="Helvetica Neue"/>
              </a:rPr>
              <a:t>Diagnose</a:t>
            </a:r>
          </a:p>
        </p:txBody>
      </p:sp>
      <p:sp>
        <p:nvSpPr>
          <p:cNvPr id="9" name="">
            <a:extLst xmlns:a="http://schemas.openxmlformats.org/drawingml/2006/main">
              <a:ext uri="{FF2B5EF4-FFF2-40B4-BE49-F238E27FC236}">
                <a16:creationId xmlns:a16="http://schemas.microsoft.com/office/drawing/2014/main" id="{0F998856-746D-40A6-8FAA-7F267FA07B18}"/>
              </a:ext>
            </a:extLst>
          </p:cNvPr>
          <p:cNvSpPr>
            <a:spLocks xmlns:a="http://schemas.openxmlformats.org/drawingml/2006/main" noGrp="1"/>
          </p:cNvSpPr>
          <p:nvPr/>
        </p:nvSpPr>
        <p:spPr>
          <a:xfrm xmlns:a="http://schemas.openxmlformats.org/drawingml/2006/main">
            <a:off x="781050" y="2905125"/>
            <a:ext cx="0" cy="257175"/>
          </a:xfrm>
          <a:prstGeom xmlns:a="http://schemas.openxmlformats.org/drawingml/2006/main" prst="line">
            <a:avLst/>
          </a:prstGeom>
          <a:noFill xmlns:a="http://schemas.openxmlformats.org/drawingml/2006/main"/>
          <a:ln xmlns:a="http://schemas.openxmlformats.org/drawingml/2006/main" w="19050">
            <a:solidFill>
              <a:srgbClr val="CFD6DD"/>
            </a:solidFill>
          </a:ln>
        </p:spPr>
      </p:sp>
      <p:sp>
        <p:nvSpPr>
          <p:cNvPr id="10" name="shape-81">
            <a:extLst xmlns:a="http://schemas.openxmlformats.org/drawingml/2006/main">
              <a:ext uri="{FF2B5EF4-FFF2-40B4-BE49-F238E27FC236}">
                <a16:creationId xmlns:a16="http://schemas.microsoft.com/office/drawing/2014/main" id="{CB79DF46-D510-43DB-855E-2522A4E9650D}"/>
              </a:ext>
            </a:extLst>
          </p:cNvPr>
          <p:cNvSpPr>
            <a:spLocks xmlns:a="http://schemas.openxmlformats.org/drawingml/2006/main" noGrp="1"/>
          </p:cNvSpPr>
          <p:nvPr/>
        </p:nvSpPr>
        <p:spPr>
          <a:xfrm xmlns:a="http://schemas.openxmlformats.org/drawingml/2006/main">
            <a:off x="609600" y="327660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B83138"/>
                </a:solidFill>
                <a:latin typeface="Helvetica Neue"/>
                <a:ea typeface="Helvetica Neue"/>
                <a:cs typeface="Helvetica Neue"/>
              </a:defRPr>
            </a:pPr>
            <a:r>
              <a:rPr sz="2250" b="1">
                <a:solidFill>
                  <a:srgbClr val="B83138"/>
                </a:solidFill>
                <a:latin typeface="Helvetica Neue"/>
                <a:ea typeface="Helvetica Neue"/>
                <a:cs typeface="Helvetica Neue"/>
              </a:rPr>
              <a:t>03</a:t>
            </a:r>
          </a:p>
        </p:txBody>
      </p:sp>
      <p:sp>
        <p:nvSpPr>
          <p:cNvPr id="11" name="shape-82">
            <a:extLst xmlns:a="http://schemas.openxmlformats.org/drawingml/2006/main">
              <a:ext uri="{FF2B5EF4-FFF2-40B4-BE49-F238E27FC236}">
                <a16:creationId xmlns:a16="http://schemas.microsoft.com/office/drawing/2014/main" id="{B39F6298-004B-4486-9053-072AA987C161}"/>
              </a:ext>
            </a:extLst>
          </p:cNvPr>
          <p:cNvSpPr>
            <a:spLocks xmlns:a="http://schemas.openxmlformats.org/drawingml/2006/main" noGrp="1"/>
          </p:cNvSpPr>
          <p:nvPr/>
        </p:nvSpPr>
        <p:spPr>
          <a:xfrm xmlns:a="http://schemas.openxmlformats.org/drawingml/2006/main">
            <a:off x="1466850" y="3276600"/>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122234"/>
                </a:solidFill>
                <a:latin typeface="Helvetica Neue"/>
                <a:ea typeface="Helvetica Neue"/>
                <a:cs typeface="Helvetica Neue"/>
              </a:defRPr>
            </a:pPr>
            <a:r>
              <a:rPr sz="2250" b="1">
                <a:solidFill>
                  <a:srgbClr val="122234"/>
                </a:solidFill>
                <a:latin typeface="Helvetica Neue"/>
                <a:ea typeface="Helvetica Neue"/>
                <a:cs typeface="Helvetica Neue"/>
              </a:rPr>
              <a:t>Gather evidence</a:t>
            </a:r>
          </a:p>
        </p:txBody>
      </p:sp>
      <p:sp>
        <p:nvSpPr>
          <p:cNvPr id="12" name="">
            <a:extLst xmlns:a="http://schemas.openxmlformats.org/drawingml/2006/main">
              <a:ext uri="{FF2B5EF4-FFF2-40B4-BE49-F238E27FC236}">
                <a16:creationId xmlns:a16="http://schemas.microsoft.com/office/drawing/2014/main" id="{704957D9-923C-4DA8-A95A-26CEB897782E}"/>
              </a:ext>
            </a:extLst>
          </p:cNvPr>
          <p:cNvSpPr>
            <a:spLocks xmlns:a="http://schemas.openxmlformats.org/drawingml/2006/main" noGrp="1"/>
          </p:cNvSpPr>
          <p:nvPr/>
        </p:nvSpPr>
        <p:spPr>
          <a:xfrm xmlns:a="http://schemas.openxmlformats.org/drawingml/2006/main">
            <a:off x="781050" y="3686175"/>
            <a:ext cx="0" cy="257175"/>
          </a:xfrm>
          <a:prstGeom xmlns:a="http://schemas.openxmlformats.org/drawingml/2006/main" prst="line">
            <a:avLst/>
          </a:prstGeom>
          <a:noFill xmlns:a="http://schemas.openxmlformats.org/drawingml/2006/main"/>
          <a:ln xmlns:a="http://schemas.openxmlformats.org/drawingml/2006/main" w="19050">
            <a:solidFill>
              <a:srgbClr val="CFD6DD"/>
            </a:solidFill>
          </a:ln>
        </p:spPr>
      </p:sp>
      <p:sp>
        <p:nvSpPr>
          <p:cNvPr id="13" name="shape-83">
            <a:extLst xmlns:a="http://schemas.openxmlformats.org/drawingml/2006/main">
              <a:ext uri="{FF2B5EF4-FFF2-40B4-BE49-F238E27FC236}">
                <a16:creationId xmlns:a16="http://schemas.microsoft.com/office/drawing/2014/main" id="{BD8179E3-855B-46CD-88C1-6F3A82AE0967}"/>
              </a:ext>
            </a:extLst>
          </p:cNvPr>
          <p:cNvSpPr>
            <a:spLocks xmlns:a="http://schemas.openxmlformats.org/drawingml/2006/main" noGrp="1"/>
          </p:cNvSpPr>
          <p:nvPr/>
        </p:nvSpPr>
        <p:spPr>
          <a:xfrm xmlns:a="http://schemas.openxmlformats.org/drawingml/2006/main">
            <a:off x="609600" y="405765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B83138"/>
                </a:solidFill>
                <a:latin typeface="Helvetica Neue"/>
                <a:ea typeface="Helvetica Neue"/>
                <a:cs typeface="Helvetica Neue"/>
              </a:defRPr>
            </a:pPr>
            <a:r>
              <a:rPr sz="2250" b="1">
                <a:solidFill>
                  <a:srgbClr val="B83138"/>
                </a:solidFill>
                <a:latin typeface="Helvetica Neue"/>
                <a:ea typeface="Helvetica Neue"/>
                <a:cs typeface="Helvetica Neue"/>
              </a:rPr>
              <a:t>04</a:t>
            </a:r>
          </a:p>
        </p:txBody>
      </p:sp>
      <p:sp>
        <p:nvSpPr>
          <p:cNvPr id="14" name="shape-84">
            <a:extLst xmlns:a="http://schemas.openxmlformats.org/drawingml/2006/main">
              <a:ext uri="{FF2B5EF4-FFF2-40B4-BE49-F238E27FC236}">
                <a16:creationId xmlns:a16="http://schemas.microsoft.com/office/drawing/2014/main" id="{69C3716E-72E4-49F8-85A1-89F34E1EF351}"/>
              </a:ext>
            </a:extLst>
          </p:cNvPr>
          <p:cNvSpPr>
            <a:spLocks xmlns:a="http://schemas.openxmlformats.org/drawingml/2006/main" noGrp="1"/>
          </p:cNvSpPr>
          <p:nvPr/>
        </p:nvSpPr>
        <p:spPr>
          <a:xfrm xmlns:a="http://schemas.openxmlformats.org/drawingml/2006/main">
            <a:off x="1466850" y="4057650"/>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122234"/>
                </a:solidFill>
                <a:latin typeface="Helvetica Neue"/>
                <a:ea typeface="Helvetica Neue"/>
                <a:cs typeface="Helvetica Neue"/>
              </a:defRPr>
            </a:pPr>
            <a:r>
              <a:rPr sz="2250" b="1">
                <a:solidFill>
                  <a:srgbClr val="122234"/>
                </a:solidFill>
                <a:latin typeface="Helvetica Neue"/>
                <a:ea typeface="Helvetica Neue"/>
                <a:cs typeface="Helvetica Neue"/>
              </a:rPr>
              <a:t>Repair</a:t>
            </a:r>
          </a:p>
        </p:txBody>
      </p:sp>
      <p:sp>
        <p:nvSpPr>
          <p:cNvPr id="15" name="">
            <a:extLst xmlns:a="http://schemas.openxmlformats.org/drawingml/2006/main">
              <a:ext uri="{FF2B5EF4-FFF2-40B4-BE49-F238E27FC236}">
                <a16:creationId xmlns:a16="http://schemas.microsoft.com/office/drawing/2014/main" id="{918C54FC-01BD-486A-828F-D7AA3097808C}"/>
              </a:ext>
            </a:extLst>
          </p:cNvPr>
          <p:cNvSpPr>
            <a:spLocks xmlns:a="http://schemas.openxmlformats.org/drawingml/2006/main" noGrp="1"/>
          </p:cNvSpPr>
          <p:nvPr/>
        </p:nvSpPr>
        <p:spPr>
          <a:xfrm xmlns:a="http://schemas.openxmlformats.org/drawingml/2006/main">
            <a:off x="781050" y="4467225"/>
            <a:ext cx="0" cy="257175"/>
          </a:xfrm>
          <a:prstGeom xmlns:a="http://schemas.openxmlformats.org/drawingml/2006/main" prst="line">
            <a:avLst/>
          </a:prstGeom>
          <a:noFill xmlns:a="http://schemas.openxmlformats.org/drawingml/2006/main"/>
          <a:ln xmlns:a="http://schemas.openxmlformats.org/drawingml/2006/main" w="19050">
            <a:solidFill>
              <a:srgbClr val="CFD6DD"/>
            </a:solidFill>
          </a:ln>
        </p:spPr>
      </p:sp>
      <p:sp>
        <p:nvSpPr>
          <p:cNvPr id="16" name="shape-85">
            <a:extLst xmlns:a="http://schemas.openxmlformats.org/drawingml/2006/main">
              <a:ext uri="{FF2B5EF4-FFF2-40B4-BE49-F238E27FC236}">
                <a16:creationId xmlns:a16="http://schemas.microsoft.com/office/drawing/2014/main" id="{1E0494C5-5576-41BC-9BA6-CBE35ECE3B4E}"/>
              </a:ext>
            </a:extLst>
          </p:cNvPr>
          <p:cNvSpPr>
            <a:spLocks xmlns:a="http://schemas.openxmlformats.org/drawingml/2006/main" noGrp="1"/>
          </p:cNvSpPr>
          <p:nvPr/>
        </p:nvSpPr>
        <p:spPr>
          <a:xfrm xmlns:a="http://schemas.openxmlformats.org/drawingml/2006/main">
            <a:off x="609600" y="483870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B83138"/>
                </a:solidFill>
                <a:latin typeface="Helvetica Neue"/>
                <a:ea typeface="Helvetica Neue"/>
                <a:cs typeface="Helvetica Neue"/>
              </a:defRPr>
            </a:pPr>
            <a:r>
              <a:rPr sz="2250" b="1">
                <a:solidFill>
                  <a:srgbClr val="B83138"/>
                </a:solidFill>
                <a:latin typeface="Helvetica Neue"/>
                <a:ea typeface="Helvetica Neue"/>
                <a:cs typeface="Helvetica Neue"/>
              </a:rPr>
              <a:t>05</a:t>
            </a:r>
          </a:p>
        </p:txBody>
      </p:sp>
      <p:sp>
        <p:nvSpPr>
          <p:cNvPr id="17" name="shape-86">
            <a:extLst xmlns:a="http://schemas.openxmlformats.org/drawingml/2006/main">
              <a:ext uri="{FF2B5EF4-FFF2-40B4-BE49-F238E27FC236}">
                <a16:creationId xmlns:a16="http://schemas.microsoft.com/office/drawing/2014/main" id="{236D3205-75CE-4D31-9D43-ACF767C2FFF3}"/>
              </a:ext>
            </a:extLst>
          </p:cNvPr>
          <p:cNvSpPr>
            <a:spLocks xmlns:a="http://schemas.openxmlformats.org/drawingml/2006/main" noGrp="1"/>
          </p:cNvSpPr>
          <p:nvPr/>
        </p:nvSpPr>
        <p:spPr>
          <a:xfrm xmlns:a="http://schemas.openxmlformats.org/drawingml/2006/main">
            <a:off x="1466850" y="4838700"/>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122234"/>
                </a:solidFill>
                <a:latin typeface="Helvetica Neue"/>
                <a:ea typeface="Helvetica Neue"/>
                <a:cs typeface="Helvetica Neue"/>
              </a:defRPr>
            </a:pPr>
            <a:r>
              <a:rPr sz="2250" b="1">
                <a:solidFill>
                  <a:srgbClr val="122234"/>
                </a:solidFill>
                <a:latin typeface="Helvetica Neue"/>
                <a:ea typeface="Helvetica Neue"/>
                <a:cs typeface="Helvetica Neue"/>
              </a:rPr>
              <a:t>Validate</a:t>
            </a:r>
          </a:p>
        </p:txBody>
      </p:sp>
      <p:sp>
        <p:nvSpPr>
          <p:cNvPr id="18" name="">
            <a:extLst xmlns:a="http://schemas.openxmlformats.org/drawingml/2006/main">
              <a:ext uri="{FF2B5EF4-FFF2-40B4-BE49-F238E27FC236}">
                <a16:creationId xmlns:a16="http://schemas.microsoft.com/office/drawing/2014/main" id="{22A42F8E-D7C3-4C82-8DDA-D7793F820A4E}"/>
              </a:ext>
            </a:extLst>
          </p:cNvPr>
          <p:cNvSpPr>
            <a:spLocks xmlns:a="http://schemas.openxmlformats.org/drawingml/2006/main" noGrp="1"/>
          </p:cNvSpPr>
          <p:nvPr/>
        </p:nvSpPr>
        <p:spPr>
          <a:xfrm xmlns:a="http://schemas.openxmlformats.org/drawingml/2006/main">
            <a:off x="5629275" y="1714500"/>
            <a:ext cx="0" cy="3752850"/>
          </a:xfrm>
          <a:prstGeom xmlns:a="http://schemas.openxmlformats.org/drawingml/2006/main" prst="line">
            <a:avLst/>
          </a:prstGeom>
          <a:noFill xmlns:a="http://schemas.openxmlformats.org/drawingml/2006/main"/>
          <a:ln xmlns:a="http://schemas.openxmlformats.org/drawingml/2006/main" w="14288">
            <a:solidFill>
              <a:srgbClr val="CFD6DD"/>
            </a:solidFill>
          </a:ln>
        </p:spPr>
      </p:sp>
      <p:sp>
        <p:nvSpPr>
          <p:cNvPr id="19" name="shape-87">
            <a:extLst xmlns:a="http://schemas.openxmlformats.org/drawingml/2006/main">
              <a:ext uri="{FF2B5EF4-FFF2-40B4-BE49-F238E27FC236}">
                <a16:creationId xmlns:a16="http://schemas.microsoft.com/office/drawing/2014/main" id="{A775A59E-C16B-408F-894A-E75AC5571503}"/>
              </a:ext>
            </a:extLst>
          </p:cNvPr>
          <p:cNvSpPr>
            <a:spLocks xmlns:a="http://schemas.openxmlformats.org/drawingml/2006/main" noGrp="1"/>
          </p:cNvSpPr>
          <p:nvPr/>
        </p:nvSpPr>
        <p:spPr>
          <a:xfrm xmlns:a="http://schemas.openxmlformats.org/drawingml/2006/main">
            <a:off x="6191250" y="1714500"/>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122234"/>
                </a:solidFill>
                <a:latin typeface="Helvetica Neue"/>
                <a:ea typeface="Helvetica Neue"/>
                <a:cs typeface="Helvetica Neue"/>
              </a:defRPr>
            </a:pPr>
            <a:r>
              <a:rPr sz="2250" b="1">
                <a:solidFill>
                  <a:srgbClr val="122234"/>
                </a:solidFill>
                <a:latin typeface="Helvetica Neue"/>
                <a:ea typeface="Helvetica Neue"/>
                <a:cs typeface="Helvetica Neue"/>
              </a:rPr>
              <a:t>Bounded context</a:t>
            </a:r>
          </a:p>
        </p:txBody>
      </p:sp>
      <p:sp>
        <p:nvSpPr>
          <p:cNvPr id="20" name="shape-88">
            <a:extLst xmlns:a="http://schemas.openxmlformats.org/drawingml/2006/main">
              <a:ext uri="{FF2B5EF4-FFF2-40B4-BE49-F238E27FC236}">
                <a16:creationId xmlns:a16="http://schemas.microsoft.com/office/drawing/2014/main" id="{E1294C9F-5AB6-4ADB-BE45-1FF1189A1B26}"/>
              </a:ext>
            </a:extLst>
          </p:cNvPr>
          <p:cNvSpPr>
            <a:spLocks xmlns:a="http://schemas.openxmlformats.org/drawingml/2006/main" noGrp="1"/>
          </p:cNvSpPr>
          <p:nvPr/>
        </p:nvSpPr>
        <p:spPr>
          <a:xfrm xmlns:a="http://schemas.openxmlformats.org/drawingml/2006/main">
            <a:off x="6191250" y="2190750"/>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One libyuv log is 2.37 GB.</a:t>
            </a:r>
          </a:p>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Select diagnostic windows and files.</a:t>
            </a:r>
          </a:p>
        </p:txBody>
      </p:sp>
      <p:sp>
        <p:nvSpPr>
          <p:cNvPr id="21" name="shape-89">
            <a:extLst xmlns:a="http://schemas.openxmlformats.org/drawingml/2006/main">
              <a:ext uri="{FF2B5EF4-FFF2-40B4-BE49-F238E27FC236}">
                <a16:creationId xmlns:a16="http://schemas.microsoft.com/office/drawing/2014/main" id="{D291AF47-7AD1-4EA3-B683-7126ACF97A06}"/>
              </a:ext>
            </a:extLst>
          </p:cNvPr>
          <p:cNvSpPr>
            <a:spLocks xmlns:a="http://schemas.openxmlformats.org/drawingml/2006/main" noGrp="1"/>
          </p:cNvSpPr>
          <p:nvPr/>
        </p:nvSpPr>
        <p:spPr>
          <a:xfrm xmlns:a="http://schemas.openxmlformats.org/drawingml/2006/main">
            <a:off x="6191250" y="3248025"/>
            <a:ext cx="5334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122234"/>
                </a:solidFill>
                <a:latin typeface="Helvetica Neue"/>
                <a:ea typeface="Helvetica Neue"/>
                <a:cs typeface="Helvetica Neue"/>
              </a:defRPr>
            </a:pPr>
            <a:r>
              <a:rPr sz="2250" b="1">
                <a:solidFill>
                  <a:srgbClr val="122234"/>
                </a:solidFill>
                <a:latin typeface="Helvetica Neue"/>
                <a:ea typeface="Helvetica Neue"/>
                <a:cs typeface="Helvetica Neue"/>
              </a:rPr>
              <a:t>Memory between attempts</a:t>
            </a:r>
          </a:p>
        </p:txBody>
      </p:sp>
      <p:sp>
        <p:nvSpPr>
          <p:cNvPr id="22" name="shape-90">
            <a:extLst xmlns:a="http://schemas.openxmlformats.org/drawingml/2006/main">
              <a:ext uri="{FF2B5EF4-FFF2-40B4-BE49-F238E27FC236}">
                <a16:creationId xmlns:a16="http://schemas.microsoft.com/office/drawing/2014/main" id="{15150531-2921-471F-A8D1-D6939E1C31B6}"/>
              </a:ext>
            </a:extLst>
          </p:cNvPr>
          <p:cNvSpPr>
            <a:spLocks xmlns:a="http://schemas.openxmlformats.org/drawingml/2006/main" noGrp="1"/>
          </p:cNvSpPr>
          <p:nvPr/>
        </p:nvSpPr>
        <p:spPr>
          <a:xfrm xmlns:a="http://schemas.openxmlformats.org/drawingml/2006/main">
            <a:off x="6191250" y="37338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Keep hypotheses, diffs and failures.</a:t>
            </a:r>
          </a:p>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Stop repeated unsuccessful edits.</a:t>
            </a:r>
          </a:p>
        </p:txBody>
      </p:sp>
      <p:sp>
        <p:nvSpPr>
          <p:cNvPr id="23" name="shape-91">
            <a:extLst xmlns:a="http://schemas.openxmlformats.org/drawingml/2006/main">
              <a:ext uri="{FF2B5EF4-FFF2-40B4-BE49-F238E27FC236}">
                <a16:creationId xmlns:a16="http://schemas.microsoft.com/office/drawing/2014/main" id="{35B14E00-D39B-4E42-9F00-092B1ED7E03C}"/>
              </a:ext>
            </a:extLst>
          </p:cNvPr>
          <p:cNvSpPr>
            <a:spLocks xmlns:a="http://schemas.openxmlformats.org/drawingml/2006/main" noGrp="1"/>
          </p:cNvSpPr>
          <p:nvPr/>
        </p:nvSpPr>
        <p:spPr>
          <a:xfrm xmlns:a="http://schemas.openxmlformats.org/drawingml/2006/main">
            <a:off x="6191250" y="47720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122234"/>
                </a:solidFill>
                <a:latin typeface="Helvetica Neue"/>
                <a:ea typeface="Helvetica Neue"/>
                <a:cs typeface="Helvetica Neue"/>
              </a:defRPr>
            </a:pPr>
            <a:r>
              <a:rPr sz="2250" b="1">
                <a:solidFill>
                  <a:srgbClr val="122234"/>
                </a:solidFill>
                <a:latin typeface="Helvetica Neue"/>
                <a:ea typeface="Helvetica Neue"/>
                <a:cs typeface="Helvetica Neue"/>
              </a:rPr>
              <a:t>Initial research caps</a:t>
            </a:r>
          </a:p>
        </p:txBody>
      </p:sp>
      <p:sp>
        <p:nvSpPr>
          <p:cNvPr id="24" name="shape-92">
            <a:extLst xmlns:a="http://schemas.openxmlformats.org/drawingml/2006/main">
              <a:ext uri="{FF2B5EF4-FFF2-40B4-BE49-F238E27FC236}">
                <a16:creationId xmlns:a16="http://schemas.microsoft.com/office/drawing/2014/main" id="{80BBB56F-4C3C-4B10-8C08-F387DE8548A5}"/>
              </a:ext>
            </a:extLst>
          </p:cNvPr>
          <p:cNvSpPr>
            <a:spLocks xmlns:a="http://schemas.openxmlformats.org/drawingml/2006/main" noGrp="1"/>
          </p:cNvSpPr>
          <p:nvPr/>
        </p:nvSpPr>
        <p:spPr>
          <a:xfrm xmlns:a="http://schemas.openxmlformats.org/drawingml/2006/main">
            <a:off x="6191250" y="524827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5 candidates / 30 min / 30k tokens</a:t>
            </a:r>
          </a:p>
        </p:txBody>
      </p:sp>
      <p:sp>
        <p:nvSpPr>
          <p:cNvPr id="25" name="shape-93">
            <a:extLst xmlns:a="http://schemas.openxmlformats.org/drawingml/2006/main">
              <a:ext uri="{FF2B5EF4-FFF2-40B4-BE49-F238E27FC236}">
                <a16:creationId xmlns:a16="http://schemas.microsoft.com/office/drawing/2014/main" id="{07B23476-D4A4-4F5B-A070-8B7E53341013}"/>
              </a:ext>
            </a:extLst>
          </p:cNvPr>
          <p:cNvSpPr>
            <a:spLocks xmlns:a="http://schemas.openxmlformats.org/drawingml/2006/main" noGrp="1"/>
          </p:cNvSpPr>
          <p:nvPr/>
        </p:nvSpPr>
        <p:spPr>
          <a:xfrm xmlns:a="http://schemas.openxmlformats.org/drawingml/2006/main">
            <a:off x="609600" y="59340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0">
                <a:solidFill>
                  <a:srgbClr val="536374"/>
                </a:solidFill>
                <a:latin typeface="Helvetica Neue"/>
                <a:ea typeface="Helvetica Neue"/>
                <a:cs typeface="Helvetica Neue"/>
              </a:defRPr>
            </a:pPr>
            <a:r>
              <a:rPr sz="1650" b="0">
                <a:solidFill>
                  <a:srgbClr val="536374"/>
                </a:solidFill>
                <a:latin typeface="Helvetica Neue"/>
                <a:ea typeface="Helvetica Neue"/>
                <a:cs typeface="Helvetica Neue"/>
              </a:rPr>
              <a:t>Proposed caps, subject to stricter organizer limits. Success or repetition can stop earlier.</a:t>
            </a:r>
          </a:p>
        </p:txBody>
      </p:sp>
    </p:spTree>
    <p:extLst>
      <p:ext uri="{BB962C8B-B14F-4D97-AF65-F5344CB8AC3E}">
        <p14:creationId xmlns:p14="http://schemas.microsoft.com/office/powerpoint/2010/main" val="509895461"/>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shape-94">
            <a:extLst xmlns:a="http://schemas.openxmlformats.org/drawingml/2006/main">
              <a:ext uri="{FF2B5EF4-FFF2-40B4-BE49-F238E27FC236}">
                <a16:creationId xmlns:a16="http://schemas.microsoft.com/office/drawing/2014/main" id="{3372359A-E037-47F9-BE5D-A19657EB243B}"/>
              </a:ext>
            </a:extLst>
          </p:cNvPr>
          <p:cNvSpPr>
            <a:spLocks xmlns:a="http://schemas.openxmlformats.org/drawingml/2006/main" noGrp="1"/>
          </p:cNvSpPr>
          <p:nvPr/>
        </p:nvSpPr>
        <p:spPr>
          <a:xfrm xmlns:a="http://schemas.openxmlformats.org/drawingml/2006/main">
            <a:off x="609600" y="552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122234"/>
                </a:solidFill>
                <a:latin typeface="Helvetica Neue"/>
                <a:ea typeface="Helvetica Neue"/>
                <a:cs typeface="Helvetica Neue"/>
              </a:defRPr>
            </a:pPr>
            <a:r>
              <a:rPr sz="3300" b="1">
                <a:solidFill>
                  <a:srgbClr val="122234"/>
                </a:solidFill>
                <a:latin typeface="Helvetica Neue"/>
                <a:ea typeface="Helvetica Neue"/>
                <a:cs typeface="Helvetica Neue"/>
              </a:rPr>
              <a:t>We will compare verified repairs and cost</a:t>
            </a:r>
          </a:p>
        </p:txBody>
      </p:sp>
      <p:sp>
        <p:nvSpPr>
          <p:cNvPr id="2" name="shape-95">
            <a:extLst xmlns:a="http://schemas.openxmlformats.org/drawingml/2006/main">
              <a:ext uri="{FF2B5EF4-FFF2-40B4-BE49-F238E27FC236}">
                <a16:creationId xmlns:a16="http://schemas.microsoft.com/office/drawing/2014/main" id="{5D0A2E35-F6D0-43FD-A554-370704074BA2}"/>
              </a:ext>
            </a:extLst>
          </p:cNvPr>
          <p:cNvSpPr>
            <a:spLocks xmlns:a="http://schemas.openxmlformats.org/drawingml/2006/main" noGrp="1"/>
          </p:cNvSpPr>
          <p:nvPr/>
        </p:nvSpPr>
        <p:spPr>
          <a:xfrm xmlns:a="http://schemas.openxmlformats.org/drawingml/2006/main">
            <a:off x="609600" y="64389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536374"/>
                </a:solidFill>
                <a:latin typeface="Helvetica Neue"/>
                <a:ea typeface="Helvetica Neue"/>
                <a:cs typeface="Helvetica Neue"/>
              </a:defRPr>
            </a:pPr>
            <a:r>
              <a:rPr sz="1200" b="0">
                <a:solidFill>
                  <a:srgbClr val="536374"/>
                </a:solidFill>
                <a:latin typeface="Helvetica Neue"/>
                <a:ea typeface="Helvetica Neue"/>
                <a:cs typeface="Helvetica Neue"/>
              </a:rPr>
              <a:t>EC528  /  BUILD-BENCH  /  DEMO 1</a:t>
            </a:r>
          </a:p>
        </p:txBody>
      </p:sp>
      <p:sp>
        <p:nvSpPr>
          <p:cNvPr id="3" name="shape-96">
            <a:extLst xmlns:a="http://schemas.openxmlformats.org/drawingml/2006/main">
              <a:ext uri="{FF2B5EF4-FFF2-40B4-BE49-F238E27FC236}">
                <a16:creationId xmlns:a16="http://schemas.microsoft.com/office/drawing/2014/main" id="{D85894A3-65CA-4251-AC6B-6A4C13EAEE98}"/>
              </a:ext>
            </a:extLst>
          </p:cNvPr>
          <p:cNvSpPr>
            <a:spLocks xmlns:a="http://schemas.openxmlformats.org/drawingml/2006/main" noGrp="1"/>
          </p:cNvSpPr>
          <p:nvPr/>
        </p:nvSpPr>
        <p:spPr>
          <a:xfrm xmlns:a="http://schemas.openxmlformats.org/drawingml/2006/main">
            <a:off x="11001375" y="63912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500" b="0">
                <a:solidFill>
                  <a:srgbClr val="536374"/>
                </a:solidFill>
                <a:latin typeface="Helvetica Neue"/>
                <a:ea typeface="Helvetica Neue"/>
                <a:cs typeface="Helvetica Neue"/>
              </a:defRPr>
            </a:pPr>
            <a:r>
              <a:rPr sz="1500" b="0">
                <a:solidFill>
                  <a:srgbClr val="536374"/>
                </a:solidFill>
                <a:latin typeface="Helvetica Neue"/>
                <a:ea typeface="Helvetica Neue"/>
                <a:cs typeface="Helvetica Neue"/>
              </a:rPr>
              <a:t>06</a:t>
            </a:r>
          </a:p>
        </p:txBody>
      </p:sp>
      <p:sp>
        <p:nvSpPr>
          <p:cNvPr id="4" name="shape-97">
            <a:extLst xmlns:a="http://schemas.openxmlformats.org/drawingml/2006/main">
              <a:ext uri="{FF2B5EF4-FFF2-40B4-BE49-F238E27FC236}">
                <a16:creationId xmlns:a16="http://schemas.microsoft.com/office/drawing/2014/main" id="{1E699014-01CE-4ED8-9BFF-4AEC954C958C}"/>
              </a:ext>
            </a:extLst>
          </p:cNvPr>
          <p:cNvSpPr>
            <a:spLocks xmlns:a="http://schemas.openxmlformats.org/drawingml/2006/main" noGrp="1"/>
          </p:cNvSpPr>
          <p:nvPr/>
        </p:nvSpPr>
        <p:spPr>
          <a:xfrm xmlns:a="http://schemas.openxmlformats.org/drawingml/2006/main">
            <a:off x="609600" y="157162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B83138"/>
                </a:solidFill>
                <a:latin typeface="Helvetica Neue"/>
                <a:ea typeface="Helvetica Neue"/>
                <a:cs typeface="Helvetica Neue"/>
              </a:defRPr>
            </a:pPr>
            <a:r>
              <a:rPr sz="1725" b="1">
                <a:solidFill>
                  <a:srgbClr val="B83138"/>
                </a:solidFill>
                <a:latin typeface="Helvetica Neue"/>
                <a:ea typeface="Helvetica Neue"/>
                <a:cs typeface="Helvetica Neue"/>
              </a:rPr>
              <a:t>PRIMARY METRIC</a:t>
            </a:r>
          </a:p>
        </p:txBody>
      </p:sp>
      <p:sp>
        <p:nvSpPr>
          <p:cNvPr id="5" name="shape-98">
            <a:extLst xmlns:a="http://schemas.openxmlformats.org/drawingml/2006/main">
              <a:ext uri="{FF2B5EF4-FFF2-40B4-BE49-F238E27FC236}">
                <a16:creationId xmlns:a16="http://schemas.microsoft.com/office/drawing/2014/main" id="{BC7D5C43-5A8D-4C34-A486-14E1DE030478}"/>
              </a:ext>
            </a:extLst>
          </p:cNvPr>
          <p:cNvSpPr>
            <a:spLocks xmlns:a="http://schemas.openxmlformats.org/drawingml/2006/main" noGrp="1"/>
          </p:cNvSpPr>
          <p:nvPr/>
        </p:nvSpPr>
        <p:spPr>
          <a:xfrm xmlns:a="http://schemas.openxmlformats.org/drawingml/2006/main">
            <a:off x="609600" y="20097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675" b="1">
                <a:solidFill>
                  <a:srgbClr val="122234"/>
                </a:solidFill>
                <a:latin typeface="Helvetica Neue"/>
                <a:ea typeface="Helvetica Neue"/>
                <a:cs typeface="Helvetica Neue"/>
              </a:defRPr>
            </a:pPr>
            <a:r>
              <a:rPr sz="3675" b="1">
                <a:solidFill>
                  <a:srgbClr val="122234"/>
                </a:solidFill>
                <a:latin typeface="Helvetica Neue"/>
                <a:ea typeface="Helvetica Neue"/>
                <a:cs typeface="Helvetica Neue"/>
              </a:rPr>
              <a:t>Verified Build Success Rate</a:t>
            </a:r>
          </a:p>
        </p:txBody>
      </p:sp>
      <p:sp>
        <p:nvSpPr>
          <p:cNvPr id="6" name="shape-99">
            <a:extLst xmlns:a="http://schemas.openxmlformats.org/drawingml/2006/main">
              <a:ext uri="{FF2B5EF4-FFF2-40B4-BE49-F238E27FC236}">
                <a16:creationId xmlns:a16="http://schemas.microsoft.com/office/drawing/2014/main" id="{1EC31A99-1038-4771-A2F9-FE3FED0A890C}"/>
              </a:ext>
            </a:extLst>
          </p:cNvPr>
          <p:cNvSpPr>
            <a:spLocks xmlns:a="http://schemas.openxmlformats.org/drawingml/2006/main" noGrp="1"/>
          </p:cNvSpPr>
          <p:nvPr/>
        </p:nvSpPr>
        <p:spPr>
          <a:xfrm xmlns:a="http://schemas.openxmlformats.org/drawingml/2006/main">
            <a:off x="609600" y="28194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325" b="0">
                <a:solidFill>
                  <a:srgbClr val="122234"/>
                </a:solidFill>
                <a:latin typeface="Helvetica Neue"/>
                <a:ea typeface="Helvetica Neue"/>
                <a:cs typeface="Helvetica Neue"/>
              </a:defRPr>
            </a:pPr>
            <a:r>
              <a:rPr sz="2325" b="0">
                <a:solidFill>
                  <a:srgbClr val="122234"/>
                </a:solidFill>
                <a:latin typeface="Helvetica Neue"/>
                <a:ea typeface="Helvetica Neue"/>
                <a:cs typeface="Helvetica Neue"/>
              </a:rPr>
              <a:t>Verified repairs  ÷  all cases in the frozen evaluation set</a:t>
            </a:r>
          </a:p>
        </p:txBody>
      </p:sp>
      <p:sp>
        <p:nvSpPr>
          <p:cNvPr id="7" name="">
            <a:extLst xmlns:a="http://schemas.openxmlformats.org/drawingml/2006/main">
              <a:ext uri="{FF2B5EF4-FFF2-40B4-BE49-F238E27FC236}">
                <a16:creationId xmlns:a16="http://schemas.microsoft.com/office/drawing/2014/main" id="{6A6221CB-08C5-4E9F-BA0A-ABCBDF23E911}"/>
              </a:ext>
            </a:extLst>
          </p:cNvPr>
          <p:cNvSpPr>
            <a:spLocks xmlns:a="http://schemas.openxmlformats.org/drawingml/2006/main" noGrp="1"/>
          </p:cNvSpPr>
          <p:nvPr/>
        </p:nvSpPr>
        <p:spPr>
          <a:xfrm xmlns:a="http://schemas.openxmlformats.org/drawingml/2006/main">
            <a:off x="609600" y="3629025"/>
            <a:ext cx="10953750" cy="0"/>
          </a:xfrm>
          <a:prstGeom xmlns:a="http://schemas.openxmlformats.org/drawingml/2006/main" prst="line">
            <a:avLst/>
          </a:prstGeom>
          <a:noFill xmlns:a="http://schemas.openxmlformats.org/drawingml/2006/main"/>
          <a:ln xmlns:a="http://schemas.openxmlformats.org/drawingml/2006/main" w="14288">
            <a:solidFill>
              <a:srgbClr val="CFD6DD"/>
            </a:solidFill>
          </a:ln>
        </p:spPr>
      </p:sp>
      <p:sp>
        <p:nvSpPr>
          <p:cNvPr id="8" name="shape-100">
            <a:extLst xmlns:a="http://schemas.openxmlformats.org/drawingml/2006/main">
              <a:ext uri="{FF2B5EF4-FFF2-40B4-BE49-F238E27FC236}">
                <a16:creationId xmlns:a16="http://schemas.microsoft.com/office/drawing/2014/main" id="{DAB568F8-57F9-45CE-BD8E-F51A38CF34EB}"/>
              </a:ext>
            </a:extLst>
          </p:cNvPr>
          <p:cNvSpPr>
            <a:spLocks xmlns:a="http://schemas.openxmlformats.org/drawingml/2006/main" noGrp="1"/>
          </p:cNvSpPr>
          <p:nvPr/>
        </p:nvSpPr>
        <p:spPr>
          <a:xfrm xmlns:a="http://schemas.openxmlformats.org/drawingml/2006/main">
            <a:off x="609600" y="396240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75" b="1">
                <a:solidFill>
                  <a:srgbClr val="122234"/>
                </a:solidFill>
                <a:latin typeface="Helvetica Neue"/>
                <a:ea typeface="Helvetica Neue"/>
                <a:cs typeface="Helvetica Neue"/>
              </a:defRPr>
            </a:pPr>
            <a:r>
              <a:rPr sz="2175" b="1">
                <a:solidFill>
                  <a:srgbClr val="122234"/>
                </a:solidFill>
                <a:latin typeface="Helvetica Neue"/>
                <a:ea typeface="Helvetica Neue"/>
                <a:cs typeface="Helvetica Neue"/>
              </a:rPr>
              <a:t>Fair comparison</a:t>
            </a:r>
          </a:p>
        </p:txBody>
      </p:sp>
      <p:sp>
        <p:nvSpPr>
          <p:cNvPr id="9" name="shape-101">
            <a:extLst xmlns:a="http://schemas.openxmlformats.org/drawingml/2006/main">
              <a:ext uri="{FF2B5EF4-FFF2-40B4-BE49-F238E27FC236}">
                <a16:creationId xmlns:a16="http://schemas.microsoft.com/office/drawing/2014/main" id="{DBA35D3B-C6B4-4D62-9D21-B671C2703040}"/>
              </a:ext>
            </a:extLst>
          </p:cNvPr>
          <p:cNvSpPr>
            <a:spLocks xmlns:a="http://schemas.openxmlformats.org/drawingml/2006/main" noGrp="1"/>
          </p:cNvSpPr>
          <p:nvPr/>
        </p:nvSpPr>
        <p:spPr>
          <a:xfrm xmlns:a="http://schemas.openxmlformats.org/drawingml/2006/main">
            <a:off x="609600" y="4524375"/>
            <a:ext cx="52578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Same cases, model and budget ceilings</a:t>
            </a:r>
          </a:p>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Official baseline where reproducible</a:t>
            </a:r>
          </a:p>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Failures remain in the denominator</a:t>
            </a:r>
          </a:p>
        </p:txBody>
      </p:sp>
      <p:sp>
        <p:nvSpPr>
          <p:cNvPr id="10" name="shape-102">
            <a:extLst xmlns:a="http://schemas.openxmlformats.org/drawingml/2006/main">
              <a:ext uri="{FF2B5EF4-FFF2-40B4-BE49-F238E27FC236}">
                <a16:creationId xmlns:a16="http://schemas.microsoft.com/office/drawing/2014/main" id="{C6610075-9460-4658-9CB6-9DD59E48220A}"/>
              </a:ext>
            </a:extLst>
          </p:cNvPr>
          <p:cNvSpPr>
            <a:spLocks xmlns:a="http://schemas.openxmlformats.org/drawingml/2006/main" noGrp="1"/>
          </p:cNvSpPr>
          <p:nvPr/>
        </p:nvSpPr>
        <p:spPr>
          <a:xfrm xmlns:a="http://schemas.openxmlformats.org/drawingml/2006/main">
            <a:off x="6419850" y="39624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75" b="1">
                <a:solidFill>
                  <a:srgbClr val="122234"/>
                </a:solidFill>
                <a:latin typeface="Helvetica Neue"/>
                <a:ea typeface="Helvetica Neue"/>
                <a:cs typeface="Helvetica Neue"/>
              </a:defRPr>
            </a:pPr>
            <a:r>
              <a:rPr sz="2175" b="1">
                <a:solidFill>
                  <a:srgbClr val="122234"/>
                </a:solidFill>
                <a:latin typeface="Helvetica Neue"/>
                <a:ea typeface="Helvetica Neue"/>
                <a:cs typeface="Helvetica Neue"/>
              </a:rPr>
              <a:t>Cost and failure records</a:t>
            </a:r>
          </a:p>
        </p:txBody>
      </p:sp>
      <p:sp>
        <p:nvSpPr>
          <p:cNvPr id="11" name="shape-103">
            <a:extLst xmlns:a="http://schemas.openxmlformats.org/drawingml/2006/main">
              <a:ext uri="{FF2B5EF4-FFF2-40B4-BE49-F238E27FC236}">
                <a16:creationId xmlns:a16="http://schemas.microsoft.com/office/drawing/2014/main" id="{34448993-6F70-42A4-9BB4-0E3155265628}"/>
              </a:ext>
            </a:extLst>
          </p:cNvPr>
          <p:cNvSpPr>
            <a:spLocks xmlns:a="http://schemas.openxmlformats.org/drawingml/2006/main" noGrp="1"/>
          </p:cNvSpPr>
          <p:nvPr/>
        </p:nvSpPr>
        <p:spPr>
          <a:xfrm xmlns:a="http://schemas.openxmlformats.org/drawingml/2006/main">
            <a:off x="6419850" y="4524375"/>
            <a:ext cx="5143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Wall time and model tokens</a:t>
            </a:r>
          </a:p>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Repair attempts and tool calls</a:t>
            </a:r>
          </a:p>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Direction and failure breakdowns</a:t>
            </a:r>
          </a:p>
        </p:txBody>
      </p:sp>
    </p:spTree>
    <p:extLst>
      <p:ext uri="{BB962C8B-B14F-4D97-AF65-F5344CB8AC3E}">
        <p14:creationId xmlns:p14="http://schemas.microsoft.com/office/powerpoint/2010/main" val="1079880216"/>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8" name="shape-104">
            <a:extLst xmlns:a="http://schemas.openxmlformats.org/drawingml/2006/main">
              <a:ext uri="{FF2B5EF4-FFF2-40B4-BE49-F238E27FC236}">
                <a16:creationId xmlns:a16="http://schemas.microsoft.com/office/drawing/2014/main" id="{1DEA4858-732F-43BC-859E-DF0BFAA31D0F}"/>
              </a:ext>
            </a:extLst>
          </p:cNvPr>
          <p:cNvSpPr>
            <a:spLocks xmlns:a="http://schemas.openxmlformats.org/drawingml/2006/main" noGrp="1"/>
          </p:cNvSpPr>
          <p:nvPr/>
        </p:nvSpPr>
        <p:spPr>
          <a:xfrm xmlns:a="http://schemas.openxmlformats.org/drawingml/2006/main">
            <a:off x="609600" y="552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122234"/>
                </a:solidFill>
                <a:latin typeface="Helvetica Neue"/>
                <a:ea typeface="Helvetica Neue"/>
                <a:cs typeface="Helvetica Neue"/>
              </a:defRPr>
            </a:pPr>
            <a:r>
              <a:rPr sz="3300" b="1">
                <a:solidFill>
                  <a:srgbClr val="122234"/>
                </a:solidFill>
                <a:latin typeface="Helvetica Neue"/>
                <a:ea typeface="Helvetica Neue"/>
                <a:cs typeface="Helvetica Neue"/>
              </a:rPr>
              <a:t>Semester milestones have checkable outcomes</a:t>
            </a:r>
          </a:p>
        </p:txBody>
      </p:sp>
      <p:sp>
        <p:nvSpPr>
          <p:cNvPr id="2" name="shape-105">
            <a:extLst xmlns:a="http://schemas.openxmlformats.org/drawingml/2006/main">
              <a:ext uri="{FF2B5EF4-FFF2-40B4-BE49-F238E27FC236}">
                <a16:creationId xmlns:a16="http://schemas.microsoft.com/office/drawing/2014/main" id="{AE32709A-7F80-4F47-A77D-BDD43AFCE90E}"/>
              </a:ext>
            </a:extLst>
          </p:cNvPr>
          <p:cNvSpPr>
            <a:spLocks xmlns:a="http://schemas.openxmlformats.org/drawingml/2006/main" noGrp="1"/>
          </p:cNvSpPr>
          <p:nvPr/>
        </p:nvSpPr>
        <p:spPr>
          <a:xfrm xmlns:a="http://schemas.openxmlformats.org/drawingml/2006/main">
            <a:off x="609600" y="64389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536374"/>
                </a:solidFill>
                <a:latin typeface="Helvetica Neue"/>
                <a:ea typeface="Helvetica Neue"/>
                <a:cs typeface="Helvetica Neue"/>
              </a:defRPr>
            </a:pPr>
            <a:r>
              <a:rPr sz="1200" b="0">
                <a:solidFill>
                  <a:srgbClr val="536374"/>
                </a:solidFill>
                <a:latin typeface="Helvetica Neue"/>
                <a:ea typeface="Helvetica Neue"/>
                <a:cs typeface="Helvetica Neue"/>
              </a:rPr>
              <a:t>EC528  /  BUILD-BENCH  /  DEMO 1</a:t>
            </a:r>
          </a:p>
        </p:txBody>
      </p:sp>
      <p:sp>
        <p:nvSpPr>
          <p:cNvPr id="3" name="shape-106">
            <a:extLst xmlns:a="http://schemas.openxmlformats.org/drawingml/2006/main">
              <a:ext uri="{FF2B5EF4-FFF2-40B4-BE49-F238E27FC236}">
                <a16:creationId xmlns:a16="http://schemas.microsoft.com/office/drawing/2014/main" id="{905D8558-6BD5-410F-892B-3AB237C5E2C9}"/>
              </a:ext>
            </a:extLst>
          </p:cNvPr>
          <p:cNvSpPr>
            <a:spLocks xmlns:a="http://schemas.openxmlformats.org/drawingml/2006/main" noGrp="1"/>
          </p:cNvSpPr>
          <p:nvPr/>
        </p:nvSpPr>
        <p:spPr>
          <a:xfrm xmlns:a="http://schemas.openxmlformats.org/drawingml/2006/main">
            <a:off x="11001375" y="63912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500" b="0">
                <a:solidFill>
                  <a:srgbClr val="536374"/>
                </a:solidFill>
                <a:latin typeface="Helvetica Neue"/>
                <a:ea typeface="Helvetica Neue"/>
                <a:cs typeface="Helvetica Neue"/>
              </a:defRPr>
            </a:pPr>
            <a:r>
              <a:rPr sz="1500" b="0">
                <a:solidFill>
                  <a:srgbClr val="536374"/>
                </a:solidFill>
                <a:latin typeface="Helvetica Neue"/>
                <a:ea typeface="Helvetica Neue"/>
                <a:cs typeface="Helvetica Neue"/>
              </a:rPr>
              <a:t>07</a:t>
            </a:r>
          </a:p>
        </p:txBody>
      </p:sp>
      <p:sp>
        <p:nvSpPr>
          <p:cNvPr id="4" name="shape-107">
            <a:extLst xmlns:a="http://schemas.openxmlformats.org/drawingml/2006/main">
              <a:ext uri="{FF2B5EF4-FFF2-40B4-BE49-F238E27FC236}">
                <a16:creationId xmlns:a16="http://schemas.microsoft.com/office/drawing/2014/main" id="{0A128B5A-B6F0-4871-903F-9495D4131C42}"/>
              </a:ext>
            </a:extLst>
          </p:cNvPr>
          <p:cNvSpPr>
            <a:spLocks xmlns:a="http://schemas.openxmlformats.org/drawingml/2006/main" noGrp="1"/>
          </p:cNvSpPr>
          <p:nvPr/>
        </p:nvSpPr>
        <p:spPr>
          <a:xfrm xmlns:a="http://schemas.openxmlformats.org/drawingml/2006/main">
            <a:off x="609600" y="1724025"/>
            <a:ext cx="3219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B83138"/>
                </a:solidFill>
                <a:latin typeface="Helvetica Neue"/>
                <a:ea typeface="Helvetica Neue"/>
                <a:cs typeface="Helvetica Neue"/>
              </a:defRPr>
            </a:pPr>
            <a:r>
              <a:rPr sz="1875" b="1">
                <a:solidFill>
                  <a:srgbClr val="B83138"/>
                </a:solidFill>
                <a:latin typeface="Helvetica Neue"/>
                <a:ea typeface="Helvetica Neue"/>
                <a:cs typeface="Helvetica Neue"/>
              </a:rPr>
              <a:t>October 21</a:t>
            </a:r>
          </a:p>
        </p:txBody>
      </p:sp>
      <p:sp>
        <p:nvSpPr>
          <p:cNvPr id="5" name="shape-108">
            <a:extLst xmlns:a="http://schemas.openxmlformats.org/drawingml/2006/main">
              <a:ext uri="{FF2B5EF4-FFF2-40B4-BE49-F238E27FC236}">
                <a16:creationId xmlns:a16="http://schemas.microsoft.com/office/drawing/2014/main" id="{0B8E8704-FC2F-44A8-9B66-1E7B41B30592}"/>
              </a:ext>
            </a:extLst>
          </p:cNvPr>
          <p:cNvSpPr>
            <a:spLocks xmlns:a="http://schemas.openxmlformats.org/drawingml/2006/main" noGrp="1"/>
          </p:cNvSpPr>
          <p:nvPr/>
        </p:nvSpPr>
        <p:spPr>
          <a:xfrm xmlns:a="http://schemas.openxmlformats.org/drawingml/2006/main">
            <a:off x="609600" y="2247900"/>
            <a:ext cx="321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000" b="1">
                <a:solidFill>
                  <a:srgbClr val="122234"/>
                </a:solidFill>
                <a:latin typeface="Helvetica Neue"/>
                <a:ea typeface="Helvetica Neue"/>
                <a:cs typeface="Helvetica Neue"/>
              </a:defRPr>
            </a:pPr>
            <a:r>
              <a:rPr sz="3000" b="1">
                <a:solidFill>
                  <a:srgbClr val="122234"/>
                </a:solidFill>
                <a:latin typeface="Helvetica Neue"/>
                <a:ea typeface="Helvetica Neue"/>
                <a:cs typeface="Helvetica Neue"/>
              </a:rPr>
              <a:t>Demo 2</a:t>
            </a:r>
          </a:p>
        </p:txBody>
      </p:sp>
      <p:sp>
        <p:nvSpPr>
          <p:cNvPr id="6" name="">
            <a:extLst xmlns:a="http://schemas.openxmlformats.org/drawingml/2006/main">
              <a:ext uri="{FF2B5EF4-FFF2-40B4-BE49-F238E27FC236}">
                <a16:creationId xmlns:a16="http://schemas.microsoft.com/office/drawing/2014/main" id="{2BE92AA4-D977-4A19-AC36-BB2B99F7AC15}"/>
              </a:ext>
            </a:extLst>
          </p:cNvPr>
          <p:cNvSpPr>
            <a:spLocks xmlns:a="http://schemas.openxmlformats.org/drawingml/2006/main" noGrp="1"/>
          </p:cNvSpPr>
          <p:nvPr/>
        </p:nvSpPr>
        <p:spPr>
          <a:xfrm xmlns:a="http://schemas.openxmlformats.org/drawingml/2006/main">
            <a:off x="609600" y="2971800"/>
            <a:ext cx="3219450" cy="0"/>
          </a:xfrm>
          <a:prstGeom xmlns:a="http://schemas.openxmlformats.org/drawingml/2006/main" prst="line">
            <a:avLst/>
          </a:prstGeom>
          <a:noFill xmlns:a="http://schemas.openxmlformats.org/drawingml/2006/main"/>
          <a:ln xmlns:a="http://schemas.openxmlformats.org/drawingml/2006/main" w="19050">
            <a:solidFill>
              <a:srgbClr val="CFD6DD"/>
            </a:solidFill>
          </a:ln>
        </p:spPr>
      </p:sp>
      <p:sp>
        <p:nvSpPr>
          <p:cNvPr id="7" name="shape-109">
            <a:extLst xmlns:a="http://schemas.openxmlformats.org/drawingml/2006/main">
              <a:ext uri="{FF2B5EF4-FFF2-40B4-BE49-F238E27FC236}">
                <a16:creationId xmlns:a16="http://schemas.microsoft.com/office/drawing/2014/main" id="{7273783C-D6AE-4537-9650-1DBDCB33327B}"/>
              </a:ext>
            </a:extLst>
          </p:cNvPr>
          <p:cNvSpPr>
            <a:spLocks xmlns:a="http://schemas.openxmlformats.org/drawingml/2006/main" noGrp="1"/>
          </p:cNvSpPr>
          <p:nvPr/>
        </p:nvSpPr>
        <p:spPr>
          <a:xfrm xmlns:a="http://schemas.openxmlformats.org/drawingml/2006/main">
            <a:off x="4476750" y="1724025"/>
            <a:ext cx="3219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B83138"/>
                </a:solidFill>
                <a:latin typeface="Helvetica Neue"/>
                <a:ea typeface="Helvetica Neue"/>
                <a:cs typeface="Helvetica Neue"/>
              </a:defRPr>
            </a:pPr>
            <a:r>
              <a:rPr sz="1875" b="1">
                <a:solidFill>
                  <a:srgbClr val="B83138"/>
                </a:solidFill>
                <a:latin typeface="Helvetica Neue"/>
                <a:ea typeface="Helvetica Neue"/>
                <a:cs typeface="Helvetica Neue"/>
              </a:rPr>
              <a:t>November 16</a:t>
            </a:r>
          </a:p>
        </p:txBody>
      </p:sp>
      <p:sp>
        <p:nvSpPr>
          <p:cNvPr id="8" name="shape-110">
            <a:extLst xmlns:a="http://schemas.openxmlformats.org/drawingml/2006/main">
              <a:ext uri="{FF2B5EF4-FFF2-40B4-BE49-F238E27FC236}">
                <a16:creationId xmlns:a16="http://schemas.microsoft.com/office/drawing/2014/main" id="{2156D082-72B7-44BC-A324-C24AB4701509}"/>
              </a:ext>
            </a:extLst>
          </p:cNvPr>
          <p:cNvSpPr>
            <a:spLocks xmlns:a="http://schemas.openxmlformats.org/drawingml/2006/main" noGrp="1"/>
          </p:cNvSpPr>
          <p:nvPr/>
        </p:nvSpPr>
        <p:spPr>
          <a:xfrm xmlns:a="http://schemas.openxmlformats.org/drawingml/2006/main">
            <a:off x="4476750" y="2247900"/>
            <a:ext cx="321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000" b="1">
                <a:solidFill>
                  <a:srgbClr val="122234"/>
                </a:solidFill>
                <a:latin typeface="Helvetica Neue"/>
                <a:ea typeface="Helvetica Neue"/>
                <a:cs typeface="Helvetica Neue"/>
              </a:defRPr>
            </a:pPr>
            <a:r>
              <a:rPr sz="3000" b="1">
                <a:solidFill>
                  <a:srgbClr val="122234"/>
                </a:solidFill>
                <a:latin typeface="Helvetica Neue"/>
                <a:ea typeface="Helvetica Neue"/>
                <a:cs typeface="Helvetica Neue"/>
              </a:rPr>
              <a:t>Demo 3</a:t>
            </a:r>
          </a:p>
        </p:txBody>
      </p:sp>
      <p:sp>
        <p:nvSpPr>
          <p:cNvPr id="9" name="">
            <a:extLst xmlns:a="http://schemas.openxmlformats.org/drawingml/2006/main">
              <a:ext uri="{FF2B5EF4-FFF2-40B4-BE49-F238E27FC236}">
                <a16:creationId xmlns:a16="http://schemas.microsoft.com/office/drawing/2014/main" id="{30117120-1B86-4D7C-92F3-89B9DAE1AC4D}"/>
              </a:ext>
            </a:extLst>
          </p:cNvPr>
          <p:cNvSpPr>
            <a:spLocks xmlns:a="http://schemas.openxmlformats.org/drawingml/2006/main" noGrp="1"/>
          </p:cNvSpPr>
          <p:nvPr/>
        </p:nvSpPr>
        <p:spPr>
          <a:xfrm xmlns:a="http://schemas.openxmlformats.org/drawingml/2006/main">
            <a:off x="4476750" y="2971800"/>
            <a:ext cx="3219450" cy="0"/>
          </a:xfrm>
          <a:prstGeom xmlns:a="http://schemas.openxmlformats.org/drawingml/2006/main" prst="line">
            <a:avLst/>
          </a:prstGeom>
          <a:noFill xmlns:a="http://schemas.openxmlformats.org/drawingml/2006/main"/>
          <a:ln xmlns:a="http://schemas.openxmlformats.org/drawingml/2006/main" w="19050">
            <a:solidFill>
              <a:srgbClr val="CFD6DD"/>
            </a:solidFill>
          </a:ln>
        </p:spPr>
      </p:sp>
      <p:sp>
        <p:nvSpPr>
          <p:cNvPr id="10" name="shape-111">
            <a:extLst xmlns:a="http://schemas.openxmlformats.org/drawingml/2006/main">
              <a:ext uri="{FF2B5EF4-FFF2-40B4-BE49-F238E27FC236}">
                <a16:creationId xmlns:a16="http://schemas.microsoft.com/office/drawing/2014/main" id="{32BDB07C-44C3-4BD4-993B-5E3F668E6C7F}"/>
              </a:ext>
            </a:extLst>
          </p:cNvPr>
          <p:cNvSpPr>
            <a:spLocks xmlns:a="http://schemas.openxmlformats.org/drawingml/2006/main" noGrp="1"/>
          </p:cNvSpPr>
          <p:nvPr/>
        </p:nvSpPr>
        <p:spPr>
          <a:xfrm xmlns:a="http://schemas.openxmlformats.org/drawingml/2006/main">
            <a:off x="8343900" y="1724025"/>
            <a:ext cx="3219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B83138"/>
                </a:solidFill>
                <a:latin typeface="Helvetica Neue"/>
                <a:ea typeface="Helvetica Neue"/>
                <a:cs typeface="Helvetica Neue"/>
              </a:defRPr>
            </a:pPr>
            <a:r>
              <a:rPr sz="1875" b="1">
                <a:solidFill>
                  <a:srgbClr val="B83138"/>
                </a:solidFill>
                <a:latin typeface="Helvetica Neue"/>
                <a:ea typeface="Helvetica Neue"/>
                <a:cs typeface="Helvetica Neue"/>
              </a:rPr>
              <a:t>December 9</a:t>
            </a:r>
          </a:p>
        </p:txBody>
      </p:sp>
      <p:sp>
        <p:nvSpPr>
          <p:cNvPr id="11" name="shape-112">
            <a:extLst xmlns:a="http://schemas.openxmlformats.org/drawingml/2006/main">
              <a:ext uri="{FF2B5EF4-FFF2-40B4-BE49-F238E27FC236}">
                <a16:creationId xmlns:a16="http://schemas.microsoft.com/office/drawing/2014/main" id="{16664BDE-252B-43A4-B02C-1E77A85E65D8}"/>
              </a:ext>
            </a:extLst>
          </p:cNvPr>
          <p:cNvSpPr>
            <a:spLocks xmlns:a="http://schemas.openxmlformats.org/drawingml/2006/main" noGrp="1"/>
          </p:cNvSpPr>
          <p:nvPr/>
        </p:nvSpPr>
        <p:spPr>
          <a:xfrm xmlns:a="http://schemas.openxmlformats.org/drawingml/2006/main">
            <a:off x="8343900" y="2247900"/>
            <a:ext cx="321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000" b="1">
                <a:solidFill>
                  <a:srgbClr val="122234"/>
                </a:solidFill>
                <a:latin typeface="Helvetica Neue"/>
                <a:ea typeface="Helvetica Neue"/>
                <a:cs typeface="Helvetica Neue"/>
              </a:defRPr>
            </a:pPr>
            <a:r>
              <a:rPr sz="3000" b="1">
                <a:solidFill>
                  <a:srgbClr val="122234"/>
                </a:solidFill>
                <a:latin typeface="Helvetica Neue"/>
                <a:ea typeface="Helvetica Neue"/>
                <a:cs typeface="Helvetica Neue"/>
              </a:rPr>
              <a:t>Final</a:t>
            </a:r>
          </a:p>
        </p:txBody>
      </p:sp>
      <p:sp>
        <p:nvSpPr>
          <p:cNvPr id="12" name="">
            <a:extLst xmlns:a="http://schemas.openxmlformats.org/drawingml/2006/main">
              <a:ext uri="{FF2B5EF4-FFF2-40B4-BE49-F238E27FC236}">
                <a16:creationId xmlns:a16="http://schemas.microsoft.com/office/drawing/2014/main" id="{DFC7E56A-66A1-4C27-B86F-4EE715E747FE}"/>
              </a:ext>
            </a:extLst>
          </p:cNvPr>
          <p:cNvSpPr>
            <a:spLocks xmlns:a="http://schemas.openxmlformats.org/drawingml/2006/main" noGrp="1"/>
          </p:cNvSpPr>
          <p:nvPr/>
        </p:nvSpPr>
        <p:spPr>
          <a:xfrm xmlns:a="http://schemas.openxmlformats.org/drawingml/2006/main">
            <a:off x="8343900" y="2971800"/>
            <a:ext cx="3219450" cy="0"/>
          </a:xfrm>
          <a:prstGeom xmlns:a="http://schemas.openxmlformats.org/drawingml/2006/main" prst="line">
            <a:avLst/>
          </a:prstGeom>
          <a:noFill xmlns:a="http://schemas.openxmlformats.org/drawingml/2006/main"/>
          <a:ln xmlns:a="http://schemas.openxmlformats.org/drawingml/2006/main" w="19050">
            <a:solidFill>
              <a:srgbClr val="CFD6DD"/>
            </a:solidFill>
          </a:ln>
        </p:spPr>
      </p:sp>
      <p:sp>
        <p:nvSpPr>
          <p:cNvPr id="13" name="shape-113">
            <a:extLst xmlns:a="http://schemas.openxmlformats.org/drawingml/2006/main">
              <a:ext uri="{FF2B5EF4-FFF2-40B4-BE49-F238E27FC236}">
                <a16:creationId xmlns:a16="http://schemas.microsoft.com/office/drawing/2014/main" id="{F258F4D5-70CE-4D84-AA37-E95A40DCAB28}"/>
              </a:ext>
            </a:extLst>
          </p:cNvPr>
          <p:cNvSpPr>
            <a:spLocks xmlns:a="http://schemas.openxmlformats.org/drawingml/2006/main" noGrp="1"/>
          </p:cNvSpPr>
          <p:nvPr/>
        </p:nvSpPr>
        <p:spPr>
          <a:xfrm xmlns:a="http://schemas.openxmlformats.org/drawingml/2006/main">
            <a:off x="609600" y="3324225"/>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Runnable LLM prototype</a:t>
            </a:r>
          </a:p>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10 fixed public cases</a:t>
            </a:r>
          </a:p>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Baseline + per-case records</a:t>
            </a:r>
          </a:p>
        </p:txBody>
      </p:sp>
      <p:sp>
        <p:nvSpPr>
          <p:cNvPr id="14" name="shape-114">
            <a:extLst xmlns:a="http://schemas.openxmlformats.org/drawingml/2006/main">
              <a:ext uri="{FF2B5EF4-FFF2-40B4-BE49-F238E27FC236}">
                <a16:creationId xmlns:a16="http://schemas.microsoft.com/office/drawing/2014/main" id="{6B0B1EAE-C7DD-4A5C-86EF-0B86FEC5646A}"/>
              </a:ext>
            </a:extLst>
          </p:cNvPr>
          <p:cNvSpPr>
            <a:spLocks xmlns:a="http://schemas.openxmlformats.org/drawingml/2006/main" noGrp="1"/>
          </p:cNvSpPr>
          <p:nvPr/>
        </p:nvSpPr>
        <p:spPr>
          <a:xfrm xmlns:a="http://schemas.openxmlformats.org/drawingml/2006/main">
            <a:off x="4476750" y="3324225"/>
            <a:ext cx="333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Same 10 cases, 3 runs</a:t>
            </a:r>
          </a:p>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+1 mean repair, OR</a:t>
            </a:r>
          </a:p>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20% fewer model tokens</a:t>
            </a:r>
          </a:p>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preserving repaired cases</a:t>
            </a:r>
          </a:p>
        </p:txBody>
      </p:sp>
      <p:sp>
        <p:nvSpPr>
          <p:cNvPr id="15" name="shape-115">
            <a:extLst xmlns:a="http://schemas.openxmlformats.org/drawingml/2006/main">
              <a:ext uri="{FF2B5EF4-FFF2-40B4-BE49-F238E27FC236}">
                <a16:creationId xmlns:a16="http://schemas.microsoft.com/office/drawing/2014/main" id="{1BC54479-BC56-47DD-9FF0-2DE3704C83F3}"/>
              </a:ext>
            </a:extLst>
          </p:cNvPr>
          <p:cNvSpPr>
            <a:spLocks xmlns:a="http://schemas.openxmlformats.org/drawingml/2006/main" noGrp="1"/>
          </p:cNvSpPr>
          <p:nvPr/>
        </p:nvSpPr>
        <p:spPr>
          <a:xfrm xmlns:a="http://schemas.openxmlformats.org/drawingml/2006/main">
            <a:off x="8343900" y="3324225"/>
            <a:ext cx="333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40-case evaluation</a:t>
            </a:r>
          </a:p>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30 held out from tuning</a:t>
            </a:r>
          </a:p>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Reproducible agent,</a:t>
            </a:r>
          </a:p>
          <a:p xmlns:a="http://schemas.openxmlformats.org/drawingml/2006/main">
            <a:pPr algn="l">
              <a:buNone/>
              <a:defRPr sz="2025" b="0">
                <a:solidFill>
                  <a:srgbClr val="122234"/>
                </a:solidFill>
                <a:latin typeface="Helvetica Neue"/>
                <a:ea typeface="Helvetica Neue"/>
                <a:cs typeface="Helvetica Neue"/>
              </a:defRPr>
            </a:pPr>
            <a:r>
              <a:rPr sz="2025" b="0">
                <a:solidFill>
                  <a:srgbClr val="122234"/>
                </a:solidFill>
                <a:latin typeface="Helvetica Neue"/>
                <a:ea typeface="Helvetica Neue"/>
                <a:cs typeface="Helvetica Neue"/>
              </a:rPr>
              <a:t>commands and results</a:t>
            </a:r>
          </a:p>
        </p:txBody>
      </p:sp>
      <p:sp>
        <p:nvSpPr>
          <p:cNvPr id="16" name="shape-116">
            <a:extLst xmlns:a="http://schemas.openxmlformats.org/drawingml/2006/main">
              <a:ext uri="{FF2B5EF4-FFF2-40B4-BE49-F238E27FC236}">
                <a16:creationId xmlns:a16="http://schemas.microsoft.com/office/drawing/2014/main" id="{53C427BE-9EB3-4158-9DB6-FD257EB4ACA5}"/>
              </a:ext>
            </a:extLst>
          </p:cNvPr>
          <p:cNvSpPr>
            <a:spLocks xmlns:a="http://schemas.openxmlformats.org/drawingml/2006/main" noGrp="1"/>
          </p:cNvSpPr>
          <p:nvPr/>
        </p:nvSpPr>
        <p:spPr>
          <a:xfrm xmlns:a="http://schemas.openxmlformats.org/drawingml/2006/main">
            <a:off x="609600" y="54864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B83138"/>
                </a:solidFill>
                <a:latin typeface="Helvetica Neue"/>
                <a:ea typeface="Helvetica Neue"/>
                <a:cs typeface="Helvetica Neue"/>
              </a:defRPr>
            </a:pPr>
            <a:r>
              <a:rPr sz="1875" b="1">
                <a:solidFill>
                  <a:srgbClr val="B83138"/>
                </a:solidFill>
                <a:latin typeface="Helvetica Neue"/>
                <a:ea typeface="Helvetica Neue"/>
                <a:cs typeface="Helvetica Neue"/>
              </a:rPr>
              <a:t>Competition freeze: November 13, before Demo 3. Qualification is conditional.</a:t>
            </a:r>
          </a:p>
        </p:txBody>
      </p:sp>
      <p:sp>
        <p:nvSpPr>
          <p:cNvPr id="17" name="shape-117">
            <a:extLst xmlns:a="http://schemas.openxmlformats.org/drawingml/2006/main">
              <a:ext uri="{FF2B5EF4-FFF2-40B4-BE49-F238E27FC236}">
                <a16:creationId xmlns:a16="http://schemas.microsoft.com/office/drawing/2014/main" id="{1E0024F2-85B0-45E0-9346-531EC7F23522}"/>
              </a:ext>
            </a:extLst>
          </p:cNvPr>
          <p:cNvSpPr>
            <a:spLocks xmlns:a="http://schemas.openxmlformats.org/drawingml/2006/main" noGrp="1"/>
          </p:cNvSpPr>
          <p:nvPr/>
        </p:nvSpPr>
        <p:spPr>
          <a:xfrm xmlns:a="http://schemas.openxmlformats.org/drawingml/2006/main">
            <a:off x="609600" y="60102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536374"/>
                </a:solidFill>
                <a:latin typeface="Helvetica Neue"/>
                <a:ea typeface="Helvetica Neue"/>
                <a:cs typeface="Helvetica Neue"/>
              </a:defRPr>
            </a:pPr>
            <a:r>
              <a:rPr sz="1575" b="0">
                <a:solidFill>
                  <a:srgbClr val="536374"/>
                </a:solidFill>
                <a:latin typeface="Helvetica Neue"/>
                <a:ea typeface="Helvetica Neue"/>
                <a:cs typeface="Helvetica Neue"/>
              </a:rPr>
              <a:t>Evaluation targets. Repeat all 10 cases, hold budgets fixed and report every regression.</a:t>
            </a:r>
          </a:p>
        </p:txBody>
      </p:sp>
    </p:spTree>
    <p:extLst>
      <p:ext uri="{BB962C8B-B14F-4D97-AF65-F5344CB8AC3E}">
        <p14:creationId xmlns:p14="http://schemas.microsoft.com/office/powerpoint/2010/main" val="101388976"/>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4" name="shape-118">
            <a:extLst xmlns:a="http://schemas.openxmlformats.org/drawingml/2006/main">
              <a:ext uri="{FF2B5EF4-FFF2-40B4-BE49-F238E27FC236}">
                <a16:creationId xmlns:a16="http://schemas.microsoft.com/office/drawing/2014/main" id="{658D7619-0E08-4036-81D5-476FDA940E01}"/>
              </a:ext>
            </a:extLst>
          </p:cNvPr>
          <p:cNvSpPr>
            <a:spLocks xmlns:a="http://schemas.openxmlformats.org/drawingml/2006/main" noGrp="1"/>
          </p:cNvSpPr>
          <p:nvPr/>
        </p:nvSpPr>
        <p:spPr>
          <a:xfrm xmlns:a="http://schemas.openxmlformats.org/drawingml/2006/main">
            <a:off x="609600" y="552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122234"/>
                </a:solidFill>
                <a:latin typeface="Helvetica Neue"/>
                <a:ea typeface="Helvetica Neue"/>
                <a:cs typeface="Helvetica Neue"/>
              </a:defRPr>
            </a:pPr>
            <a:r>
              <a:rPr sz="3300" b="1">
                <a:solidFill>
                  <a:srgbClr val="122234"/>
                </a:solidFill>
                <a:latin typeface="Helvetica Neue"/>
                <a:ea typeface="Helvetica Neue"/>
                <a:cs typeface="Helvetica Neue"/>
              </a:rPr>
              <a:t>Current status and next steps</a:t>
            </a:r>
          </a:p>
        </p:txBody>
      </p:sp>
      <p:sp>
        <p:nvSpPr>
          <p:cNvPr id="2" name="shape-119">
            <a:extLst xmlns:a="http://schemas.openxmlformats.org/drawingml/2006/main">
              <a:ext uri="{FF2B5EF4-FFF2-40B4-BE49-F238E27FC236}">
                <a16:creationId xmlns:a16="http://schemas.microsoft.com/office/drawing/2014/main" id="{A5F7677D-0B1F-4E30-9431-06A7162BBBD3}"/>
              </a:ext>
            </a:extLst>
          </p:cNvPr>
          <p:cNvSpPr>
            <a:spLocks xmlns:a="http://schemas.openxmlformats.org/drawingml/2006/main" noGrp="1"/>
          </p:cNvSpPr>
          <p:nvPr/>
        </p:nvSpPr>
        <p:spPr>
          <a:xfrm xmlns:a="http://schemas.openxmlformats.org/drawingml/2006/main">
            <a:off x="609600" y="6438900"/>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536374"/>
                </a:solidFill>
                <a:latin typeface="Helvetica Neue"/>
                <a:ea typeface="Helvetica Neue"/>
                <a:cs typeface="Helvetica Neue"/>
              </a:defRPr>
            </a:pPr>
            <a:r>
              <a:rPr sz="1200" b="0">
                <a:solidFill>
                  <a:srgbClr val="536374"/>
                </a:solidFill>
                <a:latin typeface="Helvetica Neue"/>
                <a:ea typeface="Helvetica Neue"/>
                <a:cs typeface="Helvetica Neue"/>
              </a:rPr>
              <a:t>EC528  /  BUILD-BENCH  /  DEMO 1</a:t>
            </a:r>
          </a:p>
        </p:txBody>
      </p:sp>
      <p:sp>
        <p:nvSpPr>
          <p:cNvPr id="3" name="shape-120">
            <a:extLst xmlns:a="http://schemas.openxmlformats.org/drawingml/2006/main">
              <a:ext uri="{FF2B5EF4-FFF2-40B4-BE49-F238E27FC236}">
                <a16:creationId xmlns:a16="http://schemas.microsoft.com/office/drawing/2014/main" id="{FF43BB3D-3864-4E18-83D9-588236DCDD06}"/>
              </a:ext>
            </a:extLst>
          </p:cNvPr>
          <p:cNvSpPr>
            <a:spLocks xmlns:a="http://schemas.openxmlformats.org/drawingml/2006/main" noGrp="1"/>
          </p:cNvSpPr>
          <p:nvPr/>
        </p:nvSpPr>
        <p:spPr>
          <a:xfrm xmlns:a="http://schemas.openxmlformats.org/drawingml/2006/main">
            <a:off x="11001375" y="6391275"/>
            <a:ext cx="59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500" b="0">
                <a:solidFill>
                  <a:srgbClr val="536374"/>
                </a:solidFill>
                <a:latin typeface="Helvetica Neue"/>
                <a:ea typeface="Helvetica Neue"/>
                <a:cs typeface="Helvetica Neue"/>
              </a:defRPr>
            </a:pPr>
            <a:r>
              <a:rPr sz="1500" b="0">
                <a:solidFill>
                  <a:srgbClr val="536374"/>
                </a:solidFill>
                <a:latin typeface="Helvetica Neue"/>
                <a:ea typeface="Helvetica Neue"/>
                <a:cs typeface="Helvetica Neue"/>
              </a:rPr>
              <a:t>08</a:t>
            </a:r>
          </a:p>
        </p:txBody>
      </p:sp>
      <p:sp>
        <p:nvSpPr>
          <p:cNvPr id="4" name="shape-121">
            <a:extLst xmlns:a="http://schemas.openxmlformats.org/drawingml/2006/main">
              <a:ext uri="{FF2B5EF4-FFF2-40B4-BE49-F238E27FC236}">
                <a16:creationId xmlns:a16="http://schemas.microsoft.com/office/drawing/2014/main" id="{9373DEB6-13A1-4438-85C8-E9B463C4F375}"/>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1">
                <a:solidFill>
                  <a:srgbClr val="17765F"/>
                </a:solidFill>
                <a:latin typeface="Helvetica Neue"/>
                <a:ea typeface="Helvetica Neue"/>
                <a:cs typeface="Helvetica Neue"/>
              </a:defRPr>
            </a:pPr>
            <a:r>
              <a:rPr sz="1950" b="1">
                <a:solidFill>
                  <a:srgbClr val="17765F"/>
                </a:solidFill>
                <a:latin typeface="Helvetica Neue"/>
                <a:ea typeface="Helvetica Neue"/>
                <a:cs typeface="Helvetica Neue"/>
              </a:rPr>
              <a:t>CURRENT STATUS</a:t>
            </a:r>
          </a:p>
        </p:txBody>
      </p:sp>
      <p:sp>
        <p:nvSpPr>
          <p:cNvPr id="5" name="shape-122">
            <a:extLst xmlns:a="http://schemas.openxmlformats.org/drawingml/2006/main">
              <a:ext uri="{FF2B5EF4-FFF2-40B4-BE49-F238E27FC236}">
                <a16:creationId xmlns:a16="http://schemas.microsoft.com/office/drawing/2014/main" id="{2A52B72A-1649-4447-A4BD-15BA6B6A9BC7}"/>
              </a:ext>
            </a:extLst>
          </p:cNvPr>
          <p:cNvSpPr>
            <a:spLocks xmlns:a="http://schemas.openxmlformats.org/drawingml/2006/main" noGrp="1"/>
          </p:cNvSpPr>
          <p:nvPr/>
        </p:nvSpPr>
        <p:spPr>
          <a:xfrm xmlns:a="http://schemas.openxmlformats.org/drawingml/2006/main">
            <a:off x="609600" y="20097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75" b="0">
                <a:solidFill>
                  <a:srgbClr val="122234"/>
                </a:solidFill>
                <a:latin typeface="Helvetica Neue"/>
                <a:ea typeface="Helvetica Neue"/>
                <a:cs typeface="Helvetica Neue"/>
              </a:defRPr>
            </a:pPr>
            <a:r>
              <a:rPr sz="2175" b="0">
                <a:solidFill>
                  <a:srgbClr val="122234"/>
                </a:solidFill>
                <a:latin typeface="Helvetica Neue"/>
                <a:ea typeface="Helvetica Neue"/>
                <a:cs typeface="Helvetica Neue"/>
              </a:rPr>
              <a:t>Dataset inspected: 200 cases across 188 packages.</a:t>
            </a:r>
          </a:p>
        </p:txBody>
      </p:sp>
      <p:sp>
        <p:nvSpPr>
          <p:cNvPr id="6" name="shape-123">
            <a:extLst xmlns:a="http://schemas.openxmlformats.org/drawingml/2006/main">
              <a:ext uri="{FF2B5EF4-FFF2-40B4-BE49-F238E27FC236}">
                <a16:creationId xmlns:a16="http://schemas.microsoft.com/office/drawing/2014/main" id="{2A39DE6C-287D-493F-B46C-E89C710E4E3E}"/>
              </a:ext>
            </a:extLst>
          </p:cNvPr>
          <p:cNvSpPr>
            <a:spLocks xmlns:a="http://schemas.openxmlformats.org/drawingml/2006/main" noGrp="1"/>
          </p:cNvSpPr>
          <p:nvPr/>
        </p:nvSpPr>
        <p:spPr>
          <a:xfrm xmlns:a="http://schemas.openxmlformats.org/drawingml/2006/main">
            <a:off x="609600" y="2524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0">
                <a:solidFill>
                  <a:srgbClr val="122234"/>
                </a:solidFill>
                <a:latin typeface="Helvetica Neue"/>
                <a:ea typeface="Helvetica Neue"/>
                <a:cs typeface="Helvetica Neue"/>
              </a:defRPr>
            </a:pPr>
            <a:r>
              <a:rPr sz="1950" b="0">
                <a:solidFill>
                  <a:srgbClr val="122234"/>
                </a:solidFill>
                <a:latin typeface="Helvetica Neue"/>
                <a:ea typeface="Helvetica Neue"/>
                <a:cs typeface="Helvetica Neue"/>
              </a:rPr>
              <a:t>Organizer’s hello example reproduced on Linux.</a:t>
            </a:r>
          </a:p>
        </p:txBody>
      </p:sp>
      <p:sp>
        <p:nvSpPr>
          <p:cNvPr id="7" name="shape-124">
            <a:extLst xmlns:a="http://schemas.openxmlformats.org/drawingml/2006/main">
              <a:ext uri="{FF2B5EF4-FFF2-40B4-BE49-F238E27FC236}">
                <a16:creationId xmlns:a16="http://schemas.microsoft.com/office/drawing/2014/main" id="{5DF2D295-DCD7-4320-9D70-15AFEAE7150F}"/>
              </a:ext>
            </a:extLst>
          </p:cNvPr>
          <p:cNvSpPr>
            <a:spLocks xmlns:a="http://schemas.openxmlformats.org/drawingml/2006/main" noGrp="1"/>
          </p:cNvSpPr>
          <p:nvPr/>
        </p:nvSpPr>
        <p:spPr>
          <a:xfrm xmlns:a="http://schemas.openxmlformats.org/drawingml/2006/main">
            <a:off x="609600" y="30003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536477"/>
                </a:solidFill>
                <a:latin typeface="Helvetica Neue"/>
                <a:ea typeface="Helvetica Neue"/>
                <a:cs typeface="Helvetica Neue"/>
              </a:defRPr>
            </a:pPr>
            <a:r>
              <a:rPr sz="1875" b="0">
                <a:solidFill>
                  <a:srgbClr val="536477"/>
                </a:solidFill>
                <a:latin typeface="Helvetica Neue"/>
                <a:ea typeface="Helvetica Neue"/>
                <a:cs typeface="Helvetica Neue"/>
              </a:rPr>
              <a:t>Our LLM repair agent and public-case evaluation are scheduled for Demo 2.</a:t>
            </a:r>
          </a:p>
        </p:txBody>
      </p:sp>
      <p:sp>
        <p:nvSpPr>
          <p:cNvPr id="8" name="shape-125">
            <a:extLst xmlns:a="http://schemas.openxmlformats.org/drawingml/2006/main">
              <a:ext uri="{FF2B5EF4-FFF2-40B4-BE49-F238E27FC236}">
                <a16:creationId xmlns:a16="http://schemas.microsoft.com/office/drawing/2014/main" id="{74C72AE4-D4B5-4D88-95A9-E7530F2B5FB2}"/>
              </a:ext>
            </a:extLst>
          </p:cNvPr>
          <p:cNvSpPr>
            <a:spLocks xmlns:a="http://schemas.openxmlformats.org/drawingml/2006/main" noGrp="1"/>
          </p:cNvSpPr>
          <p:nvPr/>
        </p:nvSpPr>
        <p:spPr>
          <a:xfrm xmlns:a="http://schemas.openxmlformats.org/drawingml/2006/main">
            <a:off x="609600" y="57912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536477"/>
                </a:solidFill>
                <a:latin typeface="Helvetica Neue"/>
                <a:ea typeface="Helvetica Neue"/>
                <a:cs typeface="Helvetica Neue"/>
              </a:defRPr>
            </a:pPr>
            <a:r>
              <a:rPr sz="1875" b="0">
                <a:solidFill>
                  <a:srgbClr val="536477"/>
                </a:solidFill>
                <a:latin typeface="Helvetica Neue"/>
                <a:ea typeface="Helvetica Neue"/>
                <a:cs typeface="Helvetica Neue"/>
              </a:rPr>
              <a:t>Core challenge: choose useful evidence and revise diagnoses within budget.</a:t>
            </a:r>
          </a:p>
        </p:txBody>
      </p:sp>
      <p:sp>
        <p:nvSpPr>
          <p:cNvPr id="9" name="">
            <a:extLst xmlns:a="http://schemas.openxmlformats.org/drawingml/2006/main">
              <a:ext uri="{FF2B5EF4-FFF2-40B4-BE49-F238E27FC236}">
                <a16:creationId xmlns:a16="http://schemas.microsoft.com/office/drawing/2014/main" id="{6D09486F-1A86-47E5-956F-47FA3548EE57}"/>
              </a:ext>
            </a:extLst>
          </p:cNvPr>
          <p:cNvSpPr>
            <a:spLocks xmlns:a="http://schemas.openxmlformats.org/drawingml/2006/main" noGrp="1"/>
          </p:cNvSpPr>
          <p:nvPr/>
        </p:nvSpPr>
        <p:spPr>
          <a:xfrm xmlns:a="http://schemas.openxmlformats.org/drawingml/2006/main">
            <a:off x="609600" y="3629025"/>
            <a:ext cx="10953750" cy="0"/>
          </a:xfrm>
          <a:prstGeom xmlns:a="http://schemas.openxmlformats.org/drawingml/2006/main" prst="line">
            <a:avLst/>
          </a:prstGeom>
          <a:noFill xmlns:a="http://schemas.openxmlformats.org/drawingml/2006/main"/>
          <a:ln xmlns:a="http://schemas.openxmlformats.org/drawingml/2006/main" w="14288">
            <a:solidFill>
              <a:srgbClr val="CFD6DD"/>
            </a:solidFill>
          </a:ln>
        </p:spPr>
      </p:sp>
      <p:sp>
        <p:nvSpPr>
          <p:cNvPr id="10" name="shape-126">
            <a:extLst xmlns:a="http://schemas.openxmlformats.org/drawingml/2006/main">
              <a:ext uri="{FF2B5EF4-FFF2-40B4-BE49-F238E27FC236}">
                <a16:creationId xmlns:a16="http://schemas.microsoft.com/office/drawing/2014/main" id="{637A639C-04A5-4D5C-A903-411696F3ED3A}"/>
              </a:ext>
            </a:extLst>
          </p:cNvPr>
          <p:cNvSpPr>
            <a:spLocks xmlns:a="http://schemas.openxmlformats.org/drawingml/2006/main" noGrp="1"/>
          </p:cNvSpPr>
          <p:nvPr/>
        </p:nvSpPr>
        <p:spPr>
          <a:xfrm xmlns:a="http://schemas.openxmlformats.org/drawingml/2006/main">
            <a:off x="609600" y="396240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122234"/>
                </a:solidFill>
                <a:latin typeface="Helvetica Neue"/>
                <a:ea typeface="Helvetica Neue"/>
                <a:cs typeface="Helvetica Neue"/>
              </a:defRPr>
            </a:pPr>
            <a:r>
              <a:rPr sz="2250" b="1">
                <a:solidFill>
                  <a:srgbClr val="122234"/>
                </a:solidFill>
                <a:latin typeface="Helvetica Neue"/>
                <a:ea typeface="Helvetica Neue"/>
                <a:cs typeface="Helvetica Neue"/>
              </a:rPr>
              <a:t>Reproducible cases</a:t>
            </a:r>
          </a:p>
        </p:txBody>
      </p:sp>
      <p:sp>
        <p:nvSpPr>
          <p:cNvPr id="11" name="shape-127">
            <a:extLst xmlns:a="http://schemas.openxmlformats.org/drawingml/2006/main">
              <a:ext uri="{FF2B5EF4-FFF2-40B4-BE49-F238E27FC236}">
                <a16:creationId xmlns:a16="http://schemas.microsoft.com/office/drawing/2014/main" id="{8D3327FB-B407-444B-8DC8-6B737000289C}"/>
              </a:ext>
            </a:extLst>
          </p:cNvPr>
          <p:cNvSpPr>
            <a:spLocks xmlns:a="http://schemas.openxmlformats.org/drawingml/2006/main" noGrp="1"/>
          </p:cNvSpPr>
          <p:nvPr/>
        </p:nvSpPr>
        <p:spPr>
          <a:xfrm xmlns:a="http://schemas.openxmlformats.org/drawingml/2006/main">
            <a:off x="609600" y="4524375"/>
            <a:ext cx="5143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0">
                <a:solidFill>
                  <a:srgbClr val="122234"/>
                </a:solidFill>
                <a:latin typeface="Helvetica Neue"/>
                <a:ea typeface="Helvetica Neue"/>
                <a:cs typeface="Helvetica Neue"/>
              </a:defRPr>
            </a:pPr>
            <a:r>
              <a:rPr sz="2100" b="0">
                <a:solidFill>
                  <a:srgbClr val="122234"/>
                </a:solidFill>
                <a:latin typeface="Helvetica Neue"/>
                <a:ea typeface="Helvetica Neue"/>
                <a:cs typeface="Helvetica Neue"/>
              </a:rPr>
              <a:t>Provision AWS and pin configs.</a:t>
            </a:r>
          </a:p>
          <a:p xmlns:a="http://schemas.openxmlformats.org/drawingml/2006/main">
            <a:pPr algn="l">
              <a:buNone/>
              <a:defRPr sz="2100" b="0">
                <a:solidFill>
                  <a:srgbClr val="122234"/>
                </a:solidFill>
                <a:latin typeface="Helvetica Neue"/>
                <a:ea typeface="Helvetica Neue"/>
                <a:cs typeface="Helvetica Neue"/>
              </a:defRPr>
            </a:pPr>
            <a:r>
              <a:rPr sz="2100" b="0">
                <a:solidFill>
                  <a:srgbClr val="122234"/>
                </a:solidFill>
                <a:latin typeface="Helvetica Neue"/>
                <a:ea typeface="Helvetica Neue"/>
                <a:cs typeface="Helvetica Neue"/>
              </a:rPr>
              <a:t>Reproduce a Debian failure.</a:t>
            </a:r>
          </a:p>
        </p:txBody>
      </p:sp>
      <p:sp>
        <p:nvSpPr>
          <p:cNvPr id="12" name="shape-128">
            <a:extLst xmlns:a="http://schemas.openxmlformats.org/drawingml/2006/main">
              <a:ext uri="{FF2B5EF4-FFF2-40B4-BE49-F238E27FC236}">
                <a16:creationId xmlns:a16="http://schemas.microsoft.com/office/drawing/2014/main" id="{73331E76-9C2C-4FF7-ACF4-4E88B0B44CF5}"/>
              </a:ext>
            </a:extLst>
          </p:cNvPr>
          <p:cNvSpPr>
            <a:spLocks xmlns:a="http://schemas.openxmlformats.org/drawingml/2006/main" noGrp="1"/>
          </p:cNvSpPr>
          <p:nvPr/>
        </p:nvSpPr>
        <p:spPr>
          <a:xfrm xmlns:a="http://schemas.openxmlformats.org/drawingml/2006/main">
            <a:off x="6419850" y="39624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122234"/>
                </a:solidFill>
                <a:latin typeface="Helvetica Neue"/>
                <a:ea typeface="Helvetica Neue"/>
                <a:cs typeface="Helvetica Neue"/>
              </a:defRPr>
            </a:pPr>
            <a:r>
              <a:rPr sz="2250" b="1">
                <a:solidFill>
                  <a:srgbClr val="122234"/>
                </a:solidFill>
                <a:latin typeface="Helvetica Neue"/>
                <a:ea typeface="Helvetica Neue"/>
                <a:cs typeface="Helvetica Neue"/>
              </a:rPr>
              <a:t>Agent integration</a:t>
            </a:r>
          </a:p>
        </p:txBody>
      </p:sp>
      <p:sp>
        <p:nvSpPr>
          <p:cNvPr id="13" name="shape-129">
            <a:extLst xmlns:a="http://schemas.openxmlformats.org/drawingml/2006/main">
              <a:ext uri="{FF2B5EF4-FFF2-40B4-BE49-F238E27FC236}">
                <a16:creationId xmlns:a16="http://schemas.microsoft.com/office/drawing/2014/main" id="{B4E2A449-2F9A-4143-B6A0-B320B4D0D704}"/>
              </a:ext>
            </a:extLst>
          </p:cNvPr>
          <p:cNvSpPr>
            <a:spLocks xmlns:a="http://schemas.openxmlformats.org/drawingml/2006/main" noGrp="1"/>
          </p:cNvSpPr>
          <p:nvPr/>
        </p:nvSpPr>
        <p:spPr>
          <a:xfrm xmlns:a="http://schemas.openxmlformats.org/drawingml/2006/main">
            <a:off x="6419850" y="4524375"/>
            <a:ext cx="5143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0">
                <a:solidFill>
                  <a:srgbClr val="122234"/>
                </a:solidFill>
                <a:latin typeface="Helvetica Neue"/>
                <a:ea typeface="Helvetica Neue"/>
                <a:cs typeface="Helvetica Neue"/>
              </a:defRPr>
            </a:pPr>
            <a:r>
              <a:rPr sz="2100" b="0">
                <a:solidFill>
                  <a:srgbClr val="122234"/>
                </a:solidFill>
                <a:latin typeface="Helvetica Neue"/>
                <a:ea typeface="Helvetica Neue"/>
                <a:cs typeface="Helvetica Neue"/>
              </a:rPr>
              <a:t>Confirm model and feedback APIs.</a:t>
            </a:r>
          </a:p>
          <a:p xmlns:a="http://schemas.openxmlformats.org/drawingml/2006/main">
            <a:pPr algn="l">
              <a:buNone/>
              <a:defRPr sz="2100" b="0">
                <a:solidFill>
                  <a:srgbClr val="122234"/>
                </a:solidFill>
                <a:latin typeface="Helvetica Neue"/>
                <a:ea typeface="Helvetica Neue"/>
                <a:cs typeface="Helvetica Neue"/>
              </a:defRPr>
            </a:pPr>
            <a:r>
              <a:rPr sz="2100" b="0">
                <a:solidFill>
                  <a:srgbClr val="122234"/>
                </a:solidFill>
                <a:latin typeface="Helvetica Neue"/>
                <a:ea typeface="Helvetica Neue"/>
                <a:cs typeface="Helvetica Neue"/>
              </a:rPr>
              <a:t>Implement the bounded repair loop.</a:t>
            </a:r>
          </a:p>
        </p:txBody>
      </p:sp>
    </p:spTree>
    <p:extLst>
      <p:ext uri="{BB962C8B-B14F-4D97-AF65-F5344CB8AC3E}">
        <p14:creationId xmlns:p14="http://schemas.microsoft.com/office/powerpoint/2010/main" val="14163456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2026-09-22T21:45:18.0030000Z</dcterms:created>
  <dcterms:modified xsi:type="dcterms:W3CDTF">2026-09-22T21:45:18.0030000Z</dcterms:modified>
</coreProperties>
</file>