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bbf834e1b8467a" /><Relationship Type="http://schemas.openxmlformats.org/officeDocument/2006/relationships/extended-properties" Target="/docProps/app.xml" Id="R62aee561fe7f42c6" /><Relationship Type="http://schemas.openxmlformats.org/officeDocument/2006/relationships/officeDocument" Target="/ppt/presentation.xml" Id="R8f8c8305dec34d8a" /></Relationships>
</file>

<file path=ppt/presentation.xml><?xml version="1.0" encoding="utf-8"?>
<p:presentation xmlns:p="http://schemas.openxmlformats.org/presentationml/2006/main">
  <p:sldMasterIdLst>
    <p:sldMasterId xmlns:r="http://schemas.openxmlformats.org/officeDocument/2006/relationships" id="2147483648" r:id="Re0c68cff40774ddb"/>
  </p:sldMasterIdLst>
  <p:notesMasterIdLst>
    <p:notesMasterId xmlns:r="http://schemas.openxmlformats.org/officeDocument/2006/relationships" r:id="Rce8af401aa51415c"/>
  </p:notesMasterIdLst>
  <p:sldIdLst>
    <p:sldId xmlns:r="http://schemas.openxmlformats.org/officeDocument/2006/relationships" id="256" r:id="R1ed6f22ddc534aef"/>
    <p:sldId xmlns:r="http://schemas.openxmlformats.org/officeDocument/2006/relationships" id="257" r:id="R778fe5c43b7a4caa"/>
    <p:sldId xmlns:r="http://schemas.openxmlformats.org/officeDocument/2006/relationships" id="258" r:id="R9efe814d21614e12"/>
    <p:sldId xmlns:r="http://schemas.openxmlformats.org/officeDocument/2006/relationships" id="259" r:id="R28da96e241164f9e"/>
    <p:sldId xmlns:r="http://schemas.openxmlformats.org/officeDocument/2006/relationships" id="260" r:id="R50bcfd7830224d0f"/>
    <p:sldId xmlns:r="http://schemas.openxmlformats.org/officeDocument/2006/relationships" id="261" r:id="Rf761403a5cd444b9"/>
    <p:sldId xmlns:r="http://schemas.openxmlformats.org/officeDocument/2006/relationships" id="262" r:id="R8dd6b4531b604982"/>
    <p:sldId xmlns:r="http://schemas.openxmlformats.org/officeDocument/2006/relationships" id="263" r:id="R9d50569585b04c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53b81212f44e09" /><Relationship Type="http://schemas.openxmlformats.org/officeDocument/2006/relationships/slideMaster" Target="/ppt/slideMasters/slideMaster1.xml" Id="Re0c68cff40774ddb" /><Relationship Type="http://schemas.openxmlformats.org/officeDocument/2006/relationships/notesMaster" Target="/ppt/notesMasters/notesMaster1.xml" Id="Rce8af401aa51415c" /><Relationship Type="http://schemas.openxmlformats.org/officeDocument/2006/relationships/presProps" Target="/ppt/presProps.xml" Id="R9fb3e61562434ec5" /><Relationship Type="http://schemas.openxmlformats.org/officeDocument/2006/relationships/tableStyles" Target="/ppt/tableStyles.xml" Id="Rec3147d9b44846f0" /><Relationship Type="http://schemas.openxmlformats.org/officeDocument/2006/relationships/slide" Target="/ppt/slides/slide1.xml" Id="R1ed6f22ddc534aef" /><Relationship Type="http://schemas.openxmlformats.org/officeDocument/2006/relationships/slide" Target="/ppt/slides/slide2.xml" Id="R778fe5c43b7a4caa" /><Relationship Type="http://schemas.openxmlformats.org/officeDocument/2006/relationships/slide" Target="/ppt/slides/slide3.xml" Id="R9efe814d21614e12" /><Relationship Type="http://schemas.openxmlformats.org/officeDocument/2006/relationships/slide" Target="/ppt/slides/slide4.xml" Id="R28da96e241164f9e" /><Relationship Type="http://schemas.openxmlformats.org/officeDocument/2006/relationships/slide" Target="/ppt/slides/slide5.xml" Id="R50bcfd7830224d0f" /><Relationship Type="http://schemas.openxmlformats.org/officeDocument/2006/relationships/slide" Target="/ppt/slides/slide6.xml" Id="Rf761403a5cd444b9" /><Relationship Type="http://schemas.openxmlformats.org/officeDocument/2006/relationships/slide" Target="/ppt/slides/slide7.xml" Id="R8dd6b4531b604982" /><Relationship Type="http://schemas.openxmlformats.org/officeDocument/2006/relationships/slide" Target="/ppt/slides/slide8.xml" Id="R9d50569585b04c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6dcee8439340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f3a3924192417d" /><Relationship Type="http://schemas.openxmlformats.org/officeDocument/2006/relationships/notesMaster" Target="/ppt/notesMasters/notesMaster1.xml" Id="R6a8b8344160f46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04cd3c9f26466e" /><Relationship Type="http://schemas.openxmlformats.org/officeDocument/2006/relationships/notesMaster" Target="/ppt/notesMasters/notesMaster1.xml" Id="R333562a46cdf47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8a3da051f14b75" /><Relationship Type="http://schemas.openxmlformats.org/officeDocument/2006/relationships/notesMaster" Target="/ppt/notesMasters/notesMaster1.xml" Id="R67a1c9f901f444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e55e84eb3442a5" /><Relationship Type="http://schemas.openxmlformats.org/officeDocument/2006/relationships/notesMaster" Target="/ppt/notesMasters/notesMaster1.xml" Id="Rb9f13e17686c48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ce078ac39e45a2" /><Relationship Type="http://schemas.openxmlformats.org/officeDocument/2006/relationships/notesMaster" Target="/ppt/notesMasters/notesMaster1.xml" Id="R6685a9ab30ff4d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2ba93472e34cca" /><Relationship Type="http://schemas.openxmlformats.org/officeDocument/2006/relationships/notesMaster" Target="/ppt/notesMasters/notesMaster1.xml" Id="Rbeaf094b43f64c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04f44157684a7a" /><Relationship Type="http://schemas.openxmlformats.org/officeDocument/2006/relationships/notesMaster" Target="/ppt/notesMasters/notesMaster1.xml" Id="R161ae50d44654f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2dae74e815465f" /><Relationship Type="http://schemas.openxmlformats.org/officeDocument/2006/relationships/notesMaster" Target="/ppt/notesMasters/notesMaster1.xml" Id="Rdae09598111e45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Project and objective (45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We are Owen Zhang and Joonseo Moon. We are designing an autonomous agent to repair software packages that fail after migration between hardware architectures. Our team is Anthony Capraru, Austin Li, Joonseo Moon, Juliette Jacques, and Owen Zhang, with mentor Minghua Ma at Microsoft. Today we will explain the problem, the proposed repair loop, how success is independently checked, and our semester milestones. This is a design proposal. We have verified the supplied starter example on Linux, while our general LLM agent remains to be implemented.</a:t>
            </a:r>
          </a:p>
          <a:p xmlns:a="http://schemas.openxmlformats.org/drawingml/2006/main">
            <a:r>
              <a:t/>
            </a:r>
          </a:p>
          <a:p xmlns:a="http://schemas.openxmlformats.org/drawingml/2006/main">
            <a:r>
              <a:t>Sources: Team roster supplied by the team. Project title and mentor: repository README and Demo 1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Problem and motivation (65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A package that builds on one architecture can fail on another because architecture-specific source, dependencies, compiler behavior or packaging assumptions change. The maintainer must determine which failure is causal and where to make the repair. The visible compiler error is not always the root cause. Our objective is to automate that investigation while preserving an independent executable check of the outcome. We will measure verified repairs and resource usage. We are not yet claiming measured developer time savings. The downloaded cases come from real Debian source packages and historical build failures.</a:t>
            </a:r>
          </a:p>
          <a:p xmlns:a="http://schemas.openxmlformats.org/drawingml/2006/main">
            <a:r>
              <a:t/>
            </a:r>
          </a:p>
          <a:p xmlns:a="http://schemas.openxmlformats.org/drawingml/2006/main">
            <a:r>
              <a:t>Sources: Official challenge overview, https://matrix.cstcloud.cn/build-bench/ (checked 2026-09-21). docs/evidence/demo-1/dataset-summary.json.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Build-Bench verification model (75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Read the diagram from the upper left across the top row, then down and back across the bottom. Cases describe a package that worked on a source architecture and failed on a target architecture. We have the target-failure evidence; we have not independently reproduced source success for the development dataset. The agent edits its permitted working repository. The organizer then derives a canonical patch, applies it to a fresh case, and runs the target build with expected artifact verification. Completion status and a plausible patch are insufficient. The downloaded public release contains 100 cases in each x86_64/ARM64 direction. The broader competition includes RISC-V, but RISC-V is outside our available public-case evidence. The supplied hello example is a separate RPM smoke case, not one of those 200 Debian cases.</a:t>
            </a:r>
          </a:p>
          <a:p xmlns:a="http://schemas.openxmlformats.org/drawingml/2006/main">
            <a:r>
              <a:t/>
            </a:r>
          </a:p>
          <a:p xmlns:a="http://schemas.openxmlformats.org/drawingml/2006/main">
            <a:r>
              <a:t>Sources: Official challenge overview, https://matrix.cstcloud.cn/build-bench/. Supplied starter kit rc.2 README and AGENTS.md. Dataset evidence 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Proposed system architecture (105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The Case Manager normalizes metadata and paths. The Evidence Manager selects log slices and relevant files. The LLM Planner records a hypothesis and chooses the next action. Controlled Tools inspect source and Debian packaging files using Python. The Repair Generator makes permitted edits. The Validation/Feedback Adapter requests in-loop build feedback when the supported interface allows it. Failure returns evidence to the loop. The final worktree always goes through the organizer's clean build and artifact checks before a repair can count as successful. History/Metrics records attempts and outcomes, while Budget Controls enforce stopping limits. All components are proposed. We separate the submitted agent from a Linux harness that provides model access and invokes the validator outside the sandbox. Hosted model and feedback interfaces remain unconfirmed. We plan to use AWS for course experiments, with x86_64 and ARM64 environments and pinned configurations. Those environments have not been provisioned or verified. Joonseo will explain how we control the repair loop and measure whether it improves.</a:t>
            </a:r>
          </a:p>
          <a:p xmlns:a="http://schemas.openxmlformats.org/drawingml/2006/main">
            <a:r>
              <a:t/>
            </a:r>
          </a:p>
          <a:p xmlns:a="http://schemas.openxmlformats.org/drawingml/2006/main">
            <a:r>
              <a:t>Sources: Proposed design in docs/design-proposal.md. Supplied starter kit rc.2 runtime interface and local runner 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Iteration, context and resource controls (80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Each attempt should test an explicit hypothesis, rather than simply asking for another patch. First identify a failing stage, then inspect the files or build configuration that could explain it. Preserve diagnostic locations so the model can request more context. The largest downloaded log is 2,370,517,311 bytes, about 2.37 decimal gigabytes, which makes unrestricted log ingestion impractical. A history of patch hashes and normalized failure signatures helps prevent repeating the same unsuccessful change. Initial research caps are five repair candidates, thirty minutes total wall time including tools and builds, and thirty thousand model tokens. We allow at most three in-loop builds where supported and stop after two identical failure/patch pairs. A later build stage is only a clue, not proof of progress. Caught exceptions still count as agent errors. These are our design defaults and may be reduced by official limits. Model usage that cannot be observed will remain unknown, not zero.</a:t>
            </a:r>
          </a:p>
          <a:p xmlns:a="http://schemas.openxmlformats.org/drawingml/2006/main">
            <a:r>
              <a:t/>
            </a:r>
          </a:p>
          <a:p xmlns:a="http://schemas.openxmlformats.org/drawingml/2006/main">
            <a:r>
              <a:t>Sources: docs/evidence/demo-1/dataset-summary.json, summary.largest_logs[0]. docs/design-proposal.md, proposed research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Evaluation plan (75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The primary metric is the number of cases meeting clean-patch, target-build and artifact requirements divided by every case in a frozen set. We retain crashes, timeouts, invalid patches and unresolved cases in that denominator, and report infrastructure failures separately. Any runnable-case-only rate must be labeled with its own denominator. We will compare the organizer-linked baseline where it can be reproduced, pinning its version, model and configuration. If it is incompatible, we will document that and use an explicitly named one-shot comparator provisionally. The hello example is not this baseline. Record total wall time, tokens, attempts and tool calls. Run each compared configuration three times on all ten development cases. Report every run and regression, not only repeats on cases that improved. We will group related package names between development and held-out cases to reduce tuning leakage. No public result can establish hidden-case performance.</a:t>
            </a:r>
          </a:p>
          <a:p xmlns:a="http://schemas.openxmlformats.org/drawingml/2006/main">
            <a:r>
              <a:t/>
            </a:r>
          </a:p>
          <a:p xmlns:a="http://schemas.openxmlformats.org/drawingml/2006/main">
            <a:r>
              <a:t>Sources: Official scoring: https://matrix.cstcloud.cn/build-bench/. Organizer-linked baseline: https://github.com/AIOps-Lab-NKU/BuildBench-Agent-Baseline (link verified on official overview; compatibility unverified). docs/design-proposal.md evaluation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Milestones and schedule (80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For Demo 2, the prototype must invoke a model, inspect files, produce an allowed edit and completion record, and reach clean validation. We will evaluate ten fixed public cases, targeting five in each available direction, and establish a reproducible baseline. Demo 2 does not promise a particular success rate. For Demo 3, categorize failures and implement one substantive improvement. The target is one additional repair per ten cases on average, with positive net gains in at least two of three full runs. The alternative is twenty percent fewer aggregate model tokens while retaining every previously repaired case in the corresponding runs, with at least one verified repair overall. Keep the same model and budget ceilings and report all attempts. A configuration flag isolates the improvement for an ablation. The final target is forty cases balanced by direction, including thirty package-grouped held-out cases frozen before optimization. Preserve complete results and reproducibility instructions. These evaluation targets define our semester milestones. Resource caps will be calibrated before comparisons. The website lists a November thirteenth competition freeze, before Demo 3. If we enter, qualification and a frozen version must be ready earlier; December is only the course final reporting date.</a:t>
            </a:r>
          </a:p>
          <a:p xmlns:a="http://schemas.openxmlformats.org/drawingml/2006/main">
            <a:r>
              <a:t/>
            </a:r>
          </a:p>
          <a:p xmlns:a="http://schemas.openxmlformats.org/drawingml/2006/main">
            <a:r>
              <a:t>Sources: Dates: original docs/design-proposal.md course template. Progress rubric: https://ec528.github.io/ec528/fall26/grading/. Competition timeline checked 2026-09-21: https://matrix.cstcloud.cn/build-bench/.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Organizer’s hello workflow reproduced (55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We reproduced the organizer's hello workflow on the Linux VPS. This is not a Build-Bench repair result from our agent. The initial build failed, the example agent replaced a known marker, and the canonical patch passed a fresh build with both RPM artifacts verified. The reported nine seconds measures only the final build. No LLM or public-case repair evaluation has run. The VPS is historical smoke-test evidence. We plan to run course experiments on AWS with pinned x86_64 and ARM64 environments. AWS does not solve Debian case reconstruction, historical dependencies or the hosted model and feedback interface. Those are the immediate technical questions. Our hardest challenge is selecting useful evidence and revising diagnoses within a budget.</a:t>
            </a:r>
          </a:p>
          <a:p xmlns:a="http://schemas.openxmlformats.org/drawingml/2006/main">
            <a:r>
              <a:t/>
            </a:r>
          </a:p>
          <a:p xmlns:a="http://schemas.openxmlformats.org/drawingml/2006/main">
            <a:r>
              <a:t>Sources: docs/evidence/demo-1/{initial-build-result.json,agent-result.json,build-result.json,repair.diff,SHA256SUMS}. Run finished 2026-09-21 23:27:24 UTC.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f7ff7c60b64d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f6a963ffed4d2d" /><Relationship Type="http://schemas.openxmlformats.org/officeDocument/2006/relationships/slideLayout" Target="/ppt/slideLayouts/slideLayout1.xml" Id="Rd00a3db3010943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0a3db3010943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087c19818341b7" /><Relationship Type="http://schemas.openxmlformats.org/officeDocument/2006/relationships/notesSlide" Target="/ppt/notesSlides/notesSlide1.xml" Id="R7e71ad2bc2f342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50405b91cdb48d5" /><Relationship Type="http://schemas.openxmlformats.org/officeDocument/2006/relationships/notesSlide" Target="/ppt/notesSlides/notesSlide2.xml" Id="Racdfc922d7604b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7edf489a6544efc" /><Relationship Type="http://schemas.openxmlformats.org/officeDocument/2006/relationships/notesSlide" Target="/ppt/notesSlides/notesSlide3.xml" Id="R81682ef5f5224b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6b1a6facc474c2a" /><Relationship Type="http://schemas.openxmlformats.org/officeDocument/2006/relationships/notesSlide" Target="/ppt/notesSlides/notesSlide4.xml" Id="R95ab4ea812cd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cdc04515164446" /><Relationship Type="http://schemas.openxmlformats.org/officeDocument/2006/relationships/notesSlide" Target="/ppt/notesSlides/notesSlide5.xml" Id="Rc6bf35103d6949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bbc6cb08ae4167" /><Relationship Type="http://schemas.openxmlformats.org/officeDocument/2006/relationships/notesSlide" Target="/ppt/notesSlides/notesSlide6.xml" Id="R23b165e84c6647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7884dd989641ec" /><Relationship Type="http://schemas.openxmlformats.org/officeDocument/2006/relationships/notesSlide" Target="/ppt/notesSlides/notesSlide7.xml" Id="R2ef094cbdf9f48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6a3a1fecf741e1" /><Relationship Type="http://schemas.openxmlformats.org/officeDocument/2006/relationships/notesSlide" Target="/ppt/notesSlides/notesSlide8.xml" Id="R4058eb31462f4099" /></Relationships>
</file>

<file path=ppt/slides/slide1.xml><?xml version="1.0" encoding="utf-8"?>
<p:sld xmlns:p="http://schemas.openxmlformats.org/presentationml/2006/main">
  <p:cSld>
    <p:bg>
      <p:bgPr>
        <a:solidFill xmlns:a="http://schemas.openxmlformats.org/drawingml/2006/main">
          <a:srgbClr val="122234"/>
        </a:solidFill>
      </p:bgPr>
    </p:bg>
    <p:spTree>
      <p:nvGrpSpPr>
        <p:cNvPr id="1" name=""/>
        <p:cNvGrpSpPr/>
        <p:nvPr/>
      </p:nvGrpSpPr>
      <p:grpSpPr>
        <a:xfrm xmlns:a="http://schemas.openxmlformats.org/drawingml/2006/main"/>
      </p:grpSpPr>
      <p:sp>
        <p:nvSpPr>
          <p:cNvPr id="9" name="shape-1">
            <a:extLst xmlns:a="http://schemas.openxmlformats.org/drawingml/2006/main">
              <a:ext uri="{FF2B5EF4-FFF2-40B4-BE49-F238E27FC236}">
                <a16:creationId xmlns:a16="http://schemas.microsoft.com/office/drawing/2014/main" id="{B3FC252C-F45A-4642-8C91-A1F8C9298391}"/>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C4CDD6"/>
                </a:solidFill>
                <a:latin typeface="Helvetica Neue"/>
                <a:ea typeface="Helvetica Neue"/>
                <a:cs typeface="Helvetica Neue"/>
              </a:defRPr>
            </a:pPr>
            <a:r>
              <a:rPr sz="1200" b="0">
                <a:solidFill>
                  <a:srgbClr val="C4CDD6"/>
                </a:solidFill>
                <a:latin typeface="Helvetica Neue"/>
                <a:ea typeface="Helvetica Neue"/>
                <a:cs typeface="Helvetica Neue"/>
              </a:rPr>
              <a:t>EC528  /  BUILD-BENCH  /  DEMO 1</a:t>
            </a:r>
          </a:p>
        </p:txBody>
      </p:sp>
      <p:sp>
        <p:nvSpPr>
          <p:cNvPr id="2" name="shape-2">
            <a:extLst xmlns:a="http://schemas.openxmlformats.org/drawingml/2006/main">
              <a:ext uri="{FF2B5EF4-FFF2-40B4-BE49-F238E27FC236}">
                <a16:creationId xmlns:a16="http://schemas.microsoft.com/office/drawing/2014/main" id="{414C4EA7-142F-40BB-8356-9827B400D1F3}"/>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C4CDD6"/>
                </a:solidFill>
                <a:latin typeface="Helvetica Neue"/>
                <a:ea typeface="Helvetica Neue"/>
                <a:cs typeface="Helvetica Neue"/>
              </a:defRPr>
            </a:pPr>
            <a:r>
              <a:rPr sz="1500" b="0">
                <a:solidFill>
                  <a:srgbClr val="C4CDD6"/>
                </a:solidFill>
                <a:latin typeface="Helvetica Neue"/>
                <a:ea typeface="Helvetica Neue"/>
                <a:cs typeface="Helvetica Neue"/>
              </a:rPr>
              <a:t>01</a:t>
            </a:r>
          </a:p>
        </p:txBody>
      </p:sp>
      <p:sp>
        <p:nvSpPr>
          <p:cNvPr id="3" name="shape-3">
            <a:extLst xmlns:a="http://schemas.openxmlformats.org/drawingml/2006/main">
              <a:ext uri="{FF2B5EF4-FFF2-40B4-BE49-F238E27FC236}">
                <a16:creationId xmlns:a16="http://schemas.microsoft.com/office/drawing/2014/main" id="{D88F4A75-2073-4176-AB7F-84DFB736E526}"/>
              </a:ext>
            </a:extLst>
          </p:cNvPr>
          <p:cNvSpPr>
            <a:spLocks xmlns:a="http://schemas.openxmlformats.org/drawingml/2006/main" noGrp="1"/>
          </p:cNvSpPr>
          <p:nvPr/>
        </p:nvSpPr>
        <p:spPr>
          <a:xfrm xmlns:a="http://schemas.openxmlformats.org/drawingml/2006/main">
            <a:off x="609600" y="5524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CDD8E2"/>
                </a:solidFill>
                <a:latin typeface="Helvetica Neue"/>
                <a:ea typeface="Helvetica Neue"/>
                <a:cs typeface="Helvetica Neue"/>
              </a:defRPr>
            </a:pPr>
            <a:r>
              <a:rPr sz="1650" b="1">
                <a:solidFill>
                  <a:srgbClr val="CDD8E2"/>
                </a:solidFill>
                <a:latin typeface="Helvetica Neue"/>
                <a:ea typeface="Helvetica Neue"/>
                <a:cs typeface="Helvetica Neue"/>
              </a:rPr>
              <a:t>BOSTON UNIVERSITY  /  EC528</a:t>
            </a:r>
          </a:p>
        </p:txBody>
      </p:sp>
      <p:sp>
        <p:nvSpPr>
          <p:cNvPr id="4" name="shape-4">
            <a:extLst xmlns:a="http://schemas.openxmlformats.org/drawingml/2006/main">
              <a:ext uri="{FF2B5EF4-FFF2-40B4-BE49-F238E27FC236}">
                <a16:creationId xmlns:a16="http://schemas.microsoft.com/office/drawing/2014/main" id="{6408C1EB-3231-475B-ACFC-0DFF40269E73}"/>
              </a:ext>
            </a:extLst>
          </p:cNvPr>
          <p:cNvSpPr>
            <a:spLocks xmlns:a="http://schemas.openxmlformats.org/drawingml/2006/main" noGrp="1"/>
          </p:cNvSpPr>
          <p:nvPr/>
        </p:nvSpPr>
        <p:spPr>
          <a:xfrm xmlns:a="http://schemas.openxmlformats.org/drawingml/2006/main">
            <a:off x="609600" y="1571625"/>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Build-Bench Challenge</a:t>
            </a:r>
          </a:p>
        </p:txBody>
      </p:sp>
      <p:sp>
        <p:nvSpPr>
          <p:cNvPr id="5" name="shape-5">
            <a:extLst xmlns:a="http://schemas.openxmlformats.org/drawingml/2006/main">
              <a:ext uri="{FF2B5EF4-FFF2-40B4-BE49-F238E27FC236}">
                <a16:creationId xmlns:a16="http://schemas.microsoft.com/office/drawing/2014/main" id="{51A1FCF7-430C-4FE4-9E88-018AAB8C4442}"/>
              </a:ext>
            </a:extLst>
          </p:cNvPr>
          <p:cNvSpPr>
            <a:spLocks xmlns:a="http://schemas.openxmlformats.org/drawingml/2006/main" noGrp="1"/>
          </p:cNvSpPr>
          <p:nvPr/>
        </p:nvSpPr>
        <p:spPr>
          <a:xfrm xmlns:a="http://schemas.openxmlformats.org/drawingml/2006/main">
            <a:off x="609600" y="2619375"/>
            <a:ext cx="1047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Autonomous LLM Agents for</a:t>
            </a:r>
          </a:p>
          <a:p xmlns:a="http://schemas.openxmlformats.org/drawingml/2006/main">
            <a:pPr algn="l">
              <a:buNone/>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Cross-Architecture Package Repair</a:t>
            </a:r>
          </a:p>
        </p:txBody>
      </p:sp>
      <p:sp>
        <p:nvSpPr>
          <p:cNvPr id="6" name="">
            <a:extLst xmlns:a="http://schemas.openxmlformats.org/drawingml/2006/main">
              <a:ext uri="{FF2B5EF4-FFF2-40B4-BE49-F238E27FC236}">
                <a16:creationId xmlns:a16="http://schemas.microsoft.com/office/drawing/2014/main" id="{D70C9F14-C64C-4DF6-A0AC-4CD0CBF56980}"/>
              </a:ext>
            </a:extLst>
          </p:cNvPr>
          <p:cNvSpPr>
            <a:spLocks xmlns:a="http://schemas.openxmlformats.org/drawingml/2006/main" noGrp="1"/>
          </p:cNvSpPr>
          <p:nvPr/>
        </p:nvSpPr>
        <p:spPr>
          <a:xfrm xmlns:a="http://schemas.openxmlformats.org/drawingml/2006/main">
            <a:off x="609600" y="4333875"/>
            <a:ext cx="10953750" cy="0"/>
          </a:xfrm>
          <a:prstGeom xmlns:a="http://schemas.openxmlformats.org/drawingml/2006/main" prst="line">
            <a:avLst/>
          </a:prstGeom>
          <a:noFill xmlns:a="http://schemas.openxmlformats.org/drawingml/2006/main"/>
          <a:ln xmlns:a="http://schemas.openxmlformats.org/drawingml/2006/main" w="14288">
            <a:solidFill>
              <a:srgbClr val="4A5969"/>
            </a:solidFill>
          </a:ln>
        </p:spPr>
      </p:sp>
      <p:sp>
        <p:nvSpPr>
          <p:cNvPr id="7" name="shape-6">
            <a:extLst xmlns:a="http://schemas.openxmlformats.org/drawingml/2006/main">
              <a:ext uri="{FF2B5EF4-FFF2-40B4-BE49-F238E27FC236}">
                <a16:creationId xmlns:a16="http://schemas.microsoft.com/office/drawing/2014/main" id="{D455EAEA-FDAB-43F6-9464-47BADF1E6291}"/>
              </a:ext>
            </a:extLst>
          </p:cNvPr>
          <p:cNvSpPr>
            <a:spLocks xmlns:a="http://schemas.openxmlformats.org/drawingml/2006/main" noGrp="1"/>
          </p:cNvSpPr>
          <p:nvPr/>
        </p:nvSpPr>
        <p:spPr>
          <a:xfrm xmlns:a="http://schemas.openxmlformats.org/drawingml/2006/main">
            <a:off x="609600" y="4572000"/>
            <a:ext cx="10668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Presenters: Owen Zhang and Joonseo Moon</a:t>
            </a:r>
          </a:p>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Team: Anthony Capraru, Austin Li, Joonseo Moon,</a:t>
            </a:r>
          </a:p>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Juliette Jacques, Owen Zhang</a:t>
            </a:r>
          </a:p>
        </p:txBody>
      </p:sp>
      <p:sp>
        <p:nvSpPr>
          <p:cNvPr id="8" name="shape-7">
            <a:extLst xmlns:a="http://schemas.openxmlformats.org/drawingml/2006/main">
              <a:ext uri="{FF2B5EF4-FFF2-40B4-BE49-F238E27FC236}">
                <a16:creationId xmlns:a16="http://schemas.microsoft.com/office/drawing/2014/main" id="{25EC8FA3-7DAB-4613-9774-68C449C504B5}"/>
              </a:ext>
            </a:extLst>
          </p:cNvPr>
          <p:cNvSpPr>
            <a:spLocks xmlns:a="http://schemas.openxmlformats.org/drawingml/2006/main" noGrp="1"/>
          </p:cNvSpPr>
          <p:nvPr/>
        </p:nvSpPr>
        <p:spPr>
          <a:xfrm xmlns:a="http://schemas.openxmlformats.org/drawingml/2006/main">
            <a:off x="609600" y="5867400"/>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C4CDD6"/>
                </a:solidFill>
                <a:latin typeface="Helvetica Neue"/>
                <a:ea typeface="Helvetica Neue"/>
                <a:cs typeface="Helvetica Neue"/>
              </a:defRPr>
            </a:pPr>
            <a:r>
              <a:rPr sz="1875" b="0">
                <a:solidFill>
                  <a:srgbClr val="C4CDD6"/>
                </a:solidFill>
                <a:latin typeface="Helvetica Neue"/>
                <a:ea typeface="Helvetica Neue"/>
                <a:cs typeface="Helvetica Neue"/>
              </a:rPr>
              <a:t>Mentor: Minghua Ma, Microsoft</a:t>
            </a:r>
          </a:p>
        </p:txBody>
      </p:sp>
    </p:spTree>
    <p:extLst>
      <p:ext uri="{BB962C8B-B14F-4D97-AF65-F5344CB8AC3E}">
        <p14:creationId xmlns:p14="http://schemas.microsoft.com/office/powerpoint/2010/main" val="1133986750"/>
      </p:ext>
    </p:extLst>
  </p:cSld>
</p:sld>
</file>

<file path=ppt/slides/slide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7" name="shape-8">
            <a:extLst xmlns:a="http://schemas.openxmlformats.org/drawingml/2006/main">
              <a:ext uri="{FF2B5EF4-FFF2-40B4-BE49-F238E27FC236}">
                <a16:creationId xmlns:a16="http://schemas.microsoft.com/office/drawing/2014/main" id="{88F19627-D38F-45B0-8B11-C7A56D518B08}"/>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A working package can fail after migration</a:t>
            </a:r>
          </a:p>
        </p:txBody>
      </p:sp>
      <p:sp>
        <p:nvSpPr>
          <p:cNvPr id="2" name="shape-9">
            <a:extLst xmlns:a="http://schemas.openxmlformats.org/drawingml/2006/main">
              <a:ext uri="{FF2B5EF4-FFF2-40B4-BE49-F238E27FC236}">
                <a16:creationId xmlns:a16="http://schemas.microsoft.com/office/drawing/2014/main" id="{67175314-4430-4429-B926-9AE06A09F48E}"/>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0">
            <a:extLst xmlns:a="http://schemas.openxmlformats.org/drawingml/2006/main">
              <a:ext uri="{FF2B5EF4-FFF2-40B4-BE49-F238E27FC236}">
                <a16:creationId xmlns:a16="http://schemas.microsoft.com/office/drawing/2014/main" id="{7DBFB13E-74B2-4115-A0DD-CE62E59F3A74}"/>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02</a:t>
            </a:r>
          </a:p>
        </p:txBody>
      </p:sp>
      <p:sp>
        <p:nvSpPr>
          <p:cNvPr id="4" name="shape-11">
            <a:extLst xmlns:a="http://schemas.openxmlformats.org/drawingml/2006/main">
              <a:ext uri="{FF2B5EF4-FFF2-40B4-BE49-F238E27FC236}">
                <a16:creationId xmlns:a16="http://schemas.microsoft.com/office/drawing/2014/main" id="{EB53CB89-11C4-4178-90AE-B7723DD076BE}"/>
              </a:ext>
            </a:extLst>
          </p:cNvPr>
          <p:cNvSpPr>
            <a:spLocks xmlns:a="http://schemas.openxmlformats.org/drawingml/2006/main" noGrp="1"/>
          </p:cNvSpPr>
          <p:nvPr/>
        </p:nvSpPr>
        <p:spPr>
          <a:xfrm xmlns:a="http://schemas.openxmlformats.org/drawingml/2006/main">
            <a:off x="609600" y="12858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536374"/>
                </a:solidFill>
                <a:latin typeface="Helvetica Neue"/>
                <a:ea typeface="Helvetica Neue"/>
                <a:cs typeface="Helvetica Neue"/>
              </a:defRPr>
            </a:pPr>
            <a:r>
              <a:rPr sz="2025" b="0">
                <a:solidFill>
                  <a:srgbClr val="536374"/>
                </a:solidFill>
                <a:latin typeface="Helvetica Neue"/>
                <a:ea typeface="Helvetica Neue"/>
                <a:cs typeface="Helvetica Neue"/>
              </a:rPr>
              <a:t>Cross-architecture repair connects source code, dependencies and packaging.</a:t>
            </a:r>
          </a:p>
        </p:txBody>
      </p:sp>
      <p:sp>
        <p:nvSpPr>
          <p:cNvPr id="5" name="shape-12">
            <a:extLst xmlns:a="http://schemas.openxmlformats.org/drawingml/2006/main">
              <a:ext uri="{FF2B5EF4-FFF2-40B4-BE49-F238E27FC236}">
                <a16:creationId xmlns:a16="http://schemas.microsoft.com/office/drawing/2014/main" id="{F0A98A5D-5068-40F3-BA48-47DC54DD1360}"/>
              </a:ext>
            </a:extLst>
          </p:cNvPr>
          <p:cNvSpPr>
            <a:spLocks xmlns:a="http://schemas.openxmlformats.org/drawingml/2006/main" noGrp="1"/>
          </p:cNvSpPr>
          <p:nvPr/>
        </p:nvSpPr>
        <p:spPr>
          <a:xfrm xmlns:a="http://schemas.openxmlformats.org/drawingml/2006/main">
            <a:off x="609600" y="2428875"/>
            <a:ext cx="3429000" cy="1095375"/>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6" name="shape-13">
            <a:extLst xmlns:a="http://schemas.openxmlformats.org/drawingml/2006/main">
              <a:ext uri="{FF2B5EF4-FFF2-40B4-BE49-F238E27FC236}">
                <a16:creationId xmlns:a16="http://schemas.microsoft.com/office/drawing/2014/main" id="{C6751B4F-B948-474E-B190-8BC9EC775ABB}"/>
              </a:ext>
            </a:extLst>
          </p:cNvPr>
          <p:cNvSpPr>
            <a:spLocks xmlns:a="http://schemas.openxmlformats.org/drawingml/2006/main" noGrp="1"/>
          </p:cNvSpPr>
          <p:nvPr/>
        </p:nvSpPr>
        <p:spPr>
          <a:xfrm xmlns:a="http://schemas.openxmlformats.org/drawingml/2006/main">
            <a:off x="762000" y="2571750"/>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Builds on source</a:t>
            </a:r>
          </a:p>
        </p:txBody>
      </p:sp>
      <p:sp>
        <p:nvSpPr>
          <p:cNvPr id="7" name="shape-14">
            <a:extLst xmlns:a="http://schemas.openxmlformats.org/drawingml/2006/main">
              <a:ext uri="{FF2B5EF4-FFF2-40B4-BE49-F238E27FC236}">
                <a16:creationId xmlns:a16="http://schemas.microsoft.com/office/drawing/2014/main" id="{AE2E9019-AF40-4EC7-9235-8851D086F8A5}"/>
              </a:ext>
            </a:extLst>
          </p:cNvPr>
          <p:cNvSpPr>
            <a:spLocks xmlns:a="http://schemas.openxmlformats.org/drawingml/2006/main" noGrp="1"/>
          </p:cNvSpPr>
          <p:nvPr/>
        </p:nvSpPr>
        <p:spPr>
          <a:xfrm xmlns:a="http://schemas.openxmlformats.org/drawingml/2006/main">
            <a:off x="762000" y="2933700"/>
            <a:ext cx="31242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Compiler and dependencies align</a:t>
            </a:r>
          </a:p>
        </p:txBody>
      </p:sp>
      <p:sp>
        <p:nvSpPr>
          <p:cNvPr id="8" name="shape-15">
            <a:extLst xmlns:a="http://schemas.openxmlformats.org/drawingml/2006/main">
              <a:ext uri="{FF2B5EF4-FFF2-40B4-BE49-F238E27FC236}">
                <a16:creationId xmlns:a16="http://schemas.microsoft.com/office/drawing/2014/main" id="{79C7A935-5CEE-4638-8D7F-8E5294951FFF}"/>
              </a:ext>
            </a:extLst>
          </p:cNvPr>
          <p:cNvSpPr>
            <a:spLocks xmlns:a="http://schemas.openxmlformats.org/drawingml/2006/main" noGrp="1"/>
          </p:cNvSpPr>
          <p:nvPr/>
        </p:nvSpPr>
        <p:spPr>
          <a:xfrm xmlns:a="http://schemas.openxmlformats.org/drawingml/2006/main">
            <a:off x="8096250" y="2428875"/>
            <a:ext cx="3476625" cy="1095375"/>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16">
            <a:extLst xmlns:a="http://schemas.openxmlformats.org/drawingml/2006/main">
              <a:ext uri="{FF2B5EF4-FFF2-40B4-BE49-F238E27FC236}">
                <a16:creationId xmlns:a16="http://schemas.microsoft.com/office/drawing/2014/main" id="{3542245E-7DB3-4BC2-A0C3-145125DF2111}"/>
              </a:ext>
            </a:extLst>
          </p:cNvPr>
          <p:cNvSpPr>
            <a:spLocks xmlns:a="http://schemas.openxmlformats.org/drawingml/2006/main" noGrp="1"/>
          </p:cNvSpPr>
          <p:nvPr/>
        </p:nvSpPr>
        <p:spPr>
          <a:xfrm xmlns:a="http://schemas.openxmlformats.org/drawingml/2006/main">
            <a:off x="8248650" y="2571750"/>
            <a:ext cx="31718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Fails on target</a:t>
            </a:r>
          </a:p>
        </p:txBody>
      </p:sp>
      <p:sp>
        <p:nvSpPr>
          <p:cNvPr id="10" name="shape-17">
            <a:extLst xmlns:a="http://schemas.openxmlformats.org/drawingml/2006/main">
              <a:ext uri="{FF2B5EF4-FFF2-40B4-BE49-F238E27FC236}">
                <a16:creationId xmlns:a16="http://schemas.microsoft.com/office/drawing/2014/main" id="{F9084C2A-7793-4355-AD5C-4C797FC447E3}"/>
              </a:ext>
            </a:extLst>
          </p:cNvPr>
          <p:cNvSpPr>
            <a:spLocks xmlns:a="http://schemas.openxmlformats.org/drawingml/2006/main" noGrp="1"/>
          </p:cNvSpPr>
          <p:nvPr/>
        </p:nvSpPr>
        <p:spPr>
          <a:xfrm xmlns:a="http://schemas.openxmlformats.org/drawingml/2006/main">
            <a:off x="8248650" y="2933700"/>
            <a:ext cx="31718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Flags, assumptions or build logic differ</a:t>
            </a:r>
          </a:p>
        </p:txBody>
      </p:sp>
      <p:cxnSp>
        <p:nvCxnSpPr>
          <p:cNvPr id="60" name=""/>
          <p:cNvCxnSpPr>
            <a:stCxn xmlns:a="http://schemas.openxmlformats.org/drawingml/2006/main" id="5" idx="3"/>
            <a:endCxn xmlns:a="http://schemas.openxmlformats.org/drawingml/2006/main" id="8" idx="1"/>
          </p:cNvCxnSpPr>
          <p:nvPr/>
        </p:nvCxnSpPr>
        <p:spPr>
          <a:xfrm xmlns:a="http://schemas.openxmlformats.org/drawingml/2006/main">
            <a:off x="4038600" y="2976563"/>
            <a:ext cx="4057650" cy="0"/>
          </a:xfrm>
          <a:prstGeom xmlns:a="http://schemas.openxmlformats.org/drawingml/2006/main" prst="straightConnector1">
            <a:avLst/>
          </a:prstGeom>
          <a:ln xmlns:a="http://schemas.openxmlformats.org/drawingml/2006/main" w="19050">
            <a:solidFill>
              <a:srgbClr val="536374"/>
            </a:solidFill>
            <a:tailEnd type="triangle" w="med" len="med"/>
          </a:ln>
        </p:spPr>
      </p:cxnSp>
      <p:sp>
        <p:nvSpPr>
          <p:cNvPr id="12" name="shape-18">
            <a:extLst xmlns:a="http://schemas.openxmlformats.org/drawingml/2006/main">
              <a:ext uri="{FF2B5EF4-FFF2-40B4-BE49-F238E27FC236}">
                <a16:creationId xmlns:a16="http://schemas.microsoft.com/office/drawing/2014/main" id="{C2319F40-86B9-45C9-8A63-C9D6B3BB6EE0}"/>
              </a:ext>
            </a:extLst>
          </p:cNvPr>
          <p:cNvSpPr>
            <a:spLocks xmlns:a="http://schemas.openxmlformats.org/drawingml/2006/main" noGrp="1"/>
          </p:cNvSpPr>
          <p:nvPr/>
        </p:nvSpPr>
        <p:spPr>
          <a:xfrm xmlns:a="http://schemas.openxmlformats.org/drawingml/2006/main">
            <a:off x="4648200" y="2600325"/>
            <a:ext cx="2809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B83138"/>
                </a:solidFill>
                <a:latin typeface="Helvetica Neue"/>
                <a:ea typeface="Helvetica Neue"/>
                <a:cs typeface="Helvetica Neue"/>
              </a:defRPr>
            </a:pPr>
            <a:r>
              <a:rPr sz="2100" b="1">
                <a:solidFill>
                  <a:srgbClr val="B83138"/>
                </a:solidFill>
                <a:latin typeface="Helvetica Neue"/>
                <a:ea typeface="Helvetica Neue"/>
                <a:cs typeface="Helvetica Neue"/>
              </a:rPr>
              <a:t>Migration</a:t>
            </a:r>
          </a:p>
        </p:txBody>
      </p:sp>
      <p:sp>
        <p:nvSpPr>
          <p:cNvPr id="13" name="shape-19">
            <a:extLst xmlns:a="http://schemas.openxmlformats.org/drawingml/2006/main">
              <a:ext uri="{FF2B5EF4-FFF2-40B4-BE49-F238E27FC236}">
                <a16:creationId xmlns:a16="http://schemas.microsoft.com/office/drawing/2014/main" id="{8E3ADBD5-60B7-4626-87E8-FE79EA9FC4E6}"/>
              </a:ext>
            </a:extLst>
          </p:cNvPr>
          <p:cNvSpPr>
            <a:spLocks xmlns:a="http://schemas.openxmlformats.org/drawingml/2006/main" noGrp="1"/>
          </p:cNvSpPr>
          <p:nvPr/>
        </p:nvSpPr>
        <p:spPr>
          <a:xfrm xmlns:a="http://schemas.openxmlformats.org/drawingml/2006/main">
            <a:off x="609600" y="42862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122234"/>
                </a:solidFill>
                <a:latin typeface="Helvetica Neue"/>
                <a:ea typeface="Helvetica Neue"/>
                <a:cs typeface="Helvetica Neue"/>
              </a:defRPr>
            </a:pPr>
            <a:r>
              <a:rPr sz="2100" b="1">
                <a:solidFill>
                  <a:srgbClr val="122234"/>
                </a:solidFill>
                <a:latin typeface="Helvetica Neue"/>
                <a:ea typeface="Helvetica Neue"/>
                <a:cs typeface="Helvetica Neue"/>
              </a:rPr>
              <a:t>Maintainer effort</a:t>
            </a:r>
          </a:p>
        </p:txBody>
      </p:sp>
      <p:sp>
        <p:nvSpPr>
          <p:cNvPr id="14" name="shape-20">
            <a:extLst xmlns:a="http://schemas.openxmlformats.org/drawingml/2006/main">
              <a:ext uri="{FF2B5EF4-FFF2-40B4-BE49-F238E27FC236}">
                <a16:creationId xmlns:a16="http://schemas.microsoft.com/office/drawing/2014/main" id="{24AE26FB-A0C8-4D6B-838E-9682E5ED8494}"/>
              </a:ext>
            </a:extLst>
          </p:cNvPr>
          <p:cNvSpPr>
            <a:spLocks xmlns:a="http://schemas.openxmlformats.org/drawingml/2006/main" noGrp="1"/>
          </p:cNvSpPr>
          <p:nvPr/>
        </p:nvSpPr>
        <p:spPr>
          <a:xfrm xmlns:a="http://schemas.openxmlformats.org/drawingml/2006/main">
            <a:off x="609600" y="47815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Trace the failure across unfamiliar</a:t>
            </a:r>
          </a:p>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logs, source and build files.</a:t>
            </a:r>
          </a:p>
        </p:txBody>
      </p:sp>
      <p:sp>
        <p:nvSpPr>
          <p:cNvPr id="15" name="shape-21">
            <a:extLst xmlns:a="http://schemas.openxmlformats.org/drawingml/2006/main">
              <a:ext uri="{FF2B5EF4-FFF2-40B4-BE49-F238E27FC236}">
                <a16:creationId xmlns:a16="http://schemas.microsoft.com/office/drawing/2014/main" id="{05CCB84E-D066-433A-AF2B-70B304C18DA0}"/>
              </a:ext>
            </a:extLst>
          </p:cNvPr>
          <p:cNvSpPr>
            <a:spLocks xmlns:a="http://schemas.openxmlformats.org/drawingml/2006/main" noGrp="1"/>
          </p:cNvSpPr>
          <p:nvPr/>
        </p:nvSpPr>
        <p:spPr>
          <a:xfrm xmlns:a="http://schemas.openxmlformats.org/drawingml/2006/main">
            <a:off x="6429375" y="428625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122234"/>
                </a:solidFill>
                <a:latin typeface="Helvetica Neue"/>
                <a:ea typeface="Helvetica Neue"/>
                <a:cs typeface="Helvetica Neue"/>
              </a:defRPr>
            </a:pPr>
            <a:r>
              <a:rPr sz="2100" b="1">
                <a:solidFill>
                  <a:srgbClr val="122234"/>
                </a:solidFill>
                <a:latin typeface="Helvetica Neue"/>
                <a:ea typeface="Helvetica Neue"/>
                <a:cs typeface="Helvetica Neue"/>
              </a:rPr>
              <a:t>Our objective</a:t>
            </a:r>
          </a:p>
        </p:txBody>
      </p:sp>
      <p:sp>
        <p:nvSpPr>
          <p:cNvPr id="16" name="shape-22">
            <a:extLst xmlns:a="http://schemas.openxmlformats.org/drawingml/2006/main">
              <a:ext uri="{FF2B5EF4-FFF2-40B4-BE49-F238E27FC236}">
                <a16:creationId xmlns:a16="http://schemas.microsoft.com/office/drawing/2014/main" id="{378E7339-84C9-4938-9111-4BE8D3829391}"/>
              </a:ext>
            </a:extLst>
          </p:cNvPr>
          <p:cNvSpPr>
            <a:spLocks xmlns:a="http://schemas.openxmlformats.org/drawingml/2006/main" noGrp="1"/>
          </p:cNvSpPr>
          <p:nvPr/>
        </p:nvSpPr>
        <p:spPr>
          <a:xfrm xmlns:a="http://schemas.openxmlformats.org/drawingml/2006/main">
            <a:off x="6429375" y="478155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Automate diagnosis and repair.</a:t>
            </a:r>
          </a:p>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Confirm the result in a clean build.</a:t>
            </a:r>
          </a:p>
        </p:txBody>
      </p:sp>
    </p:spTree>
    <p:extLst>
      <p:ext uri="{BB962C8B-B14F-4D97-AF65-F5344CB8AC3E}">
        <p14:creationId xmlns:p14="http://schemas.microsoft.com/office/powerpoint/2010/main" val="1809114061"/>
      </p:ext>
    </p:extLst>
  </p:cSld>
</p:sld>
</file>

<file path=ppt/slides/slide3.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9" name="shape-23">
            <a:extLst xmlns:a="http://schemas.openxmlformats.org/drawingml/2006/main">
              <a:ext uri="{FF2B5EF4-FFF2-40B4-BE49-F238E27FC236}">
                <a16:creationId xmlns:a16="http://schemas.microsoft.com/office/drawing/2014/main" id="{5CD169F1-9E5E-4924-AB40-B65EEF97A3C2}"/>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A clean target build determines success</a:t>
            </a:r>
          </a:p>
        </p:txBody>
      </p:sp>
      <p:sp>
        <p:nvSpPr>
          <p:cNvPr id="2" name="shape-24">
            <a:extLst xmlns:a="http://schemas.openxmlformats.org/drawingml/2006/main">
              <a:ext uri="{FF2B5EF4-FFF2-40B4-BE49-F238E27FC236}">
                <a16:creationId xmlns:a16="http://schemas.microsoft.com/office/drawing/2014/main" id="{26412FC2-A217-4668-B92B-56D36E2DCD07}"/>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25">
            <a:extLst xmlns:a="http://schemas.openxmlformats.org/drawingml/2006/main">
              <a:ext uri="{FF2B5EF4-FFF2-40B4-BE49-F238E27FC236}">
                <a16:creationId xmlns:a16="http://schemas.microsoft.com/office/drawing/2014/main" id="{500A2DFE-4B83-4507-9AF4-9E6A22BA1DE7}"/>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03</a:t>
            </a:r>
          </a:p>
        </p:txBody>
      </p:sp>
      <p:sp>
        <p:nvSpPr>
          <p:cNvPr id="4" name="shape-26">
            <a:extLst xmlns:a="http://schemas.openxmlformats.org/drawingml/2006/main">
              <a:ext uri="{FF2B5EF4-FFF2-40B4-BE49-F238E27FC236}">
                <a16:creationId xmlns:a16="http://schemas.microsoft.com/office/drawing/2014/main" id="{74915CCF-6DC5-4909-8F67-26E5295D5102}"/>
              </a:ext>
            </a:extLst>
          </p:cNvPr>
          <p:cNvSpPr>
            <a:spLocks xmlns:a="http://schemas.openxmlformats.org/drawingml/2006/main" noGrp="1"/>
          </p:cNvSpPr>
          <p:nvPr/>
        </p:nvSpPr>
        <p:spPr>
          <a:xfrm xmlns:a="http://schemas.openxmlformats.org/drawingml/2006/main">
            <a:off x="609600" y="12954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536374"/>
                </a:solidFill>
                <a:latin typeface="Helvetica Neue"/>
                <a:ea typeface="Helvetica Neue"/>
                <a:cs typeface="Helvetica Neue"/>
              </a:defRPr>
            </a:pPr>
            <a:r>
              <a:rPr sz="2025" b="0">
                <a:solidFill>
                  <a:srgbClr val="536374"/>
                </a:solidFill>
                <a:latin typeface="Helvetica Neue"/>
                <a:ea typeface="Helvetica Neue"/>
                <a:cs typeface="Helvetica Neue"/>
              </a:rPr>
              <a:t>The organizer derives the patch and checks the resulting package artifacts.</a:t>
            </a:r>
          </a:p>
        </p:txBody>
      </p:sp>
      <p:sp>
        <p:nvSpPr>
          <p:cNvPr id="5" name="shape-27">
            <a:extLst xmlns:a="http://schemas.openxmlformats.org/drawingml/2006/main">
              <a:ext uri="{FF2B5EF4-FFF2-40B4-BE49-F238E27FC236}">
                <a16:creationId xmlns:a16="http://schemas.microsoft.com/office/drawing/2014/main" id="{126F511D-472C-4C06-A68D-D81DE9207DFA}"/>
              </a:ext>
            </a:extLst>
          </p:cNvPr>
          <p:cNvSpPr>
            <a:spLocks xmlns:a="http://schemas.openxmlformats.org/drawingml/2006/main" noGrp="1"/>
          </p:cNvSpPr>
          <p:nvPr/>
        </p:nvSpPr>
        <p:spPr>
          <a:xfrm xmlns:a="http://schemas.openxmlformats.org/drawingml/2006/main">
            <a:off x="609600" y="2124075"/>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6" name="shape-28">
            <a:extLst xmlns:a="http://schemas.openxmlformats.org/drawingml/2006/main">
              <a:ext uri="{FF2B5EF4-FFF2-40B4-BE49-F238E27FC236}">
                <a16:creationId xmlns:a16="http://schemas.microsoft.com/office/drawing/2014/main" id="{9A662F30-253A-4DE8-A40C-F9BA427D027A}"/>
              </a:ext>
            </a:extLst>
          </p:cNvPr>
          <p:cNvSpPr>
            <a:spLocks xmlns:a="http://schemas.openxmlformats.org/drawingml/2006/main" noGrp="1"/>
          </p:cNvSpPr>
          <p:nvPr/>
        </p:nvSpPr>
        <p:spPr>
          <a:xfrm xmlns:a="http://schemas.openxmlformats.org/drawingml/2006/main">
            <a:off x="762000"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Source package</a:t>
            </a:r>
          </a:p>
        </p:txBody>
      </p:sp>
      <p:sp>
        <p:nvSpPr>
          <p:cNvPr id="7" name="shape-29">
            <a:extLst xmlns:a="http://schemas.openxmlformats.org/drawingml/2006/main">
              <a:ext uri="{FF2B5EF4-FFF2-40B4-BE49-F238E27FC236}">
                <a16:creationId xmlns:a16="http://schemas.microsoft.com/office/drawing/2014/main" id="{0D0D47E3-CF84-4D69-A5EB-2D05D4BB0ACD}"/>
              </a:ext>
            </a:extLst>
          </p:cNvPr>
          <p:cNvSpPr>
            <a:spLocks xmlns:a="http://schemas.openxmlformats.org/drawingml/2006/main" noGrp="1"/>
          </p:cNvSpPr>
          <p:nvPr/>
        </p:nvSpPr>
        <p:spPr>
          <a:xfrm xmlns:a="http://schemas.openxmlformats.org/drawingml/2006/main">
            <a:off x="762000"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Source-build success is case context</a:t>
            </a:r>
          </a:p>
        </p:txBody>
      </p:sp>
      <p:sp>
        <p:nvSpPr>
          <p:cNvPr id="8" name="shape-30">
            <a:extLst xmlns:a="http://schemas.openxmlformats.org/drawingml/2006/main">
              <a:ext uri="{FF2B5EF4-FFF2-40B4-BE49-F238E27FC236}">
                <a16:creationId xmlns:a16="http://schemas.microsoft.com/office/drawing/2014/main" id="{8D3C6045-A39A-4E81-940C-B054DBE40747}"/>
              </a:ext>
            </a:extLst>
          </p:cNvPr>
          <p:cNvSpPr>
            <a:spLocks xmlns:a="http://schemas.openxmlformats.org/drawingml/2006/main" noGrp="1"/>
          </p:cNvSpPr>
          <p:nvPr/>
        </p:nvSpPr>
        <p:spPr>
          <a:xfrm xmlns:a="http://schemas.openxmlformats.org/drawingml/2006/main">
            <a:off x="4467225" y="2124075"/>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31">
            <a:extLst xmlns:a="http://schemas.openxmlformats.org/drawingml/2006/main">
              <a:ext uri="{FF2B5EF4-FFF2-40B4-BE49-F238E27FC236}">
                <a16:creationId xmlns:a16="http://schemas.microsoft.com/office/drawing/2014/main" id="{D8DE481A-837A-42F1-B663-8A052F97402E}"/>
              </a:ext>
            </a:extLst>
          </p:cNvPr>
          <p:cNvSpPr>
            <a:spLocks xmlns:a="http://schemas.openxmlformats.org/drawingml/2006/main" noGrp="1"/>
          </p:cNvSpPr>
          <p:nvPr/>
        </p:nvSpPr>
        <p:spPr>
          <a:xfrm xmlns:a="http://schemas.openxmlformats.org/drawingml/2006/main">
            <a:off x="4619625"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Target build fails</a:t>
            </a:r>
          </a:p>
        </p:txBody>
      </p:sp>
      <p:sp>
        <p:nvSpPr>
          <p:cNvPr id="10" name="shape-32">
            <a:extLst xmlns:a="http://schemas.openxmlformats.org/drawingml/2006/main">
              <a:ext uri="{FF2B5EF4-FFF2-40B4-BE49-F238E27FC236}">
                <a16:creationId xmlns:a16="http://schemas.microsoft.com/office/drawing/2014/main" id="{E19CF246-1740-4D5D-AAE4-6409E0D7476B}"/>
              </a:ext>
            </a:extLst>
          </p:cNvPr>
          <p:cNvSpPr>
            <a:spLocks xmlns:a="http://schemas.openxmlformats.org/drawingml/2006/main" noGrp="1"/>
          </p:cNvSpPr>
          <p:nvPr/>
        </p:nvSpPr>
        <p:spPr>
          <a:xfrm xmlns:a="http://schemas.openxmlformats.org/drawingml/2006/main">
            <a:off x="4619625"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Initial log and architecture metadata</a:t>
            </a:r>
          </a:p>
        </p:txBody>
      </p:sp>
      <p:sp>
        <p:nvSpPr>
          <p:cNvPr id="11" name="shape-33">
            <a:extLst xmlns:a="http://schemas.openxmlformats.org/drawingml/2006/main">
              <a:ext uri="{FF2B5EF4-FFF2-40B4-BE49-F238E27FC236}">
                <a16:creationId xmlns:a16="http://schemas.microsoft.com/office/drawing/2014/main" id="{77EEB376-58B7-429F-92B8-B079CF4B4617}"/>
              </a:ext>
            </a:extLst>
          </p:cNvPr>
          <p:cNvSpPr>
            <a:spLocks xmlns:a="http://schemas.openxmlformats.org/drawingml/2006/main" noGrp="1"/>
          </p:cNvSpPr>
          <p:nvPr/>
        </p:nvSpPr>
        <p:spPr>
          <a:xfrm xmlns:a="http://schemas.openxmlformats.org/drawingml/2006/main">
            <a:off x="8324850" y="2124075"/>
            <a:ext cx="3257550" cy="116205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12" name="shape-34">
            <a:extLst xmlns:a="http://schemas.openxmlformats.org/drawingml/2006/main">
              <a:ext uri="{FF2B5EF4-FFF2-40B4-BE49-F238E27FC236}">
                <a16:creationId xmlns:a16="http://schemas.microsoft.com/office/drawing/2014/main" id="{E41E8AD7-D767-4F2C-8D66-55BB88F77709}"/>
              </a:ext>
            </a:extLst>
          </p:cNvPr>
          <p:cNvSpPr>
            <a:spLocks xmlns:a="http://schemas.openxmlformats.org/drawingml/2006/main" noGrp="1"/>
          </p:cNvSpPr>
          <p:nvPr/>
        </p:nvSpPr>
        <p:spPr>
          <a:xfrm xmlns:a="http://schemas.openxmlformats.org/drawingml/2006/main">
            <a:off x="8477250"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Repair agent</a:t>
            </a:r>
          </a:p>
        </p:txBody>
      </p:sp>
      <p:sp>
        <p:nvSpPr>
          <p:cNvPr id="13" name="shape-35">
            <a:extLst xmlns:a="http://schemas.openxmlformats.org/drawingml/2006/main">
              <a:ext uri="{FF2B5EF4-FFF2-40B4-BE49-F238E27FC236}">
                <a16:creationId xmlns:a16="http://schemas.microsoft.com/office/drawing/2014/main" id="{2C43C5B3-AEDF-419A-989E-F35CBEEDB1DE}"/>
              </a:ext>
            </a:extLst>
          </p:cNvPr>
          <p:cNvSpPr>
            <a:spLocks xmlns:a="http://schemas.openxmlformats.org/drawingml/2006/main" noGrp="1"/>
          </p:cNvSpPr>
          <p:nvPr/>
        </p:nvSpPr>
        <p:spPr>
          <a:xfrm xmlns:a="http://schemas.openxmlformats.org/drawingml/2006/main">
            <a:off x="8477250"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Inspect files and modify the worktree</a:t>
            </a:r>
          </a:p>
        </p:txBody>
      </p:sp>
      <p:sp>
        <p:nvSpPr>
          <p:cNvPr id="14" name="shape-36">
            <a:extLst xmlns:a="http://schemas.openxmlformats.org/drawingml/2006/main">
              <a:ext uri="{FF2B5EF4-FFF2-40B4-BE49-F238E27FC236}">
                <a16:creationId xmlns:a16="http://schemas.microsoft.com/office/drawing/2014/main" id="{C80E0F66-29A1-4764-B6B5-A0E3E45E350F}"/>
              </a:ext>
            </a:extLst>
          </p:cNvPr>
          <p:cNvSpPr>
            <a:spLocks xmlns:a="http://schemas.openxmlformats.org/drawingml/2006/main" noGrp="1"/>
          </p:cNvSpPr>
          <p:nvPr/>
        </p:nvSpPr>
        <p:spPr>
          <a:xfrm xmlns:a="http://schemas.openxmlformats.org/drawingml/2006/main">
            <a:off x="8324850" y="3905250"/>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5" name="shape-37">
            <a:extLst xmlns:a="http://schemas.openxmlformats.org/drawingml/2006/main">
              <a:ext uri="{FF2B5EF4-FFF2-40B4-BE49-F238E27FC236}">
                <a16:creationId xmlns:a16="http://schemas.microsoft.com/office/drawing/2014/main" id="{1A890B9D-E389-4596-8BFB-C1587396F7BA}"/>
              </a:ext>
            </a:extLst>
          </p:cNvPr>
          <p:cNvSpPr>
            <a:spLocks xmlns:a="http://schemas.openxmlformats.org/drawingml/2006/main" noGrp="1"/>
          </p:cNvSpPr>
          <p:nvPr/>
        </p:nvSpPr>
        <p:spPr>
          <a:xfrm xmlns:a="http://schemas.openxmlformats.org/drawingml/2006/main">
            <a:off x="8477250"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Canonical patch</a:t>
            </a:r>
          </a:p>
        </p:txBody>
      </p:sp>
      <p:sp>
        <p:nvSpPr>
          <p:cNvPr id="16" name="shape-38">
            <a:extLst xmlns:a="http://schemas.openxmlformats.org/drawingml/2006/main">
              <a:ext uri="{FF2B5EF4-FFF2-40B4-BE49-F238E27FC236}">
                <a16:creationId xmlns:a16="http://schemas.microsoft.com/office/drawing/2014/main" id="{A8251242-A342-4906-8611-85B78C104838}"/>
              </a:ext>
            </a:extLst>
          </p:cNvPr>
          <p:cNvSpPr>
            <a:spLocks xmlns:a="http://schemas.openxmlformats.org/drawingml/2006/main" noGrp="1"/>
          </p:cNvSpPr>
          <p:nvPr/>
        </p:nvSpPr>
        <p:spPr>
          <a:xfrm xmlns:a="http://schemas.openxmlformats.org/drawingml/2006/main">
            <a:off x="8477250"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Organizer derives permitted edits</a:t>
            </a:r>
          </a:p>
        </p:txBody>
      </p:sp>
      <p:sp>
        <p:nvSpPr>
          <p:cNvPr id="17" name="shape-39">
            <a:extLst xmlns:a="http://schemas.openxmlformats.org/drawingml/2006/main">
              <a:ext uri="{FF2B5EF4-FFF2-40B4-BE49-F238E27FC236}">
                <a16:creationId xmlns:a16="http://schemas.microsoft.com/office/drawing/2014/main" id="{6BA77911-3168-4921-AAC8-147D5DF19811}"/>
              </a:ext>
            </a:extLst>
          </p:cNvPr>
          <p:cNvSpPr>
            <a:spLocks xmlns:a="http://schemas.openxmlformats.org/drawingml/2006/main" noGrp="1"/>
          </p:cNvSpPr>
          <p:nvPr/>
        </p:nvSpPr>
        <p:spPr>
          <a:xfrm xmlns:a="http://schemas.openxmlformats.org/drawingml/2006/main">
            <a:off x="4467225" y="3905250"/>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8" name="shape-40">
            <a:extLst xmlns:a="http://schemas.openxmlformats.org/drawingml/2006/main">
              <a:ext uri="{FF2B5EF4-FFF2-40B4-BE49-F238E27FC236}">
                <a16:creationId xmlns:a16="http://schemas.microsoft.com/office/drawing/2014/main" id="{F9B4DA54-996A-4A7A-A17D-518F4C02BA16}"/>
              </a:ext>
            </a:extLst>
          </p:cNvPr>
          <p:cNvSpPr>
            <a:spLocks xmlns:a="http://schemas.openxmlformats.org/drawingml/2006/main" noGrp="1"/>
          </p:cNvSpPr>
          <p:nvPr/>
        </p:nvSpPr>
        <p:spPr>
          <a:xfrm xmlns:a="http://schemas.openxmlformats.org/drawingml/2006/main">
            <a:off x="4619625"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Fresh target build</a:t>
            </a:r>
          </a:p>
        </p:txBody>
      </p:sp>
      <p:sp>
        <p:nvSpPr>
          <p:cNvPr id="19" name="shape-41">
            <a:extLst xmlns:a="http://schemas.openxmlformats.org/drawingml/2006/main">
              <a:ext uri="{FF2B5EF4-FFF2-40B4-BE49-F238E27FC236}">
                <a16:creationId xmlns:a16="http://schemas.microsoft.com/office/drawing/2014/main" id="{C68B3E74-883A-4DBE-85B3-4E28A870E839}"/>
              </a:ext>
            </a:extLst>
          </p:cNvPr>
          <p:cNvSpPr>
            <a:spLocks xmlns:a="http://schemas.openxmlformats.org/drawingml/2006/main" noGrp="1"/>
          </p:cNvSpPr>
          <p:nvPr/>
        </p:nvSpPr>
        <p:spPr>
          <a:xfrm xmlns:a="http://schemas.openxmlformats.org/drawingml/2006/main">
            <a:off x="4619625"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Apply patch to a clean case</a:t>
            </a:r>
          </a:p>
        </p:txBody>
      </p:sp>
      <p:sp>
        <p:nvSpPr>
          <p:cNvPr id="20" name="shape-42">
            <a:extLst xmlns:a="http://schemas.openxmlformats.org/drawingml/2006/main">
              <a:ext uri="{FF2B5EF4-FFF2-40B4-BE49-F238E27FC236}">
                <a16:creationId xmlns:a16="http://schemas.microsoft.com/office/drawing/2014/main" id="{4CD4F128-3F82-45B5-80D5-221C7B224A31}"/>
              </a:ext>
            </a:extLst>
          </p:cNvPr>
          <p:cNvSpPr>
            <a:spLocks xmlns:a="http://schemas.openxmlformats.org/drawingml/2006/main" noGrp="1"/>
          </p:cNvSpPr>
          <p:nvPr/>
        </p:nvSpPr>
        <p:spPr>
          <a:xfrm xmlns:a="http://schemas.openxmlformats.org/drawingml/2006/main">
            <a:off x="609600" y="3905250"/>
            <a:ext cx="3257550" cy="116205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21" name="shape-43">
            <a:extLst xmlns:a="http://schemas.openxmlformats.org/drawingml/2006/main">
              <a:ext uri="{FF2B5EF4-FFF2-40B4-BE49-F238E27FC236}">
                <a16:creationId xmlns:a16="http://schemas.microsoft.com/office/drawing/2014/main" id="{53CB8E46-01D8-496D-BEDC-610D2BB7C659}"/>
              </a:ext>
            </a:extLst>
          </p:cNvPr>
          <p:cNvSpPr>
            <a:spLocks xmlns:a="http://schemas.openxmlformats.org/drawingml/2006/main" noGrp="1"/>
          </p:cNvSpPr>
          <p:nvPr/>
        </p:nvSpPr>
        <p:spPr>
          <a:xfrm xmlns:a="http://schemas.openxmlformats.org/drawingml/2006/main">
            <a:off x="762000"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Verified artifacts</a:t>
            </a:r>
          </a:p>
        </p:txBody>
      </p:sp>
      <p:sp>
        <p:nvSpPr>
          <p:cNvPr id="22" name="shape-44">
            <a:extLst xmlns:a="http://schemas.openxmlformats.org/drawingml/2006/main">
              <a:ext uri="{FF2B5EF4-FFF2-40B4-BE49-F238E27FC236}">
                <a16:creationId xmlns:a16="http://schemas.microsoft.com/office/drawing/2014/main" id="{11E5D9BD-75EB-4B0A-BB89-CACA70FB9D9A}"/>
              </a:ext>
            </a:extLst>
          </p:cNvPr>
          <p:cNvSpPr>
            <a:spLocks xmlns:a="http://schemas.openxmlformats.org/drawingml/2006/main" noGrp="1"/>
          </p:cNvSpPr>
          <p:nvPr/>
        </p:nvSpPr>
        <p:spPr>
          <a:xfrm xmlns:a="http://schemas.openxmlformats.org/drawingml/2006/main">
            <a:off x="762000"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Build + required artifacts must pass</a:t>
            </a:r>
          </a:p>
        </p:txBody>
      </p:sp>
      <p:cxnSp>
        <p:nvCxnSpPr>
          <p:cNvPr id="132" name=""/>
          <p:cNvCxnSpPr>
            <a:stCxn xmlns:a="http://schemas.openxmlformats.org/drawingml/2006/main" id="5" idx="3"/>
            <a:endCxn xmlns:a="http://schemas.openxmlformats.org/drawingml/2006/main" id="8" idx="1"/>
          </p:cNvCxnSpPr>
          <p:nvPr/>
        </p:nvCxnSpPr>
        <p:spPr>
          <a:xfrm xmlns:a="http://schemas.openxmlformats.org/drawingml/2006/main">
            <a:off x="3867150" y="2705100"/>
            <a:ext cx="600075"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33" name=""/>
          <p:cNvCxnSpPr>
            <a:stCxn xmlns:a="http://schemas.openxmlformats.org/drawingml/2006/main" id="8" idx="3"/>
            <a:endCxn xmlns:a="http://schemas.openxmlformats.org/drawingml/2006/main" id="11" idx="1"/>
          </p:cNvCxnSpPr>
          <p:nvPr/>
        </p:nvCxnSpPr>
        <p:spPr>
          <a:xfrm xmlns:a="http://schemas.openxmlformats.org/drawingml/2006/main">
            <a:off x="7724775" y="2705100"/>
            <a:ext cx="600075"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34" name=""/>
          <p:cNvCxnSpPr>
            <a:stCxn xmlns:a="http://schemas.openxmlformats.org/drawingml/2006/main" id="11" idx="2"/>
            <a:endCxn xmlns:a="http://schemas.openxmlformats.org/drawingml/2006/main" id="14" idx="0"/>
          </p:cNvCxnSpPr>
          <p:nvPr/>
        </p:nvCxnSpPr>
        <p:spPr>
          <a:xfrm xmlns:a="http://schemas.openxmlformats.org/drawingml/2006/main">
            <a:off x="9953625" y="3286125"/>
            <a:ext cx="0" cy="619125"/>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35" name=""/>
          <p:cNvCxnSpPr>
            <a:stCxn xmlns:a="http://schemas.openxmlformats.org/drawingml/2006/main" id="17" idx="3"/>
            <a:endCxn xmlns:a="http://schemas.openxmlformats.org/drawingml/2006/main" id="14" idx="1"/>
          </p:cNvCxnSpPr>
          <p:nvPr/>
        </p:nvCxnSpPr>
        <p:spPr>
          <a:xfrm xmlns:a="http://schemas.openxmlformats.org/drawingml/2006/main">
            <a:off x="7724775" y="4486275"/>
            <a:ext cx="600075" cy="0"/>
          </a:xfrm>
          <a:prstGeom xmlns:a="http://schemas.openxmlformats.org/drawingml/2006/main" prst="straightConnector1">
            <a:avLst/>
          </a:prstGeom>
          <a:ln xmlns:a="http://schemas.openxmlformats.org/drawingml/2006/main" w="19050">
            <a:solidFill>
              <a:srgbClr val="536374"/>
            </a:solidFill>
            <a:headEnd type="triangle" w="med" len="med"/>
          </a:ln>
        </p:spPr>
      </p:cxnSp>
      <p:cxnSp>
        <p:nvCxnSpPr>
          <p:cNvPr id="136" name=""/>
          <p:cNvCxnSpPr>
            <a:stCxn xmlns:a="http://schemas.openxmlformats.org/drawingml/2006/main" id="20" idx="3"/>
            <a:endCxn xmlns:a="http://schemas.openxmlformats.org/drawingml/2006/main" id="17" idx="1"/>
          </p:cNvCxnSpPr>
          <p:nvPr/>
        </p:nvCxnSpPr>
        <p:spPr>
          <a:xfrm xmlns:a="http://schemas.openxmlformats.org/drawingml/2006/main">
            <a:off x="3867150" y="4486275"/>
            <a:ext cx="600075" cy="0"/>
          </a:xfrm>
          <a:prstGeom xmlns:a="http://schemas.openxmlformats.org/drawingml/2006/main" prst="straightConnector1">
            <a:avLst/>
          </a:prstGeom>
          <a:ln xmlns:a="http://schemas.openxmlformats.org/drawingml/2006/main" w="19050">
            <a:solidFill>
              <a:srgbClr val="536374"/>
            </a:solidFill>
            <a:headEnd type="triangle" w="med" len="med"/>
          </a:ln>
        </p:spPr>
      </p:cxnSp>
      <p:sp>
        <p:nvSpPr>
          <p:cNvPr id="28" name="shape-45">
            <a:extLst xmlns:a="http://schemas.openxmlformats.org/drawingml/2006/main">
              <a:ext uri="{FF2B5EF4-FFF2-40B4-BE49-F238E27FC236}">
                <a16:creationId xmlns:a16="http://schemas.microsoft.com/office/drawing/2014/main" id="{DA357701-AD80-4957-8893-D1440F7F8ABE}"/>
              </a:ext>
            </a:extLst>
          </p:cNvPr>
          <p:cNvSpPr>
            <a:spLocks xmlns:a="http://schemas.openxmlformats.org/drawingml/2006/main" noGrp="1"/>
          </p:cNvSpPr>
          <p:nvPr/>
        </p:nvSpPr>
        <p:spPr>
          <a:xfrm xmlns:a="http://schemas.openxmlformats.org/drawingml/2006/main">
            <a:off x="609600" y="556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Public: x86_64 and ARM64, both directions. Competition: also RISC-V</a:t>
            </a:r>
          </a:p>
        </p:txBody>
      </p:sp>
    </p:spTree>
    <p:extLst>
      <p:ext uri="{BB962C8B-B14F-4D97-AF65-F5344CB8AC3E}">
        <p14:creationId xmlns:p14="http://schemas.microsoft.com/office/powerpoint/2010/main" val="1580746732"/>
      </p:ext>
    </p:extLst>
  </p:cSld>
</p:sld>
</file>

<file path=ppt/slides/slide4.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37" name="shape-46">
            <a:extLst xmlns:a="http://schemas.openxmlformats.org/drawingml/2006/main">
              <a:ext uri="{FF2B5EF4-FFF2-40B4-BE49-F238E27FC236}">
                <a16:creationId xmlns:a16="http://schemas.microsoft.com/office/drawing/2014/main" id="{9B685819-8D74-418C-A66C-380504F81804}"/>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Proposed repair agent architecture</a:t>
            </a:r>
          </a:p>
        </p:txBody>
      </p:sp>
      <p:sp>
        <p:nvSpPr>
          <p:cNvPr id="2" name="shape-47">
            <a:extLst xmlns:a="http://schemas.openxmlformats.org/drawingml/2006/main">
              <a:ext uri="{FF2B5EF4-FFF2-40B4-BE49-F238E27FC236}">
                <a16:creationId xmlns:a16="http://schemas.microsoft.com/office/drawing/2014/main" id="{29749EF6-38B4-4FC1-9338-99F848766E14}"/>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48">
            <a:extLst xmlns:a="http://schemas.openxmlformats.org/drawingml/2006/main">
              <a:ext uri="{FF2B5EF4-FFF2-40B4-BE49-F238E27FC236}">
                <a16:creationId xmlns:a16="http://schemas.microsoft.com/office/drawing/2014/main" id="{8333392B-859E-4102-8318-A2DFDEB5E0D2}"/>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04</a:t>
            </a:r>
          </a:p>
        </p:txBody>
      </p:sp>
      <p:sp>
        <p:nvSpPr>
          <p:cNvPr id="4" name="shape-49">
            <a:extLst xmlns:a="http://schemas.openxmlformats.org/drawingml/2006/main">
              <a:ext uri="{FF2B5EF4-FFF2-40B4-BE49-F238E27FC236}">
                <a16:creationId xmlns:a16="http://schemas.microsoft.com/office/drawing/2014/main" id="{3DF804E8-6EA3-407D-A8E3-8795359EE5BD}"/>
              </a:ext>
            </a:extLst>
          </p:cNvPr>
          <p:cNvSpPr>
            <a:spLocks xmlns:a="http://schemas.openxmlformats.org/drawingml/2006/main" noGrp="1"/>
          </p:cNvSpPr>
          <p:nvPr/>
        </p:nvSpPr>
        <p:spPr>
          <a:xfrm xmlns:a="http://schemas.openxmlformats.org/drawingml/2006/main">
            <a:off x="609600" y="128587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536374"/>
                </a:solidFill>
                <a:latin typeface="Helvetica Neue"/>
                <a:ea typeface="Helvetica Neue"/>
                <a:cs typeface="Helvetica Neue"/>
              </a:defRPr>
            </a:pPr>
            <a:r>
              <a:rPr sz="1875" b="0">
                <a:solidFill>
                  <a:srgbClr val="536374"/>
                </a:solidFill>
                <a:latin typeface="Helvetica Neue"/>
                <a:ea typeface="Helvetica Neue"/>
                <a:cs typeface="Helvetica Neue"/>
              </a:rPr>
              <a:t>In-loop feedback depends on the interface. Final clean-build validation is required.</a:t>
            </a:r>
          </a:p>
        </p:txBody>
      </p:sp>
      <p:sp>
        <p:nvSpPr>
          <p:cNvPr id="5" name="shape-50">
            <a:extLst xmlns:a="http://schemas.openxmlformats.org/drawingml/2006/main">
              <a:ext uri="{FF2B5EF4-FFF2-40B4-BE49-F238E27FC236}">
                <a16:creationId xmlns:a16="http://schemas.microsoft.com/office/drawing/2014/main" id="{08BEBBA4-11E5-4800-A976-275E156E83C0}"/>
              </a:ext>
            </a:extLst>
          </p:cNvPr>
          <p:cNvSpPr>
            <a:spLocks xmlns:a="http://schemas.openxmlformats.org/drawingml/2006/main" noGrp="1"/>
          </p:cNvSpPr>
          <p:nvPr/>
        </p:nvSpPr>
        <p:spPr>
          <a:xfrm xmlns:a="http://schemas.openxmlformats.org/drawingml/2006/main">
            <a:off x="60960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6" name="shape-51">
            <a:extLst xmlns:a="http://schemas.openxmlformats.org/drawingml/2006/main">
              <a:ext uri="{FF2B5EF4-FFF2-40B4-BE49-F238E27FC236}">
                <a16:creationId xmlns:a16="http://schemas.microsoft.com/office/drawing/2014/main" id="{7CEB9096-573C-427A-B963-B8EC45EE4BA7}"/>
              </a:ext>
            </a:extLst>
          </p:cNvPr>
          <p:cNvSpPr>
            <a:spLocks xmlns:a="http://schemas.openxmlformats.org/drawingml/2006/main" noGrp="1"/>
          </p:cNvSpPr>
          <p:nvPr/>
        </p:nvSpPr>
        <p:spPr>
          <a:xfrm xmlns:a="http://schemas.openxmlformats.org/drawingml/2006/main">
            <a:off x="76200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Case Manager</a:t>
            </a:r>
          </a:p>
        </p:txBody>
      </p:sp>
      <p:sp>
        <p:nvSpPr>
          <p:cNvPr id="7" name="shape-52">
            <a:extLst xmlns:a="http://schemas.openxmlformats.org/drawingml/2006/main">
              <a:ext uri="{FF2B5EF4-FFF2-40B4-BE49-F238E27FC236}">
                <a16:creationId xmlns:a16="http://schemas.microsoft.com/office/drawing/2014/main" id="{D0693D19-1F36-4BF5-A677-B450EDFD24C3}"/>
              </a:ext>
            </a:extLst>
          </p:cNvPr>
          <p:cNvSpPr>
            <a:spLocks xmlns:a="http://schemas.openxmlformats.org/drawingml/2006/main" noGrp="1"/>
          </p:cNvSpPr>
          <p:nvPr/>
        </p:nvSpPr>
        <p:spPr>
          <a:xfrm xmlns:a="http://schemas.openxmlformats.org/drawingml/2006/main">
            <a:off x="76200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Metadata + initial failure</a:t>
            </a:r>
          </a:p>
        </p:txBody>
      </p:sp>
      <p:sp>
        <p:nvSpPr>
          <p:cNvPr id="8" name="shape-53">
            <a:extLst xmlns:a="http://schemas.openxmlformats.org/drawingml/2006/main">
              <a:ext uri="{FF2B5EF4-FFF2-40B4-BE49-F238E27FC236}">
                <a16:creationId xmlns:a16="http://schemas.microsoft.com/office/drawing/2014/main" id="{B2382A02-5790-4F28-BF47-39AC5A7ED9C7}"/>
              </a:ext>
            </a:extLst>
          </p:cNvPr>
          <p:cNvSpPr>
            <a:spLocks xmlns:a="http://schemas.openxmlformats.org/drawingml/2006/main" noGrp="1"/>
          </p:cNvSpPr>
          <p:nvPr/>
        </p:nvSpPr>
        <p:spPr>
          <a:xfrm xmlns:a="http://schemas.openxmlformats.org/drawingml/2006/main">
            <a:off x="352425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54">
            <a:extLst xmlns:a="http://schemas.openxmlformats.org/drawingml/2006/main">
              <a:ext uri="{FF2B5EF4-FFF2-40B4-BE49-F238E27FC236}">
                <a16:creationId xmlns:a16="http://schemas.microsoft.com/office/drawing/2014/main" id="{C62D4A1B-A625-4EA5-B95A-76B12C08632A}"/>
              </a:ext>
            </a:extLst>
          </p:cNvPr>
          <p:cNvSpPr>
            <a:spLocks xmlns:a="http://schemas.openxmlformats.org/drawingml/2006/main" noGrp="1"/>
          </p:cNvSpPr>
          <p:nvPr/>
        </p:nvSpPr>
        <p:spPr>
          <a:xfrm xmlns:a="http://schemas.openxmlformats.org/drawingml/2006/main">
            <a:off x="3676650" y="223837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Evidence Manager</a:t>
            </a:r>
          </a:p>
        </p:txBody>
      </p:sp>
      <p:sp>
        <p:nvSpPr>
          <p:cNvPr id="10" name="shape-55">
            <a:extLst xmlns:a="http://schemas.openxmlformats.org/drawingml/2006/main">
              <a:ext uri="{FF2B5EF4-FFF2-40B4-BE49-F238E27FC236}">
                <a16:creationId xmlns:a16="http://schemas.microsoft.com/office/drawing/2014/main" id="{00433FA7-F0CF-4E34-81A6-3D1AE8EAD713}"/>
              </a:ext>
            </a:extLst>
          </p:cNvPr>
          <p:cNvSpPr>
            <a:spLocks xmlns:a="http://schemas.openxmlformats.org/drawingml/2006/main" noGrp="1"/>
          </p:cNvSpPr>
          <p:nvPr/>
        </p:nvSpPr>
        <p:spPr>
          <a:xfrm xmlns:a="http://schemas.openxmlformats.org/drawingml/2006/main">
            <a:off x="3676650" y="2905125"/>
            <a:ext cx="1885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Logs + files</a:t>
            </a:r>
          </a:p>
        </p:txBody>
      </p:sp>
      <p:sp>
        <p:nvSpPr>
          <p:cNvPr id="11" name="shape-56">
            <a:extLst xmlns:a="http://schemas.openxmlformats.org/drawingml/2006/main">
              <a:ext uri="{FF2B5EF4-FFF2-40B4-BE49-F238E27FC236}">
                <a16:creationId xmlns:a16="http://schemas.microsoft.com/office/drawing/2014/main" id="{34433B3E-EF1F-47DB-AD89-3A8248A55862}"/>
              </a:ext>
            </a:extLst>
          </p:cNvPr>
          <p:cNvSpPr>
            <a:spLocks xmlns:a="http://schemas.openxmlformats.org/drawingml/2006/main" noGrp="1"/>
          </p:cNvSpPr>
          <p:nvPr/>
        </p:nvSpPr>
        <p:spPr>
          <a:xfrm xmlns:a="http://schemas.openxmlformats.org/drawingml/2006/main">
            <a:off x="643890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2" name="shape-57">
            <a:extLst xmlns:a="http://schemas.openxmlformats.org/drawingml/2006/main">
              <a:ext uri="{FF2B5EF4-FFF2-40B4-BE49-F238E27FC236}">
                <a16:creationId xmlns:a16="http://schemas.microsoft.com/office/drawing/2014/main" id="{1C39EBCC-8888-455D-8BD8-043392DA791E}"/>
              </a:ext>
            </a:extLst>
          </p:cNvPr>
          <p:cNvSpPr>
            <a:spLocks xmlns:a="http://schemas.openxmlformats.org/drawingml/2006/main" noGrp="1"/>
          </p:cNvSpPr>
          <p:nvPr/>
        </p:nvSpPr>
        <p:spPr>
          <a:xfrm xmlns:a="http://schemas.openxmlformats.org/drawingml/2006/main">
            <a:off x="659130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LLM Planner</a:t>
            </a:r>
          </a:p>
        </p:txBody>
      </p:sp>
      <p:sp>
        <p:nvSpPr>
          <p:cNvPr id="13" name="shape-58">
            <a:extLst xmlns:a="http://schemas.openxmlformats.org/drawingml/2006/main">
              <a:ext uri="{FF2B5EF4-FFF2-40B4-BE49-F238E27FC236}">
                <a16:creationId xmlns:a16="http://schemas.microsoft.com/office/drawing/2014/main" id="{FA868BFF-76B7-4125-99B6-A6F428EA062F}"/>
              </a:ext>
            </a:extLst>
          </p:cNvPr>
          <p:cNvSpPr>
            <a:spLocks xmlns:a="http://schemas.openxmlformats.org/drawingml/2006/main" noGrp="1"/>
          </p:cNvSpPr>
          <p:nvPr/>
        </p:nvSpPr>
        <p:spPr>
          <a:xfrm xmlns:a="http://schemas.openxmlformats.org/drawingml/2006/main">
            <a:off x="659130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Hypothesis + next action</a:t>
            </a:r>
          </a:p>
        </p:txBody>
      </p:sp>
      <p:sp>
        <p:nvSpPr>
          <p:cNvPr id="14" name="shape-59">
            <a:extLst xmlns:a="http://schemas.openxmlformats.org/drawingml/2006/main">
              <a:ext uri="{FF2B5EF4-FFF2-40B4-BE49-F238E27FC236}">
                <a16:creationId xmlns:a16="http://schemas.microsoft.com/office/drawing/2014/main" id="{8CEED14B-A567-4F12-8569-0ADAF07A2665}"/>
              </a:ext>
            </a:extLst>
          </p:cNvPr>
          <p:cNvSpPr>
            <a:spLocks xmlns:a="http://schemas.openxmlformats.org/drawingml/2006/main" noGrp="1"/>
          </p:cNvSpPr>
          <p:nvPr/>
        </p:nvSpPr>
        <p:spPr>
          <a:xfrm xmlns:a="http://schemas.openxmlformats.org/drawingml/2006/main">
            <a:off x="935355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5" name="shape-60">
            <a:extLst xmlns:a="http://schemas.openxmlformats.org/drawingml/2006/main">
              <a:ext uri="{FF2B5EF4-FFF2-40B4-BE49-F238E27FC236}">
                <a16:creationId xmlns:a16="http://schemas.microsoft.com/office/drawing/2014/main" id="{AFC76A94-D98C-485D-BDEA-8B5ED01044D2}"/>
              </a:ext>
            </a:extLst>
          </p:cNvPr>
          <p:cNvSpPr>
            <a:spLocks xmlns:a="http://schemas.openxmlformats.org/drawingml/2006/main" noGrp="1"/>
          </p:cNvSpPr>
          <p:nvPr/>
        </p:nvSpPr>
        <p:spPr>
          <a:xfrm xmlns:a="http://schemas.openxmlformats.org/drawingml/2006/main">
            <a:off x="950595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Controlled Tools</a:t>
            </a:r>
          </a:p>
        </p:txBody>
      </p:sp>
      <p:sp>
        <p:nvSpPr>
          <p:cNvPr id="16" name="shape-61">
            <a:extLst xmlns:a="http://schemas.openxmlformats.org/drawingml/2006/main">
              <a:ext uri="{FF2B5EF4-FFF2-40B4-BE49-F238E27FC236}">
                <a16:creationId xmlns:a16="http://schemas.microsoft.com/office/drawing/2014/main" id="{CA974336-2B15-4240-B782-C75399D8F562}"/>
              </a:ext>
            </a:extLst>
          </p:cNvPr>
          <p:cNvSpPr>
            <a:spLocks xmlns:a="http://schemas.openxmlformats.org/drawingml/2006/main" noGrp="1"/>
          </p:cNvSpPr>
          <p:nvPr/>
        </p:nvSpPr>
        <p:spPr>
          <a:xfrm xmlns:a="http://schemas.openxmlformats.org/drawingml/2006/main">
            <a:off x="950595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Search, inspect, diagnose</a:t>
            </a:r>
          </a:p>
        </p:txBody>
      </p:sp>
      <p:sp>
        <p:nvSpPr>
          <p:cNvPr id="17" name="shape-62">
            <a:extLst xmlns:a="http://schemas.openxmlformats.org/drawingml/2006/main">
              <a:ext uri="{FF2B5EF4-FFF2-40B4-BE49-F238E27FC236}">
                <a16:creationId xmlns:a16="http://schemas.microsoft.com/office/drawing/2014/main" id="{6ACD1774-5336-47D0-9225-14DE99ADD5A2}"/>
              </a:ext>
            </a:extLst>
          </p:cNvPr>
          <p:cNvSpPr>
            <a:spLocks xmlns:a="http://schemas.openxmlformats.org/drawingml/2006/main" noGrp="1"/>
          </p:cNvSpPr>
          <p:nvPr/>
        </p:nvSpPr>
        <p:spPr>
          <a:xfrm xmlns:a="http://schemas.openxmlformats.org/drawingml/2006/main">
            <a:off x="9353550" y="41910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8" name="shape-63">
            <a:extLst xmlns:a="http://schemas.openxmlformats.org/drawingml/2006/main">
              <a:ext uri="{FF2B5EF4-FFF2-40B4-BE49-F238E27FC236}">
                <a16:creationId xmlns:a16="http://schemas.microsoft.com/office/drawing/2014/main" id="{0395EBA0-3538-41CE-92C1-D9700752526C}"/>
              </a:ext>
            </a:extLst>
          </p:cNvPr>
          <p:cNvSpPr>
            <a:spLocks xmlns:a="http://schemas.openxmlformats.org/drawingml/2006/main" noGrp="1"/>
          </p:cNvSpPr>
          <p:nvPr/>
        </p:nvSpPr>
        <p:spPr>
          <a:xfrm xmlns:a="http://schemas.openxmlformats.org/drawingml/2006/main">
            <a:off x="9505950" y="43338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Repair Generator</a:t>
            </a:r>
          </a:p>
        </p:txBody>
      </p:sp>
      <p:sp>
        <p:nvSpPr>
          <p:cNvPr id="19" name="shape-64">
            <a:extLst xmlns:a="http://schemas.openxmlformats.org/drawingml/2006/main">
              <a:ext uri="{FF2B5EF4-FFF2-40B4-BE49-F238E27FC236}">
                <a16:creationId xmlns:a16="http://schemas.microsoft.com/office/drawing/2014/main" id="{4F8AD536-10FA-48B0-8860-5AAB0FB74D26}"/>
              </a:ext>
            </a:extLst>
          </p:cNvPr>
          <p:cNvSpPr>
            <a:spLocks xmlns:a="http://schemas.openxmlformats.org/drawingml/2006/main" noGrp="1"/>
          </p:cNvSpPr>
          <p:nvPr/>
        </p:nvSpPr>
        <p:spPr>
          <a:xfrm xmlns:a="http://schemas.openxmlformats.org/drawingml/2006/main">
            <a:off x="9505950" y="46958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Candidate worktree edits</a:t>
            </a:r>
          </a:p>
        </p:txBody>
      </p:sp>
      <p:sp>
        <p:nvSpPr>
          <p:cNvPr id="20" name="shape-65">
            <a:extLst xmlns:a="http://schemas.openxmlformats.org/drawingml/2006/main">
              <a:ext uri="{FF2B5EF4-FFF2-40B4-BE49-F238E27FC236}">
                <a16:creationId xmlns:a16="http://schemas.microsoft.com/office/drawing/2014/main" id="{9847DDB4-8089-4887-B790-8BFA9F0A822F}"/>
              </a:ext>
            </a:extLst>
          </p:cNvPr>
          <p:cNvSpPr>
            <a:spLocks xmlns:a="http://schemas.openxmlformats.org/drawingml/2006/main" noGrp="1"/>
          </p:cNvSpPr>
          <p:nvPr/>
        </p:nvSpPr>
        <p:spPr>
          <a:xfrm xmlns:a="http://schemas.openxmlformats.org/drawingml/2006/main">
            <a:off x="6438900" y="4191000"/>
            <a:ext cx="2190750" cy="114300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21" name="shape-66">
            <a:extLst xmlns:a="http://schemas.openxmlformats.org/drawingml/2006/main">
              <a:ext uri="{FF2B5EF4-FFF2-40B4-BE49-F238E27FC236}">
                <a16:creationId xmlns:a16="http://schemas.microsoft.com/office/drawing/2014/main" id="{263F4290-830C-4E62-A81F-05FE8658BB52}"/>
              </a:ext>
            </a:extLst>
          </p:cNvPr>
          <p:cNvSpPr>
            <a:spLocks xmlns:a="http://schemas.openxmlformats.org/drawingml/2006/main" noGrp="1"/>
          </p:cNvSpPr>
          <p:nvPr/>
        </p:nvSpPr>
        <p:spPr>
          <a:xfrm xmlns:a="http://schemas.openxmlformats.org/drawingml/2006/main">
            <a:off x="6591300" y="4295775"/>
            <a:ext cx="188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Validation/Feedback</a:t>
            </a:r>
          </a:p>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Adapter</a:t>
            </a:r>
          </a:p>
        </p:txBody>
      </p:sp>
      <p:sp>
        <p:nvSpPr>
          <p:cNvPr id="22" name="shape-67">
            <a:extLst xmlns:a="http://schemas.openxmlformats.org/drawingml/2006/main">
              <a:ext uri="{FF2B5EF4-FFF2-40B4-BE49-F238E27FC236}">
                <a16:creationId xmlns:a16="http://schemas.microsoft.com/office/drawing/2014/main" id="{34656EA5-CC8C-4D1A-BB5E-1A9269A35A9C}"/>
              </a:ext>
            </a:extLst>
          </p:cNvPr>
          <p:cNvSpPr>
            <a:spLocks xmlns:a="http://schemas.openxmlformats.org/drawingml/2006/main" noGrp="1"/>
          </p:cNvSpPr>
          <p:nvPr/>
        </p:nvSpPr>
        <p:spPr>
          <a:xfrm xmlns:a="http://schemas.openxmlformats.org/drawingml/2006/main">
            <a:off x="6591300" y="4943475"/>
            <a:ext cx="1885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
            </a:r>
          </a:p>
        </p:txBody>
      </p:sp>
      <p:sp>
        <p:nvSpPr>
          <p:cNvPr id="23" name="shape-68">
            <a:extLst xmlns:a="http://schemas.openxmlformats.org/drawingml/2006/main">
              <a:ext uri="{FF2B5EF4-FFF2-40B4-BE49-F238E27FC236}">
                <a16:creationId xmlns:a16="http://schemas.microsoft.com/office/drawing/2014/main" id="{5C4407D2-B436-4003-8124-206B5BFA8B88}"/>
              </a:ext>
            </a:extLst>
          </p:cNvPr>
          <p:cNvSpPr>
            <a:spLocks xmlns:a="http://schemas.openxmlformats.org/drawingml/2006/main" noGrp="1"/>
          </p:cNvSpPr>
          <p:nvPr/>
        </p:nvSpPr>
        <p:spPr>
          <a:xfrm xmlns:a="http://schemas.openxmlformats.org/drawingml/2006/main">
            <a:off x="3524250" y="41910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24" name="shape-69">
            <a:extLst xmlns:a="http://schemas.openxmlformats.org/drawingml/2006/main">
              <a:ext uri="{FF2B5EF4-FFF2-40B4-BE49-F238E27FC236}">
                <a16:creationId xmlns:a16="http://schemas.microsoft.com/office/drawing/2014/main" id="{8BA24280-3AEA-4628-B386-344EBEDD4DA1}"/>
              </a:ext>
            </a:extLst>
          </p:cNvPr>
          <p:cNvSpPr>
            <a:spLocks xmlns:a="http://schemas.openxmlformats.org/drawingml/2006/main" noGrp="1"/>
          </p:cNvSpPr>
          <p:nvPr/>
        </p:nvSpPr>
        <p:spPr>
          <a:xfrm xmlns:a="http://schemas.openxmlformats.org/drawingml/2006/main">
            <a:off x="3676650" y="43338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Final Worktree</a:t>
            </a:r>
          </a:p>
        </p:txBody>
      </p:sp>
      <p:sp>
        <p:nvSpPr>
          <p:cNvPr id="25" name="shape-70">
            <a:extLst xmlns:a="http://schemas.openxmlformats.org/drawingml/2006/main">
              <a:ext uri="{FF2B5EF4-FFF2-40B4-BE49-F238E27FC236}">
                <a16:creationId xmlns:a16="http://schemas.microsoft.com/office/drawing/2014/main" id="{C3376FB5-0B8E-461A-8E31-6504F4AE5BCD}"/>
              </a:ext>
            </a:extLst>
          </p:cNvPr>
          <p:cNvSpPr>
            <a:spLocks xmlns:a="http://schemas.openxmlformats.org/drawingml/2006/main" noGrp="1"/>
          </p:cNvSpPr>
          <p:nvPr/>
        </p:nvSpPr>
        <p:spPr>
          <a:xfrm xmlns:a="http://schemas.openxmlformats.org/drawingml/2006/main">
            <a:off x="3676650" y="46958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Clean validation required</a:t>
            </a:r>
          </a:p>
        </p:txBody>
      </p:sp>
      <p:cxnSp>
        <p:nvCxnSpPr>
          <p:cNvPr id="158" name=""/>
          <p:cNvCxnSpPr>
            <a:stCxn xmlns:a="http://schemas.openxmlformats.org/drawingml/2006/main" id="5" idx="3"/>
            <a:endCxn xmlns:a="http://schemas.openxmlformats.org/drawingml/2006/main" id="8" idx="1"/>
          </p:cNvCxnSpPr>
          <p:nvPr/>
        </p:nvCxnSpPr>
        <p:spPr>
          <a:xfrm xmlns:a="http://schemas.openxmlformats.org/drawingml/2006/main">
            <a:off x="280035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59" name=""/>
          <p:cNvCxnSpPr>
            <a:stCxn xmlns:a="http://schemas.openxmlformats.org/drawingml/2006/main" id="8" idx="3"/>
            <a:endCxn xmlns:a="http://schemas.openxmlformats.org/drawingml/2006/main" id="11" idx="1"/>
          </p:cNvCxnSpPr>
          <p:nvPr/>
        </p:nvCxnSpPr>
        <p:spPr>
          <a:xfrm xmlns:a="http://schemas.openxmlformats.org/drawingml/2006/main">
            <a:off x="571500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60" name=""/>
          <p:cNvCxnSpPr>
            <a:stCxn xmlns:a="http://schemas.openxmlformats.org/drawingml/2006/main" id="11" idx="3"/>
            <a:endCxn xmlns:a="http://schemas.openxmlformats.org/drawingml/2006/main" id="14" idx="1"/>
          </p:cNvCxnSpPr>
          <p:nvPr/>
        </p:nvCxnSpPr>
        <p:spPr>
          <a:xfrm xmlns:a="http://schemas.openxmlformats.org/drawingml/2006/main">
            <a:off x="862965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61" name=""/>
          <p:cNvCxnSpPr>
            <a:stCxn xmlns:a="http://schemas.openxmlformats.org/drawingml/2006/main" id="14" idx="2"/>
            <a:endCxn xmlns:a="http://schemas.openxmlformats.org/drawingml/2006/main" id="17" idx="0"/>
          </p:cNvCxnSpPr>
          <p:nvPr/>
        </p:nvCxnSpPr>
        <p:spPr>
          <a:xfrm xmlns:a="http://schemas.openxmlformats.org/drawingml/2006/main">
            <a:off x="10448925" y="3238500"/>
            <a:ext cx="0" cy="95250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62" name=""/>
          <p:cNvCxnSpPr>
            <a:stCxn xmlns:a="http://schemas.openxmlformats.org/drawingml/2006/main" id="20" idx="3"/>
            <a:endCxn xmlns:a="http://schemas.openxmlformats.org/drawingml/2006/main" id="17" idx="1"/>
          </p:cNvCxnSpPr>
          <p:nvPr/>
        </p:nvCxnSpPr>
        <p:spPr>
          <a:xfrm xmlns:a="http://schemas.openxmlformats.org/drawingml/2006/main">
            <a:off x="8629650" y="4762500"/>
            <a:ext cx="723900" cy="0"/>
          </a:xfrm>
          <a:prstGeom xmlns:a="http://schemas.openxmlformats.org/drawingml/2006/main" prst="straightConnector1">
            <a:avLst/>
          </a:prstGeom>
          <a:ln xmlns:a="http://schemas.openxmlformats.org/drawingml/2006/main" w="19050">
            <a:solidFill>
              <a:srgbClr val="536374"/>
            </a:solidFill>
            <a:headEnd type="triangle" w="med" len="med"/>
          </a:ln>
        </p:spPr>
      </p:cxnSp>
      <p:cxnSp>
        <p:nvCxnSpPr>
          <p:cNvPr id="163" name=""/>
          <p:cNvCxnSpPr>
            <a:stCxn xmlns:a="http://schemas.openxmlformats.org/drawingml/2006/main" id="23" idx="3"/>
            <a:endCxn xmlns:a="http://schemas.openxmlformats.org/drawingml/2006/main" id="20" idx="1"/>
          </p:cNvCxnSpPr>
          <p:nvPr/>
        </p:nvCxnSpPr>
        <p:spPr>
          <a:xfrm xmlns:a="http://schemas.openxmlformats.org/drawingml/2006/main">
            <a:off x="5715000" y="4762500"/>
            <a:ext cx="723900" cy="0"/>
          </a:xfrm>
          <a:prstGeom xmlns:a="http://schemas.openxmlformats.org/drawingml/2006/main" prst="straightConnector1">
            <a:avLst/>
          </a:prstGeom>
          <a:ln xmlns:a="http://schemas.openxmlformats.org/drawingml/2006/main" w="19050">
            <a:solidFill>
              <a:srgbClr val="19715B"/>
            </a:solidFill>
            <a:headEnd type="triangle" w="med" len="med"/>
          </a:ln>
        </p:spPr>
      </p:cxnSp>
      <p:cxnSp>
        <p:nvCxnSpPr>
          <p:cNvPr id="164" name=""/>
          <p:cNvCxnSpPr>
            <a:stCxn xmlns:a="http://schemas.openxmlformats.org/drawingml/2006/main" id="8" idx="2"/>
            <a:endCxn xmlns:a="http://schemas.openxmlformats.org/drawingml/2006/main" id="20" idx="0"/>
          </p:cNvCxnSpPr>
          <p:nvPr/>
        </p:nvCxnSpPr>
        <p:spPr>
          <a:xfrm xmlns:a="http://schemas.openxmlformats.org/drawingml/2006/main">
            <a:off x="4619625" y="3238500"/>
            <a:ext cx="2914650" cy="952500"/>
          </a:xfrm>
          <a:prstGeom xmlns:a="http://schemas.openxmlformats.org/drawingml/2006/main" prst="bentConnector4">
            <a:avLst>
              <a:gd name="adj1" fmla="val 0"/>
              <a:gd name="adj2" fmla="val 76000"/>
            </a:avLst>
          </a:prstGeom>
          <a:ln xmlns:a="http://schemas.openxmlformats.org/drawingml/2006/main" w="19050">
            <a:solidFill>
              <a:srgbClr val="B83138"/>
            </a:solidFill>
            <a:headEnd type="triangle" w="med" len="med"/>
          </a:ln>
        </p:spPr>
      </p:cxnSp>
      <p:sp>
        <p:nvSpPr>
          <p:cNvPr id="33" name="shape-71">
            <a:extLst xmlns:a="http://schemas.openxmlformats.org/drawingml/2006/main">
              <a:ext uri="{FF2B5EF4-FFF2-40B4-BE49-F238E27FC236}">
                <a16:creationId xmlns:a16="http://schemas.microsoft.com/office/drawing/2014/main" id="{8E7EA764-1A60-4151-BD4F-90BFACABE788}"/>
              </a:ext>
            </a:extLst>
          </p:cNvPr>
          <p:cNvSpPr>
            <a:spLocks xmlns:a="http://schemas.openxmlformats.org/drawingml/2006/main" noGrp="1"/>
          </p:cNvSpPr>
          <p:nvPr/>
        </p:nvSpPr>
        <p:spPr>
          <a:xfrm xmlns:a="http://schemas.openxmlformats.org/drawingml/2006/main">
            <a:off x="4914900" y="33337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1">
                <a:solidFill>
                  <a:srgbClr val="B83138"/>
                </a:solidFill>
                <a:latin typeface="Helvetica Neue"/>
                <a:ea typeface="Helvetica Neue"/>
                <a:cs typeface="Helvetica Neue"/>
              </a:defRPr>
            </a:pPr>
            <a:r>
              <a:rPr sz="1800" b="1">
                <a:solidFill>
                  <a:srgbClr val="B83138"/>
                </a:solidFill>
                <a:latin typeface="Helvetica Neue"/>
                <a:ea typeface="Helvetica Neue"/>
                <a:cs typeface="Helvetica Neue"/>
              </a:rPr>
              <a:t>Retry with new evidence</a:t>
            </a:r>
          </a:p>
        </p:txBody>
      </p:sp>
      <p:sp>
        <p:nvSpPr>
          <p:cNvPr id="34" name="shape-72">
            <a:extLst xmlns:a="http://schemas.openxmlformats.org/drawingml/2006/main">
              <a:ext uri="{FF2B5EF4-FFF2-40B4-BE49-F238E27FC236}">
                <a16:creationId xmlns:a16="http://schemas.microsoft.com/office/drawing/2014/main" id="{093CE1AC-E612-4479-A7BE-7E39B5DAFAB3}"/>
              </a:ext>
            </a:extLst>
          </p:cNvPr>
          <p:cNvSpPr>
            <a:spLocks xmlns:a="http://schemas.openxmlformats.org/drawingml/2006/main" noGrp="1"/>
          </p:cNvSpPr>
          <p:nvPr/>
        </p:nvSpPr>
        <p:spPr>
          <a:xfrm xmlns:a="http://schemas.openxmlformats.org/drawingml/2006/main">
            <a:off x="5762625" y="43910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19715B"/>
                </a:solidFill>
                <a:latin typeface="Helvetica Neue"/>
                <a:ea typeface="Helvetica Neue"/>
                <a:cs typeface="Helvetica Neue"/>
              </a:defRPr>
            </a:pPr>
            <a:r>
              <a:rPr sz="1650" b="1">
                <a:solidFill>
                  <a:srgbClr val="19715B"/>
                </a:solidFill>
                <a:latin typeface="Helvetica Neue"/>
                <a:ea typeface="Helvetica Neue"/>
                <a:cs typeface="Helvetica Neue"/>
              </a:rPr>
              <a:t>Stop</a:t>
            </a:r>
          </a:p>
        </p:txBody>
      </p:sp>
      <p:sp>
        <p:nvSpPr>
          <p:cNvPr id="35" name="">
            <a:extLst xmlns:a="http://schemas.openxmlformats.org/drawingml/2006/main">
              <a:ext uri="{FF2B5EF4-FFF2-40B4-BE49-F238E27FC236}">
                <a16:creationId xmlns:a16="http://schemas.microsoft.com/office/drawing/2014/main" id="{57115B5A-EEC1-44F0-AA4D-4D2738605238}"/>
              </a:ext>
            </a:extLst>
          </p:cNvPr>
          <p:cNvSpPr>
            <a:spLocks xmlns:a="http://schemas.openxmlformats.org/drawingml/2006/main" noGrp="1"/>
          </p:cNvSpPr>
          <p:nvPr/>
        </p:nvSpPr>
        <p:spPr>
          <a:xfrm xmlns:a="http://schemas.openxmlformats.org/drawingml/2006/main">
            <a:off x="609600" y="5715000"/>
            <a:ext cx="1093470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36" name="shape-73">
            <a:extLst xmlns:a="http://schemas.openxmlformats.org/drawingml/2006/main">
              <a:ext uri="{FF2B5EF4-FFF2-40B4-BE49-F238E27FC236}">
                <a16:creationId xmlns:a16="http://schemas.microsoft.com/office/drawing/2014/main" id="{BF407511-8D21-450A-9436-A18CB2948785}"/>
              </a:ext>
            </a:extLst>
          </p:cNvPr>
          <p:cNvSpPr>
            <a:spLocks xmlns:a="http://schemas.openxmlformats.org/drawingml/2006/main" noGrp="1"/>
          </p:cNvSpPr>
          <p:nvPr/>
        </p:nvSpPr>
        <p:spPr>
          <a:xfrm xmlns:a="http://schemas.openxmlformats.org/drawingml/2006/main">
            <a:off x="609600" y="59055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History/Metrics records outcomes. Budget Controls enforce resource limits.</a:t>
            </a:r>
          </a:p>
        </p:txBody>
      </p:sp>
    </p:spTree>
    <p:extLst>
      <p:ext uri="{BB962C8B-B14F-4D97-AF65-F5344CB8AC3E}">
        <p14:creationId xmlns:p14="http://schemas.microsoft.com/office/powerpoint/2010/main" val="1385216718"/>
      </p:ext>
    </p:extLst>
  </p:cSld>
</p:sld>
</file>

<file path=ppt/slides/slide5.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6" name="shape-74">
            <a:extLst xmlns:a="http://schemas.openxmlformats.org/drawingml/2006/main">
              <a:ext uri="{FF2B5EF4-FFF2-40B4-BE49-F238E27FC236}">
                <a16:creationId xmlns:a16="http://schemas.microsoft.com/office/drawing/2014/main" id="{8FF9C300-9ED0-41E3-BDE5-00E602AD5665}"/>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Each attempt tests a specific hypothesis</a:t>
            </a:r>
          </a:p>
        </p:txBody>
      </p:sp>
      <p:sp>
        <p:nvSpPr>
          <p:cNvPr id="2" name="shape-75">
            <a:extLst xmlns:a="http://schemas.openxmlformats.org/drawingml/2006/main">
              <a:ext uri="{FF2B5EF4-FFF2-40B4-BE49-F238E27FC236}">
                <a16:creationId xmlns:a16="http://schemas.microsoft.com/office/drawing/2014/main" id="{8BC51C5D-2A12-438F-812A-EDE5C70B4CEF}"/>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76">
            <a:extLst xmlns:a="http://schemas.openxmlformats.org/drawingml/2006/main">
              <a:ext uri="{FF2B5EF4-FFF2-40B4-BE49-F238E27FC236}">
                <a16:creationId xmlns:a16="http://schemas.microsoft.com/office/drawing/2014/main" id="{5F1499AB-CEBD-4C8F-91F3-5902D3C086E2}"/>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05</a:t>
            </a:r>
          </a:p>
        </p:txBody>
      </p:sp>
      <p:sp>
        <p:nvSpPr>
          <p:cNvPr id="4" name="shape-77">
            <a:extLst xmlns:a="http://schemas.openxmlformats.org/drawingml/2006/main">
              <a:ext uri="{FF2B5EF4-FFF2-40B4-BE49-F238E27FC236}">
                <a16:creationId xmlns:a16="http://schemas.microsoft.com/office/drawing/2014/main" id="{9C737102-FA00-41BB-B7E9-DC86F18203B5}"/>
              </a:ext>
            </a:extLst>
          </p:cNvPr>
          <p:cNvSpPr>
            <a:spLocks xmlns:a="http://schemas.openxmlformats.org/drawingml/2006/main" noGrp="1"/>
          </p:cNvSpPr>
          <p:nvPr/>
        </p:nvSpPr>
        <p:spPr>
          <a:xfrm xmlns:a="http://schemas.openxmlformats.org/drawingml/2006/main">
            <a:off x="609600" y="17145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01</a:t>
            </a:r>
          </a:p>
        </p:txBody>
      </p:sp>
      <p:sp>
        <p:nvSpPr>
          <p:cNvPr id="5" name="shape-78">
            <a:extLst xmlns:a="http://schemas.openxmlformats.org/drawingml/2006/main">
              <a:ext uri="{FF2B5EF4-FFF2-40B4-BE49-F238E27FC236}">
                <a16:creationId xmlns:a16="http://schemas.microsoft.com/office/drawing/2014/main" id="{3C9546A2-B67F-4A9B-A7A2-72EC21CBA335}"/>
              </a:ext>
            </a:extLst>
          </p:cNvPr>
          <p:cNvSpPr>
            <a:spLocks xmlns:a="http://schemas.openxmlformats.org/drawingml/2006/main" noGrp="1"/>
          </p:cNvSpPr>
          <p:nvPr/>
        </p:nvSpPr>
        <p:spPr>
          <a:xfrm xmlns:a="http://schemas.openxmlformats.org/drawingml/2006/main">
            <a:off x="1466850" y="17145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Observe</a:t>
            </a:r>
          </a:p>
        </p:txBody>
      </p:sp>
      <p:sp>
        <p:nvSpPr>
          <p:cNvPr id="6" name="">
            <a:extLst xmlns:a="http://schemas.openxmlformats.org/drawingml/2006/main">
              <a:ext uri="{FF2B5EF4-FFF2-40B4-BE49-F238E27FC236}">
                <a16:creationId xmlns:a16="http://schemas.microsoft.com/office/drawing/2014/main" id="{ABAD1898-28F1-4A38-A1D6-341E5428878D}"/>
              </a:ext>
            </a:extLst>
          </p:cNvPr>
          <p:cNvSpPr>
            <a:spLocks xmlns:a="http://schemas.openxmlformats.org/drawingml/2006/main" noGrp="1"/>
          </p:cNvSpPr>
          <p:nvPr/>
        </p:nvSpPr>
        <p:spPr>
          <a:xfrm xmlns:a="http://schemas.openxmlformats.org/drawingml/2006/main">
            <a:off x="781050" y="212407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7" name="shape-79">
            <a:extLst xmlns:a="http://schemas.openxmlformats.org/drawingml/2006/main">
              <a:ext uri="{FF2B5EF4-FFF2-40B4-BE49-F238E27FC236}">
                <a16:creationId xmlns:a16="http://schemas.microsoft.com/office/drawing/2014/main" id="{0F7C1EE9-E370-4E7C-B16E-4AD7A288EB7E}"/>
              </a:ext>
            </a:extLst>
          </p:cNvPr>
          <p:cNvSpPr>
            <a:spLocks xmlns:a="http://schemas.openxmlformats.org/drawingml/2006/main" noGrp="1"/>
          </p:cNvSpPr>
          <p:nvPr/>
        </p:nvSpPr>
        <p:spPr>
          <a:xfrm xmlns:a="http://schemas.openxmlformats.org/drawingml/2006/main">
            <a:off x="609600" y="249555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02</a:t>
            </a:r>
          </a:p>
        </p:txBody>
      </p:sp>
      <p:sp>
        <p:nvSpPr>
          <p:cNvPr id="8" name="shape-80">
            <a:extLst xmlns:a="http://schemas.openxmlformats.org/drawingml/2006/main">
              <a:ext uri="{FF2B5EF4-FFF2-40B4-BE49-F238E27FC236}">
                <a16:creationId xmlns:a16="http://schemas.microsoft.com/office/drawing/2014/main" id="{1CE3E9EB-755E-4AC3-ACE8-FCEE0A23451E}"/>
              </a:ext>
            </a:extLst>
          </p:cNvPr>
          <p:cNvSpPr>
            <a:spLocks xmlns:a="http://schemas.openxmlformats.org/drawingml/2006/main" noGrp="1"/>
          </p:cNvSpPr>
          <p:nvPr/>
        </p:nvSpPr>
        <p:spPr>
          <a:xfrm xmlns:a="http://schemas.openxmlformats.org/drawingml/2006/main">
            <a:off x="1466850" y="24955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Diagnose</a:t>
            </a:r>
          </a:p>
        </p:txBody>
      </p:sp>
      <p:sp>
        <p:nvSpPr>
          <p:cNvPr id="9" name="">
            <a:extLst xmlns:a="http://schemas.openxmlformats.org/drawingml/2006/main">
              <a:ext uri="{FF2B5EF4-FFF2-40B4-BE49-F238E27FC236}">
                <a16:creationId xmlns:a16="http://schemas.microsoft.com/office/drawing/2014/main" id="{0F998856-746D-40A6-8FAA-7F267FA07B18}"/>
              </a:ext>
            </a:extLst>
          </p:cNvPr>
          <p:cNvSpPr>
            <a:spLocks xmlns:a="http://schemas.openxmlformats.org/drawingml/2006/main" noGrp="1"/>
          </p:cNvSpPr>
          <p:nvPr/>
        </p:nvSpPr>
        <p:spPr>
          <a:xfrm xmlns:a="http://schemas.openxmlformats.org/drawingml/2006/main">
            <a:off x="781050" y="290512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0" name="shape-81">
            <a:extLst xmlns:a="http://schemas.openxmlformats.org/drawingml/2006/main">
              <a:ext uri="{FF2B5EF4-FFF2-40B4-BE49-F238E27FC236}">
                <a16:creationId xmlns:a16="http://schemas.microsoft.com/office/drawing/2014/main" id="{CB79DF46-D510-43DB-855E-2522A4E9650D}"/>
              </a:ext>
            </a:extLst>
          </p:cNvPr>
          <p:cNvSpPr>
            <a:spLocks xmlns:a="http://schemas.openxmlformats.org/drawingml/2006/main" noGrp="1"/>
          </p:cNvSpPr>
          <p:nvPr/>
        </p:nvSpPr>
        <p:spPr>
          <a:xfrm xmlns:a="http://schemas.openxmlformats.org/drawingml/2006/main">
            <a:off x="609600" y="32766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03</a:t>
            </a:r>
          </a:p>
        </p:txBody>
      </p:sp>
      <p:sp>
        <p:nvSpPr>
          <p:cNvPr id="11" name="shape-82">
            <a:extLst xmlns:a="http://schemas.openxmlformats.org/drawingml/2006/main">
              <a:ext uri="{FF2B5EF4-FFF2-40B4-BE49-F238E27FC236}">
                <a16:creationId xmlns:a16="http://schemas.microsoft.com/office/drawing/2014/main" id="{B39F6298-004B-4486-9053-072AA987C161}"/>
              </a:ext>
            </a:extLst>
          </p:cNvPr>
          <p:cNvSpPr>
            <a:spLocks xmlns:a="http://schemas.openxmlformats.org/drawingml/2006/main" noGrp="1"/>
          </p:cNvSpPr>
          <p:nvPr/>
        </p:nvSpPr>
        <p:spPr>
          <a:xfrm xmlns:a="http://schemas.openxmlformats.org/drawingml/2006/main">
            <a:off x="1466850" y="32766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Gather evidence</a:t>
            </a:r>
          </a:p>
        </p:txBody>
      </p:sp>
      <p:sp>
        <p:nvSpPr>
          <p:cNvPr id="12" name="">
            <a:extLst xmlns:a="http://schemas.openxmlformats.org/drawingml/2006/main">
              <a:ext uri="{FF2B5EF4-FFF2-40B4-BE49-F238E27FC236}">
                <a16:creationId xmlns:a16="http://schemas.microsoft.com/office/drawing/2014/main" id="{704957D9-923C-4DA8-A95A-26CEB897782E}"/>
              </a:ext>
            </a:extLst>
          </p:cNvPr>
          <p:cNvSpPr>
            <a:spLocks xmlns:a="http://schemas.openxmlformats.org/drawingml/2006/main" noGrp="1"/>
          </p:cNvSpPr>
          <p:nvPr/>
        </p:nvSpPr>
        <p:spPr>
          <a:xfrm xmlns:a="http://schemas.openxmlformats.org/drawingml/2006/main">
            <a:off x="781050" y="368617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3" name="shape-83">
            <a:extLst xmlns:a="http://schemas.openxmlformats.org/drawingml/2006/main">
              <a:ext uri="{FF2B5EF4-FFF2-40B4-BE49-F238E27FC236}">
                <a16:creationId xmlns:a16="http://schemas.microsoft.com/office/drawing/2014/main" id="{BD8179E3-855B-46CD-88C1-6F3A82AE0967}"/>
              </a:ext>
            </a:extLst>
          </p:cNvPr>
          <p:cNvSpPr>
            <a:spLocks xmlns:a="http://schemas.openxmlformats.org/drawingml/2006/main" noGrp="1"/>
          </p:cNvSpPr>
          <p:nvPr/>
        </p:nvSpPr>
        <p:spPr>
          <a:xfrm xmlns:a="http://schemas.openxmlformats.org/drawingml/2006/main">
            <a:off x="609600" y="405765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04</a:t>
            </a:r>
          </a:p>
        </p:txBody>
      </p:sp>
      <p:sp>
        <p:nvSpPr>
          <p:cNvPr id="14" name="shape-84">
            <a:extLst xmlns:a="http://schemas.openxmlformats.org/drawingml/2006/main">
              <a:ext uri="{FF2B5EF4-FFF2-40B4-BE49-F238E27FC236}">
                <a16:creationId xmlns:a16="http://schemas.microsoft.com/office/drawing/2014/main" id="{69C3716E-72E4-49F8-85A1-89F34E1EF351}"/>
              </a:ext>
            </a:extLst>
          </p:cNvPr>
          <p:cNvSpPr>
            <a:spLocks xmlns:a="http://schemas.openxmlformats.org/drawingml/2006/main" noGrp="1"/>
          </p:cNvSpPr>
          <p:nvPr/>
        </p:nvSpPr>
        <p:spPr>
          <a:xfrm xmlns:a="http://schemas.openxmlformats.org/drawingml/2006/main">
            <a:off x="1466850" y="4057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Repair</a:t>
            </a:r>
          </a:p>
        </p:txBody>
      </p:sp>
      <p:sp>
        <p:nvSpPr>
          <p:cNvPr id="15" name="">
            <a:extLst xmlns:a="http://schemas.openxmlformats.org/drawingml/2006/main">
              <a:ext uri="{FF2B5EF4-FFF2-40B4-BE49-F238E27FC236}">
                <a16:creationId xmlns:a16="http://schemas.microsoft.com/office/drawing/2014/main" id="{918C54FC-01BD-486A-828F-D7AA3097808C}"/>
              </a:ext>
            </a:extLst>
          </p:cNvPr>
          <p:cNvSpPr>
            <a:spLocks xmlns:a="http://schemas.openxmlformats.org/drawingml/2006/main" noGrp="1"/>
          </p:cNvSpPr>
          <p:nvPr/>
        </p:nvSpPr>
        <p:spPr>
          <a:xfrm xmlns:a="http://schemas.openxmlformats.org/drawingml/2006/main">
            <a:off x="781050" y="446722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6" name="shape-85">
            <a:extLst xmlns:a="http://schemas.openxmlformats.org/drawingml/2006/main">
              <a:ext uri="{FF2B5EF4-FFF2-40B4-BE49-F238E27FC236}">
                <a16:creationId xmlns:a16="http://schemas.microsoft.com/office/drawing/2014/main" id="{1E0494C5-5576-41BC-9BA6-CBE35ECE3B4E}"/>
              </a:ext>
            </a:extLst>
          </p:cNvPr>
          <p:cNvSpPr>
            <a:spLocks xmlns:a="http://schemas.openxmlformats.org/drawingml/2006/main" noGrp="1"/>
          </p:cNvSpPr>
          <p:nvPr/>
        </p:nvSpPr>
        <p:spPr>
          <a:xfrm xmlns:a="http://schemas.openxmlformats.org/drawingml/2006/main">
            <a:off x="609600" y="48387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05</a:t>
            </a:r>
          </a:p>
        </p:txBody>
      </p:sp>
      <p:sp>
        <p:nvSpPr>
          <p:cNvPr id="17" name="shape-86">
            <a:extLst xmlns:a="http://schemas.openxmlformats.org/drawingml/2006/main">
              <a:ext uri="{FF2B5EF4-FFF2-40B4-BE49-F238E27FC236}">
                <a16:creationId xmlns:a16="http://schemas.microsoft.com/office/drawing/2014/main" id="{236D3205-75CE-4D31-9D43-ACF767C2FFF3}"/>
              </a:ext>
            </a:extLst>
          </p:cNvPr>
          <p:cNvSpPr>
            <a:spLocks xmlns:a="http://schemas.openxmlformats.org/drawingml/2006/main" noGrp="1"/>
          </p:cNvSpPr>
          <p:nvPr/>
        </p:nvSpPr>
        <p:spPr>
          <a:xfrm xmlns:a="http://schemas.openxmlformats.org/drawingml/2006/main">
            <a:off x="1466850" y="48387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Validate</a:t>
            </a:r>
          </a:p>
        </p:txBody>
      </p:sp>
      <p:sp>
        <p:nvSpPr>
          <p:cNvPr id="18" name="">
            <a:extLst xmlns:a="http://schemas.openxmlformats.org/drawingml/2006/main">
              <a:ext uri="{FF2B5EF4-FFF2-40B4-BE49-F238E27FC236}">
                <a16:creationId xmlns:a16="http://schemas.microsoft.com/office/drawing/2014/main" id="{22A42F8E-D7C3-4C82-8DDA-D7793F820A4E}"/>
              </a:ext>
            </a:extLst>
          </p:cNvPr>
          <p:cNvSpPr>
            <a:spLocks xmlns:a="http://schemas.openxmlformats.org/drawingml/2006/main" noGrp="1"/>
          </p:cNvSpPr>
          <p:nvPr/>
        </p:nvSpPr>
        <p:spPr>
          <a:xfrm xmlns:a="http://schemas.openxmlformats.org/drawingml/2006/main">
            <a:off x="5629275" y="1714500"/>
            <a:ext cx="0" cy="375285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19" name="shape-87">
            <a:extLst xmlns:a="http://schemas.openxmlformats.org/drawingml/2006/main">
              <a:ext uri="{FF2B5EF4-FFF2-40B4-BE49-F238E27FC236}">
                <a16:creationId xmlns:a16="http://schemas.microsoft.com/office/drawing/2014/main" id="{A775A59E-C16B-408F-894A-E75AC5571503}"/>
              </a:ext>
            </a:extLst>
          </p:cNvPr>
          <p:cNvSpPr>
            <a:spLocks xmlns:a="http://schemas.openxmlformats.org/drawingml/2006/main" noGrp="1"/>
          </p:cNvSpPr>
          <p:nvPr/>
        </p:nvSpPr>
        <p:spPr>
          <a:xfrm xmlns:a="http://schemas.openxmlformats.org/drawingml/2006/main">
            <a:off x="6191250" y="1714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Bounded context</a:t>
            </a:r>
          </a:p>
        </p:txBody>
      </p:sp>
      <p:sp>
        <p:nvSpPr>
          <p:cNvPr id="20" name="shape-88">
            <a:extLst xmlns:a="http://schemas.openxmlformats.org/drawingml/2006/main">
              <a:ext uri="{FF2B5EF4-FFF2-40B4-BE49-F238E27FC236}">
                <a16:creationId xmlns:a16="http://schemas.microsoft.com/office/drawing/2014/main" id="{E1294C9F-5AB6-4ADB-BE45-1FF1189A1B26}"/>
              </a:ext>
            </a:extLst>
          </p:cNvPr>
          <p:cNvSpPr>
            <a:spLocks xmlns:a="http://schemas.openxmlformats.org/drawingml/2006/main" noGrp="1"/>
          </p:cNvSpPr>
          <p:nvPr/>
        </p:nvSpPr>
        <p:spPr>
          <a:xfrm xmlns:a="http://schemas.openxmlformats.org/drawingml/2006/main">
            <a:off x="6191250" y="2190750"/>
            <a:ext cx="5286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One libyuv log is 2.37 GB.</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Select diagnostic windows and files.</a:t>
            </a:r>
          </a:p>
        </p:txBody>
      </p:sp>
      <p:sp>
        <p:nvSpPr>
          <p:cNvPr id="21" name="shape-89">
            <a:extLst xmlns:a="http://schemas.openxmlformats.org/drawingml/2006/main">
              <a:ext uri="{FF2B5EF4-FFF2-40B4-BE49-F238E27FC236}">
                <a16:creationId xmlns:a16="http://schemas.microsoft.com/office/drawing/2014/main" id="{D291AF47-7AD1-4EA3-B683-7126ACF97A06}"/>
              </a:ext>
            </a:extLst>
          </p:cNvPr>
          <p:cNvSpPr>
            <a:spLocks xmlns:a="http://schemas.openxmlformats.org/drawingml/2006/main" noGrp="1"/>
          </p:cNvSpPr>
          <p:nvPr/>
        </p:nvSpPr>
        <p:spPr>
          <a:xfrm xmlns:a="http://schemas.openxmlformats.org/drawingml/2006/main">
            <a:off x="6191250" y="32480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Memory between attempts</a:t>
            </a:r>
          </a:p>
        </p:txBody>
      </p:sp>
      <p:sp>
        <p:nvSpPr>
          <p:cNvPr id="22" name="shape-90">
            <a:extLst xmlns:a="http://schemas.openxmlformats.org/drawingml/2006/main">
              <a:ext uri="{FF2B5EF4-FFF2-40B4-BE49-F238E27FC236}">
                <a16:creationId xmlns:a16="http://schemas.microsoft.com/office/drawing/2014/main" id="{15150531-2921-471F-A8D1-D6939E1C31B6}"/>
              </a:ext>
            </a:extLst>
          </p:cNvPr>
          <p:cNvSpPr>
            <a:spLocks xmlns:a="http://schemas.openxmlformats.org/drawingml/2006/main" noGrp="1"/>
          </p:cNvSpPr>
          <p:nvPr/>
        </p:nvSpPr>
        <p:spPr>
          <a:xfrm xmlns:a="http://schemas.openxmlformats.org/drawingml/2006/main">
            <a:off x="6191250" y="3733800"/>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Keep hypotheses, diffs and failures.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Stop repeated unsuccessful edits.</a:t>
            </a:r>
          </a:p>
        </p:txBody>
      </p:sp>
      <p:sp>
        <p:nvSpPr>
          <p:cNvPr id="23" name="shape-91">
            <a:extLst xmlns:a="http://schemas.openxmlformats.org/drawingml/2006/main">
              <a:ext uri="{FF2B5EF4-FFF2-40B4-BE49-F238E27FC236}">
                <a16:creationId xmlns:a16="http://schemas.microsoft.com/office/drawing/2014/main" id="{35B14E00-D39B-4E42-9F00-092B1ED7E03C}"/>
              </a:ext>
            </a:extLst>
          </p:cNvPr>
          <p:cNvSpPr>
            <a:spLocks xmlns:a="http://schemas.openxmlformats.org/drawingml/2006/main" noGrp="1"/>
          </p:cNvSpPr>
          <p:nvPr/>
        </p:nvSpPr>
        <p:spPr>
          <a:xfrm xmlns:a="http://schemas.openxmlformats.org/drawingml/2006/main">
            <a:off x="6191250" y="477202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Initial research caps</a:t>
            </a:r>
          </a:p>
        </p:txBody>
      </p:sp>
      <p:sp>
        <p:nvSpPr>
          <p:cNvPr id="24" name="shape-92">
            <a:extLst xmlns:a="http://schemas.openxmlformats.org/drawingml/2006/main">
              <a:ext uri="{FF2B5EF4-FFF2-40B4-BE49-F238E27FC236}">
                <a16:creationId xmlns:a16="http://schemas.microsoft.com/office/drawing/2014/main" id="{80BBB56F-4C3C-4B10-8C08-F387DE8548A5}"/>
              </a:ext>
            </a:extLst>
          </p:cNvPr>
          <p:cNvSpPr>
            <a:spLocks xmlns:a="http://schemas.openxmlformats.org/drawingml/2006/main" noGrp="1"/>
          </p:cNvSpPr>
          <p:nvPr/>
        </p:nvSpPr>
        <p:spPr>
          <a:xfrm xmlns:a="http://schemas.openxmlformats.org/drawingml/2006/main">
            <a:off x="6191250" y="5248275"/>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5 candidates / 30 min / 30k tokens</a:t>
            </a:r>
          </a:p>
        </p:txBody>
      </p:sp>
      <p:sp>
        <p:nvSpPr>
          <p:cNvPr id="25" name="shape-93">
            <a:extLst xmlns:a="http://schemas.openxmlformats.org/drawingml/2006/main">
              <a:ext uri="{FF2B5EF4-FFF2-40B4-BE49-F238E27FC236}">
                <a16:creationId xmlns:a16="http://schemas.microsoft.com/office/drawing/2014/main" id="{07B23476-D4A4-4F5B-A070-8B7E53341013}"/>
              </a:ext>
            </a:extLst>
          </p:cNvPr>
          <p:cNvSpPr>
            <a:spLocks xmlns:a="http://schemas.openxmlformats.org/drawingml/2006/main" noGrp="1"/>
          </p:cNvSpPr>
          <p:nvPr/>
        </p:nvSpPr>
        <p:spPr>
          <a:xfrm xmlns:a="http://schemas.openxmlformats.org/drawingml/2006/main">
            <a:off x="609600" y="59340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0">
                <a:solidFill>
                  <a:srgbClr val="536374"/>
                </a:solidFill>
                <a:latin typeface="Helvetica Neue"/>
                <a:ea typeface="Helvetica Neue"/>
                <a:cs typeface="Helvetica Neue"/>
              </a:defRPr>
            </a:pPr>
            <a:r>
              <a:rPr sz="1650" b="0">
                <a:solidFill>
                  <a:srgbClr val="536374"/>
                </a:solidFill>
                <a:latin typeface="Helvetica Neue"/>
                <a:ea typeface="Helvetica Neue"/>
                <a:cs typeface="Helvetica Neue"/>
              </a:rPr>
              <a:t>Proposed caps, subject to stricter organizer limits. Success or repetition can stop earlier.</a:t>
            </a:r>
          </a:p>
        </p:txBody>
      </p:sp>
    </p:spTree>
    <p:extLst>
      <p:ext uri="{BB962C8B-B14F-4D97-AF65-F5344CB8AC3E}">
        <p14:creationId xmlns:p14="http://schemas.microsoft.com/office/powerpoint/2010/main" val="509895461"/>
      </p:ext>
    </p:extLst>
  </p:cSld>
</p:sld>
</file>

<file path=ppt/slides/slide6.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shape-94">
            <a:extLst xmlns:a="http://schemas.openxmlformats.org/drawingml/2006/main">
              <a:ext uri="{FF2B5EF4-FFF2-40B4-BE49-F238E27FC236}">
                <a16:creationId xmlns:a16="http://schemas.microsoft.com/office/drawing/2014/main" id="{3372359A-E037-47F9-BE5D-A19657EB243B}"/>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We will compare verified repairs and cost</a:t>
            </a:r>
          </a:p>
        </p:txBody>
      </p:sp>
      <p:sp>
        <p:nvSpPr>
          <p:cNvPr id="2" name="shape-95">
            <a:extLst xmlns:a="http://schemas.openxmlformats.org/drawingml/2006/main">
              <a:ext uri="{FF2B5EF4-FFF2-40B4-BE49-F238E27FC236}">
                <a16:creationId xmlns:a16="http://schemas.microsoft.com/office/drawing/2014/main" id="{5D0A2E35-F6D0-43FD-A554-370704074BA2}"/>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96">
            <a:extLst xmlns:a="http://schemas.openxmlformats.org/drawingml/2006/main">
              <a:ext uri="{FF2B5EF4-FFF2-40B4-BE49-F238E27FC236}">
                <a16:creationId xmlns:a16="http://schemas.microsoft.com/office/drawing/2014/main" id="{D85894A3-65CA-4251-AC6B-6A4C13EAEE98}"/>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06</a:t>
            </a:r>
          </a:p>
        </p:txBody>
      </p:sp>
      <p:sp>
        <p:nvSpPr>
          <p:cNvPr id="4" name="shape-97">
            <a:extLst xmlns:a="http://schemas.openxmlformats.org/drawingml/2006/main">
              <a:ext uri="{FF2B5EF4-FFF2-40B4-BE49-F238E27FC236}">
                <a16:creationId xmlns:a16="http://schemas.microsoft.com/office/drawing/2014/main" id="{1E699014-01CE-4ED8-9BFF-4AEC954C958C}"/>
              </a:ext>
            </a:extLst>
          </p:cNvPr>
          <p:cNvSpPr>
            <a:spLocks xmlns:a="http://schemas.openxmlformats.org/drawingml/2006/main" noGrp="1"/>
          </p:cNvSpPr>
          <p:nvPr/>
        </p:nvSpPr>
        <p:spPr>
          <a:xfrm xmlns:a="http://schemas.openxmlformats.org/drawingml/2006/main">
            <a:off x="609600" y="1571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B83138"/>
                </a:solidFill>
                <a:latin typeface="Helvetica Neue"/>
                <a:ea typeface="Helvetica Neue"/>
                <a:cs typeface="Helvetica Neue"/>
              </a:defRPr>
            </a:pPr>
            <a:r>
              <a:rPr sz="1725" b="1">
                <a:solidFill>
                  <a:srgbClr val="B83138"/>
                </a:solidFill>
                <a:latin typeface="Helvetica Neue"/>
                <a:ea typeface="Helvetica Neue"/>
                <a:cs typeface="Helvetica Neue"/>
              </a:rPr>
              <a:t>PRIMARY METRIC</a:t>
            </a:r>
          </a:p>
        </p:txBody>
      </p:sp>
      <p:sp>
        <p:nvSpPr>
          <p:cNvPr id="5" name="shape-98">
            <a:extLst xmlns:a="http://schemas.openxmlformats.org/drawingml/2006/main">
              <a:ext uri="{FF2B5EF4-FFF2-40B4-BE49-F238E27FC236}">
                <a16:creationId xmlns:a16="http://schemas.microsoft.com/office/drawing/2014/main" id="{BC7D5C43-5A8D-4C34-A486-14E1DE030478}"/>
              </a:ext>
            </a:extLst>
          </p:cNvPr>
          <p:cNvSpPr>
            <a:spLocks xmlns:a="http://schemas.openxmlformats.org/drawingml/2006/main" noGrp="1"/>
          </p:cNvSpPr>
          <p:nvPr/>
        </p:nvSpPr>
        <p:spPr>
          <a:xfrm xmlns:a="http://schemas.openxmlformats.org/drawingml/2006/main">
            <a:off x="609600" y="20097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675" b="1">
                <a:solidFill>
                  <a:srgbClr val="122234"/>
                </a:solidFill>
                <a:latin typeface="Helvetica Neue"/>
                <a:ea typeface="Helvetica Neue"/>
                <a:cs typeface="Helvetica Neue"/>
              </a:defRPr>
            </a:pPr>
            <a:r>
              <a:rPr sz="3675" b="1">
                <a:solidFill>
                  <a:srgbClr val="122234"/>
                </a:solidFill>
                <a:latin typeface="Helvetica Neue"/>
                <a:ea typeface="Helvetica Neue"/>
                <a:cs typeface="Helvetica Neue"/>
              </a:rPr>
              <a:t>Verified Build Success Rate</a:t>
            </a:r>
          </a:p>
        </p:txBody>
      </p:sp>
      <p:sp>
        <p:nvSpPr>
          <p:cNvPr id="6" name="shape-99">
            <a:extLst xmlns:a="http://schemas.openxmlformats.org/drawingml/2006/main">
              <a:ext uri="{FF2B5EF4-FFF2-40B4-BE49-F238E27FC236}">
                <a16:creationId xmlns:a16="http://schemas.microsoft.com/office/drawing/2014/main" id="{1EC31A99-1038-4771-A2F9-FE3FED0A890C}"/>
              </a:ext>
            </a:extLst>
          </p:cNvPr>
          <p:cNvSpPr>
            <a:spLocks xmlns:a="http://schemas.openxmlformats.org/drawingml/2006/main" noGrp="1"/>
          </p:cNvSpPr>
          <p:nvPr/>
        </p:nvSpPr>
        <p:spPr>
          <a:xfrm xmlns:a="http://schemas.openxmlformats.org/drawingml/2006/main">
            <a:off x="609600" y="2819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122234"/>
                </a:solidFill>
                <a:latin typeface="Helvetica Neue"/>
                <a:ea typeface="Helvetica Neue"/>
                <a:cs typeface="Helvetica Neue"/>
              </a:defRPr>
            </a:pPr>
            <a:r>
              <a:rPr sz="2325" b="0">
                <a:solidFill>
                  <a:srgbClr val="122234"/>
                </a:solidFill>
                <a:latin typeface="Helvetica Neue"/>
                <a:ea typeface="Helvetica Neue"/>
                <a:cs typeface="Helvetica Neue"/>
              </a:rPr>
              <a:t>Verified repairs  ÷  all cases in the frozen evaluation set</a:t>
            </a:r>
          </a:p>
        </p:txBody>
      </p:sp>
      <p:sp>
        <p:nvSpPr>
          <p:cNvPr id="7" name="">
            <a:extLst xmlns:a="http://schemas.openxmlformats.org/drawingml/2006/main">
              <a:ext uri="{FF2B5EF4-FFF2-40B4-BE49-F238E27FC236}">
                <a16:creationId xmlns:a16="http://schemas.microsoft.com/office/drawing/2014/main" id="{6A6221CB-08C5-4E9F-BA0A-ABCBDF23E911}"/>
              </a:ext>
            </a:extLst>
          </p:cNvPr>
          <p:cNvSpPr>
            <a:spLocks xmlns:a="http://schemas.openxmlformats.org/drawingml/2006/main" noGrp="1"/>
          </p:cNvSpPr>
          <p:nvPr/>
        </p:nvSpPr>
        <p:spPr>
          <a:xfrm xmlns:a="http://schemas.openxmlformats.org/drawingml/2006/main">
            <a:off x="609600" y="3629025"/>
            <a:ext cx="1095375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8" name="shape-100">
            <a:extLst xmlns:a="http://schemas.openxmlformats.org/drawingml/2006/main">
              <a:ext uri="{FF2B5EF4-FFF2-40B4-BE49-F238E27FC236}">
                <a16:creationId xmlns:a16="http://schemas.microsoft.com/office/drawing/2014/main" id="{DAB568F8-57F9-45CE-BD8E-F51A38CF34EB}"/>
              </a:ext>
            </a:extLst>
          </p:cNvPr>
          <p:cNvSpPr>
            <a:spLocks xmlns:a="http://schemas.openxmlformats.org/drawingml/2006/main" noGrp="1"/>
          </p:cNvSpPr>
          <p:nvPr/>
        </p:nvSpPr>
        <p:spPr>
          <a:xfrm xmlns:a="http://schemas.openxmlformats.org/drawingml/2006/main">
            <a:off x="609600" y="39624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Fair comparison</a:t>
            </a:r>
          </a:p>
        </p:txBody>
      </p:sp>
      <p:sp>
        <p:nvSpPr>
          <p:cNvPr id="9" name="shape-101">
            <a:extLst xmlns:a="http://schemas.openxmlformats.org/drawingml/2006/main">
              <a:ext uri="{FF2B5EF4-FFF2-40B4-BE49-F238E27FC236}">
                <a16:creationId xmlns:a16="http://schemas.microsoft.com/office/drawing/2014/main" id="{DBA35D3B-C6B4-4D62-9D21-B671C2703040}"/>
              </a:ext>
            </a:extLst>
          </p:cNvPr>
          <p:cNvSpPr>
            <a:spLocks xmlns:a="http://schemas.openxmlformats.org/drawingml/2006/main" noGrp="1"/>
          </p:cNvSpPr>
          <p:nvPr/>
        </p:nvSpPr>
        <p:spPr>
          <a:xfrm xmlns:a="http://schemas.openxmlformats.org/drawingml/2006/main">
            <a:off x="609600" y="4524375"/>
            <a:ext cx="52578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Same cases, model and budget ceilings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Official baseline where reproducible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Failures remain in the denominator</a:t>
            </a:r>
          </a:p>
        </p:txBody>
      </p:sp>
      <p:sp>
        <p:nvSpPr>
          <p:cNvPr id="10" name="shape-102">
            <a:extLst xmlns:a="http://schemas.openxmlformats.org/drawingml/2006/main">
              <a:ext uri="{FF2B5EF4-FFF2-40B4-BE49-F238E27FC236}">
                <a16:creationId xmlns:a16="http://schemas.microsoft.com/office/drawing/2014/main" id="{C6610075-9460-4658-9CB6-9DD59E48220A}"/>
              </a:ext>
            </a:extLst>
          </p:cNvPr>
          <p:cNvSpPr>
            <a:spLocks xmlns:a="http://schemas.openxmlformats.org/drawingml/2006/main" noGrp="1"/>
          </p:cNvSpPr>
          <p:nvPr/>
        </p:nvSpPr>
        <p:spPr>
          <a:xfrm xmlns:a="http://schemas.openxmlformats.org/drawingml/2006/main">
            <a:off x="6419850" y="39624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Cost and failure records</a:t>
            </a:r>
          </a:p>
        </p:txBody>
      </p:sp>
      <p:sp>
        <p:nvSpPr>
          <p:cNvPr id="11" name="shape-103">
            <a:extLst xmlns:a="http://schemas.openxmlformats.org/drawingml/2006/main">
              <a:ext uri="{FF2B5EF4-FFF2-40B4-BE49-F238E27FC236}">
                <a16:creationId xmlns:a16="http://schemas.microsoft.com/office/drawing/2014/main" id="{34448993-6F70-42A4-9BB4-0E3155265628}"/>
              </a:ext>
            </a:extLst>
          </p:cNvPr>
          <p:cNvSpPr>
            <a:spLocks xmlns:a="http://schemas.openxmlformats.org/drawingml/2006/main" noGrp="1"/>
          </p:cNvSpPr>
          <p:nvPr/>
        </p:nvSpPr>
        <p:spPr>
          <a:xfrm xmlns:a="http://schemas.openxmlformats.org/drawingml/2006/main">
            <a:off x="6419850" y="4524375"/>
            <a:ext cx="5143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Wall time and model tokens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Repair attempts and tool calls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Direction and failure breakdowns</a:t>
            </a:r>
          </a:p>
        </p:txBody>
      </p:sp>
    </p:spTree>
    <p:extLst>
      <p:ext uri="{BB962C8B-B14F-4D97-AF65-F5344CB8AC3E}">
        <p14:creationId xmlns:p14="http://schemas.microsoft.com/office/powerpoint/2010/main" val="1079880216"/>
      </p:ext>
    </p:extLst>
  </p:cSld>
</p:sld>
</file>

<file path=ppt/slides/slide7.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8" name="shape-104">
            <a:extLst xmlns:a="http://schemas.openxmlformats.org/drawingml/2006/main">
              <a:ext uri="{FF2B5EF4-FFF2-40B4-BE49-F238E27FC236}">
                <a16:creationId xmlns:a16="http://schemas.microsoft.com/office/drawing/2014/main" id="{1DEA4858-732F-43BC-859E-DF0BFAA31D0F}"/>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Semester milestones have checkable outcomes</a:t>
            </a:r>
          </a:p>
        </p:txBody>
      </p:sp>
      <p:sp>
        <p:nvSpPr>
          <p:cNvPr id="2" name="shape-105">
            <a:extLst xmlns:a="http://schemas.openxmlformats.org/drawingml/2006/main">
              <a:ext uri="{FF2B5EF4-FFF2-40B4-BE49-F238E27FC236}">
                <a16:creationId xmlns:a16="http://schemas.microsoft.com/office/drawing/2014/main" id="{AE32709A-7F80-4F47-A77D-BDD43AFCE90E}"/>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06">
            <a:extLst xmlns:a="http://schemas.openxmlformats.org/drawingml/2006/main">
              <a:ext uri="{FF2B5EF4-FFF2-40B4-BE49-F238E27FC236}">
                <a16:creationId xmlns:a16="http://schemas.microsoft.com/office/drawing/2014/main" id="{905D8558-6BD5-410F-892B-3AB237C5E2C9}"/>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07</a:t>
            </a:r>
          </a:p>
        </p:txBody>
      </p:sp>
      <p:sp>
        <p:nvSpPr>
          <p:cNvPr id="4" name="shape-107">
            <a:extLst xmlns:a="http://schemas.openxmlformats.org/drawingml/2006/main">
              <a:ext uri="{FF2B5EF4-FFF2-40B4-BE49-F238E27FC236}">
                <a16:creationId xmlns:a16="http://schemas.microsoft.com/office/drawing/2014/main" id="{0A128B5A-B6F0-4871-903F-9495D4131C42}"/>
              </a:ext>
            </a:extLst>
          </p:cNvPr>
          <p:cNvSpPr>
            <a:spLocks xmlns:a="http://schemas.openxmlformats.org/drawingml/2006/main" noGrp="1"/>
          </p:cNvSpPr>
          <p:nvPr/>
        </p:nvSpPr>
        <p:spPr>
          <a:xfrm xmlns:a="http://schemas.openxmlformats.org/drawingml/2006/main">
            <a:off x="60960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October 21</a:t>
            </a:r>
          </a:p>
        </p:txBody>
      </p:sp>
      <p:sp>
        <p:nvSpPr>
          <p:cNvPr id="5" name="shape-108">
            <a:extLst xmlns:a="http://schemas.openxmlformats.org/drawingml/2006/main">
              <a:ext uri="{FF2B5EF4-FFF2-40B4-BE49-F238E27FC236}">
                <a16:creationId xmlns:a16="http://schemas.microsoft.com/office/drawing/2014/main" id="{0B8E8704-FC2F-44A8-9B66-1E7B41B30592}"/>
              </a:ext>
            </a:extLst>
          </p:cNvPr>
          <p:cNvSpPr>
            <a:spLocks xmlns:a="http://schemas.openxmlformats.org/drawingml/2006/main" noGrp="1"/>
          </p:cNvSpPr>
          <p:nvPr/>
        </p:nvSpPr>
        <p:spPr>
          <a:xfrm xmlns:a="http://schemas.openxmlformats.org/drawingml/2006/main">
            <a:off x="60960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Demo 2</a:t>
            </a:r>
          </a:p>
        </p:txBody>
      </p:sp>
      <p:sp>
        <p:nvSpPr>
          <p:cNvPr id="6" name="">
            <a:extLst xmlns:a="http://schemas.openxmlformats.org/drawingml/2006/main">
              <a:ext uri="{FF2B5EF4-FFF2-40B4-BE49-F238E27FC236}">
                <a16:creationId xmlns:a16="http://schemas.microsoft.com/office/drawing/2014/main" id="{2BE92AA4-D977-4A19-AC36-BB2B99F7AC15}"/>
              </a:ext>
            </a:extLst>
          </p:cNvPr>
          <p:cNvSpPr>
            <a:spLocks xmlns:a="http://schemas.openxmlformats.org/drawingml/2006/main" noGrp="1"/>
          </p:cNvSpPr>
          <p:nvPr/>
        </p:nvSpPr>
        <p:spPr>
          <a:xfrm xmlns:a="http://schemas.openxmlformats.org/drawingml/2006/main">
            <a:off x="60960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7" name="shape-109">
            <a:extLst xmlns:a="http://schemas.openxmlformats.org/drawingml/2006/main">
              <a:ext uri="{FF2B5EF4-FFF2-40B4-BE49-F238E27FC236}">
                <a16:creationId xmlns:a16="http://schemas.microsoft.com/office/drawing/2014/main" id="{7273783C-D6AE-4537-9650-1DBDCB33327B}"/>
              </a:ext>
            </a:extLst>
          </p:cNvPr>
          <p:cNvSpPr>
            <a:spLocks xmlns:a="http://schemas.openxmlformats.org/drawingml/2006/main" noGrp="1"/>
          </p:cNvSpPr>
          <p:nvPr/>
        </p:nvSpPr>
        <p:spPr>
          <a:xfrm xmlns:a="http://schemas.openxmlformats.org/drawingml/2006/main">
            <a:off x="447675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November 16</a:t>
            </a:r>
          </a:p>
        </p:txBody>
      </p:sp>
      <p:sp>
        <p:nvSpPr>
          <p:cNvPr id="8" name="shape-110">
            <a:extLst xmlns:a="http://schemas.openxmlformats.org/drawingml/2006/main">
              <a:ext uri="{FF2B5EF4-FFF2-40B4-BE49-F238E27FC236}">
                <a16:creationId xmlns:a16="http://schemas.microsoft.com/office/drawing/2014/main" id="{2156D082-72B7-44BC-A324-C24AB4701509}"/>
              </a:ext>
            </a:extLst>
          </p:cNvPr>
          <p:cNvSpPr>
            <a:spLocks xmlns:a="http://schemas.openxmlformats.org/drawingml/2006/main" noGrp="1"/>
          </p:cNvSpPr>
          <p:nvPr/>
        </p:nvSpPr>
        <p:spPr>
          <a:xfrm xmlns:a="http://schemas.openxmlformats.org/drawingml/2006/main">
            <a:off x="447675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Demo 3</a:t>
            </a:r>
          </a:p>
        </p:txBody>
      </p:sp>
      <p:sp>
        <p:nvSpPr>
          <p:cNvPr id="9" name="">
            <a:extLst xmlns:a="http://schemas.openxmlformats.org/drawingml/2006/main">
              <a:ext uri="{FF2B5EF4-FFF2-40B4-BE49-F238E27FC236}">
                <a16:creationId xmlns:a16="http://schemas.microsoft.com/office/drawing/2014/main" id="{30117120-1B86-4D7C-92F3-89B9DAE1AC4D}"/>
              </a:ext>
            </a:extLst>
          </p:cNvPr>
          <p:cNvSpPr>
            <a:spLocks xmlns:a="http://schemas.openxmlformats.org/drawingml/2006/main" noGrp="1"/>
          </p:cNvSpPr>
          <p:nvPr/>
        </p:nvSpPr>
        <p:spPr>
          <a:xfrm xmlns:a="http://schemas.openxmlformats.org/drawingml/2006/main">
            <a:off x="447675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0" name="shape-111">
            <a:extLst xmlns:a="http://schemas.openxmlformats.org/drawingml/2006/main">
              <a:ext uri="{FF2B5EF4-FFF2-40B4-BE49-F238E27FC236}">
                <a16:creationId xmlns:a16="http://schemas.microsoft.com/office/drawing/2014/main" id="{32BDB07C-44C3-4BD4-993B-5E3F668E6C7F}"/>
              </a:ext>
            </a:extLst>
          </p:cNvPr>
          <p:cNvSpPr>
            <a:spLocks xmlns:a="http://schemas.openxmlformats.org/drawingml/2006/main" noGrp="1"/>
          </p:cNvSpPr>
          <p:nvPr/>
        </p:nvSpPr>
        <p:spPr>
          <a:xfrm xmlns:a="http://schemas.openxmlformats.org/drawingml/2006/main">
            <a:off x="834390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December 9</a:t>
            </a:r>
          </a:p>
        </p:txBody>
      </p:sp>
      <p:sp>
        <p:nvSpPr>
          <p:cNvPr id="11" name="shape-112">
            <a:extLst xmlns:a="http://schemas.openxmlformats.org/drawingml/2006/main">
              <a:ext uri="{FF2B5EF4-FFF2-40B4-BE49-F238E27FC236}">
                <a16:creationId xmlns:a16="http://schemas.microsoft.com/office/drawing/2014/main" id="{16664BDE-252B-43A4-B02C-1E77A85E65D8}"/>
              </a:ext>
            </a:extLst>
          </p:cNvPr>
          <p:cNvSpPr>
            <a:spLocks xmlns:a="http://schemas.openxmlformats.org/drawingml/2006/main" noGrp="1"/>
          </p:cNvSpPr>
          <p:nvPr/>
        </p:nvSpPr>
        <p:spPr>
          <a:xfrm xmlns:a="http://schemas.openxmlformats.org/drawingml/2006/main">
            <a:off x="834390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Final</a:t>
            </a:r>
          </a:p>
        </p:txBody>
      </p:sp>
      <p:sp>
        <p:nvSpPr>
          <p:cNvPr id="12" name="">
            <a:extLst xmlns:a="http://schemas.openxmlformats.org/drawingml/2006/main">
              <a:ext uri="{FF2B5EF4-FFF2-40B4-BE49-F238E27FC236}">
                <a16:creationId xmlns:a16="http://schemas.microsoft.com/office/drawing/2014/main" id="{DFC7E56A-66A1-4C27-B86F-4EE715E747FE}"/>
              </a:ext>
            </a:extLst>
          </p:cNvPr>
          <p:cNvSpPr>
            <a:spLocks xmlns:a="http://schemas.openxmlformats.org/drawingml/2006/main" noGrp="1"/>
          </p:cNvSpPr>
          <p:nvPr/>
        </p:nvSpPr>
        <p:spPr>
          <a:xfrm xmlns:a="http://schemas.openxmlformats.org/drawingml/2006/main">
            <a:off x="834390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3" name="shape-113">
            <a:extLst xmlns:a="http://schemas.openxmlformats.org/drawingml/2006/main">
              <a:ext uri="{FF2B5EF4-FFF2-40B4-BE49-F238E27FC236}">
                <a16:creationId xmlns:a16="http://schemas.microsoft.com/office/drawing/2014/main" id="{F258F4D5-70CE-4D84-AA37-E95A40DCAB28}"/>
              </a:ext>
            </a:extLst>
          </p:cNvPr>
          <p:cNvSpPr>
            <a:spLocks xmlns:a="http://schemas.openxmlformats.org/drawingml/2006/main" noGrp="1"/>
          </p:cNvSpPr>
          <p:nvPr/>
        </p:nvSpPr>
        <p:spPr>
          <a:xfrm xmlns:a="http://schemas.openxmlformats.org/drawingml/2006/main">
            <a:off x="609600" y="332422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Runnable LLM prototype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10 fixed public cases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Baseline + per-case records</a:t>
            </a:r>
          </a:p>
        </p:txBody>
      </p:sp>
      <p:sp>
        <p:nvSpPr>
          <p:cNvPr id="14" name="shape-114">
            <a:extLst xmlns:a="http://schemas.openxmlformats.org/drawingml/2006/main">
              <a:ext uri="{FF2B5EF4-FFF2-40B4-BE49-F238E27FC236}">
                <a16:creationId xmlns:a16="http://schemas.microsoft.com/office/drawing/2014/main" id="{6B0B1EAE-C7DD-4A5C-86EF-0B86FEC5646A}"/>
              </a:ext>
            </a:extLst>
          </p:cNvPr>
          <p:cNvSpPr>
            <a:spLocks xmlns:a="http://schemas.openxmlformats.org/drawingml/2006/main" noGrp="1"/>
          </p:cNvSpPr>
          <p:nvPr/>
        </p:nvSpPr>
        <p:spPr>
          <a:xfrm xmlns:a="http://schemas.openxmlformats.org/drawingml/2006/main">
            <a:off x="4476750" y="3324225"/>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Same 10 cases, 3 runs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+1 mean repair, OR</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20% fewer model tokens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preserving repaired cases</a:t>
            </a:r>
          </a:p>
        </p:txBody>
      </p:sp>
      <p:sp>
        <p:nvSpPr>
          <p:cNvPr id="15" name="shape-115">
            <a:extLst xmlns:a="http://schemas.openxmlformats.org/drawingml/2006/main">
              <a:ext uri="{FF2B5EF4-FFF2-40B4-BE49-F238E27FC236}">
                <a16:creationId xmlns:a16="http://schemas.microsoft.com/office/drawing/2014/main" id="{1BC54479-BC56-47DD-9FF0-2DE3704C83F3}"/>
              </a:ext>
            </a:extLst>
          </p:cNvPr>
          <p:cNvSpPr>
            <a:spLocks xmlns:a="http://schemas.openxmlformats.org/drawingml/2006/main" noGrp="1"/>
          </p:cNvSpPr>
          <p:nvPr/>
        </p:nvSpPr>
        <p:spPr>
          <a:xfrm xmlns:a="http://schemas.openxmlformats.org/drawingml/2006/main">
            <a:off x="8343900" y="3324225"/>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40-case evaluation</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30 held out from tuning</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Reproducible agent,</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commands and results</a:t>
            </a:r>
          </a:p>
        </p:txBody>
      </p:sp>
      <p:sp>
        <p:nvSpPr>
          <p:cNvPr id="16" name="shape-116">
            <a:extLst xmlns:a="http://schemas.openxmlformats.org/drawingml/2006/main">
              <a:ext uri="{FF2B5EF4-FFF2-40B4-BE49-F238E27FC236}">
                <a16:creationId xmlns:a16="http://schemas.microsoft.com/office/drawing/2014/main" id="{53C427BE-9EB3-4158-9DB6-FD257EB4ACA5}"/>
              </a:ext>
            </a:extLst>
          </p:cNvPr>
          <p:cNvSpPr>
            <a:spLocks xmlns:a="http://schemas.openxmlformats.org/drawingml/2006/main" noGrp="1"/>
          </p:cNvSpPr>
          <p:nvPr/>
        </p:nvSpPr>
        <p:spPr>
          <a:xfrm xmlns:a="http://schemas.openxmlformats.org/drawingml/2006/main">
            <a:off x="609600" y="5486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Competition freeze: November 13, before Demo 3. Qualification is conditional.</a:t>
            </a:r>
          </a:p>
        </p:txBody>
      </p:sp>
      <p:sp>
        <p:nvSpPr>
          <p:cNvPr id="17" name="shape-117">
            <a:extLst xmlns:a="http://schemas.openxmlformats.org/drawingml/2006/main">
              <a:ext uri="{FF2B5EF4-FFF2-40B4-BE49-F238E27FC236}">
                <a16:creationId xmlns:a16="http://schemas.microsoft.com/office/drawing/2014/main" id="{1E0024F2-85B0-45E0-9346-531EC7F23522}"/>
              </a:ext>
            </a:extLst>
          </p:cNvPr>
          <p:cNvSpPr>
            <a:spLocks xmlns:a="http://schemas.openxmlformats.org/drawingml/2006/main" noGrp="1"/>
          </p:cNvSpPr>
          <p:nvPr/>
        </p:nvSpPr>
        <p:spPr>
          <a:xfrm xmlns:a="http://schemas.openxmlformats.org/drawingml/2006/main">
            <a:off x="609600" y="60102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536374"/>
                </a:solidFill>
                <a:latin typeface="Helvetica Neue"/>
                <a:ea typeface="Helvetica Neue"/>
                <a:cs typeface="Helvetica Neue"/>
              </a:defRPr>
            </a:pPr>
            <a:r>
              <a:rPr sz="1575" b="0">
                <a:solidFill>
                  <a:srgbClr val="536374"/>
                </a:solidFill>
                <a:latin typeface="Helvetica Neue"/>
                <a:ea typeface="Helvetica Neue"/>
                <a:cs typeface="Helvetica Neue"/>
              </a:rPr>
              <a:t>Evaluation targets. Repeat all 10 cases, hold budgets fixed and report every regression.</a:t>
            </a:r>
          </a:p>
        </p:txBody>
      </p:sp>
    </p:spTree>
    <p:extLst>
      <p:ext uri="{BB962C8B-B14F-4D97-AF65-F5344CB8AC3E}">
        <p14:creationId xmlns:p14="http://schemas.microsoft.com/office/powerpoint/2010/main" val="101388976"/>
      </p:ext>
    </p:extLst>
  </p:cSld>
</p:sld>
</file>

<file path=ppt/slides/slide8.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4" name="shape-118">
            <a:extLst xmlns:a="http://schemas.openxmlformats.org/drawingml/2006/main">
              <a:ext uri="{FF2B5EF4-FFF2-40B4-BE49-F238E27FC236}">
                <a16:creationId xmlns:a16="http://schemas.microsoft.com/office/drawing/2014/main" id="{658D7619-0E08-4036-81D5-476FDA940E01}"/>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Organizer’s hello workflow reproduced</a:t>
            </a:r>
          </a:p>
        </p:txBody>
      </p:sp>
      <p:sp>
        <p:nvSpPr>
          <p:cNvPr id="2" name="shape-119">
            <a:extLst xmlns:a="http://schemas.openxmlformats.org/drawingml/2006/main">
              <a:ext uri="{FF2B5EF4-FFF2-40B4-BE49-F238E27FC236}">
                <a16:creationId xmlns:a16="http://schemas.microsoft.com/office/drawing/2014/main" id="{A5F7677D-0B1F-4E30-9431-06A7162BBBD3}"/>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20">
            <a:extLst xmlns:a="http://schemas.openxmlformats.org/drawingml/2006/main">
              <a:ext uri="{FF2B5EF4-FFF2-40B4-BE49-F238E27FC236}">
                <a16:creationId xmlns:a16="http://schemas.microsoft.com/office/drawing/2014/main" id="{FF43BB3D-3864-4E18-83D9-588236DCDD06}"/>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08</a:t>
            </a:r>
          </a:p>
        </p:txBody>
      </p:sp>
      <p:sp>
        <p:nvSpPr>
          <p:cNvPr id="4" name="shape-121">
            <a:extLst xmlns:a="http://schemas.openxmlformats.org/drawingml/2006/main">
              <a:ext uri="{FF2B5EF4-FFF2-40B4-BE49-F238E27FC236}">
                <a16:creationId xmlns:a16="http://schemas.microsoft.com/office/drawing/2014/main" id="{9373DEB6-13A1-4438-85C8-E9B463C4F375}"/>
              </a:ext>
            </a:extLst>
          </p:cNvPr>
          <p:cNvSpPr>
            <a:spLocks xmlns:a="http://schemas.openxmlformats.org/drawingml/2006/main" noGrp="1"/>
          </p:cNvSpPr>
          <p:nvPr/>
        </p:nvSpPr>
        <p:spPr>
          <a:xfrm xmlns:a="http://schemas.openxmlformats.org/drawingml/2006/main">
            <a:off x="609600" y="160972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9715B"/>
                </a:solidFill>
                <a:latin typeface="Helvetica Neue"/>
                <a:ea typeface="Helvetica Neue"/>
                <a:cs typeface="Helvetica Neue"/>
              </a:defRPr>
            </a:pPr>
            <a:r>
              <a:rPr sz="1725" b="1">
                <a:solidFill>
                  <a:srgbClr val="19715B"/>
                </a:solidFill>
                <a:latin typeface="Helvetica Neue"/>
                <a:ea typeface="Helvetica Neue"/>
                <a:cs typeface="Helvetica Neue"/>
              </a:rPr>
              <a:t>ORGANIZER EXAMPLE, NO LLM</a:t>
            </a:r>
          </a:p>
        </p:txBody>
      </p:sp>
      <p:sp>
        <p:nvSpPr>
          <p:cNvPr id="5" name="shape-122">
            <a:extLst xmlns:a="http://schemas.openxmlformats.org/drawingml/2006/main">
              <a:ext uri="{FF2B5EF4-FFF2-40B4-BE49-F238E27FC236}">
                <a16:creationId xmlns:a16="http://schemas.microsoft.com/office/drawing/2014/main" id="{2A52B72A-1649-4447-A4BD-15BA6B6A9BC7}"/>
              </a:ext>
            </a:extLst>
          </p:cNvPr>
          <p:cNvSpPr>
            <a:spLocks xmlns:a="http://schemas.openxmlformats.org/drawingml/2006/main" noGrp="1"/>
          </p:cNvSpPr>
          <p:nvPr/>
        </p:nvSpPr>
        <p:spPr>
          <a:xfrm xmlns:a="http://schemas.openxmlformats.org/drawingml/2006/main">
            <a:off x="609600" y="21336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1">
                <a:solidFill>
                  <a:srgbClr val="122234"/>
                </a:solidFill>
                <a:latin typeface="Helvetica Neue"/>
                <a:ea typeface="Helvetica Neue"/>
                <a:cs typeface="Helvetica Neue"/>
              </a:defRPr>
            </a:pPr>
            <a:r>
              <a:rPr sz="2700" b="1">
                <a:solidFill>
                  <a:srgbClr val="122234"/>
                </a:solidFill>
                <a:latin typeface="Helvetica Neue"/>
                <a:ea typeface="Helvetica Neue"/>
                <a:cs typeface="Helvetica Neue"/>
              </a:rPr>
              <a:t>Initial failure → patch → clean success</a:t>
            </a:r>
          </a:p>
        </p:txBody>
      </p:sp>
      <p:sp>
        <p:nvSpPr>
          <p:cNvPr id="6" name="shape-123">
            <a:extLst xmlns:a="http://schemas.openxmlformats.org/drawingml/2006/main">
              <a:ext uri="{FF2B5EF4-FFF2-40B4-BE49-F238E27FC236}">
                <a16:creationId xmlns:a16="http://schemas.microsoft.com/office/drawing/2014/main" id="{2A39DE6C-287D-493F-B46C-E89C710E4E3E}"/>
              </a:ext>
            </a:extLst>
          </p:cNvPr>
          <p:cNvSpPr>
            <a:spLocks xmlns:a="http://schemas.openxmlformats.org/drawingml/2006/main" noGrp="1"/>
          </p:cNvSpPr>
          <p:nvPr/>
        </p:nvSpPr>
        <p:spPr>
          <a:xfrm xmlns:a="http://schemas.openxmlformats.org/drawingml/2006/main">
            <a:off x="609600" y="2924175"/>
            <a:ext cx="5429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75" b="1">
                <a:solidFill>
                  <a:srgbClr val="19715B"/>
                </a:solidFill>
                <a:latin typeface="Helvetica Neue"/>
                <a:ea typeface="Helvetica Neue"/>
                <a:cs typeface="Helvetica Neue"/>
              </a:defRPr>
            </a:pPr>
            <a:r>
              <a:rPr sz="3075" b="1">
                <a:solidFill>
                  <a:srgbClr val="19715B"/>
                </a:solidFill>
                <a:latin typeface="Helvetica Neue"/>
                <a:ea typeface="Helvetica Neue"/>
                <a:cs typeface="Helvetica Neue"/>
              </a:rPr>
              <a:t>2 verified RPM artifacts</a:t>
            </a:r>
          </a:p>
        </p:txBody>
      </p:sp>
      <p:sp>
        <p:nvSpPr>
          <p:cNvPr id="7" name="shape-124">
            <a:extLst xmlns:a="http://schemas.openxmlformats.org/drawingml/2006/main">
              <a:ext uri="{FF2B5EF4-FFF2-40B4-BE49-F238E27FC236}">
                <a16:creationId xmlns:a16="http://schemas.microsoft.com/office/drawing/2014/main" id="{5DF2D295-DCD7-4320-9D70-15AFEAE7150F}"/>
              </a:ext>
            </a:extLst>
          </p:cNvPr>
          <p:cNvSpPr>
            <a:spLocks xmlns:a="http://schemas.openxmlformats.org/drawingml/2006/main" noGrp="1"/>
          </p:cNvSpPr>
          <p:nvPr/>
        </p:nvSpPr>
        <p:spPr>
          <a:xfrm xmlns:a="http://schemas.openxmlformats.org/drawingml/2006/main">
            <a:off x="6800850" y="2924175"/>
            <a:ext cx="4762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75" b="1">
                <a:solidFill>
                  <a:srgbClr val="19715B"/>
                </a:solidFill>
                <a:latin typeface="Helvetica Neue"/>
                <a:ea typeface="Helvetica Neue"/>
                <a:cs typeface="Helvetica Neue"/>
              </a:defRPr>
            </a:pPr>
            <a:r>
              <a:rPr sz="3075" b="1">
                <a:solidFill>
                  <a:srgbClr val="19715B"/>
                </a:solidFill>
                <a:latin typeface="Helvetica Neue"/>
                <a:ea typeface="Helvetica Neue"/>
                <a:cs typeface="Helvetica Neue"/>
              </a:rPr>
              <a:t>9 s final build</a:t>
            </a:r>
          </a:p>
        </p:txBody>
      </p:sp>
      <p:sp>
        <p:nvSpPr>
          <p:cNvPr id="8" name="shape-125">
            <a:extLst xmlns:a="http://schemas.openxmlformats.org/drawingml/2006/main">
              <a:ext uri="{FF2B5EF4-FFF2-40B4-BE49-F238E27FC236}">
                <a16:creationId xmlns:a16="http://schemas.microsoft.com/office/drawing/2014/main" id="{74C72AE4-D4B5-4D88-95A9-E7530F2B5FB2}"/>
              </a:ext>
            </a:extLst>
          </p:cNvPr>
          <p:cNvSpPr>
            <a:spLocks xmlns:a="http://schemas.openxmlformats.org/drawingml/2006/main" noGrp="1"/>
          </p:cNvSpPr>
          <p:nvPr/>
        </p:nvSpPr>
        <p:spPr>
          <a:xfrm xmlns:a="http://schemas.openxmlformats.org/drawingml/2006/main">
            <a:off x="609600" y="3667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536374"/>
                </a:solidFill>
                <a:latin typeface="Helvetica Neue"/>
                <a:ea typeface="Helvetica Neue"/>
                <a:cs typeface="Helvetica Neue"/>
              </a:defRPr>
            </a:pPr>
            <a:r>
              <a:rPr sz="1875" b="0">
                <a:solidFill>
                  <a:srgbClr val="536374"/>
                </a:solidFill>
                <a:latin typeface="Helvetica Neue"/>
                <a:ea typeface="Helvetica Neue"/>
                <a:cs typeface="Helvetica Neue"/>
              </a:rPr>
              <a:t>Organizer’s example only. This is not a repair result from our agent.</a:t>
            </a:r>
          </a:p>
        </p:txBody>
      </p:sp>
      <p:sp>
        <p:nvSpPr>
          <p:cNvPr id="9" name="">
            <a:extLst xmlns:a="http://schemas.openxmlformats.org/drawingml/2006/main">
              <a:ext uri="{FF2B5EF4-FFF2-40B4-BE49-F238E27FC236}">
                <a16:creationId xmlns:a16="http://schemas.microsoft.com/office/drawing/2014/main" id="{6D09486F-1A86-47E5-956F-47FA3548EE57}"/>
              </a:ext>
            </a:extLst>
          </p:cNvPr>
          <p:cNvSpPr>
            <a:spLocks xmlns:a="http://schemas.openxmlformats.org/drawingml/2006/main" noGrp="1"/>
          </p:cNvSpPr>
          <p:nvPr/>
        </p:nvSpPr>
        <p:spPr>
          <a:xfrm xmlns:a="http://schemas.openxmlformats.org/drawingml/2006/main">
            <a:off x="609600" y="4343400"/>
            <a:ext cx="1095375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10" name="shape-126">
            <a:extLst xmlns:a="http://schemas.openxmlformats.org/drawingml/2006/main">
              <a:ext uri="{FF2B5EF4-FFF2-40B4-BE49-F238E27FC236}">
                <a16:creationId xmlns:a16="http://schemas.microsoft.com/office/drawing/2014/main" id="{637A639C-04A5-4D5C-A903-411696F3ED3A}"/>
              </a:ext>
            </a:extLst>
          </p:cNvPr>
          <p:cNvSpPr>
            <a:spLocks xmlns:a="http://schemas.openxmlformats.org/drawingml/2006/main" noGrp="1"/>
          </p:cNvSpPr>
          <p:nvPr/>
        </p:nvSpPr>
        <p:spPr>
          <a:xfrm xmlns:a="http://schemas.openxmlformats.org/drawingml/2006/main">
            <a:off x="609600" y="462915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Hardest challenge</a:t>
            </a:r>
          </a:p>
        </p:txBody>
      </p:sp>
      <p:sp>
        <p:nvSpPr>
          <p:cNvPr id="11" name="shape-127">
            <a:extLst xmlns:a="http://schemas.openxmlformats.org/drawingml/2006/main">
              <a:ext uri="{FF2B5EF4-FFF2-40B4-BE49-F238E27FC236}">
                <a16:creationId xmlns:a16="http://schemas.microsoft.com/office/drawing/2014/main" id="{8D3327FB-B407-444B-8DC8-6B737000289C}"/>
              </a:ext>
            </a:extLst>
          </p:cNvPr>
          <p:cNvSpPr>
            <a:spLocks xmlns:a="http://schemas.openxmlformats.org/drawingml/2006/main" noGrp="1"/>
          </p:cNvSpPr>
          <p:nvPr/>
        </p:nvSpPr>
        <p:spPr>
          <a:xfrm xmlns:a="http://schemas.openxmlformats.org/drawingml/2006/main">
            <a:off x="609600" y="5162550"/>
            <a:ext cx="504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Choose useful evidence and revise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diagnoses within a fixed budget.</a:t>
            </a:r>
          </a:p>
        </p:txBody>
      </p:sp>
      <p:sp>
        <p:nvSpPr>
          <p:cNvPr id="12" name="shape-128">
            <a:extLst xmlns:a="http://schemas.openxmlformats.org/drawingml/2006/main">
              <a:ext uri="{FF2B5EF4-FFF2-40B4-BE49-F238E27FC236}">
                <a16:creationId xmlns:a16="http://schemas.microsoft.com/office/drawing/2014/main" id="{73331E76-9C2C-4FF7-ACF4-4E88B0B44CF5}"/>
              </a:ext>
            </a:extLst>
          </p:cNvPr>
          <p:cNvSpPr>
            <a:spLocks xmlns:a="http://schemas.openxmlformats.org/drawingml/2006/main" noGrp="1"/>
          </p:cNvSpPr>
          <p:nvPr/>
        </p:nvSpPr>
        <p:spPr>
          <a:xfrm xmlns:a="http://schemas.openxmlformats.org/drawingml/2006/main">
            <a:off x="6419850" y="46291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Immediate next steps</a:t>
            </a:r>
          </a:p>
        </p:txBody>
      </p:sp>
      <p:sp>
        <p:nvSpPr>
          <p:cNvPr id="13" name="shape-129">
            <a:extLst xmlns:a="http://schemas.openxmlformats.org/drawingml/2006/main">
              <a:ext uri="{FF2B5EF4-FFF2-40B4-BE49-F238E27FC236}">
                <a16:creationId xmlns:a16="http://schemas.microsoft.com/office/drawing/2014/main" id="{B4E2A449-2F9A-4143-B6A0-B320B4D0D704}"/>
              </a:ext>
            </a:extLst>
          </p:cNvPr>
          <p:cNvSpPr>
            <a:spLocks xmlns:a="http://schemas.openxmlformats.org/drawingml/2006/main" noGrp="1"/>
          </p:cNvSpPr>
          <p:nvPr/>
        </p:nvSpPr>
        <p:spPr>
          <a:xfrm xmlns:a="http://schemas.openxmlformats.org/drawingml/2006/main">
            <a:off x="6419850" y="5162550"/>
            <a:ext cx="5143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Plan AWS environments and pin configs.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Reproduce a Debian case and confirm APIs.</a:t>
            </a:r>
          </a:p>
        </p:txBody>
      </p:sp>
    </p:spTree>
    <p:extLst>
      <p:ext uri="{BB962C8B-B14F-4D97-AF65-F5344CB8AC3E}">
        <p14:creationId xmlns:p14="http://schemas.microsoft.com/office/powerpoint/2010/main" val="14163456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2026-09-22T20:28:35.8700000Z</dcterms:created>
  <dcterms:modified xsi:type="dcterms:W3CDTF">2026-09-22T20:28:35.8700000Z</dcterms:modified>
</coreProperties>
</file>